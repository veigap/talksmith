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quote (~60 words) is the edge the full-bleed fit exists for. Only the display type steps down, and it re-wraps across the full measure — the old fit scaled the whole block, which shrank the wrap width with the glyphs and left a narrow column in the middle of an empty slide. The attribution keeps its reading size. Past the floor the slide would be flagged as clipped.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highlight image-full renders is its source: a picture without its citation is a picture nobody can check. The line sits under the image on the header's margins, and the image gives up the height it needs — the band is never pushed off the slide. Any other highlight kind on this template is dropped, and field_coverage names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--draft live view a diagram is still an ascii fence — Step 6 has not rendered it yet. The fill carries it verbatim as a code panel where the picture will go, so the slide previews its shape instead of losing the figure. image is polymorphic exactly as media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7.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108.07258" TargetMode="External"/><Relationship Id="rId3"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hyperlink" Target="https://example.org/talksmith" TargetMode="External"/><Relationship Id="rId4" Type="http://schemas.openxmlformats.org/officeDocument/2006/relationships/notesSlide" Target="../notesSlides/notesSlide1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4.png"/><Relationship Id="rId5" Type="http://schemas.openxmlformats.org/officeDocument/2006/relationships/image" Target="../media/image8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2.png"/><Relationship Id="rId4" Type="http://schemas.openxmlformats.org/officeDocument/2006/relationships/image" Target="../media/image86.png"/><Relationship Id="rId5" Type="http://schemas.openxmlformats.org/officeDocument/2006/relationships/image" Target="../media/image45.png"/><Relationship Id="rId6" Type="http://schemas.openxmlformats.org/officeDocument/2006/relationships/image" Target="../media/image87.png"/><Relationship Id="rId7"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hyperlink" Target="https://www.who.int" TargetMode="External"/><Relationship Id="rId5" Type="http://schemas.openxmlformats.org/officeDocument/2006/relationships/image" Target="../media/image90.pn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66.pn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hyperlink" Target="https://www.who.int" TargetMode="External"/><Relationship Id="rId5" Type="http://schemas.openxmlformats.org/officeDocument/2006/relationships/image" Target="../media/image91.png"/><Relationship Id="rId6"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hyperlink" Target="https://www.who.int" TargetMode="External"/><Relationship Id="rId5" Type="http://schemas.openxmlformats.org/officeDocument/2006/relationships/image" Target="../media/image51.jpg"/><Relationship Id="rId6"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2.jpg"/><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3.png"/><Relationship Id="rId4" Type="http://schemas.openxmlformats.org/officeDocument/2006/relationships/notesSlide" Target="../notesSlides/notesSlide1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notesSlide" Target="../notesSlides/notesSlide1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2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97.png"/><Relationship Id="rId4" Type="http://schemas.openxmlformats.org/officeDocument/2006/relationships/image" Target="../media/image9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4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73.png"/><Relationship Id="rId4" Type="http://schemas.openxmlformats.org/officeDocument/2006/relationships/notesSlide" Target="../notesSlides/notesSlide2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notesSlide" Target="../notesSlides/notesSlide2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notesSlide" Target="../notesSlides/notesSlide2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notesSlide" Target="../notesSlides/notesSlide2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 Id="rId4" Type="http://schemas.openxmlformats.org/officeDocument/2006/relationships/notesSlide" Target="../notesSlides/notesSlide2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0922" y="345338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751" y="345338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66351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935831"/>
            <a:ext cx="9804082" cy="1066800"/>
          </a:xfrm>
          <a:prstGeom prst="rect">
            <a:avLst/>
          </a:prstGeom>
          <a:noFill/>
        </p:spPr>
        <p:txBody>
          <a:bodyPr wrap="none" anchor="ctr" lIns="0" tIns="0" rIns="0" bIns="0">
            <a:noAutofit/>
          </a:bodyPr>
          <a:lstStyle/>
          <a:p>
            <a:pPr algn="l">
              <a:lnSpc>
                <a:spcPts val="3784"/>
              </a:lnSpc>
              <a:spcBef>
                <a:spcPts val="0"/>
              </a:spcBef>
              <a:spcAft>
                <a:spcPts val="0"/>
              </a:spcAft>
            </a:pPr>
            <a:r>
              <a:rPr sz="7570" b="1" i="0" u="none">
                <a:solidFill>
                  <a:srgbClr val="DA1B2E"/>
                </a:solidFill>
                <a:latin typeface="Arial"/>
              </a:rPr>
              <a:t>“</a:t>
            </a:r>
          </a:p>
        </p:txBody>
      </p:sp>
      <p:sp>
        <p:nvSpPr>
          <p:cNvPr id="4" name="TextBox 3"/>
          <p:cNvSpPr txBox="1"/>
          <p:nvPr/>
        </p:nvSpPr>
        <p:spPr>
          <a:xfrm>
            <a:off x="670465" y="1833562"/>
            <a:ext cx="9931522" cy="4131659"/>
          </a:xfrm>
          <a:prstGeom prst="rect">
            <a:avLst/>
          </a:prstGeom>
          <a:noFill/>
        </p:spPr>
        <p:txBody>
          <a:bodyPr wrap="square" anchor="ctr" lIns="0" tIns="0" rIns="0" bIns="0">
            <a:noAutofit/>
          </a:bodyPr>
          <a:lstStyle/>
          <a:p>
            <a:pPr algn="l">
              <a:lnSpc>
                <a:spcPts val="3627"/>
              </a:lnSpc>
              <a:spcBef>
                <a:spcPts val="0"/>
              </a:spcBef>
              <a:spcAft>
                <a:spcPts val="0"/>
              </a:spcAft>
            </a:pPr>
            <a:r>
              <a:rPr sz="3154" b="1" i="0" u="none" spc="-32">
                <a:solidFill>
                  <a:srgbClr val="1F1E1E"/>
                </a:solidFill>
                <a:latin typeface="Arial"/>
              </a:rPr>
              <a:t>An agent is anything that can be viewed as perceiving its environment through sensors and acting upon that environment through actuators. A rational agent is one that does the right thing — for each possible percept sequence, it selects an action expected to maximize its performance measure, given the evidence provided by the percept sequence and whatever built-in knowledge it has.</a:t>
            </a:r>
          </a:p>
        </p:txBody>
      </p:sp>
      <p:sp>
        <p:nvSpPr>
          <p:cNvPr id="5" name="TextBox 4"/>
          <p:cNvSpPr txBox="1"/>
          <p:nvPr/>
        </p:nvSpPr>
        <p:spPr>
          <a:xfrm>
            <a:off x="670465" y="585444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Russell &amp; Norvig, Artificial Intelligence: A Modern Approach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342" y="3760565"/>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023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68576"/>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85132"/>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747" y="345338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8632"/>
            <a:ext cx="2588514" cy="2628328"/>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8632"/>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82860" y="2931224"/>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9" name="TextBox 8"/>
          <p:cNvSpPr txBox="1"/>
          <p:nvPr/>
        </p:nvSpPr>
        <p:spPr>
          <a:xfrm>
            <a:off x="782860" y="320125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0" name="TextBox 9"/>
          <p:cNvSpPr txBox="1"/>
          <p:nvPr/>
        </p:nvSpPr>
        <p:spPr>
          <a:xfrm>
            <a:off x="782860" y="383724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1" name="Oval 10"/>
          <p:cNvSpPr/>
          <p:nvPr/>
        </p:nvSpPr>
        <p:spPr>
          <a:xfrm>
            <a:off x="782860"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32878" y="401240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3" name="Oval 12"/>
          <p:cNvSpPr/>
          <p:nvPr/>
        </p:nvSpPr>
        <p:spPr>
          <a:xfrm>
            <a:off x="782860"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32878" y="424034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5" name="Oval 14"/>
          <p:cNvSpPr/>
          <p:nvPr/>
        </p:nvSpPr>
        <p:spPr>
          <a:xfrm>
            <a:off x="782860"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2878" y="4468368"/>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7" name="TextBox 16"/>
          <p:cNvSpPr txBox="1"/>
          <p:nvPr/>
        </p:nvSpPr>
        <p:spPr>
          <a:xfrm>
            <a:off x="782860" y="4924330"/>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8" name="Rounded Rectangle 17"/>
          <p:cNvSpPr/>
          <p:nvPr/>
        </p:nvSpPr>
        <p:spPr>
          <a:xfrm>
            <a:off x="3424047"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3424047"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536442"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1" name="TextBox 20"/>
          <p:cNvSpPr txBox="1"/>
          <p:nvPr/>
        </p:nvSpPr>
        <p:spPr>
          <a:xfrm>
            <a:off x="3536442" y="3201257"/>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2" name="TextBox 21"/>
          <p:cNvSpPr txBox="1"/>
          <p:nvPr/>
        </p:nvSpPr>
        <p:spPr>
          <a:xfrm>
            <a:off x="3536442" y="3837242"/>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3" name="Oval 22"/>
          <p:cNvSpPr/>
          <p:nvPr/>
        </p:nvSpPr>
        <p:spPr>
          <a:xfrm>
            <a:off x="3536442"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686461" y="4012406"/>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5" name="Oval 24"/>
          <p:cNvSpPr/>
          <p:nvPr/>
        </p:nvSpPr>
        <p:spPr>
          <a:xfrm>
            <a:off x="3536442"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240340"/>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7" name="Oval 26"/>
          <p:cNvSpPr/>
          <p:nvPr/>
        </p:nvSpPr>
        <p:spPr>
          <a:xfrm>
            <a:off x="3536442"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468368"/>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29" name="TextBox 28"/>
          <p:cNvSpPr txBox="1"/>
          <p:nvPr/>
        </p:nvSpPr>
        <p:spPr>
          <a:xfrm>
            <a:off x="3536442" y="4748784"/>
            <a:ext cx="2418327" cy="440817"/>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0" name="Rounded Rectangle 29"/>
          <p:cNvSpPr/>
          <p:nvPr/>
        </p:nvSpPr>
        <p:spPr>
          <a:xfrm>
            <a:off x="6177629" y="2768632"/>
            <a:ext cx="2588514" cy="2628328"/>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177629" y="2768632"/>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290120" y="2966466"/>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3" name="TextBox 32"/>
          <p:cNvSpPr txBox="1"/>
          <p:nvPr/>
        </p:nvSpPr>
        <p:spPr>
          <a:xfrm>
            <a:off x="6290120" y="323640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4" name="TextBox 33"/>
          <p:cNvSpPr txBox="1"/>
          <p:nvPr/>
        </p:nvSpPr>
        <p:spPr>
          <a:xfrm>
            <a:off x="6290120" y="3872389"/>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5" name="Oval 34"/>
          <p:cNvSpPr/>
          <p:nvPr/>
        </p:nvSpPr>
        <p:spPr>
          <a:xfrm>
            <a:off x="6290120" y="413308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40043" y="404755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37" name="Oval 36"/>
          <p:cNvSpPr/>
          <p:nvPr/>
        </p:nvSpPr>
        <p:spPr>
          <a:xfrm>
            <a:off x="6290120" y="436111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40043" y="4275582"/>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39" name="Oval 38"/>
          <p:cNvSpPr/>
          <p:nvPr/>
        </p:nvSpPr>
        <p:spPr>
          <a:xfrm>
            <a:off x="6290120" y="458905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40043" y="450351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1" name="TextBox 40"/>
          <p:cNvSpPr txBox="1"/>
          <p:nvPr/>
        </p:nvSpPr>
        <p:spPr>
          <a:xfrm>
            <a:off x="6290120" y="4783931"/>
            <a:ext cx="2401824" cy="152400"/>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2" name="Rounded Rectangle 41"/>
          <p:cNvSpPr/>
          <p:nvPr/>
        </p:nvSpPr>
        <p:spPr>
          <a:xfrm>
            <a:off x="8931212"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8931212"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9043606"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5" name="TextBox 44"/>
          <p:cNvSpPr txBox="1"/>
          <p:nvPr/>
        </p:nvSpPr>
        <p:spPr>
          <a:xfrm>
            <a:off x="9043606" y="3201257"/>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46" name="TextBox 45"/>
          <p:cNvSpPr txBox="1"/>
          <p:nvPr/>
        </p:nvSpPr>
        <p:spPr>
          <a:xfrm>
            <a:off x="9043606" y="3649885"/>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47" name="Oval 46"/>
          <p:cNvSpPr/>
          <p:nvPr/>
        </p:nvSpPr>
        <p:spPr>
          <a:xfrm>
            <a:off x="9043606" y="39105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9193625" y="3825050"/>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49" name="Oval 48"/>
          <p:cNvSpPr/>
          <p:nvPr/>
        </p:nvSpPr>
        <p:spPr>
          <a:xfrm>
            <a:off x="9043606" y="431415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9193625" y="4228528"/>
            <a:ext cx="2251996"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1" name="Oval 50"/>
          <p:cNvSpPr/>
          <p:nvPr/>
        </p:nvSpPr>
        <p:spPr>
          <a:xfrm>
            <a:off x="9043606" y="454209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4456557"/>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3" name="TextBox 52"/>
          <p:cNvSpPr txBox="1"/>
          <p:nvPr/>
        </p:nvSpPr>
        <p:spPr>
          <a:xfrm>
            <a:off x="9043606" y="4912519"/>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4" name="Rounded Rectangle 5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6" name="Picture 55" descr="image.png"/>
          <p:cNvPicPr>
            <a:picLocks noChangeAspect="1"/>
          </p:cNvPicPr>
          <p:nvPr/>
        </p:nvPicPr>
        <p:blipFill>
          <a:blip r:embed="rId2"/>
          <a:stretch>
            <a:fillRect/>
          </a:stretch>
        </p:blipFill>
        <p:spPr>
          <a:xfrm>
            <a:off x="886016" y="5882735"/>
            <a:ext cx="243745" cy="243745"/>
          </a:xfrm>
          <a:prstGeom prst="rect">
            <a:avLst/>
          </a:prstGeom>
        </p:spPr>
      </p:pic>
      <p:sp>
        <p:nvSpPr>
          <p:cNvPr id="57" name="TextBox 56"/>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7170" cy="296608"/>
          </a:xfrm>
          <a:prstGeom prst="rect">
            <a:avLst/>
          </a:prstGeom>
          <a:noFill/>
        </p:spPr>
        <p:txBody>
          <a:bodyPr wrap="none" anchor="ctr" lIns="0" tIns="0" rIns="0" bIns="0">
            <a:noAutofit/>
          </a:bodyPr>
          <a:lstStyle/>
          <a:p>
            <a:pPr algn="l">
              <a:lnSpc>
                <a:spcPts val="2385"/>
              </a:lnSpc>
              <a:spcBef>
                <a:spcPts val="0"/>
              </a:spcBef>
              <a:spcAft>
                <a:spcPts val="0"/>
              </a:spcAft>
            </a:pPr>
            <a:r>
              <a:rPr sz="2074" b="1" i="0" u="none">
                <a:solidFill>
                  <a:srgbClr val="1F1E1E"/>
                </a:solidFill>
                <a:latin typeface="Arial"/>
              </a:rPr>
              <a:t>IA Tradicional vs. Foundation Models</a:t>
            </a:r>
          </a:p>
        </p:txBody>
      </p:sp>
      <p:sp>
        <p:nvSpPr>
          <p:cNvPr id="7" name="Rounded Rectangle 6"/>
          <p:cNvSpPr/>
          <p:nvPr/>
        </p:nvSpPr>
        <p:spPr>
          <a:xfrm>
            <a:off x="670465" y="3314890"/>
            <a:ext cx="5327428" cy="2498312"/>
          </a:xfrm>
          <a:prstGeom prst="roundRect">
            <a:avLst>
              <a:gd name="adj" fmla="val 8784"/>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14890"/>
            <a:ext cx="5327428"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47058" y="3583019"/>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DA1B2E"/>
                </a:solidFill>
                <a:latin typeface="Arial"/>
              </a:rPr>
              <a:t>IA Tradicional</a:t>
            </a:r>
          </a:p>
        </p:txBody>
      </p:sp>
      <p:sp>
        <p:nvSpPr>
          <p:cNvPr id="10" name="TextBox 9"/>
          <p:cNvSpPr txBox="1"/>
          <p:nvPr/>
        </p:nvSpPr>
        <p:spPr>
          <a:xfrm>
            <a:off x="847058" y="3966020"/>
            <a:ext cx="5012436" cy="206883"/>
          </a:xfrm>
          <a:prstGeom prst="rect">
            <a:avLst/>
          </a:prstGeom>
          <a:noFill/>
        </p:spPr>
        <p:txBody>
          <a:bodyPr wrap="none" anchor="ctr" lIns="0" tIns="0" rIns="0" bIns="0">
            <a:noAutofit/>
          </a:bodyPr>
          <a:lstStyle/>
          <a:p>
            <a:pPr algn="l">
              <a:lnSpc>
                <a:spcPts val="1960"/>
              </a:lnSpc>
              <a:spcBef>
                <a:spcPts val="0"/>
              </a:spcBef>
              <a:spcAft>
                <a:spcPts val="0"/>
              </a:spcAft>
            </a:pPr>
            <a:r>
              <a:rPr sz="1452" b="0" i="0" u="none">
                <a:solidFill>
                  <a:srgbClr val="3B3535"/>
                </a:solidFill>
                <a:latin typeface="Arial"/>
              </a:rPr>
              <a:t>Un modelo por tarea específica, entrenado en casa.</a:t>
            </a:r>
          </a:p>
        </p:txBody>
      </p:sp>
      <p:sp>
        <p:nvSpPr>
          <p:cNvPr id="11" name="Oval 10"/>
          <p:cNvSpPr/>
          <p:nvPr/>
        </p:nvSpPr>
        <p:spPr>
          <a:xfrm>
            <a:off x="847058" y="4375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023556" y="4297680"/>
            <a:ext cx="4888759" cy="736378"/>
          </a:xfrm>
          <a:prstGeom prst="rect">
            <a:avLst/>
          </a:prstGeom>
          <a:noFill/>
        </p:spPr>
        <p:txBody>
          <a:bodyPr wrap="square" anchor="ctr" lIns="0" tIns="0" rIns="0" bIns="0">
            <a:noAutofit/>
          </a:bodyPr>
          <a:lstStyle/>
          <a:p>
            <a:pPr algn="l">
              <a:lnSpc>
                <a:spcPts val="1797"/>
              </a:lnSpc>
              <a:spcBef>
                <a:spcPts val="0"/>
              </a:spcBef>
              <a:spcAft>
                <a:spcPts val="0"/>
              </a:spcAft>
            </a:pPr>
            <a:r>
              <a:rPr sz="1382" b="0" i="0" u="none">
                <a:solidFill>
                  <a:srgbClr val="3B3535"/>
                </a:solidFill>
                <a:latin typeface="Arial"/>
              </a:rPr>
              <a:t>Requiere datos etiquetados abundantes para cada caso de uso</a:t>
            </a:r>
          </a:p>
        </p:txBody>
      </p:sp>
      <p:sp>
        <p:nvSpPr>
          <p:cNvPr id="13" name="Oval 12"/>
          <p:cNvSpPr/>
          <p:nvPr/>
        </p:nvSpPr>
        <p:spPr>
          <a:xfrm>
            <a:off x="847058" y="489604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23556" y="4818412"/>
            <a:ext cx="4835842" cy="193167"/>
          </a:xfrm>
          <a:prstGeom prst="rect">
            <a:avLst/>
          </a:prstGeom>
          <a:noFill/>
        </p:spPr>
        <p:txBody>
          <a:bodyPr wrap="none" anchor="ctr" lIns="0" tIns="0" rIns="0" bIns="0">
            <a:noAutofit/>
          </a:bodyPr>
          <a:lstStyle/>
          <a:p>
            <a:pPr algn="l">
              <a:lnSpc>
                <a:spcPts val="1797"/>
              </a:lnSpc>
              <a:spcBef>
                <a:spcPts val="0"/>
              </a:spcBef>
              <a:spcAft>
                <a:spcPts val="0"/>
              </a:spcAft>
            </a:pPr>
            <a:r>
              <a:rPr sz="1382" b="0" i="0" u="none">
                <a:solidFill>
                  <a:srgbClr val="3B3535"/>
                </a:solidFill>
                <a:latin typeface="Arial"/>
              </a:rPr>
              <a:t>Difícil de reutilizar entre dominios distintos</a:t>
            </a:r>
          </a:p>
        </p:txBody>
      </p:sp>
      <p:sp>
        <p:nvSpPr>
          <p:cNvPr id="15" name="TextBox 14"/>
          <p:cNvSpPr txBox="1"/>
          <p:nvPr/>
        </p:nvSpPr>
        <p:spPr>
          <a:xfrm>
            <a:off x="847058" y="5189030"/>
            <a:ext cx="5068001" cy="422624"/>
          </a:xfrm>
          <a:prstGeom prst="rect">
            <a:avLst/>
          </a:prstGeom>
          <a:noFill/>
        </p:spPr>
        <p:txBody>
          <a:bodyPr wrap="square" anchor="ctr" lIns="0" tIns="0" rIns="0" bIns="0">
            <a:noAutofit/>
          </a:bodyPr>
          <a:lstStyle/>
          <a:p>
            <a:pPr algn="l">
              <a:lnSpc>
                <a:spcPts val="1797"/>
              </a:lnSpc>
              <a:spcBef>
                <a:spcPts val="0"/>
              </a:spcBef>
              <a:spcAft>
                <a:spcPts val="0"/>
              </a:spcAft>
            </a:pPr>
            <a:r>
              <a:rPr sz="1382" b="1" i="0" u="none">
                <a:solidFill>
                  <a:srgbClr val="1F1E1E"/>
                </a:solidFill>
                <a:latin typeface="Arial"/>
              </a:rPr>
              <a:t>Ejemplo: un detector de fallos en autopartes sólo detecta eso.</a:t>
            </a:r>
          </a:p>
        </p:txBody>
      </p:sp>
      <p:sp>
        <p:nvSpPr>
          <p:cNvPr id="16" name="Rounded Rectangle 15"/>
          <p:cNvSpPr/>
          <p:nvPr/>
        </p:nvSpPr>
        <p:spPr>
          <a:xfrm>
            <a:off x="6192107" y="3314890"/>
            <a:ext cx="5327428" cy="2498312"/>
          </a:xfrm>
          <a:prstGeom prst="roundRect">
            <a:avLst>
              <a:gd name="adj" fmla="val 878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192107" y="3314890"/>
            <a:ext cx="5327428"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68701" y="3541586"/>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1F1E1E"/>
                </a:solidFill>
                <a:latin typeface="Arial"/>
              </a:rPr>
              <a:t>Foundation Models</a:t>
            </a:r>
          </a:p>
        </p:txBody>
      </p:sp>
      <p:sp>
        <p:nvSpPr>
          <p:cNvPr id="19" name="TextBox 18"/>
          <p:cNvSpPr txBox="1"/>
          <p:nvPr/>
        </p:nvSpPr>
        <p:spPr>
          <a:xfrm>
            <a:off x="6368701" y="3924681"/>
            <a:ext cx="5068001" cy="802862"/>
          </a:xfrm>
          <a:prstGeom prst="rect">
            <a:avLst/>
          </a:prstGeom>
          <a:noFill/>
        </p:spPr>
        <p:txBody>
          <a:bodyPr wrap="square" anchor="ctr" lIns="0" tIns="0" rIns="0" bIns="0">
            <a:noAutofit/>
          </a:bodyPr>
          <a:lstStyle/>
          <a:p>
            <a:pPr algn="l">
              <a:lnSpc>
                <a:spcPts val="1960"/>
              </a:lnSpc>
              <a:spcBef>
                <a:spcPts val="0"/>
              </a:spcBef>
              <a:spcAft>
                <a:spcPts val="0"/>
              </a:spcAft>
            </a:pPr>
            <a:r>
              <a:rPr sz="1452" b="0" i="0" u="none">
                <a:solidFill>
                  <a:srgbClr val="3B3535"/>
                </a:solidFill>
                <a:latin typeface="Arial"/>
              </a:rPr>
              <a:t>Modelos entrenados con datos a gran escala que adquieren una comprensión general y se adaptan después.</a:t>
            </a:r>
          </a:p>
        </p:txBody>
      </p:sp>
      <p:sp>
        <p:nvSpPr>
          <p:cNvPr id="20" name="TextBox 19"/>
          <p:cNvSpPr txBox="1"/>
          <p:nvPr/>
        </p:nvSpPr>
        <p:spPr>
          <a:xfrm>
            <a:off x="6368701" y="4513516"/>
            <a:ext cx="5012436" cy="193167"/>
          </a:xfrm>
          <a:prstGeom prst="rect">
            <a:avLst/>
          </a:prstGeom>
          <a:noFill/>
        </p:spPr>
        <p:txBody>
          <a:bodyPr wrap="none" anchor="ctr" lIns="0" tIns="0" rIns="0" bIns="0">
            <a:noAutofit/>
          </a:bodyPr>
          <a:lstStyle/>
          <a:p>
            <a:pPr algn="l">
              <a:lnSpc>
                <a:spcPts val="1866"/>
              </a:lnSpc>
              <a:spcBef>
                <a:spcPts val="0"/>
              </a:spcBef>
              <a:spcAft>
                <a:spcPts val="0"/>
              </a:spcAft>
            </a:pPr>
            <a:r>
              <a:rPr sz="1382" b="0" i="0" u="none">
                <a:solidFill>
                  <a:srgbClr val="3B3535"/>
                </a:solidFill>
                <a:latin typeface="Arial"/>
              </a:rPr>
              <a:t>Se exponen como SaaS o se pueden correr localmente.</a:t>
            </a:r>
          </a:p>
        </p:txBody>
      </p:sp>
      <p:sp>
        <p:nvSpPr>
          <p:cNvPr id="21" name="TextBox 20"/>
          <p:cNvSpPr txBox="1"/>
          <p:nvPr/>
        </p:nvSpPr>
        <p:spPr>
          <a:xfrm>
            <a:off x="6368701" y="4840034"/>
            <a:ext cx="5068001" cy="723519"/>
          </a:xfrm>
          <a:prstGeom prst="rect">
            <a:avLst/>
          </a:prstGeom>
          <a:noFill/>
        </p:spPr>
        <p:txBody>
          <a:bodyPr wrap="square" anchor="ctr" lIns="0" tIns="0" rIns="0" bIns="0">
            <a:noAutofit/>
          </a:bodyPr>
          <a:lstStyle/>
          <a:p>
            <a:pPr algn="l">
              <a:lnSpc>
                <a:spcPts val="1866"/>
              </a:lnSpc>
              <a:spcBef>
                <a:spcPts val="0"/>
              </a:spcBef>
              <a:spcAft>
                <a:spcPts val="0"/>
              </a:spcAft>
            </a:pPr>
            <a:r>
              <a:rPr sz="1382" b="0" i="0" u="none">
                <a:solidFill>
                  <a:srgbClr val="3B3535"/>
                </a:solidFill>
                <a:latin typeface="Arial"/>
              </a:rPr>
              <a:t>No hace falta un equipo de data science para empezar a usarlos.</a:t>
            </a:r>
          </a:p>
        </p:txBody>
      </p:sp>
      <p:sp>
        <p:nvSpPr>
          <p:cNvPr id="22" name="TextBox 21"/>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2"/>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13494"/>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813494"/>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TextBox 8"/>
          <p:cNvSpPr txBox="1"/>
          <p:nvPr/>
        </p:nvSpPr>
        <p:spPr>
          <a:xfrm>
            <a:off x="670465" y="3556254"/>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10" name="Rounded Rectangle 9"/>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403181" y="3696462"/>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2" name="TextBox 11"/>
          <p:cNvSpPr txBox="1"/>
          <p:nvPr/>
        </p:nvSpPr>
        <p:spPr>
          <a:xfrm>
            <a:off x="670465" y="4605338"/>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3" name="Rounded Rectangle 12"/>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403181" y="4605338"/>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706"/>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554"/>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554"/>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2992" y="3760565"/>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 source line under the picture</a:t>
            </a:r>
          </a:p>
        </p:txBody>
      </p:sp>
      <p:pic>
        <p:nvPicPr>
          <p:cNvPr id="5" name="Picture 4" descr="image.png"/>
          <p:cNvPicPr>
            <a:picLocks noChangeAspect="1"/>
          </p:cNvPicPr>
          <p:nvPr/>
        </p:nvPicPr>
        <p:blipFill>
          <a:blip r:embed="rId2"/>
          <a:stretch>
            <a:fillRect/>
          </a:stretch>
        </p:blipFill>
        <p:spPr>
          <a:xfrm>
            <a:off x="0" y="1678019"/>
            <a:ext cx="12192000" cy="4500848"/>
          </a:xfrm>
          <a:prstGeom prst="rect">
            <a:avLst/>
          </a:prstGeom>
        </p:spPr>
      </p:pic>
      <p:sp>
        <p:nvSpPr>
          <p:cNvPr id="6" name="TextBox 5"/>
          <p:cNvSpPr txBox="1"/>
          <p:nvPr/>
        </p:nvSpPr>
        <p:spPr>
          <a:xfrm>
            <a:off x="670465" y="6344221"/>
            <a:ext cx="3357372"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3"/>
              </a:rPr>
              <a:t>Talksmith — md-to-deck</a:t>
            </a:r>
            <a:r>
              <a:rPr sz="1402" b="0" i="0" u="none">
                <a:solidFill>
                  <a:srgbClr val="6E6663"/>
                </a:solidFill>
                <a:latin typeface="Arial"/>
              </a:rPr>
              <a:t>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an ASCII figure, before Polish renders it</a:t>
            </a:r>
          </a:p>
        </p:txBody>
      </p:sp>
      <p:sp>
        <p:nvSpPr>
          <p:cNvPr id="5" name="Rounded Rectangle 4"/>
          <p:cNvSpPr/>
          <p:nvPr/>
        </p:nvSpPr>
        <p:spPr>
          <a:xfrm>
            <a:off x="670465" y="3385090"/>
            <a:ext cx="10851070" cy="2026253"/>
          </a:xfrm>
          <a:prstGeom prst="roundRect">
            <a:avLst>
              <a:gd name="adj" fmla="val 9627"/>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3394615"/>
            <a:ext cx="10832020" cy="34661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3731704"/>
            <a:ext cx="108320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29913" y="3516630"/>
            <a:ext cx="92869" cy="92869"/>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1012603" y="3516630"/>
            <a:ext cx="92869" cy="92869"/>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1195388" y="3516630"/>
            <a:ext cx="92869" cy="92869"/>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72598" y="4047554"/>
            <a:ext cx="10419557" cy="1086136"/>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1F1F1F"/>
                </a:solidFill>
                <a:latin typeface="Courier New"/>
              </a:rPr>
              <a:t>draft.md ──► FILL ──► slide-model.json ──► RENDER ──► index.html</a:t>
            </a:r>
          </a:p>
          <a:p>
            <a:pPr algn="l">
              <a:lnSpc>
                <a:spcPts val="2952"/>
              </a:lnSpc>
              <a:spcBef>
                <a:spcPts val="0"/>
              </a:spcBef>
              <a:spcAft>
                <a:spcPts val="0"/>
              </a:spcAft>
            </a:pPr>
            <a:r>
              <a:rPr sz="1968" b="0" i="0" u="none">
                <a:solidFill>
                  <a:srgbClr val="1F1F1F"/>
                </a:solidFill>
                <a:latin typeface="Courier New"/>
              </a:rPr>
              <a:t>              │                                   │</a:t>
            </a:r>
          </a:p>
          <a:p>
            <a:pPr algn="l">
              <a:lnSpc>
                <a:spcPts val="2952"/>
              </a:lnSpc>
              <a:spcBef>
                <a:spcPts val="0"/>
              </a:spcBef>
              <a:spcAft>
                <a:spcPts val="0"/>
              </a:spcAft>
            </a:pPr>
            <a:r>
              <a:rPr sz="1968" b="0" i="0" u="none">
                <a:solidFill>
                  <a:srgbClr val="1F1F1F"/>
                </a:solidFill>
                <a:latin typeface="Courier New"/>
              </a:rPr>
              <a:t>              └──── audits (coverage, diversity)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333661"/>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109216"/>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3454" y="1902428"/>
            <a:ext cx="89345" cy="89345"/>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79096" y="1902428"/>
            <a:ext cx="89345" cy="89345"/>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54736" y="1902428"/>
            <a:ext cx="89345" cy="89345"/>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571607" y="1861661"/>
            <a:ext cx="594741" cy="152400"/>
          </a:xfrm>
          <a:prstGeom prst="rect">
            <a:avLst/>
          </a:prstGeom>
          <a:noFill/>
        </p:spPr>
        <p:txBody>
          <a:bodyPr wrap="none" anchor="ctr" lIns="0" tIns="0" rIns="0" bIns="0">
            <a:noAutofit/>
          </a:bodyPr>
          <a:lstStyle/>
          <a:p>
            <a:pPr algn="l">
              <a:lnSpc>
                <a:spcPts val="1044"/>
              </a:lnSpc>
              <a:spcBef>
                <a:spcPts val="0"/>
              </a:spcBef>
              <a:spcAft>
                <a:spcPts val="0"/>
              </a:spcAft>
            </a:pPr>
            <a:r>
              <a:rPr sz="1044" b="0" i="0" u="none" spc="104">
                <a:solidFill>
                  <a:srgbClr val="6E6E78"/>
                </a:solidFill>
                <a:latin typeface="Courier New"/>
              </a:rPr>
              <a:t>PYTHON</a:t>
            </a:r>
          </a:p>
        </p:txBody>
      </p:sp>
      <p:sp>
        <p:nvSpPr>
          <p:cNvPr id="14" name="TextBox 13"/>
          <p:cNvSpPr txBox="1"/>
          <p:nvPr/>
        </p:nvSpPr>
        <p:spPr>
          <a:xfrm>
            <a:off x="6452044" y="2424970"/>
            <a:ext cx="4855888" cy="3549491"/>
          </a:xfrm>
          <a:prstGeom prst="rect">
            <a:avLst/>
          </a:prstGeom>
          <a:noFill/>
        </p:spPr>
        <p:txBody>
          <a:bodyPr wrap="square" anchor="ctr" lIns="0" tIns="0" rIns="0" bIns="0">
            <a:noAutofit/>
          </a:bodyPr>
          <a:lstStyle/>
          <a:p>
            <a:pPr algn="l">
              <a:lnSpc>
                <a:spcPts val="2837"/>
              </a:lnSpc>
              <a:spcBef>
                <a:spcPts val="0"/>
              </a:spcBef>
              <a:spcAft>
                <a:spcPts val="0"/>
              </a:spcAft>
            </a:pPr>
            <a:r>
              <a:rPr sz="1891" b="0" i="0" u="none">
                <a:solidFill>
                  <a:srgbClr val="1F1F1F"/>
                </a:solidFill>
                <a:latin typeface="Courier New"/>
              </a:rPr>
              <a:t>client.messages.create(</a:t>
            </a:r>
          </a:p>
          <a:p>
            <a:pPr algn="l">
              <a:lnSpc>
                <a:spcPts val="2837"/>
              </a:lnSpc>
              <a:spcBef>
                <a:spcPts val="0"/>
              </a:spcBef>
              <a:spcAft>
                <a:spcPts val="0"/>
              </a:spcAft>
            </a:pPr>
            <a:r>
              <a:rPr sz="1891" b="0" i="0" u="none">
                <a:solidFill>
                  <a:srgbClr val="1F1F1F"/>
                </a:solidFill>
                <a:latin typeface="Courier New"/>
              </a:rPr>
              <a:t>  model=</a:t>
            </a:r>
            <a:r>
              <a:rPr sz="1891" b="0" i="0" u="none">
                <a:solidFill>
                  <a:srgbClr val="A31515"/>
                </a:solidFill>
                <a:latin typeface="Courier New"/>
              </a:rPr>
              <a:t>"claude-opus-4-8"</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system=[{</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 SYSTEM_PROMPT,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"cache_control"</a:t>
            </a: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"ephemeral"</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p>
          <a:p>
            <a:pPr algn="l">
              <a:lnSpc>
                <a:spcPts val="2837"/>
              </a:lnSpc>
              <a:spcBef>
                <a:spcPts val="0"/>
              </a:spcBef>
              <a:spcAft>
                <a:spcPts val="0"/>
              </a:spcAft>
            </a:pPr>
            <a:r>
              <a:rPr sz="1891" b="0" i="0" u="none">
                <a:solidFill>
                  <a:srgbClr val="1F1F1F"/>
                </a:solidFill>
                <a:latin typeface="Courier New"/>
              </a:rPr>
              <a:t>  messages=msgs,</a:t>
            </a:r>
          </a:p>
          <a:p>
            <a:pPr algn="l">
              <a:lnSpc>
                <a:spcPts val="2837"/>
              </a:lnSpc>
              <a:spcBef>
                <a:spcPts val="0"/>
              </a:spcBef>
              <a:spcAft>
                <a:spcPts val="0"/>
              </a:spcAft>
            </a:pPr>
            <a:r>
              <a:rPr sz="1891" b="0" i="0" u="none">
                <a:solidFill>
                  <a:srgbClr val="1F1F1F"/>
                </a:solidFill>
                <a:latin typeface="Courier New"/>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3630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64879"/>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378" y="2383917"/>
            <a:ext cx="34957" cy="3495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148" y="2383917"/>
            <a:ext cx="34957" cy="3495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3919" y="2383917"/>
            <a:ext cx="34957" cy="3495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996803" y="2365915"/>
            <a:ext cx="401669" cy="66675"/>
          </a:xfrm>
          <a:prstGeom prst="rect">
            <a:avLst/>
          </a:prstGeom>
          <a:noFill/>
        </p:spPr>
        <p:txBody>
          <a:bodyPr wrap="none" anchor="ctr" lIns="0" tIns="0" rIns="0" bIns="0">
            <a:noAutofit/>
          </a:bodyPr>
          <a:lstStyle/>
          <a:p>
            <a:pPr algn="l">
              <a:lnSpc>
                <a:spcPts val="409"/>
              </a:lnSpc>
              <a:spcBef>
                <a:spcPts val="0"/>
              </a:spcBef>
              <a:spcAft>
                <a:spcPts val="0"/>
              </a:spcAft>
            </a:pPr>
            <a:r>
              <a:rPr sz="409" b="0" i="0" u="none" spc="41">
                <a:solidFill>
                  <a:srgbClr val="6E6E78"/>
                </a:solidFill>
                <a:latin typeface="Courier New"/>
              </a:rPr>
              <a:t>TYPESCRIPT</a:t>
            </a:r>
          </a:p>
        </p:txBody>
      </p:sp>
      <p:sp>
        <p:nvSpPr>
          <p:cNvPr id="12" name="TextBox 11"/>
          <p:cNvSpPr txBox="1"/>
          <p:nvPr/>
        </p:nvSpPr>
        <p:spPr>
          <a:xfrm>
            <a:off x="972598" y="2752154"/>
            <a:ext cx="10417430" cy="3223070"/>
          </a:xfrm>
          <a:prstGeom prst="rect">
            <a:avLst/>
          </a:prstGeom>
          <a:noFill/>
        </p:spPr>
        <p:txBody>
          <a:bodyPr wrap="square" anchor="ctr" lIns="0" tIns="0" rIns="0" bIns="0">
            <a:noAutofit/>
          </a:bodyPr>
          <a:lstStyle/>
          <a:p>
            <a:pPr algn="l">
              <a:lnSpc>
                <a:spcPts val="1112"/>
              </a:lnSpc>
              <a:spcBef>
                <a:spcPts val="0"/>
              </a:spcBef>
              <a:spcAft>
                <a:spcPts val="0"/>
              </a:spcAft>
            </a:pPr>
            <a:r>
              <a:rPr sz="741" b="0" i="0" u="none">
                <a:solidFill>
                  <a:srgbClr val="0000FF"/>
                </a:solidFill>
                <a:latin typeface="Courier New"/>
              </a:rPr>
              <a:t>type</a:t>
            </a:r>
            <a:r>
              <a:rPr sz="741" b="0" i="0" u="none">
                <a:solidFill>
                  <a:srgbClr val="1F1F1F"/>
                </a:solidFill>
                <a:latin typeface="Courier New"/>
              </a:rPr>
              <a:t> </a:t>
            </a:r>
            <a:r>
              <a:rPr sz="741" b="0" i="0" u="none">
                <a:solidFill>
                  <a:srgbClr val="267F99"/>
                </a:solidFill>
                <a:latin typeface="Courier New"/>
              </a:rPr>
              <a:t>Cache</a:t>
            </a:r>
            <a:r>
              <a:rPr sz="741" b="0" i="0" u="none">
                <a:solidFill>
                  <a:srgbClr val="1F1F1F"/>
                </a:solidFill>
                <a:latin typeface="Courier New"/>
              </a:rPr>
              <a:t> = { </a:t>
            </a:r>
            <a:r>
              <a:rPr sz="741" b="0" i="0" u="none">
                <a:solidFill>
                  <a:srgbClr val="001080"/>
                </a:solidFill>
                <a:latin typeface="Courier New"/>
              </a:rPr>
              <a:t>key</a:t>
            </a:r>
            <a:r>
              <a:rPr sz="741" b="0" i="0" u="none">
                <a:solidFill>
                  <a:srgbClr val="1F1F1F"/>
                </a:solidFill>
                <a:latin typeface="Courier New"/>
              </a:rPr>
              <a:t>: </a:t>
            </a:r>
            <a:r>
              <a:rPr sz="741" b="0" i="0" u="none">
                <a:solidFill>
                  <a:srgbClr val="267F99"/>
                </a:solidFill>
                <a:latin typeface="Courier New"/>
              </a:rPr>
              <a:t>string</a:t>
            </a:r>
            <a:r>
              <a:rPr sz="741" b="0" i="0" u="none">
                <a:solidFill>
                  <a:srgbClr val="1F1F1F"/>
                </a:solidFill>
                <a:latin typeface="Courier New"/>
              </a:rPr>
              <a:t>; </a:t>
            </a:r>
            <a:r>
              <a:rPr sz="741" b="0" i="0" u="none">
                <a:solidFill>
                  <a:srgbClr val="001080"/>
                </a:solidFill>
                <a:latin typeface="Courier New"/>
              </a:rPr>
              <a:t>ttl</a:t>
            </a:r>
            <a:r>
              <a:rPr sz="741" b="0" i="0" u="none">
                <a:solidFill>
                  <a:srgbClr val="1F1F1F"/>
                </a:solidFill>
                <a:latin typeface="Courier New"/>
              </a:rPr>
              <a:t>: </a:t>
            </a:r>
            <a:r>
              <a:rPr sz="741" b="0" i="0" u="none">
                <a:solidFill>
                  <a:srgbClr val="267F99"/>
                </a:solidFill>
                <a:latin typeface="Courier New"/>
              </a:rPr>
              <a:t>number</a:t>
            </a:r>
            <a:r>
              <a:rPr sz="741" b="0" i="0" u="none">
                <a:solidFill>
                  <a:srgbClr val="1F1F1F"/>
                </a:solidFill>
                <a:latin typeface="Courier New"/>
              </a:rPr>
              <a:t> };</a:t>
            </a:r>
          </a:p>
          <a:p>
            <a:pPr algn="l">
              <a:lnSpc>
                <a:spcPts val="1112"/>
              </a:lnSpc>
              <a:spcBef>
                <a:spcPts val="0"/>
              </a:spcBef>
              <a:spcAft>
                <a:spcPts val="0"/>
              </a:spcAft>
            </a:pPr>
          </a:p>
          <a:p>
            <a:pPr algn="l">
              <a:lnSpc>
                <a:spcPts val="1112"/>
              </a:lnSpc>
              <a:spcBef>
                <a:spcPts val="0"/>
              </a:spcBef>
              <a:spcAft>
                <a:spcPts val="0"/>
              </a:spcAft>
            </a:pPr>
            <a:r>
              <a:rPr sz="741" b="0" i="0" u="none">
                <a:solidFill>
                  <a:srgbClr val="0000FF"/>
                </a:solidFill>
                <a:latin typeface="Courier New"/>
              </a:rPr>
              <a:t>export</a:t>
            </a:r>
            <a:r>
              <a:rPr sz="741" b="0" i="0" u="none">
                <a:solidFill>
                  <a:srgbClr val="1F1F1F"/>
                </a:solidFill>
                <a:latin typeface="Courier New"/>
              </a:rPr>
              <a:t> </a:t>
            </a:r>
            <a:r>
              <a:rPr sz="741" b="0" i="0" u="none">
                <a:solidFill>
                  <a:srgbClr val="0000FF"/>
                </a:solidFill>
                <a:latin typeface="Courier New"/>
              </a:rPr>
              <a:t>async</a:t>
            </a:r>
            <a:r>
              <a:rPr sz="741" b="0" i="0" u="none">
                <a:solidFill>
                  <a:srgbClr val="1F1F1F"/>
                </a:solidFill>
                <a:latin typeface="Courier New"/>
              </a:rPr>
              <a:t> </a:t>
            </a:r>
            <a:r>
              <a:rPr sz="741" b="0" i="0" u="none">
                <a:solidFill>
                  <a:srgbClr val="0000FF"/>
                </a:solidFill>
                <a:latin typeface="Courier New"/>
              </a:rPr>
              <a:t>function</a:t>
            </a:r>
            <a:r>
              <a:rPr sz="741" b="0" i="0" u="none">
                <a:solidFill>
                  <a:srgbClr val="1F1F1F"/>
                </a:solidFill>
                <a:latin typeface="Courier New"/>
              </a:rPr>
              <a:t> </a:t>
            </a:r>
            <a:r>
              <a:rPr sz="741" b="0" i="0" u="none">
                <a:solidFill>
                  <a:srgbClr val="795E26"/>
                </a:solidFill>
                <a:latin typeface="Courier New"/>
              </a:rPr>
              <a:t>ask</a:t>
            </a:r>
            <a:r>
              <a:rPr sz="741" b="0" i="0" u="none">
                <a:solidFill>
                  <a:srgbClr val="1F1F1F"/>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prompt</a:t>
            </a:r>
            <a:r>
              <a:rPr sz="741" b="0" i="0" u="none">
                <a:solidFill>
                  <a:srgbClr val="001080"/>
                </a:solidFill>
                <a:latin typeface="Courier New"/>
              </a:rPr>
              <a:t>: </a:t>
            </a:r>
            <a:r>
              <a:rPr sz="741" b="0" i="0" u="none">
                <a:solidFill>
                  <a:srgbClr val="267F99"/>
                </a:solidFill>
                <a:latin typeface="Courier New"/>
              </a:rPr>
              <a:t>string</a:t>
            </a:r>
            <a:r>
              <a:rPr sz="741" b="0" i="0" u="none">
                <a:solidFill>
                  <a:srgbClr val="001080"/>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opts</a:t>
            </a:r>
            <a:r>
              <a:rPr sz="741" b="0" i="0" u="none">
                <a:solidFill>
                  <a:srgbClr val="001080"/>
                </a:solidFill>
                <a:latin typeface="Courier New"/>
              </a:rPr>
              <a:t>: </a:t>
            </a:r>
            <a:r>
              <a:rPr sz="741" b="0" i="0" u="none">
                <a:solidFill>
                  <a:srgbClr val="267F99"/>
                </a:solidFill>
                <a:latin typeface="Courier New"/>
              </a:rPr>
              <a:t>Partial</a:t>
            </a:r>
            <a:r>
              <a:rPr sz="741" b="0" i="0" u="none">
                <a:solidFill>
                  <a:srgbClr val="001080"/>
                </a:solidFill>
                <a:latin typeface="Courier New"/>
              </a:rPr>
              <a:t>&lt;</a:t>
            </a:r>
            <a:r>
              <a:rPr sz="741" b="0" i="0" u="none">
                <a:solidFill>
                  <a:srgbClr val="267F99"/>
                </a:solidFill>
                <a:latin typeface="Courier New"/>
              </a:rPr>
              <a:t>Cache</a:t>
            </a:r>
            <a:r>
              <a:rPr sz="741" b="0" i="0" u="none">
                <a:solidFill>
                  <a:srgbClr val="001080"/>
                </a:solidFill>
                <a:latin typeface="Courier New"/>
              </a:rPr>
              <a:t>&gt; = {},</a:t>
            </a:r>
          </a:p>
          <a:p>
            <a:pPr algn="l">
              <a:lnSpc>
                <a:spcPts val="1112"/>
              </a:lnSpc>
              <a:spcBef>
                <a:spcPts val="0"/>
              </a:spcBef>
              <a:spcAft>
                <a:spcPts val="0"/>
              </a:spcAft>
            </a:pPr>
            <a:r>
              <a:rPr sz="741" b="0" i="0" u="none">
                <a:solidFill>
                  <a:srgbClr val="1F1F1F"/>
                </a:solidFill>
                <a:latin typeface="Courier New"/>
              </a:rPr>
              <a:t>): </a:t>
            </a:r>
            <a:r>
              <a:rPr sz="741" b="0" i="0" u="none">
                <a:solidFill>
                  <a:srgbClr val="267F99"/>
                </a:solidFill>
                <a:latin typeface="Courier New"/>
              </a:rPr>
              <a:t>Promise</a:t>
            </a:r>
            <a:r>
              <a:rPr sz="741" b="0" i="0" u="none">
                <a:solidFill>
                  <a:srgbClr val="1F1F1F"/>
                </a:solidFill>
                <a:latin typeface="Courier New"/>
              </a:rPr>
              <a:t>&lt;</a:t>
            </a:r>
            <a:r>
              <a:rPr sz="741" b="0" i="0" u="none">
                <a:solidFill>
                  <a:srgbClr val="267F99"/>
                </a:solidFill>
                <a:latin typeface="Courier New"/>
              </a:rPr>
              <a:t>string</a:t>
            </a:r>
            <a:r>
              <a:rPr sz="741" b="0" i="0" u="none">
                <a:solidFill>
                  <a:srgbClr val="1F1F1F"/>
                </a:solidFill>
                <a:latin typeface="Courier New"/>
              </a:rPr>
              <a:t>&gt;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t0 = performance.</a:t>
            </a:r>
            <a:r>
              <a:rPr sz="741" b="0" i="0" u="none">
                <a:solidFill>
                  <a:srgbClr val="795E26"/>
                </a:solidFill>
                <a:latin typeface="Courier New"/>
              </a:rPr>
              <a:t>now</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1" u="none">
                <a:solidFill>
                  <a:srgbClr val="008000"/>
                </a:solidFill>
                <a:latin typeface="Courier New"/>
              </a:rPr>
              <a:t>// one retry: a 529 is the API saying "later", not "no"</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for</a:t>
            </a:r>
            <a:r>
              <a:rPr sz="741" b="0" i="0" u="none">
                <a:solidFill>
                  <a:srgbClr val="1F1F1F"/>
                </a:solidFill>
                <a:latin typeface="Courier New"/>
              </a:rPr>
              <a:t> (</a:t>
            </a:r>
            <a:r>
              <a:rPr sz="741" b="0" i="0" u="none">
                <a:solidFill>
                  <a:srgbClr val="0000FF"/>
                </a:solidFill>
                <a:latin typeface="Courier New"/>
              </a:rPr>
              <a:t>let</a:t>
            </a:r>
            <a:r>
              <a:rPr sz="741" b="0" i="0" u="none">
                <a:solidFill>
                  <a:srgbClr val="1F1F1F"/>
                </a:solidFill>
                <a:latin typeface="Courier New"/>
              </a:rPr>
              <a:t> i = </a:t>
            </a:r>
            <a:r>
              <a:rPr sz="741" b="0" i="0" u="none">
                <a:solidFill>
                  <a:srgbClr val="098658"/>
                </a:solidFill>
                <a:latin typeface="Courier New"/>
              </a:rPr>
              <a:t>0</a:t>
            </a:r>
            <a:r>
              <a:rPr sz="741" b="0" i="0" u="none">
                <a:solidFill>
                  <a:srgbClr val="1F1F1F"/>
                </a:solidFill>
                <a:latin typeface="Courier New"/>
              </a:rPr>
              <a:t>; i &lt; </a:t>
            </a:r>
            <a:r>
              <a:rPr sz="741" b="0" i="0" u="none">
                <a:solidFill>
                  <a:srgbClr val="098658"/>
                </a:solidFill>
                <a:latin typeface="Courier New"/>
              </a:rPr>
              <a:t>2</a:t>
            </a:r>
            <a:r>
              <a:rPr sz="741" b="0" i="0" u="none">
                <a:solidFill>
                  <a:srgbClr val="1F1F1F"/>
                </a:solidFill>
                <a:latin typeface="Courier New"/>
              </a:rPr>
              <a:t>; i++)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res = </a:t>
            </a:r>
            <a:r>
              <a:rPr sz="741" b="0" i="0" u="none">
                <a:solidFill>
                  <a:srgbClr val="0000FF"/>
                </a:solidFill>
                <a:latin typeface="Courier New"/>
              </a:rPr>
              <a:t>await</a:t>
            </a:r>
            <a:r>
              <a:rPr sz="741" b="0" i="0" u="none">
                <a:solidFill>
                  <a:srgbClr val="1F1F1F"/>
                </a:solidFill>
                <a:latin typeface="Courier New"/>
              </a:rPr>
              <a:t> client.</a:t>
            </a:r>
            <a:r>
              <a:rPr sz="741" b="0" i="0" u="none">
                <a:solidFill>
                  <a:srgbClr val="001080"/>
                </a:solidFill>
                <a:latin typeface="Courier New"/>
              </a:rPr>
              <a:t>messages</a:t>
            </a:r>
            <a:r>
              <a:rPr sz="741" b="0" i="0" u="none">
                <a:solidFill>
                  <a:srgbClr val="1F1F1F"/>
                </a:solidFill>
                <a:latin typeface="Courier New"/>
              </a:rPr>
              <a:t>.</a:t>
            </a:r>
            <a:r>
              <a:rPr sz="741" b="0" i="0" u="none">
                <a:solidFill>
                  <a:srgbClr val="795E26"/>
                </a:solidFill>
                <a:latin typeface="Courier New"/>
              </a:rPr>
              <a:t>create</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model</a:t>
            </a:r>
            <a:r>
              <a:rPr sz="741" b="0" i="0" u="none">
                <a:solidFill>
                  <a:srgbClr val="1F1F1F"/>
                </a:solidFill>
                <a:latin typeface="Courier New"/>
              </a:rPr>
              <a:t>: </a:t>
            </a:r>
            <a:r>
              <a:rPr sz="741" b="0" i="0" u="none">
                <a:solidFill>
                  <a:srgbClr val="A31515"/>
                </a:solidFill>
                <a:latin typeface="Courier New"/>
              </a:rPr>
              <a:t>"claude-opus-4-8"</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max_tokens</a:t>
            </a:r>
            <a:r>
              <a:rPr sz="741" b="0" i="0" u="none">
                <a:solidFill>
                  <a:srgbClr val="1F1F1F"/>
                </a:solidFill>
                <a:latin typeface="Courier New"/>
              </a:rPr>
              <a:t>: </a:t>
            </a:r>
            <a:r>
              <a:rPr sz="741" b="0" i="0" u="none">
                <a:solidFill>
                  <a:srgbClr val="098658"/>
                </a:solidFill>
                <a:latin typeface="Courier New"/>
              </a:rPr>
              <a:t>1024</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 </a:t>
            </a:r>
            <a:r>
              <a:rPr sz="741" b="0" i="0" u="none">
                <a:solidFill>
                  <a:srgbClr val="001080"/>
                </a:solidFill>
                <a:latin typeface="Courier New"/>
              </a:rPr>
              <a:t>type</a:t>
            </a:r>
            <a:r>
              <a:rPr sz="741" b="0" i="0" u="none">
                <a:solidFill>
                  <a:srgbClr val="1F1F1F"/>
                </a:solidFill>
                <a:latin typeface="Courier New"/>
              </a:rPr>
              <a:t>: </a:t>
            </a:r>
            <a:r>
              <a:rPr sz="741" b="0" i="0" u="none">
                <a:solidFill>
                  <a:srgbClr val="A31515"/>
                </a:solidFill>
                <a:latin typeface="Courier New"/>
              </a:rPr>
              <a:t>"text"</a:t>
            </a:r>
            <a:r>
              <a:rPr sz="741" b="0" i="0" u="none">
                <a:solidFill>
                  <a:srgbClr val="1F1F1F"/>
                </a:solidFill>
                <a:latin typeface="Courier New"/>
              </a:rPr>
              <a:t>, </a:t>
            </a:r>
            <a:r>
              <a:rPr sz="741" b="0" i="0" u="none">
                <a:solidFill>
                  <a:srgbClr val="001080"/>
                </a:solidFill>
                <a:latin typeface="Courier New"/>
              </a:rPr>
              <a:t>text</a:t>
            </a: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messages</a:t>
            </a:r>
            <a:r>
              <a:rPr sz="741" b="0" i="0" u="none">
                <a:solidFill>
                  <a:srgbClr val="1F1F1F"/>
                </a:solidFill>
                <a:latin typeface="Courier New"/>
              </a:rPr>
              <a:t>: [{ </a:t>
            </a:r>
            <a:r>
              <a:rPr sz="741" b="0" i="0" u="none">
                <a:solidFill>
                  <a:srgbClr val="001080"/>
                </a:solidFill>
                <a:latin typeface="Courier New"/>
              </a:rPr>
              <a:t>role</a:t>
            </a:r>
            <a:r>
              <a:rPr sz="741" b="0" i="0" u="none">
                <a:solidFill>
                  <a:srgbClr val="1F1F1F"/>
                </a:solidFill>
                <a:latin typeface="Courier New"/>
              </a:rPr>
              <a:t>: </a:t>
            </a:r>
            <a:r>
              <a:rPr sz="741" b="0" i="0" u="none">
                <a:solidFill>
                  <a:srgbClr val="A31515"/>
                </a:solidFill>
                <a:latin typeface="Courier New"/>
              </a:rPr>
              <a:t>"user"</a:t>
            </a:r>
            <a:r>
              <a:rPr sz="741" b="0" i="0" u="none">
                <a:solidFill>
                  <a:srgbClr val="1F1F1F"/>
                </a:solidFill>
                <a:latin typeface="Courier New"/>
              </a:rPr>
              <a:t>, </a:t>
            </a:r>
            <a:r>
              <a:rPr sz="741" b="0" i="0" u="none">
                <a:solidFill>
                  <a:srgbClr val="001080"/>
                </a:solidFill>
                <a:latin typeface="Courier New"/>
              </a:rPr>
              <a:t>content</a:t>
            </a:r>
            <a:r>
              <a:rPr sz="741" b="0" i="0" u="none">
                <a:solidFill>
                  <a:srgbClr val="1F1F1F"/>
                </a:solidFill>
                <a:latin typeface="Courier New"/>
              </a:rPr>
              <a:t>: prompt }],</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if</a:t>
            </a:r>
            <a:r>
              <a:rPr sz="741" b="0" i="0" u="none">
                <a:solidFill>
                  <a:srgbClr val="1F1F1F"/>
                </a:solidFill>
                <a:latin typeface="Courier New"/>
              </a:rPr>
              <a:t> (res.</a:t>
            </a:r>
            <a:r>
              <a:rPr sz="741" b="0" i="0" u="none">
                <a:solidFill>
                  <a:srgbClr val="001080"/>
                </a:solidFill>
                <a:latin typeface="Courier New"/>
              </a:rPr>
              <a:t>stop_reason</a:t>
            </a:r>
            <a:r>
              <a:rPr sz="741" b="0" i="0" u="none">
                <a:solidFill>
                  <a:srgbClr val="1F1F1F"/>
                </a:solidFill>
                <a:latin typeface="Courier New"/>
              </a:rPr>
              <a:t> !== </a:t>
            </a:r>
            <a:r>
              <a:rPr sz="741" b="0" i="0" u="none">
                <a:solidFill>
                  <a:srgbClr val="A31515"/>
                </a:solidFill>
                <a:latin typeface="Courier New"/>
              </a:rPr>
              <a:t>"overloaded"</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log.</a:t>
            </a:r>
            <a:r>
              <a:rPr sz="741" b="0" i="0" u="none">
                <a:solidFill>
                  <a:srgbClr val="795E26"/>
                </a:solidFill>
                <a:latin typeface="Courier New"/>
              </a:rPr>
              <a:t>info</a:t>
            </a:r>
            <a:r>
              <a:rPr sz="741" b="0" i="0" u="none">
                <a:solidFill>
                  <a:srgbClr val="1F1F1F"/>
                </a:solidFill>
                <a:latin typeface="Courier New"/>
              </a:rPr>
              <a:t>(</a:t>
            </a:r>
            <a:r>
              <a:rPr sz="741" b="0" i="0" u="none">
                <a:solidFill>
                  <a:srgbClr val="A31515"/>
                </a:solidFill>
                <a:latin typeface="Courier New"/>
              </a:rPr>
              <a:t>"ask"</a:t>
            </a:r>
            <a:r>
              <a:rPr sz="741" b="0" i="0" u="none">
                <a:solidFill>
                  <a:srgbClr val="1F1F1F"/>
                </a:solidFill>
                <a:latin typeface="Courier New"/>
              </a:rPr>
              <a:t>, { </a:t>
            </a:r>
            <a:r>
              <a:rPr sz="741" b="0" i="0" u="none">
                <a:solidFill>
                  <a:srgbClr val="001080"/>
                </a:solidFill>
                <a:latin typeface="Courier New"/>
              </a:rPr>
              <a:t>ms</a:t>
            </a:r>
            <a:r>
              <a:rPr sz="741" b="0" i="0" u="none">
                <a:solidFill>
                  <a:srgbClr val="1F1F1F"/>
                </a:solidFill>
                <a:latin typeface="Courier New"/>
              </a:rPr>
              <a:t>: performance.</a:t>
            </a:r>
            <a:r>
              <a:rPr sz="741" b="0" i="0" u="none">
                <a:solidFill>
                  <a:srgbClr val="795E26"/>
                </a:solidFill>
                <a:latin typeface="Courier New"/>
              </a:rPr>
              <a:t>now</a:t>
            </a:r>
            <a:r>
              <a:rPr sz="741" b="0" i="0" u="none">
                <a:solidFill>
                  <a:srgbClr val="1F1F1F"/>
                </a:solidFill>
                <a:latin typeface="Courier New"/>
              </a:rPr>
              <a:t>() - t0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return</a:t>
            </a:r>
            <a:r>
              <a:rPr sz="741" b="0" i="0" u="none">
                <a:solidFill>
                  <a:srgbClr val="1F1F1F"/>
                </a:solidFill>
                <a:latin typeface="Courier New"/>
              </a:rPr>
              <a:t> res.</a:t>
            </a:r>
            <a:r>
              <a:rPr sz="741" b="0" i="0" u="none">
                <a:solidFill>
                  <a:srgbClr val="001080"/>
                </a:solidFill>
                <a:latin typeface="Courier New"/>
              </a:rPr>
              <a:t>content</a:t>
            </a:r>
            <a:r>
              <a:rPr sz="741" b="0" i="0" u="none">
                <a:solidFill>
                  <a:srgbClr val="1F1F1F"/>
                </a:solidFill>
                <a:latin typeface="Courier New"/>
              </a:rPr>
              <a:t>[</a:t>
            </a:r>
            <a:r>
              <a:rPr sz="741" b="0" i="0" u="none">
                <a:solidFill>
                  <a:srgbClr val="098658"/>
                </a:solidFill>
                <a:latin typeface="Courier New"/>
              </a:rPr>
              <a:t>0</a:t>
            </a:r>
            <a:r>
              <a:rPr sz="741" b="0" i="0" u="none">
                <a:solidFill>
                  <a:srgbClr val="1F1F1F"/>
                </a:solidFill>
                <a:latin typeface="Courier New"/>
              </a:rPr>
              <a:t>].</a:t>
            </a:r>
            <a:r>
              <a:rPr sz="741" b="0" i="0" u="none">
                <a:solidFill>
                  <a:srgbClr val="001080"/>
                </a:solidFill>
                <a:latin typeface="Courier New"/>
              </a:rPr>
              <a:t>text</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await</a:t>
            </a:r>
            <a:r>
              <a:rPr sz="741" b="0" i="0" u="none">
                <a:solidFill>
                  <a:srgbClr val="1F1F1F"/>
                </a:solidFill>
                <a:latin typeface="Courier New"/>
              </a:rPr>
              <a:t> </a:t>
            </a:r>
            <a:r>
              <a:rPr sz="741" b="0" i="0" u="none">
                <a:solidFill>
                  <a:srgbClr val="795E26"/>
                </a:solidFill>
                <a:latin typeface="Courier New"/>
              </a:rPr>
              <a:t>sleep</a:t>
            </a:r>
            <a:r>
              <a:rPr sz="741" b="0" i="0" u="none">
                <a:solidFill>
                  <a:srgbClr val="1F1F1F"/>
                </a:solidFill>
                <a:latin typeface="Courier New"/>
              </a:rPr>
              <a:t>(</a:t>
            </a:r>
            <a:r>
              <a:rPr sz="741" b="0" i="0" u="none">
                <a:solidFill>
                  <a:srgbClr val="098658"/>
                </a:solidFill>
                <a:latin typeface="Courier New"/>
              </a:rPr>
              <a:t>250</a:t>
            </a:r>
            <a:r>
              <a:rPr sz="741" b="0" i="0" u="none">
                <a:solidFill>
                  <a:srgbClr val="1F1F1F"/>
                </a:solidFill>
                <a:latin typeface="Courier New"/>
              </a:rPr>
              <a:t> * (i + </a:t>
            </a:r>
            <a:r>
              <a:rPr sz="741" b="0" i="0" u="none">
                <a:solidFill>
                  <a:srgbClr val="098658"/>
                </a:solidFill>
                <a:latin typeface="Courier New"/>
              </a:rPr>
              <a:t>1</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throw</a:t>
            </a:r>
            <a:r>
              <a:rPr sz="741" b="0" i="0" u="none">
                <a:solidFill>
                  <a:srgbClr val="1F1F1F"/>
                </a:solidFill>
                <a:latin typeface="Courier New"/>
              </a:rPr>
              <a:t> </a:t>
            </a:r>
            <a:r>
              <a:rPr sz="741" b="0" i="0" u="none">
                <a:solidFill>
                  <a:srgbClr val="0000FF"/>
                </a:solidFill>
                <a:latin typeface="Courier New"/>
              </a:rPr>
              <a:t>new</a:t>
            </a:r>
            <a:r>
              <a:rPr sz="741" b="0" i="0" u="none">
                <a:solidFill>
                  <a:srgbClr val="1F1F1F"/>
                </a:solidFill>
                <a:latin typeface="Courier New"/>
              </a:rPr>
              <a:t> </a:t>
            </a:r>
            <a:r>
              <a:rPr sz="741" b="0" i="0" u="none">
                <a:solidFill>
                  <a:srgbClr val="267F99"/>
                </a:solidFill>
                <a:latin typeface="Courier New"/>
              </a:rPr>
              <a:t>Error</a:t>
            </a:r>
            <a:r>
              <a:rPr sz="741" b="0" i="0" u="none">
                <a:solidFill>
                  <a:srgbClr val="1F1F1F"/>
                </a:solidFill>
                <a:latin typeface="Courier New"/>
              </a:rPr>
              <a:t>(</a:t>
            </a:r>
            <a:r>
              <a:rPr sz="741" b="0" i="0" u="none">
                <a:solidFill>
                  <a:srgbClr val="A31515"/>
                </a:solidFill>
                <a:latin typeface="Courier New"/>
              </a:rPr>
              <a:t>"overloaded"</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87012"/>
            <a:ext cx="707041" cy="707041"/>
          </a:xfrm>
          <a:prstGeom prst="rect">
            <a:avLst/>
          </a:prstGeom>
        </p:spPr>
      </p:pic>
      <p:sp>
        <p:nvSpPr>
          <p:cNvPr id="8" name="TextBox 7"/>
          <p:cNvSpPr txBox="1"/>
          <p:nvPr/>
        </p:nvSpPr>
        <p:spPr>
          <a:xfrm>
            <a:off x="18772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87012"/>
            <a:ext cx="707041" cy="707041"/>
          </a:xfrm>
          <a:prstGeom prst="rect">
            <a:avLst/>
          </a:prstGeom>
        </p:spPr>
      </p:pic>
      <p:sp>
        <p:nvSpPr>
          <p:cNvPr id="12" name="TextBox 11"/>
          <p:cNvSpPr txBox="1"/>
          <p:nvPr/>
        </p:nvSpPr>
        <p:spPr>
          <a:xfrm>
            <a:off x="74358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976586" y="3760565"/>
            <a:ext cx="4582858"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510" y="3760565"/>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85302"/>
            <a:ext cx="4215956" cy="275463"/>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523554"/>
          </a:xfrm>
          <a:prstGeom prst="roundRect">
            <a:avLst>
              <a:gd name="adj" fmla="val 7730"/>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7357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702147"/>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78119"/>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78119"/>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78119"/>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595229" y="2448211"/>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69133"/>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