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pictures and no prose: the same edge-to-edge fill, divided between them. Each is contained in its own half, never cropped.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8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9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93.png"/><Relationship Id="rId5" Type="http://schemas.openxmlformats.org/officeDocument/2006/relationships/image" Target="../media/image9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9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75.png"/><Relationship Id="rId4" Type="http://schemas.openxmlformats.org/officeDocument/2006/relationships/notesSlide" Target="../notesSlides/notesSlide1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4.png"/><Relationship Id="rId4" Type="http://schemas.openxmlformats.org/officeDocument/2006/relationships/image" Target="../media/image101.png"/><Relationship Id="rId5" Type="http://schemas.openxmlformats.org/officeDocument/2006/relationships/image" Target="../media/image45.png"/><Relationship Id="rId6" Type="http://schemas.openxmlformats.org/officeDocument/2006/relationships/image" Target="../media/image102.png"/><Relationship Id="rId7" Type="http://schemas.openxmlformats.org/officeDocument/2006/relationships/image" Target="../media/image7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105.png"/><Relationship Id="rId6" Type="http://schemas.openxmlformats.org/officeDocument/2006/relationships/notesSlide" Target="../notesSlides/notesSlide1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6.png"/><Relationship Id="rId5" Type="http://schemas.openxmlformats.org/officeDocument/2006/relationships/notesSlide" Target="../notesSlides/notesSlide1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107.png"/><Relationship Id="rId6" Type="http://schemas.openxmlformats.org/officeDocument/2006/relationships/notesSlide" Target="../notesSlides/notesSlide1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8.jpg"/><Relationship Id="rId5" Type="http://schemas.openxmlformats.org/officeDocument/2006/relationships/notesSlide" Target="../notesSlides/notesSlide1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09.png"/><Relationship Id="rId4" Type="http://schemas.openxmlformats.org/officeDocument/2006/relationships/notesSlide" Target="../notesSlides/notesSlide1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notesSlide" Target="../notesSlides/notesSlide2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4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75.png"/><Relationship Id="rId4" Type="http://schemas.openxmlformats.org/officeDocument/2006/relationships/notesSlide" Target="../notesSlides/notesSlide2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notesSlide" Target="../notesSlides/notesSlide2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notesSlide" Target="../notesSlides/notesSlide2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notesSlide" Target="../notesSlides/notesSlide2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 Id="rId3" Type="http://schemas.openxmlformats.org/officeDocument/2006/relationships/image" Target="../media/image124.png"/><Relationship Id="rId4" Type="http://schemas.openxmlformats.org/officeDocument/2006/relationships/notesSlide" Target="../notesSlides/notesSlide2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1112" y="345357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942" y="345357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532" y="3760756"/>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icons: none — no inferred glyphs</a:t>
            </a:r>
          </a:p>
        </p:txBody>
      </p:sp>
      <p:sp>
        <p:nvSpPr>
          <p:cNvPr id="5" name="Rounded Rectangle 4"/>
          <p:cNvSpPr/>
          <p:nvPr/>
        </p:nvSpPr>
        <p:spPr>
          <a:xfrm>
            <a:off x="670465" y="2206657"/>
            <a:ext cx="1733836"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2216182"/>
            <a:ext cx="164001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icons: "none"</a:t>
            </a:r>
          </a:p>
        </p:txBody>
      </p:sp>
      <p:sp>
        <p:nvSpPr>
          <p:cNvPr id="7" name="TextBox 6"/>
          <p:cNvSpPr txBox="1"/>
          <p:nvPr/>
        </p:nvSpPr>
        <p:spPr>
          <a:xfrm>
            <a:off x="670465" y="2187607"/>
            <a:ext cx="10572274" cy="480441"/>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turns content-matching off for the set — a deck imported from slides without icons stays without them:</a:t>
            </a:r>
          </a:p>
        </p:txBody>
      </p:sp>
      <p:sp>
        <p:nvSpPr>
          <p:cNvPr id="8" name="Rounded Rectangle 7"/>
          <p:cNvSpPr/>
          <p:nvPr/>
        </p:nvSpPr>
        <p:spPr>
          <a:xfrm>
            <a:off x="670465" y="2978182"/>
            <a:ext cx="531371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11828" y="3251835"/>
            <a:ext cx="4869180"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No slot</a:t>
            </a:r>
          </a:p>
        </p:txBody>
      </p:sp>
      <p:sp>
        <p:nvSpPr>
          <p:cNvPr id="10" name="TextBox 9"/>
          <p:cNvSpPr txBox="1"/>
          <p:nvPr/>
        </p:nvSpPr>
        <p:spPr>
          <a:xfrm>
            <a:off x="911828" y="3646360"/>
            <a:ext cx="4922596"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The card draws no icon element at all, so the label starts at the card's edge.</a:t>
            </a:r>
          </a:p>
        </p:txBody>
      </p:sp>
      <p:sp>
        <p:nvSpPr>
          <p:cNvPr id="11" name="Rounded Rectangle 10"/>
          <p:cNvSpPr/>
          <p:nvPr/>
        </p:nvSpPr>
        <p:spPr>
          <a:xfrm>
            <a:off x="6205442" y="2978182"/>
            <a:ext cx="531390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46711" y="3251835"/>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grid</a:t>
            </a:r>
          </a:p>
        </p:txBody>
      </p:sp>
      <p:sp>
        <p:nvSpPr>
          <p:cNvPr id="13" name="TextBox 12"/>
          <p:cNvSpPr txBox="1"/>
          <p:nvPr/>
        </p:nvSpPr>
        <p:spPr>
          <a:xfrm>
            <a:off x="6446711" y="3646360"/>
            <a:ext cx="4922693"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Count still drives the layout — four cards are a 2×2, exactly as with icons.</a:t>
            </a:r>
          </a:p>
        </p:txBody>
      </p:sp>
      <p:sp>
        <p:nvSpPr>
          <p:cNvPr id="14" name="Rounded Rectangle 13"/>
          <p:cNvSpPr/>
          <p:nvPr/>
        </p:nvSpPr>
        <p:spPr>
          <a:xfrm>
            <a:off x="670465" y="4721257"/>
            <a:ext cx="531371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911828" y="5002720"/>
            <a:ext cx="583216" cy="583216"/>
          </a:xfrm>
          <a:prstGeom prst="rect">
            <a:avLst/>
          </a:prstGeom>
        </p:spPr>
      </p:pic>
      <p:sp>
        <p:nvSpPr>
          <p:cNvPr id="16" name="TextBox 15"/>
          <p:cNvSpPr txBox="1"/>
          <p:nvPr/>
        </p:nvSpPr>
        <p:spPr>
          <a:xfrm>
            <a:off x="1665922" y="4994910"/>
            <a:ext cx="4115086"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Named icons still draw</a:t>
            </a:r>
          </a:p>
        </p:txBody>
      </p:sp>
      <p:sp>
        <p:nvSpPr>
          <p:cNvPr id="17" name="TextBox 16"/>
          <p:cNvSpPr txBox="1"/>
          <p:nvPr/>
        </p:nvSpPr>
        <p:spPr>
          <a:xfrm>
            <a:off x="1665922" y="5389436"/>
            <a:ext cx="2817400"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 item that names its own</a:t>
            </a:r>
          </a:p>
        </p:txBody>
      </p:sp>
      <p:sp>
        <p:nvSpPr>
          <p:cNvPr id="18" name="Rounded Rectangle 17"/>
          <p:cNvSpPr/>
          <p:nvPr/>
        </p:nvSpPr>
        <p:spPr>
          <a:xfrm>
            <a:off x="4445127" y="5412962"/>
            <a:ext cx="640080"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515326" y="5420868"/>
            <a:ext cx="537686"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a:t>
            </a:r>
          </a:p>
        </p:txBody>
      </p:sp>
      <p:sp>
        <p:nvSpPr>
          <p:cNvPr id="20" name="TextBox 19"/>
          <p:cNvSpPr txBox="1"/>
          <p:nvPr/>
        </p:nvSpPr>
        <p:spPr>
          <a:xfrm>
            <a:off x="1665922" y="5691378"/>
            <a:ext cx="3497008"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it; only the inferred ones go.</a:t>
            </a:r>
          </a:p>
        </p:txBody>
      </p:sp>
      <p:sp>
        <p:nvSpPr>
          <p:cNvPr id="21" name="Rounded Rectangle 20"/>
          <p:cNvSpPr/>
          <p:nvPr/>
        </p:nvSpPr>
        <p:spPr>
          <a:xfrm>
            <a:off x="6205442" y="4721257"/>
            <a:ext cx="531390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46711" y="4994910"/>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Per item too</a:t>
            </a:r>
          </a:p>
        </p:txBody>
      </p:sp>
      <p:sp>
        <p:nvSpPr>
          <p:cNvPr id="23" name="Rounded Rectangle 22"/>
          <p:cNvSpPr/>
          <p:nvPr/>
        </p:nvSpPr>
        <p:spPr>
          <a:xfrm>
            <a:off x="6446711" y="5412962"/>
            <a:ext cx="1639157"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517005" y="5420868"/>
            <a:ext cx="1536764"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 "none"</a:t>
            </a:r>
          </a:p>
        </p:txBody>
      </p:sp>
      <p:sp>
        <p:nvSpPr>
          <p:cNvPr id="25" name="TextBox 24"/>
          <p:cNvSpPr txBox="1"/>
          <p:nvPr/>
        </p:nvSpPr>
        <p:spPr>
          <a:xfrm>
            <a:off x="6446711" y="5389436"/>
            <a:ext cx="4658296" cy="55340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on one card opts out just that card.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one item opted out</a:t>
            </a:r>
          </a:p>
        </p:txBody>
      </p:sp>
      <p:sp>
        <p:nvSpPr>
          <p:cNvPr id="5" name="Rectangle 4"/>
          <p:cNvSpPr/>
          <p:nvPr/>
        </p:nvSpPr>
        <p:spPr>
          <a:xfrm>
            <a:off x="670465"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0465" y="3357372"/>
            <a:ext cx="377857" cy="377857"/>
          </a:xfrm>
          <a:prstGeom prst="rect">
            <a:avLst/>
          </a:prstGeom>
        </p:spPr>
      </p:pic>
      <p:sp>
        <p:nvSpPr>
          <p:cNvPr id="8" name="TextBox 7"/>
          <p:cNvSpPr txBox="1"/>
          <p:nvPr/>
        </p:nvSpPr>
        <p:spPr>
          <a:xfrm>
            <a:off x="1218914"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a:t>
            </a:r>
          </a:p>
        </p:txBody>
      </p:sp>
      <p:sp>
        <p:nvSpPr>
          <p:cNvPr id="9" name="TextBox 8"/>
          <p:cNvSpPr txBox="1"/>
          <p:nvPr/>
        </p:nvSpPr>
        <p:spPr>
          <a:xfrm>
            <a:off x="1218914"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This concept gets a content-matched glyph.</a:t>
            </a:r>
          </a:p>
        </p:txBody>
      </p:sp>
      <p:sp>
        <p:nvSpPr>
          <p:cNvPr id="10" name="Rectangle 9"/>
          <p:cNvSpPr/>
          <p:nvPr/>
        </p:nvSpPr>
        <p:spPr>
          <a:xfrm>
            <a:off x="4408551" y="3165158"/>
            <a:ext cx="337261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408551" y="316515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408551" y="3357372"/>
            <a:ext cx="341071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Opted out</a:t>
            </a:r>
          </a:p>
        </p:txBody>
      </p:sp>
      <p:sp>
        <p:nvSpPr>
          <p:cNvPr id="13" name="Rounded Rectangle 12"/>
          <p:cNvSpPr/>
          <p:nvPr/>
        </p:nvSpPr>
        <p:spPr>
          <a:xfrm>
            <a:off x="4408551" y="3816382"/>
            <a:ext cx="1768983" cy="276225"/>
          </a:xfrm>
          <a:prstGeom prst="roundRect">
            <a:avLst>
              <a:gd name="adj" fmla="val 17655"/>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485418" y="3825907"/>
            <a:ext cx="1662970" cy="257175"/>
          </a:xfrm>
          <a:prstGeom prst="rect">
            <a:avLst/>
          </a:prstGeom>
          <a:noFill/>
        </p:spPr>
        <p:txBody>
          <a:bodyPr wrap="none" anchor="ctr" lIns="0" tIns="0" rIns="0" bIns="0">
            <a:noAutofit/>
          </a:bodyPr>
          <a:lstStyle/>
          <a:p>
            <a:pPr algn="l">
              <a:lnSpc>
                <a:spcPts val="2385"/>
              </a:lnSpc>
              <a:spcBef>
                <a:spcPts val="0"/>
              </a:spcBef>
              <a:spcAft>
                <a:spcPts val="0"/>
              </a:spcAft>
            </a:pPr>
            <a:r>
              <a:rPr sz="1766" b="0" i="0" u="none">
                <a:solidFill>
                  <a:srgbClr val="3B3535"/>
                </a:solidFill>
                <a:latin typeface="Courier New"/>
              </a:rPr>
              <a:t>icon: "none"</a:t>
            </a:r>
          </a:p>
        </p:txBody>
      </p:sp>
      <p:sp>
        <p:nvSpPr>
          <p:cNvPr id="15" name="TextBox 14"/>
          <p:cNvSpPr txBox="1"/>
          <p:nvPr/>
        </p:nvSpPr>
        <p:spPr>
          <a:xfrm>
            <a:off x="4408551" y="3797332"/>
            <a:ext cx="3108388" cy="936593"/>
          </a:xfrm>
          <a:prstGeom prst="rect">
            <a:avLst/>
          </a:prstGeom>
          <a:noFill/>
        </p:spPr>
        <p:txBody>
          <a:bodyPr wrap="none" anchor="ctr" lIns="0" tIns="0" rIns="0" bIns="0">
            <a:noAutofit/>
          </a:bodyPr>
          <a:lstStyle/>
          <a:p>
            <a:pPr algn="l">
              <a:lnSpc>
                <a:spcPts val="2592"/>
              </a:lnSpc>
              <a:spcBef>
                <a:spcPts val="0"/>
              </a:spcBef>
              <a:spcAft>
                <a:spcPts val="0"/>
              </a:spcAft>
            </a:pPr>
            <a:r>
              <a:rPr sz="1920" b="0" i="0" u="none">
                <a:solidFill>
                  <a:srgbClr val="3B3535"/>
                </a:solidFill>
                <a:latin typeface="Arial"/>
              </a:rPr>
              <a:t>— the label aligns with the hairline, no indent.</a:t>
            </a:r>
          </a:p>
        </p:txBody>
      </p:sp>
      <p:sp>
        <p:nvSpPr>
          <p:cNvPr id="16" name="Rectangle 15"/>
          <p:cNvSpPr/>
          <p:nvPr/>
        </p:nvSpPr>
        <p:spPr>
          <a:xfrm>
            <a:off x="8146828"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8146828" y="3357372"/>
            <a:ext cx="377857" cy="377857"/>
          </a:xfrm>
          <a:prstGeom prst="rect">
            <a:avLst/>
          </a:prstGeom>
        </p:spPr>
      </p:pic>
      <p:sp>
        <p:nvSpPr>
          <p:cNvPr id="19" name="TextBox 18"/>
          <p:cNvSpPr txBox="1"/>
          <p:nvPr/>
        </p:nvSpPr>
        <p:spPr>
          <a:xfrm>
            <a:off x="8695277"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 again</a:t>
            </a:r>
          </a:p>
        </p:txBody>
      </p:sp>
      <p:sp>
        <p:nvSpPr>
          <p:cNvPr id="20" name="TextBox 19"/>
          <p:cNvSpPr txBox="1"/>
          <p:nvPr/>
        </p:nvSpPr>
        <p:spPr>
          <a:xfrm>
            <a:off x="8695277"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set keeps one icon per item everywhere else.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938" y="345357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93208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30993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Rounded Rectangle 8"/>
          <p:cNvSpPr/>
          <p:nvPr/>
        </p:nvSpPr>
        <p:spPr>
          <a:xfrm>
            <a:off x="670465" y="3503866"/>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89064" y="3655790"/>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comparison needs a real HTML table</a:t>
            </a:r>
          </a:p>
        </p:txBody>
      </p:sp>
      <p:sp>
        <p:nvSpPr>
          <p:cNvPr id="11" name="Rounded Rectangle 10"/>
          <p:cNvSpPr/>
          <p:nvPr/>
        </p:nvSpPr>
        <p:spPr>
          <a:xfrm>
            <a:off x="6184582" y="3503866"/>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03181" y="3655790"/>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3" name="Rounded Rectangle 12"/>
          <p:cNvSpPr/>
          <p:nvPr/>
        </p:nvSpPr>
        <p:spPr>
          <a:xfrm>
            <a:off x="670465" y="4412742"/>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9064" y="4564666"/>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The two columns should look different</a:t>
            </a:r>
          </a:p>
        </p:txBody>
      </p:sp>
      <p:sp>
        <p:nvSpPr>
          <p:cNvPr id="15" name="Rounded Rectangle 14"/>
          <p:cNvSpPr/>
          <p:nvPr/>
        </p:nvSpPr>
        <p:spPr>
          <a:xfrm>
            <a:off x="6184582" y="427253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403181" y="4424553"/>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505"/>
            <a:ext cx="1874330"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505"/>
            <a:ext cx="1870805"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3182" y="3760756"/>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two figures fill two columns</a:t>
            </a:r>
          </a:p>
        </p:txBody>
      </p:sp>
      <p:sp>
        <p:nvSpPr>
          <p:cNvPr id="5" name="Rounded Rectangle 4"/>
          <p:cNvSpPr/>
          <p:nvPr/>
        </p:nvSpPr>
        <p:spPr>
          <a:xfrm>
            <a:off x="670465"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9990" y="1980438"/>
            <a:ext cx="5271230" cy="2965132"/>
          </a:xfrm>
          <a:prstGeom prst="rect">
            <a:avLst/>
          </a:prstGeom>
        </p:spPr>
      </p:pic>
      <p:sp>
        <p:nvSpPr>
          <p:cNvPr id="7" name="TextBox 6"/>
          <p:cNvSpPr txBox="1"/>
          <p:nvPr/>
        </p:nvSpPr>
        <p:spPr>
          <a:xfrm>
            <a:off x="670465"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real</a:t>
            </a:r>
          </a:p>
        </p:txBody>
      </p:sp>
      <p:sp>
        <p:nvSpPr>
          <p:cNvPr id="8" name="TextBox 7"/>
          <p:cNvSpPr txBox="1"/>
          <p:nvPr/>
        </p:nvSpPr>
        <p:spPr>
          <a:xfrm>
            <a:off x="670465"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−ln(x): large as x → 0.</a:t>
            </a:r>
          </a:p>
        </p:txBody>
      </p:sp>
      <p:sp>
        <p:nvSpPr>
          <p:cNvPr id="9" name="Rounded Rectangle 8"/>
          <p:cNvSpPr/>
          <p:nvPr/>
        </p:nvSpPr>
        <p:spPr>
          <a:xfrm>
            <a:off x="6229064"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238589" y="1980438"/>
            <a:ext cx="5271230" cy="2965132"/>
          </a:xfrm>
          <a:prstGeom prst="rect">
            <a:avLst/>
          </a:prstGeom>
        </p:spPr>
      </p:pic>
      <p:sp>
        <p:nvSpPr>
          <p:cNvPr id="11" name="TextBox 10"/>
          <p:cNvSpPr txBox="1"/>
          <p:nvPr/>
        </p:nvSpPr>
        <p:spPr>
          <a:xfrm>
            <a:off x="6229064"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fake</a:t>
            </a:r>
          </a:p>
        </p:txBody>
      </p:sp>
      <p:sp>
        <p:nvSpPr>
          <p:cNvPr id="12" name="TextBox 11"/>
          <p:cNvSpPr txBox="1"/>
          <p:nvPr/>
        </p:nvSpPr>
        <p:spPr>
          <a:xfrm>
            <a:off x="6229064"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−ln(1−x): large as x →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four figures make a 2×2</a:t>
            </a:r>
          </a:p>
        </p:txBody>
      </p:sp>
      <p:sp>
        <p:nvSpPr>
          <p:cNvPr id="5" name="Rounded Rectangle 4"/>
          <p:cNvSpPr/>
          <p:nvPr/>
        </p:nvSpPr>
        <p:spPr>
          <a:xfrm>
            <a:off x="670465"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2152460" y="1783461"/>
            <a:ext cx="2348389" cy="1321022"/>
          </a:xfrm>
          <a:prstGeom prst="rect">
            <a:avLst/>
          </a:prstGeom>
        </p:spPr>
      </p:pic>
      <p:sp>
        <p:nvSpPr>
          <p:cNvPr id="7" name="TextBox 6"/>
          <p:cNvSpPr txBox="1"/>
          <p:nvPr/>
        </p:nvSpPr>
        <p:spPr>
          <a:xfrm>
            <a:off x="670465"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real</a:t>
            </a:r>
          </a:p>
        </p:txBody>
      </p:sp>
      <p:sp>
        <p:nvSpPr>
          <p:cNvPr id="8" name="TextBox 7"/>
          <p:cNvSpPr txBox="1"/>
          <p:nvPr/>
        </p:nvSpPr>
        <p:spPr>
          <a:xfrm>
            <a:off x="670465"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−ln(x): large as x → 0.</a:t>
            </a:r>
          </a:p>
        </p:txBody>
      </p:sp>
      <p:sp>
        <p:nvSpPr>
          <p:cNvPr id="9" name="Rounded Rectangle 8"/>
          <p:cNvSpPr/>
          <p:nvPr/>
        </p:nvSpPr>
        <p:spPr>
          <a:xfrm>
            <a:off x="6206490"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688485" y="1783461"/>
            <a:ext cx="2348389" cy="1321022"/>
          </a:xfrm>
          <a:prstGeom prst="rect">
            <a:avLst/>
          </a:prstGeom>
        </p:spPr>
      </p:pic>
      <p:sp>
        <p:nvSpPr>
          <p:cNvPr id="11" name="TextBox 10"/>
          <p:cNvSpPr txBox="1"/>
          <p:nvPr/>
        </p:nvSpPr>
        <p:spPr>
          <a:xfrm>
            <a:off x="6206490"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fake</a:t>
            </a:r>
          </a:p>
        </p:txBody>
      </p:sp>
      <p:sp>
        <p:nvSpPr>
          <p:cNvPr id="12" name="TextBox 11"/>
          <p:cNvSpPr txBox="1"/>
          <p:nvPr/>
        </p:nvSpPr>
        <p:spPr>
          <a:xfrm>
            <a:off x="6206490"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−ln(1−x): large as x → 1.</a:t>
            </a:r>
          </a:p>
        </p:txBody>
      </p:sp>
      <p:sp>
        <p:nvSpPr>
          <p:cNvPr id="13" name="Rounded Rectangle 12"/>
          <p:cNvSpPr/>
          <p:nvPr/>
        </p:nvSpPr>
        <p:spPr>
          <a:xfrm>
            <a:off x="670465"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2152460" y="4138898"/>
            <a:ext cx="2348389" cy="1321022"/>
          </a:xfrm>
          <a:prstGeom prst="rect">
            <a:avLst/>
          </a:prstGeom>
        </p:spPr>
      </p:pic>
      <p:sp>
        <p:nvSpPr>
          <p:cNvPr id="15" name="TextBox 14"/>
          <p:cNvSpPr txBox="1"/>
          <p:nvPr/>
        </p:nvSpPr>
        <p:spPr>
          <a:xfrm>
            <a:off x="670465"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Third panel</a:t>
            </a:r>
          </a:p>
        </p:txBody>
      </p:sp>
      <p:sp>
        <p:nvSpPr>
          <p:cNvPr id="16" name="TextBox 15"/>
          <p:cNvSpPr txBox="1"/>
          <p:nvPr/>
        </p:nvSpPr>
        <p:spPr>
          <a:xfrm>
            <a:off x="670465"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Two by two below.</a:t>
            </a:r>
          </a:p>
        </p:txBody>
      </p:sp>
      <p:sp>
        <p:nvSpPr>
          <p:cNvPr id="17" name="Rounded Rectangle 16"/>
          <p:cNvSpPr/>
          <p:nvPr/>
        </p:nvSpPr>
        <p:spPr>
          <a:xfrm>
            <a:off x="6206490"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7688485" y="4138898"/>
            <a:ext cx="2348389" cy="1321022"/>
          </a:xfrm>
          <a:prstGeom prst="rect">
            <a:avLst/>
          </a:prstGeom>
        </p:spPr>
      </p:pic>
      <p:sp>
        <p:nvSpPr>
          <p:cNvPr id="19" name="TextBox 18"/>
          <p:cNvSpPr txBox="1"/>
          <p:nvPr/>
        </p:nvSpPr>
        <p:spPr>
          <a:xfrm>
            <a:off x="6206490"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Fourth panel</a:t>
            </a:r>
          </a:p>
        </p:txBody>
      </p:sp>
      <p:sp>
        <p:nvSpPr>
          <p:cNvPr id="20" name="TextBox 19"/>
          <p:cNvSpPr txBox="1"/>
          <p:nvPr/>
        </p:nvSpPr>
        <p:spPr>
          <a:xfrm>
            <a:off x="6206490"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The grid closes square.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5"/>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4"/>
          <a:stretch>
            <a:fillRect/>
          </a:stretch>
        </p:blipFill>
        <p:spPr>
          <a:xfrm>
            <a:off x="7957661" y="4416933"/>
            <a:ext cx="3558350" cy="1831467"/>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a pair of images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diagrams the whole set shares — neither is dropped to fit one media slot.</a:t>
            </a:r>
          </a:p>
        </p:txBody>
      </p:sp>
      <p:sp>
        <p:nvSpPr>
          <p:cNvPr id="6" name="Rounded Rectangle 5"/>
          <p:cNvSpPr/>
          <p:nvPr/>
        </p:nvSpPr>
        <p:spPr>
          <a:xfrm>
            <a:off x="670465" y="2762440"/>
            <a:ext cx="5457444" cy="1044512"/>
          </a:xfrm>
          <a:prstGeom prst="roundRect">
            <a:avLst>
              <a:gd name="adj" fmla="val 233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634" y="2969514"/>
            <a:ext cx="470821" cy="470821"/>
          </a:xfrm>
          <a:prstGeom prst="rect">
            <a:avLst/>
          </a:prstGeom>
        </p:spPr>
      </p:pic>
      <p:sp>
        <p:nvSpPr>
          <p:cNvPr id="8" name="TextBox 7"/>
          <p:cNvSpPr txBox="1"/>
          <p:nvPr/>
        </p:nvSpPr>
        <p:spPr>
          <a:xfrm>
            <a:off x="1480185" y="2962180"/>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A media pair</a:t>
            </a:r>
          </a:p>
        </p:txBody>
      </p:sp>
      <p:sp>
        <p:nvSpPr>
          <p:cNvPr id="9" name="Rounded Rectangle 8"/>
          <p:cNvSpPr/>
          <p:nvPr/>
        </p:nvSpPr>
        <p:spPr>
          <a:xfrm>
            <a:off x="1480185" y="3353752"/>
            <a:ext cx="2470594" cy="235363"/>
          </a:xfrm>
          <a:prstGeom prst="roundRect">
            <a:avLst>
              <a:gd name="adj" fmla="val 20720"/>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546003" y="3361087"/>
            <a:ext cx="2377154" cy="220694"/>
          </a:xfrm>
          <a:prstGeom prst="rect">
            <a:avLst/>
          </a:prstGeom>
          <a:noFill/>
        </p:spPr>
        <p:txBody>
          <a:bodyPr wrap="none" anchor="ctr" lIns="0" tIns="0" rIns="0" bIns="0">
            <a:noAutofit/>
          </a:bodyPr>
          <a:lstStyle/>
          <a:p>
            <a:pPr algn="l">
              <a:lnSpc>
                <a:spcPts val="1989"/>
              </a:lnSpc>
              <a:spcBef>
                <a:spcPts val="0"/>
              </a:spcBef>
              <a:spcAft>
                <a:spcPts val="0"/>
              </a:spcAft>
            </a:pPr>
            <a:r>
              <a:rPr sz="1530" b="0" i="0" u="none">
                <a:solidFill>
                  <a:srgbClr val="3B3535"/>
                </a:solidFill>
                <a:latin typeface="Courier New"/>
              </a:rPr>
              <a:t>media: {images: […]}</a:t>
            </a:r>
          </a:p>
        </p:txBody>
      </p:sp>
      <p:sp>
        <p:nvSpPr>
          <p:cNvPr id="11" name="TextBox 10"/>
          <p:cNvSpPr txBox="1"/>
          <p:nvPr/>
        </p:nvSpPr>
        <p:spPr>
          <a:xfrm>
            <a:off x="3950779" y="3331654"/>
            <a:ext cx="1981105" cy="235363"/>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two pictures.</a:t>
            </a:r>
          </a:p>
        </p:txBody>
      </p:sp>
      <p:sp>
        <p:nvSpPr>
          <p:cNvPr id="12" name="Rounded Rectangle 11"/>
          <p:cNvSpPr/>
          <p:nvPr/>
        </p:nvSpPr>
        <p:spPr>
          <a:xfrm>
            <a:off x="670465" y="3976306"/>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877634" y="4183475"/>
            <a:ext cx="470821" cy="470821"/>
          </a:xfrm>
          <a:prstGeom prst="rect">
            <a:avLst/>
          </a:prstGeom>
        </p:spPr>
      </p:pic>
      <p:sp>
        <p:nvSpPr>
          <p:cNvPr id="14" name="TextBox 13"/>
          <p:cNvSpPr txBox="1"/>
          <p:nvPr/>
        </p:nvSpPr>
        <p:spPr>
          <a:xfrm>
            <a:off x="1480185" y="4176141"/>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Stacked in a split</a:t>
            </a:r>
          </a:p>
        </p:txBody>
      </p:sp>
      <p:sp>
        <p:nvSpPr>
          <p:cNvPr id="15" name="TextBox 14"/>
          <p:cNvSpPr txBox="1"/>
          <p:nvPr/>
        </p:nvSpPr>
        <p:spPr>
          <a:xfrm>
            <a:off x="1480185" y="4545616"/>
            <a:ext cx="4478655" cy="235363"/>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each takes half the media column, contained.</a:t>
            </a:r>
          </a:p>
        </p:txBody>
      </p:sp>
      <p:sp>
        <p:nvSpPr>
          <p:cNvPr id="16" name="Rounded Rectangle 15"/>
          <p:cNvSpPr/>
          <p:nvPr/>
        </p:nvSpPr>
        <p:spPr>
          <a:xfrm>
            <a:off x="670465" y="5182838"/>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4"/>
          <a:stretch>
            <a:fillRect/>
          </a:stretch>
        </p:blipFill>
        <p:spPr>
          <a:xfrm>
            <a:off x="877634" y="5389912"/>
            <a:ext cx="470821" cy="470821"/>
          </a:xfrm>
          <a:prstGeom prst="rect">
            <a:avLst/>
          </a:prstGeom>
        </p:spPr>
      </p:pic>
      <p:sp>
        <p:nvSpPr>
          <p:cNvPr id="18" name="TextBox 17"/>
          <p:cNvSpPr txBox="1"/>
          <p:nvPr/>
        </p:nvSpPr>
        <p:spPr>
          <a:xfrm>
            <a:off x="1480185" y="5382578"/>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Not figures</a:t>
            </a:r>
          </a:p>
        </p:txBody>
      </p:sp>
      <p:sp>
        <p:nvSpPr>
          <p:cNvPr id="19" name="TextBox 18"/>
          <p:cNvSpPr txBox="1"/>
          <p:nvPr/>
        </p:nvSpPr>
        <p:spPr>
          <a:xfrm>
            <a:off x="1480185" y="5752052"/>
            <a:ext cx="4478846" cy="235458"/>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the pictures belong to the set, not one per card.</a:t>
            </a:r>
          </a:p>
        </p:txBody>
      </p:sp>
      <p:sp>
        <p:nvSpPr>
          <p:cNvPr id="20" name="Rounded Rectangle 19"/>
          <p:cNvSpPr/>
          <p:nvPr/>
        </p:nvSpPr>
        <p:spPr>
          <a:xfrm>
            <a:off x="6557486" y="2745391"/>
            <a:ext cx="4964049" cy="1653921"/>
          </a:xfrm>
          <a:prstGeom prst="roundRect">
            <a:avLst>
              <a:gd name="adj" fmla="val 10320"/>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5"/>
          <a:stretch>
            <a:fillRect/>
          </a:stretch>
        </p:blipFill>
        <p:spPr>
          <a:xfrm>
            <a:off x="7586377" y="2754916"/>
            <a:ext cx="2906363" cy="1634871"/>
          </a:xfrm>
          <a:prstGeom prst="rect">
            <a:avLst/>
          </a:prstGeom>
        </p:spPr>
      </p:pic>
      <p:sp>
        <p:nvSpPr>
          <p:cNvPr id="22" name="Rounded Rectangle 21"/>
          <p:cNvSpPr/>
          <p:nvPr/>
        </p:nvSpPr>
        <p:spPr>
          <a:xfrm>
            <a:off x="6557486" y="4594288"/>
            <a:ext cx="4964049" cy="1654112"/>
          </a:xfrm>
          <a:prstGeom prst="roundRect">
            <a:avLst>
              <a:gd name="adj" fmla="val 103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426386" y="4603814"/>
            <a:ext cx="1226153" cy="1635062"/>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a pair of images, picture first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Prose beside two contained pictures, mirrored so the pictures lead.</a:t>
            </a:r>
          </a:p>
        </p:txBody>
      </p:sp>
      <p:sp>
        <p:nvSpPr>
          <p:cNvPr id="6" name="Oval 5"/>
          <p:cNvSpPr/>
          <p:nvPr/>
        </p:nvSpPr>
        <p:spPr>
          <a:xfrm>
            <a:off x="6309265" y="317020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3079528"/>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Two pictures</a:t>
            </a:r>
            <a:r>
              <a:rPr sz="2400" b="0" i="0" u="none">
                <a:solidFill>
                  <a:srgbClr val="3B3535"/>
                </a:solidFill>
                <a:latin typeface="Arial"/>
              </a:rPr>
              <a:t>: one media set, stacked in the column.</a:t>
            </a:r>
          </a:p>
        </p:txBody>
      </p:sp>
      <p:sp>
        <p:nvSpPr>
          <p:cNvPr id="8" name="Oval 7"/>
          <p:cNvSpPr/>
          <p:nvPr/>
        </p:nvSpPr>
        <p:spPr>
          <a:xfrm>
            <a:off x="6309265" y="41088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4018216"/>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each keeps its own aspect inside its half.</a:t>
            </a:r>
          </a:p>
        </p:txBody>
      </p:sp>
      <p:sp>
        <p:nvSpPr>
          <p:cNvPr id="10" name="Rounded Rectangle 9"/>
          <p:cNvSpPr/>
          <p:nvPr/>
        </p:nvSpPr>
        <p:spPr>
          <a:xfrm>
            <a:off x="670465" y="2192369"/>
            <a:ext cx="5212080" cy="193043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2"/>
          <a:stretch>
            <a:fillRect/>
          </a:stretch>
        </p:blipFill>
        <p:spPr>
          <a:xfrm>
            <a:off x="2559653" y="2201894"/>
            <a:ext cx="1433512" cy="1911382"/>
          </a:xfrm>
          <a:prstGeom prst="rect">
            <a:avLst/>
          </a:prstGeom>
        </p:spPr>
      </p:pic>
      <p:sp>
        <p:nvSpPr>
          <p:cNvPr id="12" name="Rounded Rectangle 11"/>
          <p:cNvSpPr/>
          <p:nvPr/>
        </p:nvSpPr>
        <p:spPr>
          <a:xfrm>
            <a:off x="670465" y="4317778"/>
            <a:ext cx="5212080" cy="193062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1577435" y="4327303"/>
            <a:ext cx="3398234" cy="1911572"/>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two pictures, side by side</a:t>
            </a:r>
          </a:p>
        </p:txBody>
      </p:sp>
      <p:pic>
        <p:nvPicPr>
          <p:cNvPr id="5" name="Picture 4" descr="image.png"/>
          <p:cNvPicPr>
            <a:picLocks noChangeAspect="1"/>
          </p:cNvPicPr>
          <p:nvPr/>
        </p:nvPicPr>
        <p:blipFill>
          <a:blip r:embed="rId2"/>
          <a:stretch>
            <a:fillRect/>
          </a:stretch>
        </p:blipFill>
        <p:spPr>
          <a:xfrm>
            <a:off x="0" y="1678019"/>
            <a:ext cx="5998559" cy="5179981"/>
          </a:xfrm>
          <a:prstGeom prst="rect">
            <a:avLst/>
          </a:prstGeom>
        </p:spPr>
      </p:pic>
      <p:pic>
        <p:nvPicPr>
          <p:cNvPr id="6" name="Picture 5" descr="image.png"/>
          <p:cNvPicPr>
            <a:picLocks noChangeAspect="1"/>
          </p:cNvPicPr>
          <p:nvPr/>
        </p:nvPicPr>
        <p:blipFill>
          <a:blip r:embed="rId3"/>
          <a:stretch>
            <a:fillRect/>
          </a:stretch>
        </p:blipFill>
        <p:spPr>
          <a:xfrm>
            <a:off x="6193441" y="1678019"/>
            <a:ext cx="5998559" cy="5179981"/>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8658416" y="3453574"/>
            <a:ext cx="292511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701" y="3760756"/>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805"/>
            <a:ext cx="486823" cy="486918"/>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805"/>
            <a:ext cx="486823" cy="486918"/>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970"/>
            <a:ext cx="486823" cy="486823"/>
          </a:xfrm>
          <a:prstGeom prst="rect">
            <a:avLst/>
          </a:prstGeom>
        </p:spPr>
      </p:pic>
      <p:sp>
        <p:nvSpPr>
          <p:cNvPr id="15" name="TextBox 14"/>
          <p:cNvSpPr txBox="1"/>
          <p:nvPr/>
        </p:nvSpPr>
        <p:spPr>
          <a:xfrm>
            <a:off x="1501426" y="5085398"/>
            <a:ext cx="4215956" cy="275368"/>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