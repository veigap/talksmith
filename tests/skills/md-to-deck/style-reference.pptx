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quote (~60 words) is the edge the full-bleed fit exists for. Only the display type steps down, and it re-wraps across the full measure — the old fit scaled the whole block, which shrank the wrap width with the glyphs and left a narrow column in the middle of an empty slide. The attribution keeps its reading size. Past the floor the slide would be flagged as clipped.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highlight image-full renders is its source: a picture without its citation is a picture nobody can check. The line sits under the image on the header's margins, and the image gives up the height it needs — the band is never pushed off the slide. Any other highlight kind on this template is dropped, and field_coverage names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--draft live view a diagram is still an ascii fence — Step 6 has not rendered it yet. The fill carries it verbatim as a code panel where the picture will go, so the slide previews its shape instead of losing the figure. image is polymorphic exactly as media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pictures and no prose: the same edge-to-edge fill, divided between them. Each is contained in its own half, never cropped.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4.png"/><Relationship Id="rId7" Type="http://schemas.openxmlformats.org/officeDocument/2006/relationships/image" Target="../media/image39.png"/><Relationship Id="rId8"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2.png"/><Relationship Id="rId7" Type="http://schemas.openxmlformats.org/officeDocument/2006/relationships/image" Target="../media/image30.png"/><Relationship Id="rId8" Type="http://schemas.openxmlformats.org/officeDocument/2006/relationships/image" Target="../media/image43.png"/><Relationship Id="rId9" Type="http://schemas.openxmlformats.org/officeDocument/2006/relationships/image" Target="../media/image29.png"/><Relationship Id="rId10"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jpg"/><Relationship Id="rId5"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png"/><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17.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hyperlink" Target="https://www.who.int" TargetMode="External"/><Relationship Id="rId8" Type="http://schemas.openxmlformats.org/officeDocument/2006/relationships/image" Target="../media/image66.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108.07258" TargetMode="External"/><Relationship Id="rId3" Type="http://schemas.openxmlformats.org/officeDocument/2006/relationships/notesSlide" Target="../notesSlides/notesSlide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hyperlink" Target="https://example.org/talksmith" TargetMode="External"/><Relationship Id="rId4" Type="http://schemas.openxmlformats.org/officeDocument/2006/relationships/notesSlide" Target="../notesSlides/notesSlide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8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8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9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9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94.png"/><Relationship Id="rId5" Type="http://schemas.openxmlformats.org/officeDocument/2006/relationships/image" Target="../media/image9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7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10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image" Target="../media/image75.png"/><Relationship Id="rId4" Type="http://schemas.openxmlformats.org/officeDocument/2006/relationships/notesSlide" Target="../notesSlides/notesSlide1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4.png"/><Relationship Id="rId4" Type="http://schemas.openxmlformats.org/officeDocument/2006/relationships/image" Target="../media/image102.png"/><Relationship Id="rId5" Type="http://schemas.openxmlformats.org/officeDocument/2006/relationships/image" Target="../media/image45.png"/><Relationship Id="rId6" Type="http://schemas.openxmlformats.org/officeDocument/2006/relationships/image" Target="../media/image103.png"/><Relationship Id="rId7" Type="http://schemas.openxmlformats.org/officeDocument/2006/relationships/image" Target="../media/image7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hyperlink" Target="https://www.who.int" TargetMode="External"/><Relationship Id="rId5" Type="http://schemas.openxmlformats.org/officeDocument/2006/relationships/image" Target="../media/image106.png"/><Relationship Id="rId6" Type="http://schemas.openxmlformats.org/officeDocument/2006/relationships/notesSlide" Target="../notesSlides/notesSlide1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07.png"/><Relationship Id="rId5" Type="http://schemas.openxmlformats.org/officeDocument/2006/relationships/notesSlide" Target="../notesSlides/notesSlide1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hyperlink" Target="https://www.who.int" TargetMode="External"/><Relationship Id="rId5" Type="http://schemas.openxmlformats.org/officeDocument/2006/relationships/image" Target="../media/image108.png"/><Relationship Id="rId6" Type="http://schemas.openxmlformats.org/officeDocument/2006/relationships/notesSlide" Target="../notesSlides/notesSlide1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hyperlink" Target="https://www.who.int" TargetMode="External"/><Relationship Id="rId5" Type="http://schemas.openxmlformats.org/officeDocument/2006/relationships/image" Target="../media/image51.jpg"/><Relationship Id="rId6" Type="http://schemas.openxmlformats.org/officeDocument/2006/relationships/notesSlide" Target="../notesSlides/notesSlide1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09.jpg"/><Relationship Id="rId5" Type="http://schemas.openxmlformats.org/officeDocument/2006/relationships/notesSlide" Target="../notesSlides/notesSlide1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10.png"/><Relationship Id="rId4" Type="http://schemas.openxmlformats.org/officeDocument/2006/relationships/notesSlide" Target="../notesSlides/notesSlide1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notesSlide" Target="../notesSlides/notesSlide2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44.png"/><Relationship Id="rId4" Type="http://schemas.openxmlformats.org/officeDocument/2006/relationships/hyperlink" Target="https://www.who.int" TargetMode="External"/><Relationship Id="rId5" Type="http://schemas.openxmlformats.org/officeDocument/2006/relationships/notesSlide" Target="../notesSlides/notesSlide2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14.png"/><Relationship Id="rId4" Type="http://schemas.openxmlformats.org/officeDocument/2006/relationships/image" Target="../media/image11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44.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75.png"/><Relationship Id="rId4" Type="http://schemas.openxmlformats.org/officeDocument/2006/relationships/notesSlide" Target="../notesSlides/notesSlide2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notesSlide" Target="../notesSlides/notesSlide2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notesSlide" Target="../notesSlides/notesSlide2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notesSlide" Target="../notesSlides/notesSlide2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125.png"/><Relationship Id="rId4" Type="http://schemas.openxmlformats.org/officeDocument/2006/relationships/notesSlide" Target="../notesSlides/notesSlide2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687991"/>
            <a:ext cx="8146256" cy="762000"/>
          </a:xfrm>
          <a:prstGeom prst="rect">
            <a:avLst/>
          </a:prstGeom>
          <a:noFill/>
        </p:spPr>
        <p:txBody>
          <a:bodyPr wrap="none" anchor="ctr"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42205"/>
            <a:ext cx="7173182" cy="285750"/>
          </a:xfrm>
          <a:prstGeom prst="rect">
            <a:avLst/>
          </a:prstGeom>
          <a:noFill/>
        </p:spPr>
        <p:txBody>
          <a:bodyPr wrap="none" anchor="ctr"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589592"/>
            <a:ext cx="8187534" cy="986409"/>
          </a:xfrm>
          <a:prstGeom prst="rect">
            <a:avLst/>
          </a:prstGeom>
          <a:noFill/>
        </p:spPr>
        <p:txBody>
          <a:bodyPr wrap="square" anchor="ctr"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75702"/>
            <a:ext cx="8187534" cy="711327"/>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8901112" y="3453574"/>
            <a:ext cx="2678779"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21130"/>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60245"/>
            <a:ext cx="11032887" cy="3228594"/>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06588"/>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11933"/>
            <a:ext cx="11032887" cy="1831467"/>
          </a:xfrm>
          <a:prstGeom prst="rect">
            <a:avLst/>
          </a:prstGeom>
          <a:noFill/>
        </p:spPr>
        <p:txBody>
          <a:bodyPr wrap="square" anchor="ctr"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8294942" y="3453574"/>
            <a:ext cx="3294043"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17942"/>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56961"/>
            <a:ext cx="11032887" cy="2434971"/>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09777"/>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55047"/>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294067"/>
            <a:ext cx="11032887" cy="4815459"/>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1911382"/>
            <a:ext cx="10887075" cy="2314575"/>
          </a:xfrm>
          <a:prstGeom prst="rect">
            <a:avLst/>
          </a:prstGeom>
          <a:noFill/>
        </p:spPr>
        <p:txBody>
          <a:bodyPr wrap="none" anchor="ctr"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25182"/>
            <a:ext cx="11030760" cy="1373124"/>
          </a:xfrm>
          <a:prstGeom prst="rect">
            <a:avLst/>
          </a:prstGeom>
          <a:noFill/>
        </p:spPr>
        <p:txBody>
          <a:bodyPr wrap="square" anchor="ctr"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2845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438846"/>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18950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57540"/>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767935"/>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66351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935831"/>
            <a:ext cx="9804082" cy="1066800"/>
          </a:xfrm>
          <a:prstGeom prst="rect">
            <a:avLst/>
          </a:prstGeom>
          <a:noFill/>
        </p:spPr>
        <p:txBody>
          <a:bodyPr wrap="none" anchor="ctr" lIns="0" tIns="0" rIns="0" bIns="0">
            <a:noAutofit/>
          </a:bodyPr>
          <a:lstStyle/>
          <a:p>
            <a:pPr algn="l">
              <a:lnSpc>
                <a:spcPts val="3784"/>
              </a:lnSpc>
              <a:spcBef>
                <a:spcPts val="0"/>
              </a:spcBef>
              <a:spcAft>
                <a:spcPts val="0"/>
              </a:spcAft>
            </a:pPr>
            <a:r>
              <a:rPr sz="7570" b="1" i="0" u="none">
                <a:solidFill>
                  <a:srgbClr val="DA1B2E"/>
                </a:solidFill>
                <a:latin typeface="Arial"/>
              </a:rPr>
              <a:t>“</a:t>
            </a:r>
          </a:p>
        </p:txBody>
      </p:sp>
      <p:sp>
        <p:nvSpPr>
          <p:cNvPr id="4" name="TextBox 3"/>
          <p:cNvSpPr txBox="1"/>
          <p:nvPr/>
        </p:nvSpPr>
        <p:spPr>
          <a:xfrm>
            <a:off x="670465" y="1833562"/>
            <a:ext cx="9931522" cy="4131659"/>
          </a:xfrm>
          <a:prstGeom prst="rect">
            <a:avLst/>
          </a:prstGeom>
          <a:noFill/>
        </p:spPr>
        <p:txBody>
          <a:bodyPr wrap="square" anchor="ctr" lIns="0" tIns="0" rIns="0" bIns="0">
            <a:noAutofit/>
          </a:bodyPr>
          <a:lstStyle/>
          <a:p>
            <a:pPr algn="l">
              <a:lnSpc>
                <a:spcPts val="3627"/>
              </a:lnSpc>
              <a:spcBef>
                <a:spcPts val="0"/>
              </a:spcBef>
              <a:spcAft>
                <a:spcPts val="0"/>
              </a:spcAft>
            </a:pPr>
            <a:r>
              <a:rPr sz="3154" b="1" i="0" u="none" spc="-32">
                <a:solidFill>
                  <a:srgbClr val="1F1E1E"/>
                </a:solidFill>
                <a:latin typeface="Arial"/>
              </a:rPr>
              <a:t>An agent is anything that can be viewed as perceiving its environment through sensors and acting upon that environment through actuators. A rational agent is one that does the right thing — for each possible percept sequence, it selects an action expected to maximize its performance measure, given the evidence provided by the percept sequence and whatever built-in knowledge it has.</a:t>
            </a:r>
          </a:p>
        </p:txBody>
      </p:sp>
      <p:sp>
        <p:nvSpPr>
          <p:cNvPr id="5" name="TextBox 4"/>
          <p:cNvSpPr txBox="1"/>
          <p:nvPr/>
        </p:nvSpPr>
        <p:spPr>
          <a:xfrm>
            <a:off x="670465" y="585444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Russell &amp; Norvig, Artificial Intelligence: A Modern Approach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90399"/>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226399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7689532" y="3760756"/>
            <a:ext cx="387010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(one row of three)</a:t>
            </a:r>
          </a:p>
        </p:txBody>
      </p:sp>
      <p:sp>
        <p:nvSpPr>
          <p:cNvPr id="5" name="Rounded Rectangle 4"/>
          <p:cNvSpPr/>
          <p:nvPr/>
        </p:nvSpPr>
        <p:spPr>
          <a:xfrm>
            <a:off x="670465" y="2681764"/>
            <a:ext cx="3437477" cy="2946940"/>
          </a:xfrm>
          <a:prstGeom prst="roundRect">
            <a:avLst>
              <a:gd name="adj" fmla="val 82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023044"/>
            <a:ext cx="707041" cy="707041"/>
          </a:xfrm>
          <a:prstGeom prst="rect">
            <a:avLst/>
          </a:prstGeom>
        </p:spPr>
      </p:pic>
      <p:sp>
        <p:nvSpPr>
          <p:cNvPr id="7" name="TextBox 6"/>
          <p:cNvSpPr txBox="1"/>
          <p:nvPr/>
        </p:nvSpPr>
        <p:spPr>
          <a:xfrm>
            <a:off x="1877282" y="3013520"/>
            <a:ext cx="1976152"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491770"/>
            <a:ext cx="1986173" cy="173078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4376166" y="2681764"/>
            <a:ext cx="3437477" cy="2946940"/>
          </a:xfrm>
          <a:prstGeom prst="roundRect">
            <a:avLst>
              <a:gd name="adj" fmla="val 82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68774" y="3023044"/>
            <a:ext cx="707041" cy="707041"/>
          </a:xfrm>
          <a:prstGeom prst="rect">
            <a:avLst/>
          </a:prstGeom>
        </p:spPr>
      </p:pic>
      <p:sp>
        <p:nvSpPr>
          <p:cNvPr id="11" name="TextBox 10"/>
          <p:cNvSpPr txBox="1"/>
          <p:nvPr/>
        </p:nvSpPr>
        <p:spPr>
          <a:xfrm>
            <a:off x="5582984" y="3013520"/>
            <a:ext cx="198617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5582984" y="3880676"/>
            <a:ext cx="1986173" cy="1406652"/>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8081772" y="2681764"/>
            <a:ext cx="3437668" cy="2946940"/>
          </a:xfrm>
          <a:prstGeom prst="roundRect">
            <a:avLst>
              <a:gd name="adj" fmla="val 82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374380" y="3023044"/>
            <a:ext cx="707041" cy="707041"/>
          </a:xfrm>
          <a:prstGeom prst="rect">
            <a:avLst/>
          </a:prstGeom>
        </p:spPr>
      </p:pic>
      <p:sp>
        <p:nvSpPr>
          <p:cNvPr id="15" name="TextBox 14"/>
          <p:cNvSpPr txBox="1"/>
          <p:nvPr/>
        </p:nvSpPr>
        <p:spPr>
          <a:xfrm>
            <a:off x="9288685" y="3013520"/>
            <a:ext cx="1986269"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9288685" y="3880676"/>
            <a:ext cx="1986269" cy="1406652"/>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3011234"/>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08136"/>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3011234"/>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89443"/>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92541"/>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89443"/>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92541"/>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08136"/>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3011234"/>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89443"/>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92541"/>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83844"/>
            <a:ext cx="2885575"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187607"/>
            <a:ext cx="11032887"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29800"/>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29800"/>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33441"/>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33441"/>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Or use content-text</a:t>
            </a:r>
          </a:p>
        </p:txBody>
      </p:sp>
      <p:sp>
        <p:nvSpPr>
          <p:cNvPr id="35" name="TextBox 34"/>
          <p:cNvSpPr txBox="1"/>
          <p:nvPr/>
        </p:nvSpPr>
        <p:spPr>
          <a:xfrm>
            <a:off x="8665845"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Prose that needs a full-width column is content-text, not a labeled set.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20224"/>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76586"/>
          </a:xfrm>
          <a:prstGeom prst="rect">
            <a:avLst/>
          </a:prstGeom>
          <a:noFill/>
        </p:spPr>
        <p:txBody>
          <a:bodyPr wrap="square" anchor="ctr"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31619"/>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49393"/>
            <a:ext cx="2079177" cy="108718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49393"/>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77496"/>
            <a:ext cx="811825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6701679"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187607"/>
            <a:ext cx="66219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17615"/>
            <a:ext cx="2154780" cy="962025"/>
          </a:xfrm>
          <a:prstGeom prst="rect">
            <a:avLst/>
          </a:prstGeom>
          <a:noFill/>
        </p:spPr>
        <p:txBody>
          <a:bodyPr wrap="square" anchor="ctr"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47599"/>
            <a:ext cx="2154877" cy="739235"/>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17615"/>
            <a:ext cx="2142363"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65087"/>
            <a:ext cx="2154877" cy="951928"/>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094256"/>
            <a:ext cx="5530501"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41632"/>
            <a:ext cx="5593837" cy="480346"/>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51082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896112"/>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83122"/>
            <a:ext cx="16954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61468"/>
            <a:ext cx="1701260"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83122"/>
            <a:ext cx="1701260"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50278"/>
            <a:ext cx="1701260" cy="176307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075938"/>
            <a:ext cx="2939320"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611338"/>
            <a:ext cx="2963788" cy="1026509"/>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TextBox 4"/>
          <p:cNvSpPr txBox="1"/>
          <p:nvPr/>
        </p:nvSpPr>
        <p:spPr>
          <a:xfrm>
            <a:off x="670465" y="1634585"/>
            <a:ext cx="910876"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no</a:t>
            </a:r>
          </a:p>
        </p:txBody>
      </p:sp>
      <p:sp>
        <p:nvSpPr>
          <p:cNvPr id="6" name="Rounded Rectangle 5"/>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1613916"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8" name="TextBox 7"/>
          <p:cNvSpPr txBox="1"/>
          <p:nvPr/>
        </p:nvSpPr>
        <p:spPr>
          <a:xfrm>
            <a:off x="2419636" y="1634585"/>
            <a:ext cx="273862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 a labeled set renders as</a:t>
            </a:r>
          </a:p>
        </p:txBody>
      </p:sp>
      <p:sp>
        <p:nvSpPr>
          <p:cNvPr id="9" name="TextBox 8"/>
          <p:cNvSpPr txBox="1"/>
          <p:nvPr/>
        </p:nvSpPr>
        <p:spPr>
          <a:xfrm>
            <a:off x="5120164" y="1634585"/>
            <a:ext cx="630174"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10" name="TextBox 9"/>
          <p:cNvSpPr txBox="1"/>
          <p:nvPr/>
        </p:nvSpPr>
        <p:spPr>
          <a:xfrm>
            <a:off x="5712142" y="1634585"/>
            <a:ext cx="11210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670465" y="2203228"/>
            <a:ext cx="3451384" cy="4045172"/>
          </a:xfrm>
          <a:prstGeom prst="roundRect">
            <a:avLst>
              <a:gd name="adj" fmla="val 70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940213" y="2517838"/>
            <a:ext cx="651891" cy="651891"/>
          </a:xfrm>
          <a:prstGeom prst="rect">
            <a:avLst/>
          </a:prstGeom>
        </p:spPr>
      </p:pic>
      <p:sp>
        <p:nvSpPr>
          <p:cNvPr id="13" name="TextBox 12"/>
          <p:cNvSpPr txBox="1"/>
          <p:nvPr/>
        </p:nvSpPr>
        <p:spPr>
          <a:xfrm>
            <a:off x="1783080" y="2509076"/>
            <a:ext cx="2119106" cy="1474756"/>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Parallel reads side by side</a:t>
            </a:r>
          </a:p>
        </p:txBody>
      </p:sp>
      <p:sp>
        <p:nvSpPr>
          <p:cNvPr id="14" name="TextBox 13"/>
          <p:cNvSpPr txBox="1"/>
          <p:nvPr/>
        </p:nvSpPr>
        <p:spPr>
          <a:xfrm>
            <a:off x="1783080" y="3667125"/>
            <a:ext cx="2119106" cy="2255996"/>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A labeled set is N </a:t>
            </a:r>
            <a:r>
              <a:rPr sz="1987" b="0" i="1" u="none">
                <a:solidFill>
                  <a:srgbClr val="3B3535"/>
                </a:solidFill>
                <a:latin typeface="Arial"/>
              </a:rPr>
              <a:t>peers</a:t>
            </a:r>
            <a:r>
              <a:rPr sz="1987" b="0" i="0" u="none">
                <a:solidFill>
                  <a:srgbClr val="3B3535"/>
                </a:solidFill>
                <a:latin typeface="Arial"/>
              </a:rPr>
              <a:t>. Stacking them spent the whole slide width on one item and made the set read as a sequence.</a:t>
            </a:r>
          </a:p>
        </p:txBody>
      </p:sp>
      <p:sp>
        <p:nvSpPr>
          <p:cNvPr id="15" name="Rounded Rectangle 14"/>
          <p:cNvSpPr/>
          <p:nvPr/>
        </p:nvSpPr>
        <p:spPr>
          <a:xfrm>
            <a:off x="4369118" y="2203228"/>
            <a:ext cx="3451384" cy="4045172"/>
          </a:xfrm>
          <a:prstGeom prst="roundRect">
            <a:avLst>
              <a:gd name="adj" fmla="val 70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4638866" y="2517838"/>
            <a:ext cx="651891" cy="651891"/>
          </a:xfrm>
          <a:prstGeom prst="rect">
            <a:avLst/>
          </a:prstGeom>
        </p:spPr>
      </p:pic>
      <p:sp>
        <p:nvSpPr>
          <p:cNvPr id="17" name="TextBox 16"/>
          <p:cNvSpPr txBox="1"/>
          <p:nvPr/>
        </p:nvSpPr>
        <p:spPr>
          <a:xfrm>
            <a:off x="5481733" y="2509076"/>
            <a:ext cx="2119106" cy="1116235"/>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The lead survives</a:t>
            </a:r>
          </a:p>
        </p:txBody>
      </p:sp>
      <p:sp>
        <p:nvSpPr>
          <p:cNvPr id="18" name="Rounded Rectangle 17"/>
          <p:cNvSpPr/>
          <p:nvPr/>
        </p:nvSpPr>
        <p:spPr>
          <a:xfrm>
            <a:off x="5481733" y="3334893"/>
            <a:ext cx="715423" cy="280988"/>
          </a:xfrm>
          <a:prstGeom prst="roundRect">
            <a:avLst>
              <a:gd name="adj" fmla="val 17355"/>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5560124" y="3343656"/>
            <a:ext cx="599313" cy="263462"/>
          </a:xfrm>
          <a:prstGeom prst="rect">
            <a:avLst/>
          </a:prstGeom>
          <a:noFill/>
        </p:spPr>
        <p:txBody>
          <a:bodyPr wrap="none" anchor="ctr" lIns="0" tIns="0" rIns="0" bIns="0">
            <a:noAutofit/>
          </a:bodyPr>
          <a:lstStyle/>
          <a:p>
            <a:pPr algn="l">
              <a:lnSpc>
                <a:spcPts val="2376"/>
              </a:lnSpc>
              <a:spcBef>
                <a:spcPts val="0"/>
              </a:spcBef>
              <a:spcAft>
                <a:spcPts val="0"/>
              </a:spcAft>
            </a:pPr>
            <a:r>
              <a:rPr sz="1829" b="0" i="0" u="none">
                <a:solidFill>
                  <a:srgbClr val="3B3535"/>
                </a:solidFill>
                <a:latin typeface="Courier New"/>
              </a:rPr>
              <a:t>grid</a:t>
            </a:r>
          </a:p>
        </p:txBody>
      </p:sp>
      <p:sp>
        <p:nvSpPr>
          <p:cNvPr id="20" name="TextBox 19"/>
          <p:cNvSpPr txBox="1"/>
          <p:nvPr/>
        </p:nvSpPr>
        <p:spPr>
          <a:xfrm>
            <a:off x="5481733" y="3308604"/>
            <a:ext cx="2005775" cy="2261521"/>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the lead the retired format carried, so nothing an old model wrote is dropped on the way over.</a:t>
            </a:r>
          </a:p>
        </p:txBody>
      </p:sp>
      <p:sp>
        <p:nvSpPr>
          <p:cNvPr id="21" name="Rounded Rectangle 20"/>
          <p:cNvSpPr/>
          <p:nvPr/>
        </p:nvSpPr>
        <p:spPr>
          <a:xfrm>
            <a:off x="8067675" y="2203228"/>
            <a:ext cx="3451384" cy="4045172"/>
          </a:xfrm>
          <a:prstGeom prst="roundRect">
            <a:avLst>
              <a:gd name="adj" fmla="val 70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4"/>
          <a:stretch>
            <a:fillRect/>
          </a:stretch>
        </p:blipFill>
        <p:spPr>
          <a:xfrm>
            <a:off x="8337423" y="2517838"/>
            <a:ext cx="651891" cy="651891"/>
          </a:xfrm>
          <a:prstGeom prst="rect">
            <a:avLst/>
          </a:prstGeom>
        </p:spPr>
      </p:pic>
      <p:sp>
        <p:nvSpPr>
          <p:cNvPr id="23" name="TextBox 22"/>
          <p:cNvSpPr txBox="1"/>
          <p:nvPr/>
        </p:nvSpPr>
        <p:spPr>
          <a:xfrm>
            <a:off x="9180290" y="2509076"/>
            <a:ext cx="2119106" cy="1116235"/>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Prose still fits</a:t>
            </a:r>
          </a:p>
        </p:txBody>
      </p:sp>
      <p:sp>
        <p:nvSpPr>
          <p:cNvPr id="24" name="TextBox 23"/>
          <p:cNvSpPr txBox="1"/>
          <p:nvPr/>
        </p:nvSpPr>
        <p:spPr>
          <a:xfrm>
            <a:off x="9180290" y="3308604"/>
            <a:ext cx="2062734" cy="1924050"/>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card holds up to about two sentences. Past that the slide is not a labeled set — it is</a:t>
            </a:r>
          </a:p>
        </p:txBody>
      </p:sp>
      <p:sp>
        <p:nvSpPr>
          <p:cNvPr id="25" name="Rounded Rectangle 24"/>
          <p:cNvSpPr/>
          <p:nvPr/>
        </p:nvSpPr>
        <p:spPr>
          <a:xfrm>
            <a:off x="9180290" y="4977956"/>
            <a:ext cx="1968246" cy="618554"/>
          </a:xfrm>
          <a:prstGeom prst="roundRect">
            <a:avLst>
              <a:gd name="adj" fmla="val 788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9180290" y="4986718"/>
            <a:ext cx="2016820" cy="928973"/>
          </a:xfrm>
          <a:prstGeom prst="rect">
            <a:avLst/>
          </a:prstGeom>
          <a:noFill/>
        </p:spPr>
        <p:txBody>
          <a:bodyPr wrap="square" anchor="ctr" lIns="0" tIns="0" rIns="0" bIns="0">
            <a:noAutofit/>
          </a:bodyPr>
          <a:lstStyle/>
          <a:p>
            <a:pPr algn="l">
              <a:lnSpc>
                <a:spcPts val="2376"/>
              </a:lnSpc>
              <a:spcBef>
                <a:spcPts val="0"/>
              </a:spcBef>
              <a:spcAft>
                <a:spcPts val="0"/>
              </a:spcAft>
            </a:pPr>
            <a:r>
              <a:rPr sz="1829" b="0" i="0" u="none">
                <a:solidFill>
                  <a:srgbClr val="3B3535"/>
                </a:solidFill>
                <a:latin typeface="Courier New"/>
              </a:rPr>
              <a:t>content-text</a:t>
            </a:r>
          </a:p>
        </p:txBody>
      </p:sp>
      <p:sp>
        <p:nvSpPr>
          <p:cNvPr id="27" name="TextBox 26"/>
          <p:cNvSpPr txBox="1"/>
          <p:nvPr/>
        </p:nvSpPr>
        <p:spPr>
          <a:xfrm>
            <a:off x="9180290" y="5289137"/>
            <a:ext cx="1504283" cy="6185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 or two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440591"/>
            <a:ext cx="3437477" cy="2626995"/>
          </a:xfrm>
          <a:prstGeom prst="roundRect">
            <a:avLst>
              <a:gd name="adj" fmla="val 92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400425"/>
            <a:ext cx="707041" cy="707041"/>
          </a:xfrm>
          <a:prstGeom prst="rect">
            <a:avLst/>
          </a:prstGeom>
        </p:spPr>
      </p:pic>
      <p:sp>
        <p:nvSpPr>
          <p:cNvPr id="7" name="TextBox 6"/>
          <p:cNvSpPr txBox="1"/>
          <p:nvPr/>
        </p:nvSpPr>
        <p:spPr>
          <a:xfrm>
            <a:off x="1877282" y="2966752"/>
            <a:ext cx="1986173" cy="1759458"/>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4376166" y="2440591"/>
            <a:ext cx="3437477" cy="2626995"/>
          </a:xfrm>
          <a:prstGeom prst="roundRect">
            <a:avLst>
              <a:gd name="adj" fmla="val 92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4668774" y="3400616"/>
            <a:ext cx="707041" cy="707041"/>
          </a:xfrm>
          <a:prstGeom prst="rect">
            <a:avLst/>
          </a:prstGeom>
        </p:spPr>
      </p:pic>
      <p:sp>
        <p:nvSpPr>
          <p:cNvPr id="10" name="TextBox 9"/>
          <p:cNvSpPr txBox="1"/>
          <p:nvPr/>
        </p:nvSpPr>
        <p:spPr>
          <a:xfrm>
            <a:off x="5582984" y="2772346"/>
            <a:ext cx="1986173" cy="1955578"/>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8081772" y="2440591"/>
            <a:ext cx="3437668" cy="2626995"/>
          </a:xfrm>
          <a:prstGeom prst="roundRect">
            <a:avLst>
              <a:gd name="adj" fmla="val 92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8374380" y="3400616"/>
            <a:ext cx="707041" cy="707041"/>
          </a:xfrm>
          <a:prstGeom prst="rect">
            <a:avLst/>
          </a:prstGeom>
        </p:spPr>
      </p:pic>
      <p:sp>
        <p:nvSpPr>
          <p:cNvPr id="13" name="TextBox 12"/>
          <p:cNvSpPr txBox="1"/>
          <p:nvPr/>
        </p:nvSpPr>
        <p:spPr>
          <a:xfrm>
            <a:off x="9288685" y="2772346"/>
            <a:ext cx="1986269" cy="1955578"/>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icons: none — no inferred glyphs</a:t>
            </a:r>
          </a:p>
        </p:txBody>
      </p:sp>
      <p:sp>
        <p:nvSpPr>
          <p:cNvPr id="5" name="Rounded Rectangle 4"/>
          <p:cNvSpPr/>
          <p:nvPr/>
        </p:nvSpPr>
        <p:spPr>
          <a:xfrm>
            <a:off x="670465" y="2206657"/>
            <a:ext cx="1733836"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2216182"/>
            <a:ext cx="164001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icons: "none"</a:t>
            </a:r>
          </a:p>
        </p:txBody>
      </p:sp>
      <p:sp>
        <p:nvSpPr>
          <p:cNvPr id="7" name="TextBox 6"/>
          <p:cNvSpPr txBox="1"/>
          <p:nvPr/>
        </p:nvSpPr>
        <p:spPr>
          <a:xfrm>
            <a:off x="670465" y="2187607"/>
            <a:ext cx="10572274" cy="480441"/>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turns content-matching off for the set — a deck imported from slides without icons stays without them:</a:t>
            </a:r>
          </a:p>
        </p:txBody>
      </p:sp>
      <p:sp>
        <p:nvSpPr>
          <p:cNvPr id="8" name="Rounded Rectangle 7"/>
          <p:cNvSpPr/>
          <p:nvPr/>
        </p:nvSpPr>
        <p:spPr>
          <a:xfrm>
            <a:off x="670465" y="2978182"/>
            <a:ext cx="5313712" cy="1521904"/>
          </a:xfrm>
          <a:prstGeom prst="roundRect">
            <a:avLst>
              <a:gd name="adj" fmla="val 1602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11828" y="3251835"/>
            <a:ext cx="4869180"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No slot</a:t>
            </a:r>
          </a:p>
        </p:txBody>
      </p:sp>
      <p:sp>
        <p:nvSpPr>
          <p:cNvPr id="10" name="TextBox 9"/>
          <p:cNvSpPr txBox="1"/>
          <p:nvPr/>
        </p:nvSpPr>
        <p:spPr>
          <a:xfrm>
            <a:off x="911828" y="3646360"/>
            <a:ext cx="4922596" cy="545402"/>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The card draws no icon element at all, so the label starts at the card's edge.</a:t>
            </a:r>
          </a:p>
        </p:txBody>
      </p:sp>
      <p:sp>
        <p:nvSpPr>
          <p:cNvPr id="11" name="Rounded Rectangle 10"/>
          <p:cNvSpPr/>
          <p:nvPr/>
        </p:nvSpPr>
        <p:spPr>
          <a:xfrm>
            <a:off x="6205442" y="2978182"/>
            <a:ext cx="5313902" cy="1521904"/>
          </a:xfrm>
          <a:prstGeom prst="roundRect">
            <a:avLst>
              <a:gd name="adj" fmla="val 1602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446711" y="3251835"/>
            <a:ext cx="4869275"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grid</a:t>
            </a:r>
          </a:p>
        </p:txBody>
      </p:sp>
      <p:sp>
        <p:nvSpPr>
          <p:cNvPr id="13" name="TextBox 12"/>
          <p:cNvSpPr txBox="1"/>
          <p:nvPr/>
        </p:nvSpPr>
        <p:spPr>
          <a:xfrm>
            <a:off x="6446711" y="3646360"/>
            <a:ext cx="4922693" cy="545402"/>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Count still drives the layout — four cards are a 2×2, exactly as with icons.</a:t>
            </a:r>
          </a:p>
        </p:txBody>
      </p:sp>
      <p:sp>
        <p:nvSpPr>
          <p:cNvPr id="14" name="Rounded Rectangle 13"/>
          <p:cNvSpPr/>
          <p:nvPr/>
        </p:nvSpPr>
        <p:spPr>
          <a:xfrm>
            <a:off x="670465" y="4721257"/>
            <a:ext cx="5313712" cy="1527143"/>
          </a:xfrm>
          <a:prstGeom prst="roundRect">
            <a:avLst>
              <a:gd name="adj" fmla="val 1596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911828" y="5002720"/>
            <a:ext cx="583216" cy="583216"/>
          </a:xfrm>
          <a:prstGeom prst="rect">
            <a:avLst/>
          </a:prstGeom>
        </p:spPr>
      </p:pic>
      <p:sp>
        <p:nvSpPr>
          <p:cNvPr id="16" name="TextBox 15"/>
          <p:cNvSpPr txBox="1"/>
          <p:nvPr/>
        </p:nvSpPr>
        <p:spPr>
          <a:xfrm>
            <a:off x="1665922" y="4994910"/>
            <a:ext cx="4115086"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Named icons still draw</a:t>
            </a:r>
          </a:p>
        </p:txBody>
      </p:sp>
      <p:sp>
        <p:nvSpPr>
          <p:cNvPr id="17" name="TextBox 16"/>
          <p:cNvSpPr txBox="1"/>
          <p:nvPr/>
        </p:nvSpPr>
        <p:spPr>
          <a:xfrm>
            <a:off x="1665922" y="5389436"/>
            <a:ext cx="2817400" cy="251365"/>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 item that names its own</a:t>
            </a:r>
          </a:p>
        </p:txBody>
      </p:sp>
      <p:sp>
        <p:nvSpPr>
          <p:cNvPr id="18" name="Rounded Rectangle 17"/>
          <p:cNvSpPr/>
          <p:nvPr/>
        </p:nvSpPr>
        <p:spPr>
          <a:xfrm>
            <a:off x="4445127" y="5412962"/>
            <a:ext cx="640080" cy="251365"/>
          </a:xfrm>
          <a:prstGeom prst="roundRect">
            <a:avLst>
              <a:gd name="adj" fmla="val 19401"/>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515326" y="5420868"/>
            <a:ext cx="537686" cy="235648"/>
          </a:xfrm>
          <a:prstGeom prst="rect">
            <a:avLst/>
          </a:prstGeom>
          <a:noFill/>
        </p:spPr>
        <p:txBody>
          <a:bodyPr wrap="none" anchor="ctr" lIns="0" tIns="0" rIns="0" bIns="0">
            <a:noAutofit/>
          </a:bodyPr>
          <a:lstStyle/>
          <a:p>
            <a:pPr algn="l">
              <a:lnSpc>
                <a:spcPts val="2118"/>
              </a:lnSpc>
              <a:spcBef>
                <a:spcPts val="0"/>
              </a:spcBef>
              <a:spcAft>
                <a:spcPts val="0"/>
              </a:spcAft>
            </a:pPr>
            <a:r>
              <a:rPr sz="1630" b="0" i="0" u="none">
                <a:solidFill>
                  <a:srgbClr val="3B3535"/>
                </a:solidFill>
                <a:latin typeface="Courier New"/>
              </a:rPr>
              <a:t>icon</a:t>
            </a:r>
          </a:p>
        </p:txBody>
      </p:sp>
      <p:sp>
        <p:nvSpPr>
          <p:cNvPr id="20" name="TextBox 19"/>
          <p:cNvSpPr txBox="1"/>
          <p:nvPr/>
        </p:nvSpPr>
        <p:spPr>
          <a:xfrm>
            <a:off x="1665922" y="5691378"/>
            <a:ext cx="3497008" cy="251365"/>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it; only the inferred ones go.</a:t>
            </a:r>
          </a:p>
        </p:txBody>
      </p:sp>
      <p:sp>
        <p:nvSpPr>
          <p:cNvPr id="21" name="Rounded Rectangle 20"/>
          <p:cNvSpPr/>
          <p:nvPr/>
        </p:nvSpPr>
        <p:spPr>
          <a:xfrm>
            <a:off x="6205442" y="4721257"/>
            <a:ext cx="5313902" cy="1527143"/>
          </a:xfrm>
          <a:prstGeom prst="roundRect">
            <a:avLst>
              <a:gd name="adj" fmla="val 1596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46711" y="4994910"/>
            <a:ext cx="4869275"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Per item too</a:t>
            </a:r>
          </a:p>
        </p:txBody>
      </p:sp>
      <p:sp>
        <p:nvSpPr>
          <p:cNvPr id="23" name="Rounded Rectangle 22"/>
          <p:cNvSpPr/>
          <p:nvPr/>
        </p:nvSpPr>
        <p:spPr>
          <a:xfrm>
            <a:off x="6446711" y="5412962"/>
            <a:ext cx="1639157" cy="251365"/>
          </a:xfrm>
          <a:prstGeom prst="roundRect">
            <a:avLst>
              <a:gd name="adj" fmla="val 19401"/>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517005" y="5420868"/>
            <a:ext cx="1536764" cy="235648"/>
          </a:xfrm>
          <a:prstGeom prst="rect">
            <a:avLst/>
          </a:prstGeom>
          <a:noFill/>
        </p:spPr>
        <p:txBody>
          <a:bodyPr wrap="none" anchor="ctr" lIns="0" tIns="0" rIns="0" bIns="0">
            <a:noAutofit/>
          </a:bodyPr>
          <a:lstStyle/>
          <a:p>
            <a:pPr algn="l">
              <a:lnSpc>
                <a:spcPts val="2118"/>
              </a:lnSpc>
              <a:spcBef>
                <a:spcPts val="0"/>
              </a:spcBef>
              <a:spcAft>
                <a:spcPts val="0"/>
              </a:spcAft>
            </a:pPr>
            <a:r>
              <a:rPr sz="1630" b="0" i="0" u="none">
                <a:solidFill>
                  <a:srgbClr val="3B3535"/>
                </a:solidFill>
                <a:latin typeface="Courier New"/>
              </a:rPr>
              <a:t>icon: "none"</a:t>
            </a:r>
          </a:p>
        </p:txBody>
      </p:sp>
      <p:sp>
        <p:nvSpPr>
          <p:cNvPr id="25" name="TextBox 24"/>
          <p:cNvSpPr txBox="1"/>
          <p:nvPr/>
        </p:nvSpPr>
        <p:spPr>
          <a:xfrm>
            <a:off x="6446711" y="5389436"/>
            <a:ext cx="4658296" cy="55340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on one card opts out just that card.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one item opted out</a:t>
            </a:r>
          </a:p>
        </p:txBody>
      </p:sp>
      <p:sp>
        <p:nvSpPr>
          <p:cNvPr id="5" name="Rectangle 4"/>
          <p:cNvSpPr/>
          <p:nvPr/>
        </p:nvSpPr>
        <p:spPr>
          <a:xfrm>
            <a:off x="670465" y="3165158"/>
            <a:ext cx="337242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16515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0465" y="3357372"/>
            <a:ext cx="377857" cy="377857"/>
          </a:xfrm>
          <a:prstGeom prst="rect">
            <a:avLst/>
          </a:prstGeom>
        </p:spPr>
      </p:pic>
      <p:sp>
        <p:nvSpPr>
          <p:cNvPr id="8" name="TextBox 7"/>
          <p:cNvSpPr txBox="1"/>
          <p:nvPr/>
        </p:nvSpPr>
        <p:spPr>
          <a:xfrm>
            <a:off x="1218914" y="3357372"/>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Inferred</a:t>
            </a:r>
          </a:p>
        </p:txBody>
      </p:sp>
      <p:sp>
        <p:nvSpPr>
          <p:cNvPr id="9" name="TextBox 8"/>
          <p:cNvSpPr txBox="1"/>
          <p:nvPr/>
        </p:nvSpPr>
        <p:spPr>
          <a:xfrm>
            <a:off x="1218914" y="3824764"/>
            <a:ext cx="2885382" cy="924973"/>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This concept gets a content-matched glyph.</a:t>
            </a:r>
          </a:p>
        </p:txBody>
      </p:sp>
      <p:sp>
        <p:nvSpPr>
          <p:cNvPr id="10" name="Rectangle 9"/>
          <p:cNvSpPr/>
          <p:nvPr/>
        </p:nvSpPr>
        <p:spPr>
          <a:xfrm>
            <a:off x="4408551" y="3165158"/>
            <a:ext cx="337261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4408551" y="316515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408551" y="3357372"/>
            <a:ext cx="341071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Opted out</a:t>
            </a:r>
          </a:p>
        </p:txBody>
      </p:sp>
      <p:sp>
        <p:nvSpPr>
          <p:cNvPr id="13" name="Rounded Rectangle 12"/>
          <p:cNvSpPr/>
          <p:nvPr/>
        </p:nvSpPr>
        <p:spPr>
          <a:xfrm>
            <a:off x="4408551" y="3816382"/>
            <a:ext cx="1768983" cy="276225"/>
          </a:xfrm>
          <a:prstGeom prst="roundRect">
            <a:avLst>
              <a:gd name="adj" fmla="val 17655"/>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485418" y="3825907"/>
            <a:ext cx="1662970" cy="257175"/>
          </a:xfrm>
          <a:prstGeom prst="rect">
            <a:avLst/>
          </a:prstGeom>
          <a:noFill/>
        </p:spPr>
        <p:txBody>
          <a:bodyPr wrap="none" anchor="ctr" lIns="0" tIns="0" rIns="0" bIns="0">
            <a:noAutofit/>
          </a:bodyPr>
          <a:lstStyle/>
          <a:p>
            <a:pPr algn="l">
              <a:lnSpc>
                <a:spcPts val="2385"/>
              </a:lnSpc>
              <a:spcBef>
                <a:spcPts val="0"/>
              </a:spcBef>
              <a:spcAft>
                <a:spcPts val="0"/>
              </a:spcAft>
            </a:pPr>
            <a:r>
              <a:rPr sz="1766" b="0" i="0" u="none">
                <a:solidFill>
                  <a:srgbClr val="3B3535"/>
                </a:solidFill>
                <a:latin typeface="Courier New"/>
              </a:rPr>
              <a:t>icon: "none"</a:t>
            </a:r>
          </a:p>
        </p:txBody>
      </p:sp>
      <p:sp>
        <p:nvSpPr>
          <p:cNvPr id="15" name="TextBox 14"/>
          <p:cNvSpPr txBox="1"/>
          <p:nvPr/>
        </p:nvSpPr>
        <p:spPr>
          <a:xfrm>
            <a:off x="4408551" y="3797332"/>
            <a:ext cx="3108388" cy="936593"/>
          </a:xfrm>
          <a:prstGeom prst="rect">
            <a:avLst/>
          </a:prstGeom>
          <a:noFill/>
        </p:spPr>
        <p:txBody>
          <a:bodyPr wrap="none" anchor="ctr" lIns="0" tIns="0" rIns="0" bIns="0">
            <a:noAutofit/>
          </a:bodyPr>
          <a:lstStyle/>
          <a:p>
            <a:pPr algn="l">
              <a:lnSpc>
                <a:spcPts val="2592"/>
              </a:lnSpc>
              <a:spcBef>
                <a:spcPts val="0"/>
              </a:spcBef>
              <a:spcAft>
                <a:spcPts val="0"/>
              </a:spcAft>
            </a:pPr>
            <a:r>
              <a:rPr sz="1920" b="0" i="0" u="none">
                <a:solidFill>
                  <a:srgbClr val="3B3535"/>
                </a:solidFill>
                <a:latin typeface="Arial"/>
              </a:rPr>
              <a:t>— the label aligns with the hairline, no indent.</a:t>
            </a:r>
          </a:p>
        </p:txBody>
      </p:sp>
      <p:sp>
        <p:nvSpPr>
          <p:cNvPr id="16" name="Rectangle 15"/>
          <p:cNvSpPr/>
          <p:nvPr/>
        </p:nvSpPr>
        <p:spPr>
          <a:xfrm>
            <a:off x="8146828" y="3165158"/>
            <a:ext cx="337242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16515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3"/>
          <a:stretch>
            <a:fillRect/>
          </a:stretch>
        </p:blipFill>
        <p:spPr>
          <a:xfrm>
            <a:off x="8146828" y="3357372"/>
            <a:ext cx="377857" cy="377857"/>
          </a:xfrm>
          <a:prstGeom prst="rect">
            <a:avLst/>
          </a:prstGeom>
        </p:spPr>
      </p:pic>
      <p:sp>
        <p:nvSpPr>
          <p:cNvPr id="19" name="TextBox 18"/>
          <p:cNvSpPr txBox="1"/>
          <p:nvPr/>
        </p:nvSpPr>
        <p:spPr>
          <a:xfrm>
            <a:off x="8695277" y="3357372"/>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Inferred again</a:t>
            </a:r>
          </a:p>
        </p:txBody>
      </p:sp>
      <p:sp>
        <p:nvSpPr>
          <p:cNvPr id="20" name="TextBox 19"/>
          <p:cNvSpPr txBox="1"/>
          <p:nvPr/>
        </p:nvSpPr>
        <p:spPr>
          <a:xfrm>
            <a:off x="8695277" y="3824764"/>
            <a:ext cx="2885382" cy="924973"/>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set keeps one icon per item everywhere else.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TextBox 6"/>
          <p:cNvSpPr txBox="1"/>
          <p:nvPr/>
        </p:nvSpPr>
        <p:spPr>
          <a:xfrm>
            <a:off x="1791938"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8" name="Rounded Rectangle 7"/>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85962"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10" name="TextBox 9"/>
          <p:cNvSpPr txBox="1"/>
          <p:nvPr/>
        </p:nvSpPr>
        <p:spPr>
          <a:xfrm>
            <a:off x="3036665"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230785" y="1663160"/>
            <a:ext cx="1272540"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3" name="TextBox 12"/>
          <p:cNvSpPr txBox="1"/>
          <p:nvPr/>
        </p:nvSpPr>
        <p:spPr>
          <a:xfrm>
            <a:off x="452647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4" name="Rounded Rectangle 13"/>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720495"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6" name="TextBox 15"/>
          <p:cNvSpPr txBox="1"/>
          <p:nvPr/>
        </p:nvSpPr>
        <p:spPr>
          <a:xfrm>
            <a:off x="552631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7" name="Rounded Rectangle 16"/>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720334" y="1663160"/>
            <a:ext cx="1395032"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9" name="TextBox 18"/>
          <p:cNvSpPr txBox="1"/>
          <p:nvPr/>
        </p:nvSpPr>
        <p:spPr>
          <a:xfrm>
            <a:off x="7138511" y="1634585"/>
            <a:ext cx="358482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and a naked URL are resolved in</a:t>
            </a:r>
          </a:p>
        </p:txBody>
      </p:sp>
      <p:sp>
        <p:nvSpPr>
          <p:cNvPr id="20" name="TextBox 19"/>
          <p:cNvSpPr txBox="1"/>
          <p:nvPr/>
        </p:nvSpPr>
        <p:spPr>
          <a:xfrm>
            <a:off x="10685240" y="1634585"/>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1" name="TextBox 20"/>
          <p:cNvSpPr txBox="1"/>
          <p:nvPr/>
        </p:nvSpPr>
        <p:spPr>
          <a:xfrm>
            <a:off x="670465" y="1867376"/>
            <a:ext cx="128301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text field of</a:t>
            </a:r>
          </a:p>
        </p:txBody>
      </p:sp>
      <p:sp>
        <p:nvSpPr>
          <p:cNvPr id="22" name="TextBox 21"/>
          <p:cNvSpPr txBox="1"/>
          <p:nvPr/>
        </p:nvSpPr>
        <p:spPr>
          <a:xfrm>
            <a:off x="1915382" y="1867376"/>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3" name="TextBox 22"/>
          <p:cNvSpPr txBox="1"/>
          <p:nvPr/>
        </p:nvSpPr>
        <p:spPr>
          <a:xfrm>
            <a:off x="2495264" y="1867376"/>
            <a:ext cx="108604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template:</a:t>
            </a:r>
          </a:p>
        </p:txBody>
      </p:sp>
      <p:sp>
        <p:nvSpPr>
          <p:cNvPr id="24" name="Rounded Rectangle 23"/>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826580" y="2646140"/>
            <a:ext cx="377190" cy="377190"/>
          </a:xfrm>
          <a:prstGeom prst="rect">
            <a:avLst/>
          </a:prstGeom>
        </p:spPr>
      </p:pic>
      <p:sp>
        <p:nvSpPr>
          <p:cNvPr id="26" name="TextBox 25"/>
          <p:cNvSpPr txBox="1"/>
          <p:nvPr/>
        </p:nvSpPr>
        <p:spPr>
          <a:xfrm>
            <a:off x="1314164" y="2641092"/>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7" name="TextBox 26"/>
          <p:cNvSpPr txBox="1"/>
          <p:nvPr/>
        </p:nvSpPr>
        <p:spPr>
          <a:xfrm>
            <a:off x="1314164" y="2896267"/>
            <a:ext cx="2780582"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8" name="Rounded Rectangle 27"/>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4490180" y="2646140"/>
            <a:ext cx="377190" cy="377190"/>
          </a:xfrm>
          <a:prstGeom prst="rect">
            <a:avLst/>
          </a:prstGeom>
        </p:spPr>
      </p:pic>
      <p:sp>
        <p:nvSpPr>
          <p:cNvPr id="30" name="TextBox 29"/>
          <p:cNvSpPr txBox="1"/>
          <p:nvPr/>
        </p:nvSpPr>
        <p:spPr>
          <a:xfrm>
            <a:off x="4977860" y="2641092"/>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31" name="TextBox 30"/>
          <p:cNvSpPr txBox="1"/>
          <p:nvPr/>
        </p:nvSpPr>
        <p:spPr>
          <a:xfrm>
            <a:off x="4977860" y="2896267"/>
            <a:ext cx="2780678"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32" name="Rounded Rectangle 31"/>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4"/>
          <a:stretch>
            <a:fillRect/>
          </a:stretch>
        </p:blipFill>
        <p:spPr>
          <a:xfrm>
            <a:off x="8153876" y="2646140"/>
            <a:ext cx="377190" cy="377190"/>
          </a:xfrm>
          <a:prstGeom prst="rect">
            <a:avLst/>
          </a:prstGeom>
        </p:spPr>
      </p:pic>
      <p:sp>
        <p:nvSpPr>
          <p:cNvPr id="34" name="Rounded Rectangle 33"/>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8698611" y="2671572"/>
            <a:ext cx="454628" cy="193072"/>
          </a:xfrm>
          <a:prstGeom prst="rect">
            <a:avLst/>
          </a:prstGeom>
          <a:noFill/>
        </p:spPr>
        <p:txBody>
          <a:bodyPr wrap="none" anchor="ctr" lIns="0" tIns="0" rIns="0"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36" name="TextBox 35"/>
          <p:cNvSpPr txBox="1"/>
          <p:nvPr/>
        </p:nvSpPr>
        <p:spPr>
          <a:xfrm>
            <a:off x="9172194" y="2641092"/>
            <a:ext cx="583025" cy="21336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inline</a:t>
            </a:r>
          </a:p>
        </p:txBody>
      </p:sp>
      <p:sp>
        <p:nvSpPr>
          <p:cNvPr id="37" name="TextBox 36"/>
          <p:cNvSpPr txBox="1"/>
          <p:nvPr/>
        </p:nvSpPr>
        <p:spPr>
          <a:xfrm>
            <a:off x="8641556" y="2910173"/>
            <a:ext cx="114423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field name like</a:t>
            </a:r>
          </a:p>
        </p:txBody>
      </p:sp>
      <p:sp>
        <p:nvSpPr>
          <p:cNvPr id="38" name="Rounded Rectangle 37"/>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793034" y="2930462"/>
            <a:ext cx="133045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40" name="TextBox 39"/>
          <p:cNvSpPr txBox="1"/>
          <p:nvPr/>
        </p:nvSpPr>
        <p:spPr>
          <a:xfrm>
            <a:off x="8641556" y="2910173"/>
            <a:ext cx="2698147"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or a flag like</a:t>
            </a:r>
          </a:p>
        </p:txBody>
      </p:sp>
      <p:sp>
        <p:nvSpPr>
          <p:cNvPr id="41" name="Rounded Rectangle 4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9345740" y="312572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43" name="TextBox 42"/>
          <p:cNvSpPr txBox="1"/>
          <p:nvPr/>
        </p:nvSpPr>
        <p:spPr>
          <a:xfrm>
            <a:off x="8641556" y="3105436"/>
            <a:ext cx="2758059"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the mono face, and</a:t>
            </a:r>
          </a:p>
        </p:txBody>
      </p:sp>
      <p:sp>
        <p:nvSpPr>
          <p:cNvPr id="44" name="TextBox 43"/>
          <p:cNvSpPr txBox="1"/>
          <p:nvPr/>
        </p:nvSpPr>
        <p:spPr>
          <a:xfrm>
            <a:off x="9284208" y="3300698"/>
            <a:ext cx="160210" cy="162592"/>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a</a:t>
            </a:r>
          </a:p>
        </p:txBody>
      </p:sp>
      <p:sp>
        <p:nvSpPr>
          <p:cNvPr id="45" name="Rounded Rectangle 44"/>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451753" y="3320987"/>
            <a:ext cx="280416" cy="152400"/>
          </a:xfrm>
          <a:prstGeom prst="rect">
            <a:avLst/>
          </a:prstGeom>
          <a:noFill/>
        </p:spPr>
        <p:txBody>
          <a:bodyPr wrap="none" anchor="ctr" lIns="0" tIns="0" rIns="0"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47" name="TextBox 46"/>
          <p:cNvSpPr txBox="1"/>
          <p:nvPr/>
        </p:nvSpPr>
        <p:spPr>
          <a:xfrm>
            <a:off x="8641556" y="3300698"/>
            <a:ext cx="2485930" cy="357854"/>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file named inside a bolded phrase</a:t>
            </a:r>
          </a:p>
        </p:txBody>
      </p:sp>
      <p:sp>
        <p:nvSpPr>
          <p:cNvPr id="48" name="TextBox 47"/>
          <p:cNvSpPr txBox="1"/>
          <p:nvPr/>
        </p:nvSpPr>
        <p:spPr>
          <a:xfrm>
            <a:off x="9641586" y="3495961"/>
            <a:ext cx="1363694"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bold across it.</a:t>
            </a:r>
          </a:p>
        </p:txBody>
      </p:sp>
      <p:sp>
        <p:nvSpPr>
          <p:cNvPr id="49" name="Rounded Rectangle 48"/>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0" name="Picture 49" descr="image.png"/>
          <p:cNvPicPr>
            <a:picLocks noChangeAspect="1"/>
          </p:cNvPicPr>
          <p:nvPr/>
        </p:nvPicPr>
        <p:blipFill>
          <a:blip r:embed="rId5"/>
          <a:stretch>
            <a:fillRect/>
          </a:stretch>
        </p:blipFill>
        <p:spPr>
          <a:xfrm>
            <a:off x="826580" y="4183094"/>
            <a:ext cx="377190" cy="377190"/>
          </a:xfrm>
          <a:prstGeom prst="rect">
            <a:avLst/>
          </a:prstGeom>
        </p:spPr>
      </p:pic>
      <p:sp>
        <p:nvSpPr>
          <p:cNvPr id="51" name="TextBox 50"/>
          <p:cNvSpPr txBox="1"/>
          <p:nvPr/>
        </p:nvSpPr>
        <p:spPr>
          <a:xfrm>
            <a:off x="1314164" y="4177951"/>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52" name="TextBox 51"/>
          <p:cNvSpPr txBox="1"/>
          <p:nvPr/>
        </p:nvSpPr>
        <p:spPr>
          <a:xfrm>
            <a:off x="1314164" y="4433126"/>
            <a:ext cx="2780582" cy="899446"/>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53" name="Rounded Rectangle 52"/>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4" name="Picture 53" descr="image.png"/>
          <p:cNvPicPr>
            <a:picLocks noChangeAspect="1"/>
          </p:cNvPicPr>
          <p:nvPr/>
        </p:nvPicPr>
        <p:blipFill>
          <a:blip r:embed="rId6"/>
          <a:stretch>
            <a:fillRect/>
          </a:stretch>
        </p:blipFill>
        <p:spPr>
          <a:xfrm>
            <a:off x="4490180" y="4183094"/>
            <a:ext cx="377190" cy="377190"/>
          </a:xfrm>
          <a:prstGeom prst="rect">
            <a:avLst/>
          </a:prstGeom>
        </p:spPr>
      </p:pic>
      <p:sp>
        <p:nvSpPr>
          <p:cNvPr id="55" name="TextBox 54"/>
          <p:cNvSpPr txBox="1"/>
          <p:nvPr/>
        </p:nvSpPr>
        <p:spPr>
          <a:xfrm>
            <a:off x="4977860"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56" name="Rounded Rectangle 55"/>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023199" y="445341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58" name="TextBox 57"/>
          <p:cNvSpPr txBox="1"/>
          <p:nvPr/>
        </p:nvSpPr>
        <p:spPr>
          <a:xfrm>
            <a:off x="4977860" y="4433126"/>
            <a:ext cx="2660523"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shows the title and hides the address. Only</a:t>
            </a:r>
          </a:p>
        </p:txBody>
      </p:sp>
      <p:sp>
        <p:nvSpPr>
          <p:cNvPr id="59" name="Rounded Rectangle 58"/>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6210681" y="4648772"/>
            <a:ext cx="441960"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61" name="TextBox 60"/>
          <p:cNvSpPr txBox="1"/>
          <p:nvPr/>
        </p:nvSpPr>
        <p:spPr>
          <a:xfrm>
            <a:off x="6659880" y="4628388"/>
            <a:ext cx="119443"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t>
            </a:r>
          </a:p>
        </p:txBody>
      </p:sp>
      <p:sp>
        <p:nvSpPr>
          <p:cNvPr id="62" name="Rounded Rectangle 61"/>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TextBox 62"/>
          <p:cNvSpPr txBox="1"/>
          <p:nvPr/>
        </p:nvSpPr>
        <p:spPr>
          <a:xfrm>
            <a:off x="6786658" y="4648772"/>
            <a:ext cx="52273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64" name="TextBox 63"/>
          <p:cNvSpPr txBox="1"/>
          <p:nvPr/>
        </p:nvSpPr>
        <p:spPr>
          <a:xfrm>
            <a:off x="7316724" y="4628388"/>
            <a:ext cx="32289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and</a:t>
            </a:r>
          </a:p>
        </p:txBody>
      </p:sp>
      <p:sp>
        <p:nvSpPr>
          <p:cNvPr id="65" name="Rounded Rectangle 64"/>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6" name="TextBox 65"/>
          <p:cNvSpPr txBox="1"/>
          <p:nvPr/>
        </p:nvSpPr>
        <p:spPr>
          <a:xfrm>
            <a:off x="5023199" y="4844034"/>
            <a:ext cx="603504"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67" name="TextBox 66"/>
          <p:cNvSpPr txBox="1"/>
          <p:nvPr/>
        </p:nvSpPr>
        <p:spPr>
          <a:xfrm>
            <a:off x="5634038" y="4823746"/>
            <a:ext cx="525970"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link —</a:t>
            </a:r>
          </a:p>
        </p:txBody>
      </p:sp>
      <p:sp>
        <p:nvSpPr>
          <p:cNvPr id="68" name="Rounded Rectangle 67"/>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9" name="TextBox 68"/>
          <p:cNvSpPr txBox="1"/>
          <p:nvPr/>
        </p:nvSpPr>
        <p:spPr>
          <a:xfrm>
            <a:off x="6167342" y="4844034"/>
            <a:ext cx="1411129"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70" name="TextBox 69"/>
          <p:cNvSpPr txBox="1"/>
          <p:nvPr/>
        </p:nvSpPr>
        <p:spPr>
          <a:xfrm>
            <a:off x="4977860" y="5019008"/>
            <a:ext cx="108708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literal text.</a:t>
            </a:r>
          </a:p>
        </p:txBody>
      </p:sp>
      <p:sp>
        <p:nvSpPr>
          <p:cNvPr id="71" name="Rounded Rectangle 70"/>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2" name="Picture 71" descr="image.png"/>
          <p:cNvPicPr>
            <a:picLocks noChangeAspect="1"/>
          </p:cNvPicPr>
          <p:nvPr/>
        </p:nvPicPr>
        <p:blipFill>
          <a:blip r:embed="rId8"/>
          <a:stretch>
            <a:fillRect/>
          </a:stretch>
        </p:blipFill>
        <p:spPr>
          <a:xfrm>
            <a:off x="8153876" y="4183094"/>
            <a:ext cx="377190" cy="377190"/>
          </a:xfrm>
          <a:prstGeom prst="rect">
            <a:avLst/>
          </a:prstGeom>
        </p:spPr>
      </p:pic>
      <p:sp>
        <p:nvSpPr>
          <p:cNvPr id="73" name="TextBox 72"/>
          <p:cNvSpPr txBox="1"/>
          <p:nvPr/>
        </p:nvSpPr>
        <p:spPr>
          <a:xfrm>
            <a:off x="8641556"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74" name="TextBox 73"/>
          <p:cNvSpPr txBox="1"/>
          <p:nvPr/>
        </p:nvSpPr>
        <p:spPr>
          <a:xfrm>
            <a:off x="8641556" y="4433126"/>
            <a:ext cx="2780678" cy="1113187"/>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75" name="TextBox 74"/>
          <p:cNvSpPr txBox="1"/>
          <p:nvPr/>
        </p:nvSpPr>
        <p:spPr>
          <a:xfrm>
            <a:off x="670465" y="6027230"/>
            <a:ext cx="718099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8262938" y="3453574"/>
            <a:ext cx="332652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42866"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348472"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44749"/>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409474"/>
            <a:ext cx="2202056" cy="1684210"/>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4 labeled steps → 2×2</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Four steps sit in two rows of two, never three and a straggler:</a:t>
            </a:r>
          </a:p>
        </p:txBody>
      </p:sp>
      <p:sp>
        <p:nvSpPr>
          <p:cNvPr id="6" name="Rounded Rectangle 5"/>
          <p:cNvSpPr/>
          <p:nvPr/>
        </p:nvSpPr>
        <p:spPr>
          <a:xfrm>
            <a:off x="670465" y="2360295"/>
            <a:ext cx="5290376" cy="1663446"/>
          </a:xfrm>
          <a:prstGeom prst="roundRect">
            <a:avLst>
              <a:gd name="adj" fmla="val 1026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369820"/>
            <a:ext cx="731520" cy="1644396"/>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2968371"/>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618899"/>
            <a:ext cx="4041553"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Draft</a:t>
            </a:r>
          </a:p>
        </p:txBody>
      </p:sp>
      <p:sp>
        <p:nvSpPr>
          <p:cNvPr id="10" name="TextBox 9"/>
          <p:cNvSpPr txBox="1"/>
          <p:nvPr/>
        </p:nvSpPr>
        <p:spPr>
          <a:xfrm>
            <a:off x="1679638" y="3083719"/>
            <a:ext cx="4082555" cy="662273"/>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Editor writes the slide in draft.md.</a:t>
            </a:r>
          </a:p>
        </p:txBody>
      </p:sp>
      <p:sp>
        <p:nvSpPr>
          <p:cNvPr id="11" name="Rounded Rectangle 10"/>
          <p:cNvSpPr/>
          <p:nvPr/>
        </p:nvSpPr>
        <p:spPr>
          <a:xfrm>
            <a:off x="6229064" y="2360295"/>
            <a:ext cx="5290376" cy="1663446"/>
          </a:xfrm>
          <a:prstGeom prst="roundRect">
            <a:avLst>
              <a:gd name="adj" fmla="val 1026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38589" y="2369820"/>
            <a:ext cx="731520" cy="1644396"/>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495764" y="2968371"/>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7238238" y="2618899"/>
            <a:ext cx="4041553"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Review</a:t>
            </a:r>
          </a:p>
        </p:txBody>
      </p:sp>
      <p:sp>
        <p:nvSpPr>
          <p:cNvPr id="15" name="TextBox 14"/>
          <p:cNvSpPr txBox="1"/>
          <p:nvPr/>
        </p:nvSpPr>
        <p:spPr>
          <a:xfrm>
            <a:off x="7238238" y="3083719"/>
            <a:ext cx="4082555" cy="662273"/>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Composer audits it against the thesis.</a:t>
            </a:r>
          </a:p>
        </p:txBody>
      </p:sp>
      <p:sp>
        <p:nvSpPr>
          <p:cNvPr id="16" name="Rounded Rectangle 15"/>
          <p:cNvSpPr/>
          <p:nvPr/>
        </p:nvSpPr>
        <p:spPr>
          <a:xfrm>
            <a:off x="670465" y="4291870"/>
            <a:ext cx="5290376" cy="1663446"/>
          </a:xfrm>
          <a:prstGeom prst="roundRect">
            <a:avLst>
              <a:gd name="adj" fmla="val 1026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9990" y="4301395"/>
            <a:ext cx="731520" cy="1644396"/>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37165" y="4900041"/>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1679638" y="4550569"/>
            <a:ext cx="4041553"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Polish</a:t>
            </a:r>
          </a:p>
        </p:txBody>
      </p:sp>
      <p:sp>
        <p:nvSpPr>
          <p:cNvPr id="20" name="TextBox 19"/>
          <p:cNvSpPr txBox="1"/>
          <p:nvPr/>
        </p:nvSpPr>
        <p:spPr>
          <a:xfrm>
            <a:off x="1679638" y="5015389"/>
            <a:ext cx="4082555" cy="662273"/>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Diagrams are drawn and final.md is frozen.</a:t>
            </a:r>
          </a:p>
        </p:txBody>
      </p:sp>
      <p:sp>
        <p:nvSpPr>
          <p:cNvPr id="21" name="Rounded Rectangle 20"/>
          <p:cNvSpPr/>
          <p:nvPr/>
        </p:nvSpPr>
        <p:spPr>
          <a:xfrm>
            <a:off x="6229064" y="4291870"/>
            <a:ext cx="5290376" cy="1663446"/>
          </a:xfrm>
          <a:prstGeom prst="roundRect">
            <a:avLst>
              <a:gd name="adj" fmla="val 1026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38589" y="4301395"/>
            <a:ext cx="731520" cy="1644396"/>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495764" y="4900041"/>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4</a:t>
            </a:r>
          </a:p>
        </p:txBody>
      </p:sp>
      <p:sp>
        <p:nvSpPr>
          <p:cNvPr id="24" name="TextBox 23"/>
          <p:cNvSpPr txBox="1"/>
          <p:nvPr/>
        </p:nvSpPr>
        <p:spPr>
          <a:xfrm>
            <a:off x="7238238" y="4550569"/>
            <a:ext cx="4041553"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5" name="TextBox 24"/>
          <p:cNvSpPr txBox="1"/>
          <p:nvPr/>
        </p:nvSpPr>
        <p:spPr>
          <a:xfrm>
            <a:off x="7238238" y="5015389"/>
            <a:ext cx="4082555" cy="662273"/>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deck is built from the slide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5 labeled steps → 3 + 2 centred</a:t>
            </a:r>
          </a:p>
        </p:txBody>
      </p:sp>
      <p:sp>
        <p:nvSpPr>
          <p:cNvPr id="5" name="Rounded Rectangle 4"/>
          <p:cNvSpPr/>
          <p:nvPr/>
        </p:nvSpPr>
        <p:spPr>
          <a:xfrm>
            <a:off x="670465" y="2094357"/>
            <a:ext cx="3437477" cy="1663446"/>
          </a:xfrm>
          <a:prstGeom prst="roundRect">
            <a:avLst>
              <a:gd name="adj" fmla="val 1026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103882"/>
            <a:ext cx="731520" cy="1644396"/>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37165" y="2702433"/>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8" name="TextBox 7"/>
          <p:cNvSpPr txBox="1"/>
          <p:nvPr/>
        </p:nvSpPr>
        <p:spPr>
          <a:xfrm>
            <a:off x="1679638" y="2352961"/>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Scan</a:t>
            </a:r>
          </a:p>
        </p:txBody>
      </p:sp>
      <p:sp>
        <p:nvSpPr>
          <p:cNvPr id="9" name="TextBox 8"/>
          <p:cNvSpPr txBox="1"/>
          <p:nvPr/>
        </p:nvSpPr>
        <p:spPr>
          <a:xfrm>
            <a:off x="1679638" y="2817781"/>
            <a:ext cx="2201863" cy="662273"/>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Find every ASCII block.</a:t>
            </a:r>
          </a:p>
        </p:txBody>
      </p:sp>
      <p:sp>
        <p:nvSpPr>
          <p:cNvPr id="10" name="Rounded Rectangle 9"/>
          <p:cNvSpPr/>
          <p:nvPr/>
        </p:nvSpPr>
        <p:spPr>
          <a:xfrm>
            <a:off x="4376166" y="2094357"/>
            <a:ext cx="3437477" cy="1663446"/>
          </a:xfrm>
          <a:prstGeom prst="roundRect">
            <a:avLst>
              <a:gd name="adj" fmla="val 1026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4385691" y="2103882"/>
            <a:ext cx="731520" cy="1644396"/>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642866" y="2702433"/>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3" name="TextBox 12"/>
          <p:cNvSpPr txBox="1"/>
          <p:nvPr/>
        </p:nvSpPr>
        <p:spPr>
          <a:xfrm>
            <a:off x="5385340" y="2352961"/>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Extract</a:t>
            </a:r>
          </a:p>
        </p:txBody>
      </p:sp>
      <p:sp>
        <p:nvSpPr>
          <p:cNvPr id="14" name="TextBox 13"/>
          <p:cNvSpPr txBox="1"/>
          <p:nvPr/>
        </p:nvSpPr>
        <p:spPr>
          <a:xfrm>
            <a:off x="5385340" y="2817781"/>
            <a:ext cx="2201863" cy="662273"/>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Write one sidecar per block.</a:t>
            </a:r>
          </a:p>
        </p:txBody>
      </p:sp>
      <p:sp>
        <p:nvSpPr>
          <p:cNvPr id="15" name="Rounded Rectangle 14"/>
          <p:cNvSpPr/>
          <p:nvPr/>
        </p:nvSpPr>
        <p:spPr>
          <a:xfrm>
            <a:off x="8081772" y="2094357"/>
            <a:ext cx="3437668" cy="1663446"/>
          </a:xfrm>
          <a:prstGeom prst="roundRect">
            <a:avLst>
              <a:gd name="adj" fmla="val 1026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8091297" y="2103882"/>
            <a:ext cx="731520" cy="1644396"/>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348472" y="2702433"/>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8" name="TextBox 17"/>
          <p:cNvSpPr txBox="1"/>
          <p:nvPr/>
        </p:nvSpPr>
        <p:spPr>
          <a:xfrm>
            <a:off x="9091041" y="2352961"/>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19" name="TextBox 18"/>
          <p:cNvSpPr txBox="1"/>
          <p:nvPr/>
        </p:nvSpPr>
        <p:spPr>
          <a:xfrm>
            <a:off x="9091041" y="2817781"/>
            <a:ext cx="2202056" cy="662273"/>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Draw each block as an SVG.</a:t>
            </a:r>
          </a:p>
        </p:txBody>
      </p:sp>
      <p:sp>
        <p:nvSpPr>
          <p:cNvPr id="20" name="Rounded Rectangle 19"/>
          <p:cNvSpPr/>
          <p:nvPr/>
        </p:nvSpPr>
        <p:spPr>
          <a:xfrm>
            <a:off x="2523268" y="4025932"/>
            <a:ext cx="3437668" cy="1663446"/>
          </a:xfrm>
          <a:prstGeom prst="roundRect">
            <a:avLst>
              <a:gd name="adj" fmla="val 1026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Rectangle 20"/>
          <p:cNvSpPr/>
          <p:nvPr/>
        </p:nvSpPr>
        <p:spPr>
          <a:xfrm>
            <a:off x="2532793" y="4035457"/>
            <a:ext cx="731520" cy="1644396"/>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2789968" y="4634103"/>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4</a:t>
            </a:r>
          </a:p>
        </p:txBody>
      </p:sp>
      <p:sp>
        <p:nvSpPr>
          <p:cNvPr id="23" name="TextBox 22"/>
          <p:cNvSpPr txBox="1"/>
          <p:nvPr/>
        </p:nvSpPr>
        <p:spPr>
          <a:xfrm>
            <a:off x="3532442" y="4284631"/>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Critique</a:t>
            </a:r>
          </a:p>
        </p:txBody>
      </p:sp>
      <p:sp>
        <p:nvSpPr>
          <p:cNvPr id="24" name="TextBox 23"/>
          <p:cNvSpPr txBox="1"/>
          <p:nvPr/>
        </p:nvSpPr>
        <p:spPr>
          <a:xfrm>
            <a:off x="3532442" y="4749451"/>
            <a:ext cx="2202056" cy="662273"/>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A blind critic reviews the PNG.</a:t>
            </a:r>
          </a:p>
        </p:txBody>
      </p:sp>
      <p:sp>
        <p:nvSpPr>
          <p:cNvPr id="25" name="Rounded Rectangle 24"/>
          <p:cNvSpPr/>
          <p:nvPr/>
        </p:nvSpPr>
        <p:spPr>
          <a:xfrm>
            <a:off x="6229064" y="4025932"/>
            <a:ext cx="3437477" cy="1663446"/>
          </a:xfrm>
          <a:prstGeom prst="roundRect">
            <a:avLst>
              <a:gd name="adj" fmla="val 1026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238589" y="4035457"/>
            <a:ext cx="731520" cy="1644396"/>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495764" y="4634103"/>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5</a:t>
            </a:r>
          </a:p>
        </p:txBody>
      </p:sp>
      <p:sp>
        <p:nvSpPr>
          <p:cNvPr id="28" name="TextBox 27"/>
          <p:cNvSpPr txBox="1"/>
          <p:nvPr/>
        </p:nvSpPr>
        <p:spPr>
          <a:xfrm>
            <a:off x="7238238" y="4284631"/>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Clean up</a:t>
            </a:r>
          </a:p>
        </p:txBody>
      </p:sp>
      <p:sp>
        <p:nvSpPr>
          <p:cNvPr id="29" name="TextBox 28"/>
          <p:cNvSpPr txBox="1"/>
          <p:nvPr/>
        </p:nvSpPr>
        <p:spPr>
          <a:xfrm>
            <a:off x="7238238" y="4749451"/>
            <a:ext cx="2201863" cy="662273"/>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Swap each fence for its image.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14864" y="2316575"/>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219039"/>
            <a:ext cx="6053614"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14864" y="2918650"/>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821114"/>
            <a:ext cx="303180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4864" y="3520821"/>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423285"/>
            <a:ext cx="312905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14864" y="4122896"/>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4025360"/>
            <a:ext cx="5181981"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14864" y="4725067"/>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27531"/>
            <a:ext cx="686743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14864" y="532714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29606"/>
            <a:ext cx="4557522"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814864" y="592931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31776"/>
            <a:ext cx="401955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25436" y="284683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42152"/>
            <a:ext cx="9042368"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25436" y="355368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49098"/>
            <a:ext cx="764876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5436" y="4260628"/>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56043"/>
            <a:ext cx="6628543"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25436" y="4967573"/>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62989"/>
            <a:ext cx="874261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1802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32494"/>
            <a:ext cx="662544"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69348"/>
            <a:ext cx="662544"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3758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32494"/>
            <a:ext cx="662737" cy="1276160"/>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74910"/>
            <a:ext cx="662737" cy="2502979"/>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557236"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32494"/>
            <a:ext cx="662640"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69348"/>
            <a:ext cx="662640"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523196"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52940"/>
            <a:ext cx="81442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89782"/>
            <a:ext cx="814426" cy="2422874"/>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31518"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52940"/>
            <a:ext cx="814716" cy="1147667"/>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53815"/>
            <a:ext cx="814716" cy="2149602"/>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139934"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52940"/>
            <a:ext cx="81471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89782"/>
            <a:ext cx="814716" cy="2390870"/>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68321"/>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301828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3502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8489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0163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51501"/>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93159" y="3151251"/>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2255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7242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93159" y="421795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398916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3912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93159" y="5284565"/>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55870"/>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50573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8632"/>
            <a:ext cx="2588514" cy="2628328"/>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8632"/>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82860" y="2931224"/>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9" name="TextBox 8"/>
          <p:cNvSpPr txBox="1"/>
          <p:nvPr/>
        </p:nvSpPr>
        <p:spPr>
          <a:xfrm>
            <a:off x="782860" y="3201257"/>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0" name="TextBox 9"/>
          <p:cNvSpPr txBox="1"/>
          <p:nvPr/>
        </p:nvSpPr>
        <p:spPr>
          <a:xfrm>
            <a:off x="782860" y="3837242"/>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1" name="Oval 10"/>
          <p:cNvSpPr/>
          <p:nvPr/>
        </p:nvSpPr>
        <p:spPr>
          <a:xfrm>
            <a:off x="782860"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32878" y="4012406"/>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3" name="Oval 12"/>
          <p:cNvSpPr/>
          <p:nvPr/>
        </p:nvSpPr>
        <p:spPr>
          <a:xfrm>
            <a:off x="782860"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32878" y="4240340"/>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5" name="Oval 14"/>
          <p:cNvSpPr/>
          <p:nvPr/>
        </p:nvSpPr>
        <p:spPr>
          <a:xfrm>
            <a:off x="782860"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2878" y="4468368"/>
            <a:ext cx="2265961"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7" name="TextBox 16"/>
          <p:cNvSpPr txBox="1"/>
          <p:nvPr/>
        </p:nvSpPr>
        <p:spPr>
          <a:xfrm>
            <a:off x="782860" y="4924330"/>
            <a:ext cx="2418230"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8" name="Rounded Rectangle 17"/>
          <p:cNvSpPr/>
          <p:nvPr/>
        </p:nvSpPr>
        <p:spPr>
          <a:xfrm>
            <a:off x="3424047"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3424047"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3536442"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1" name="TextBox 20"/>
          <p:cNvSpPr txBox="1"/>
          <p:nvPr/>
        </p:nvSpPr>
        <p:spPr>
          <a:xfrm>
            <a:off x="3536442" y="3201257"/>
            <a:ext cx="2418327"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2" name="TextBox 21"/>
          <p:cNvSpPr txBox="1"/>
          <p:nvPr/>
        </p:nvSpPr>
        <p:spPr>
          <a:xfrm>
            <a:off x="3536442" y="3837242"/>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3" name="Oval 22"/>
          <p:cNvSpPr/>
          <p:nvPr/>
        </p:nvSpPr>
        <p:spPr>
          <a:xfrm>
            <a:off x="3536442"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686461" y="4012406"/>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5" name="Oval 24"/>
          <p:cNvSpPr/>
          <p:nvPr/>
        </p:nvSpPr>
        <p:spPr>
          <a:xfrm>
            <a:off x="3536442"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686461" y="4240340"/>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7" name="Oval 26"/>
          <p:cNvSpPr/>
          <p:nvPr/>
        </p:nvSpPr>
        <p:spPr>
          <a:xfrm>
            <a:off x="3536442"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686461" y="4468368"/>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29" name="TextBox 28"/>
          <p:cNvSpPr txBox="1"/>
          <p:nvPr/>
        </p:nvSpPr>
        <p:spPr>
          <a:xfrm>
            <a:off x="3536442" y="4748784"/>
            <a:ext cx="2418327" cy="440817"/>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0" name="Rounded Rectangle 29"/>
          <p:cNvSpPr/>
          <p:nvPr/>
        </p:nvSpPr>
        <p:spPr>
          <a:xfrm>
            <a:off x="6177629" y="2768632"/>
            <a:ext cx="2588514" cy="2628328"/>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6177629" y="2768632"/>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290120" y="2966466"/>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3" name="TextBox 32"/>
          <p:cNvSpPr txBox="1"/>
          <p:nvPr/>
        </p:nvSpPr>
        <p:spPr>
          <a:xfrm>
            <a:off x="6290120" y="3236404"/>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4" name="TextBox 33"/>
          <p:cNvSpPr txBox="1"/>
          <p:nvPr/>
        </p:nvSpPr>
        <p:spPr>
          <a:xfrm>
            <a:off x="6290120" y="3872389"/>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5" name="Oval 34"/>
          <p:cNvSpPr/>
          <p:nvPr/>
        </p:nvSpPr>
        <p:spPr>
          <a:xfrm>
            <a:off x="6290120" y="413308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40043" y="4047554"/>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37" name="Oval 36"/>
          <p:cNvSpPr/>
          <p:nvPr/>
        </p:nvSpPr>
        <p:spPr>
          <a:xfrm>
            <a:off x="6290120" y="436111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440043" y="4275582"/>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39" name="Oval 38"/>
          <p:cNvSpPr/>
          <p:nvPr/>
        </p:nvSpPr>
        <p:spPr>
          <a:xfrm>
            <a:off x="6290120" y="458905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40043" y="4503515"/>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1" name="TextBox 40"/>
          <p:cNvSpPr txBox="1"/>
          <p:nvPr/>
        </p:nvSpPr>
        <p:spPr>
          <a:xfrm>
            <a:off x="6290120" y="4783931"/>
            <a:ext cx="2401824" cy="152400"/>
          </a:xfrm>
          <a:prstGeom prst="rect">
            <a:avLst/>
          </a:prstGeom>
          <a:noFill/>
        </p:spPr>
        <p:txBody>
          <a:bodyPr wrap="non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2" name="Rounded Rectangle 41"/>
          <p:cNvSpPr/>
          <p:nvPr/>
        </p:nvSpPr>
        <p:spPr>
          <a:xfrm>
            <a:off x="8931212"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Rectangle 42"/>
          <p:cNvSpPr/>
          <p:nvPr/>
        </p:nvSpPr>
        <p:spPr>
          <a:xfrm>
            <a:off x="8931212"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9043606"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5" name="TextBox 44"/>
          <p:cNvSpPr txBox="1"/>
          <p:nvPr/>
        </p:nvSpPr>
        <p:spPr>
          <a:xfrm>
            <a:off x="9043606" y="3201257"/>
            <a:ext cx="2418327" cy="644176"/>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46" name="TextBox 45"/>
          <p:cNvSpPr txBox="1"/>
          <p:nvPr/>
        </p:nvSpPr>
        <p:spPr>
          <a:xfrm>
            <a:off x="9043606" y="3649885"/>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47" name="Oval 46"/>
          <p:cNvSpPr/>
          <p:nvPr/>
        </p:nvSpPr>
        <p:spPr>
          <a:xfrm>
            <a:off x="9043606" y="39105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9193625" y="3825050"/>
            <a:ext cx="2266058" cy="613124"/>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49" name="Oval 48"/>
          <p:cNvSpPr/>
          <p:nvPr/>
        </p:nvSpPr>
        <p:spPr>
          <a:xfrm>
            <a:off x="9043606" y="431415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9193625" y="4228528"/>
            <a:ext cx="2251996"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1" name="Oval 50"/>
          <p:cNvSpPr/>
          <p:nvPr/>
        </p:nvSpPr>
        <p:spPr>
          <a:xfrm>
            <a:off x="9043606" y="454209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193625" y="4456557"/>
            <a:ext cx="2266058"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3" name="TextBox 52"/>
          <p:cNvSpPr txBox="1"/>
          <p:nvPr/>
        </p:nvSpPr>
        <p:spPr>
          <a:xfrm>
            <a:off x="9043606" y="4912519"/>
            <a:ext cx="2418327"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4" name="Rounded Rectangle 53"/>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Rectangle 54"/>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6" name="Picture 55" descr="image.png"/>
          <p:cNvPicPr>
            <a:picLocks noChangeAspect="1"/>
          </p:cNvPicPr>
          <p:nvPr/>
        </p:nvPicPr>
        <p:blipFill>
          <a:blip r:embed="rId2"/>
          <a:stretch>
            <a:fillRect/>
          </a:stretch>
        </p:blipFill>
        <p:spPr>
          <a:xfrm>
            <a:off x="886016" y="5882735"/>
            <a:ext cx="243745" cy="243745"/>
          </a:xfrm>
          <a:prstGeom prst="rect">
            <a:avLst/>
          </a:prstGeom>
        </p:spPr>
      </p:pic>
      <p:sp>
        <p:nvSpPr>
          <p:cNvPr id="57" name="TextBox 56"/>
          <p:cNvSpPr txBox="1"/>
          <p:nvPr/>
        </p:nvSpPr>
        <p:spPr>
          <a:xfrm>
            <a:off x="1251680" y="5877496"/>
            <a:ext cx="7116794"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7170" cy="296608"/>
          </a:xfrm>
          <a:prstGeom prst="rect">
            <a:avLst/>
          </a:prstGeom>
          <a:noFill/>
        </p:spPr>
        <p:txBody>
          <a:bodyPr wrap="none" anchor="ctr" lIns="0" tIns="0" rIns="0" bIns="0">
            <a:noAutofit/>
          </a:bodyPr>
          <a:lstStyle/>
          <a:p>
            <a:pPr algn="l">
              <a:lnSpc>
                <a:spcPts val="2385"/>
              </a:lnSpc>
              <a:spcBef>
                <a:spcPts val="0"/>
              </a:spcBef>
              <a:spcAft>
                <a:spcPts val="0"/>
              </a:spcAft>
            </a:pPr>
            <a:r>
              <a:rPr sz="2074" b="1" i="0" u="none">
                <a:solidFill>
                  <a:srgbClr val="1F1E1E"/>
                </a:solidFill>
                <a:latin typeface="Arial"/>
              </a:rPr>
              <a:t>IA Tradicional vs. Foundation Models</a:t>
            </a:r>
          </a:p>
        </p:txBody>
      </p:sp>
      <p:sp>
        <p:nvSpPr>
          <p:cNvPr id="7" name="Rounded Rectangle 6"/>
          <p:cNvSpPr/>
          <p:nvPr/>
        </p:nvSpPr>
        <p:spPr>
          <a:xfrm>
            <a:off x="670465" y="3314890"/>
            <a:ext cx="5327428" cy="2498312"/>
          </a:xfrm>
          <a:prstGeom prst="roundRect">
            <a:avLst>
              <a:gd name="adj" fmla="val 8784"/>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14890"/>
            <a:ext cx="5327428"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47058" y="3583019"/>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DA1B2E"/>
                </a:solidFill>
                <a:latin typeface="Arial"/>
              </a:rPr>
              <a:t>IA Tradicional</a:t>
            </a:r>
          </a:p>
        </p:txBody>
      </p:sp>
      <p:sp>
        <p:nvSpPr>
          <p:cNvPr id="10" name="TextBox 9"/>
          <p:cNvSpPr txBox="1"/>
          <p:nvPr/>
        </p:nvSpPr>
        <p:spPr>
          <a:xfrm>
            <a:off x="847058" y="3966020"/>
            <a:ext cx="5012436" cy="206883"/>
          </a:xfrm>
          <a:prstGeom prst="rect">
            <a:avLst/>
          </a:prstGeom>
          <a:noFill/>
        </p:spPr>
        <p:txBody>
          <a:bodyPr wrap="none" anchor="ctr" lIns="0" tIns="0" rIns="0" bIns="0">
            <a:noAutofit/>
          </a:bodyPr>
          <a:lstStyle/>
          <a:p>
            <a:pPr algn="l">
              <a:lnSpc>
                <a:spcPts val="1960"/>
              </a:lnSpc>
              <a:spcBef>
                <a:spcPts val="0"/>
              </a:spcBef>
              <a:spcAft>
                <a:spcPts val="0"/>
              </a:spcAft>
            </a:pPr>
            <a:r>
              <a:rPr sz="1452" b="0" i="0" u="none">
                <a:solidFill>
                  <a:srgbClr val="3B3535"/>
                </a:solidFill>
                <a:latin typeface="Arial"/>
              </a:rPr>
              <a:t>Un modelo por tarea específica, entrenado en casa.</a:t>
            </a:r>
          </a:p>
        </p:txBody>
      </p:sp>
      <p:sp>
        <p:nvSpPr>
          <p:cNvPr id="11" name="Oval 10"/>
          <p:cNvSpPr/>
          <p:nvPr/>
        </p:nvSpPr>
        <p:spPr>
          <a:xfrm>
            <a:off x="847058" y="4375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023556" y="4297680"/>
            <a:ext cx="4888759" cy="736378"/>
          </a:xfrm>
          <a:prstGeom prst="rect">
            <a:avLst/>
          </a:prstGeom>
          <a:noFill/>
        </p:spPr>
        <p:txBody>
          <a:bodyPr wrap="square" anchor="ctr" lIns="0" tIns="0" rIns="0" bIns="0">
            <a:noAutofit/>
          </a:bodyPr>
          <a:lstStyle/>
          <a:p>
            <a:pPr algn="l">
              <a:lnSpc>
                <a:spcPts val="1797"/>
              </a:lnSpc>
              <a:spcBef>
                <a:spcPts val="0"/>
              </a:spcBef>
              <a:spcAft>
                <a:spcPts val="0"/>
              </a:spcAft>
            </a:pPr>
            <a:r>
              <a:rPr sz="1382" b="0" i="0" u="none">
                <a:solidFill>
                  <a:srgbClr val="3B3535"/>
                </a:solidFill>
                <a:latin typeface="Arial"/>
              </a:rPr>
              <a:t>Requiere datos etiquetados abundantes para cada caso de uso</a:t>
            </a:r>
          </a:p>
        </p:txBody>
      </p:sp>
      <p:sp>
        <p:nvSpPr>
          <p:cNvPr id="13" name="Oval 12"/>
          <p:cNvSpPr/>
          <p:nvPr/>
        </p:nvSpPr>
        <p:spPr>
          <a:xfrm>
            <a:off x="847058" y="489604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23556" y="4818412"/>
            <a:ext cx="4835842" cy="193167"/>
          </a:xfrm>
          <a:prstGeom prst="rect">
            <a:avLst/>
          </a:prstGeom>
          <a:noFill/>
        </p:spPr>
        <p:txBody>
          <a:bodyPr wrap="none" anchor="ctr" lIns="0" tIns="0" rIns="0" bIns="0">
            <a:noAutofit/>
          </a:bodyPr>
          <a:lstStyle/>
          <a:p>
            <a:pPr algn="l">
              <a:lnSpc>
                <a:spcPts val="1797"/>
              </a:lnSpc>
              <a:spcBef>
                <a:spcPts val="0"/>
              </a:spcBef>
              <a:spcAft>
                <a:spcPts val="0"/>
              </a:spcAft>
            </a:pPr>
            <a:r>
              <a:rPr sz="1382" b="0" i="0" u="none">
                <a:solidFill>
                  <a:srgbClr val="3B3535"/>
                </a:solidFill>
                <a:latin typeface="Arial"/>
              </a:rPr>
              <a:t>Difícil de reutilizar entre dominios distintos</a:t>
            </a:r>
          </a:p>
        </p:txBody>
      </p:sp>
      <p:sp>
        <p:nvSpPr>
          <p:cNvPr id="15" name="TextBox 14"/>
          <p:cNvSpPr txBox="1"/>
          <p:nvPr/>
        </p:nvSpPr>
        <p:spPr>
          <a:xfrm>
            <a:off x="847058" y="5189030"/>
            <a:ext cx="5068001" cy="422624"/>
          </a:xfrm>
          <a:prstGeom prst="rect">
            <a:avLst/>
          </a:prstGeom>
          <a:noFill/>
        </p:spPr>
        <p:txBody>
          <a:bodyPr wrap="square" anchor="ctr" lIns="0" tIns="0" rIns="0" bIns="0">
            <a:noAutofit/>
          </a:bodyPr>
          <a:lstStyle/>
          <a:p>
            <a:pPr algn="l">
              <a:lnSpc>
                <a:spcPts val="1797"/>
              </a:lnSpc>
              <a:spcBef>
                <a:spcPts val="0"/>
              </a:spcBef>
              <a:spcAft>
                <a:spcPts val="0"/>
              </a:spcAft>
            </a:pPr>
            <a:r>
              <a:rPr sz="1382" b="1" i="0" u="none">
                <a:solidFill>
                  <a:srgbClr val="1F1E1E"/>
                </a:solidFill>
                <a:latin typeface="Arial"/>
              </a:rPr>
              <a:t>Ejemplo: un detector de fallos en autopartes sólo detecta eso.</a:t>
            </a:r>
          </a:p>
        </p:txBody>
      </p:sp>
      <p:sp>
        <p:nvSpPr>
          <p:cNvPr id="16" name="Rounded Rectangle 15"/>
          <p:cNvSpPr/>
          <p:nvPr/>
        </p:nvSpPr>
        <p:spPr>
          <a:xfrm>
            <a:off x="6192107" y="3314890"/>
            <a:ext cx="5327428" cy="2498312"/>
          </a:xfrm>
          <a:prstGeom prst="roundRect">
            <a:avLst>
              <a:gd name="adj" fmla="val 878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192107" y="3314890"/>
            <a:ext cx="5327428"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68701" y="3541586"/>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1F1E1E"/>
                </a:solidFill>
                <a:latin typeface="Arial"/>
              </a:rPr>
              <a:t>Foundation Models</a:t>
            </a:r>
          </a:p>
        </p:txBody>
      </p:sp>
      <p:sp>
        <p:nvSpPr>
          <p:cNvPr id="19" name="TextBox 18"/>
          <p:cNvSpPr txBox="1"/>
          <p:nvPr/>
        </p:nvSpPr>
        <p:spPr>
          <a:xfrm>
            <a:off x="6368701" y="3924681"/>
            <a:ext cx="5068001" cy="802862"/>
          </a:xfrm>
          <a:prstGeom prst="rect">
            <a:avLst/>
          </a:prstGeom>
          <a:noFill/>
        </p:spPr>
        <p:txBody>
          <a:bodyPr wrap="square" anchor="ctr" lIns="0" tIns="0" rIns="0" bIns="0">
            <a:noAutofit/>
          </a:bodyPr>
          <a:lstStyle/>
          <a:p>
            <a:pPr algn="l">
              <a:lnSpc>
                <a:spcPts val="1960"/>
              </a:lnSpc>
              <a:spcBef>
                <a:spcPts val="0"/>
              </a:spcBef>
              <a:spcAft>
                <a:spcPts val="0"/>
              </a:spcAft>
            </a:pPr>
            <a:r>
              <a:rPr sz="1452" b="0" i="0" u="none">
                <a:solidFill>
                  <a:srgbClr val="3B3535"/>
                </a:solidFill>
                <a:latin typeface="Arial"/>
              </a:rPr>
              <a:t>Modelos entrenados con datos a gran escala que adquieren una comprensión general y se adaptan después.</a:t>
            </a:r>
          </a:p>
        </p:txBody>
      </p:sp>
      <p:sp>
        <p:nvSpPr>
          <p:cNvPr id="20" name="TextBox 19"/>
          <p:cNvSpPr txBox="1"/>
          <p:nvPr/>
        </p:nvSpPr>
        <p:spPr>
          <a:xfrm>
            <a:off x="6368701" y="4513516"/>
            <a:ext cx="5012436" cy="193167"/>
          </a:xfrm>
          <a:prstGeom prst="rect">
            <a:avLst/>
          </a:prstGeom>
          <a:noFill/>
        </p:spPr>
        <p:txBody>
          <a:bodyPr wrap="none" anchor="ctr" lIns="0" tIns="0" rIns="0" bIns="0">
            <a:noAutofit/>
          </a:bodyPr>
          <a:lstStyle/>
          <a:p>
            <a:pPr algn="l">
              <a:lnSpc>
                <a:spcPts val="1866"/>
              </a:lnSpc>
              <a:spcBef>
                <a:spcPts val="0"/>
              </a:spcBef>
              <a:spcAft>
                <a:spcPts val="0"/>
              </a:spcAft>
            </a:pPr>
            <a:r>
              <a:rPr sz="1382" b="0" i="0" u="none">
                <a:solidFill>
                  <a:srgbClr val="3B3535"/>
                </a:solidFill>
                <a:latin typeface="Arial"/>
              </a:rPr>
              <a:t>Se exponen como SaaS o se pueden correr localmente.</a:t>
            </a:r>
          </a:p>
        </p:txBody>
      </p:sp>
      <p:sp>
        <p:nvSpPr>
          <p:cNvPr id="21" name="TextBox 20"/>
          <p:cNvSpPr txBox="1"/>
          <p:nvPr/>
        </p:nvSpPr>
        <p:spPr>
          <a:xfrm>
            <a:off x="6368701" y="4840034"/>
            <a:ext cx="5068001" cy="723519"/>
          </a:xfrm>
          <a:prstGeom prst="rect">
            <a:avLst/>
          </a:prstGeom>
          <a:noFill/>
        </p:spPr>
        <p:txBody>
          <a:bodyPr wrap="square" anchor="ctr" lIns="0" tIns="0" rIns="0" bIns="0">
            <a:noAutofit/>
          </a:bodyPr>
          <a:lstStyle/>
          <a:p>
            <a:pPr algn="l">
              <a:lnSpc>
                <a:spcPts val="1866"/>
              </a:lnSpc>
              <a:spcBef>
                <a:spcPts val="0"/>
              </a:spcBef>
              <a:spcAft>
                <a:spcPts val="0"/>
              </a:spcAft>
            </a:pPr>
            <a:r>
              <a:rPr sz="1382" b="0" i="0" u="none">
                <a:solidFill>
                  <a:srgbClr val="3B3535"/>
                </a:solidFill>
                <a:latin typeface="Arial"/>
              </a:rPr>
              <a:t>No hace falta un equipo de data science para empezar a usarlos.</a:t>
            </a:r>
          </a:p>
        </p:txBody>
      </p:sp>
      <p:sp>
        <p:nvSpPr>
          <p:cNvPr id="22" name="TextBox 21"/>
          <p:cNvSpPr txBox="1"/>
          <p:nvPr/>
        </p:nvSpPr>
        <p:spPr>
          <a:xfrm>
            <a:off x="670465" y="6027230"/>
            <a:ext cx="8165497"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2"/>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2181511"/>
            <a:ext cx="3524536"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924366"/>
            <a:ext cx="3346249"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65142" y="2924366"/>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41220" y="3064478"/>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4113657"/>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565142" y="3973449"/>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241220" y="4113657"/>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5022532"/>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565142" y="5022532"/>
            <a:ext cx="309743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241220" y="5022532"/>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93208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30993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913031"/>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913031"/>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Rounded Rectangle 8"/>
          <p:cNvSpPr/>
          <p:nvPr/>
        </p:nvSpPr>
        <p:spPr>
          <a:xfrm>
            <a:off x="670465" y="3503866"/>
            <a:ext cx="5334762"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89064" y="3655790"/>
            <a:ext cx="493547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comparison needs a real HTML table</a:t>
            </a:r>
          </a:p>
        </p:txBody>
      </p:sp>
      <p:sp>
        <p:nvSpPr>
          <p:cNvPr id="11" name="Rounded Rectangle 10"/>
          <p:cNvSpPr/>
          <p:nvPr/>
        </p:nvSpPr>
        <p:spPr>
          <a:xfrm>
            <a:off x="6184582" y="3503866"/>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403181" y="3655790"/>
            <a:ext cx="493566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3" name="Rounded Rectangle 12"/>
          <p:cNvSpPr/>
          <p:nvPr/>
        </p:nvSpPr>
        <p:spPr>
          <a:xfrm>
            <a:off x="670465" y="4412742"/>
            <a:ext cx="5334762"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9064" y="4564666"/>
            <a:ext cx="493547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The two columns should look different</a:t>
            </a:r>
          </a:p>
        </p:txBody>
      </p:sp>
      <p:sp>
        <p:nvSpPr>
          <p:cNvPr id="15" name="Rounded Rectangle 14"/>
          <p:cNvSpPr/>
          <p:nvPr/>
        </p:nvSpPr>
        <p:spPr>
          <a:xfrm>
            <a:off x="6184582" y="427253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403181" y="4424553"/>
            <a:ext cx="4990078"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693"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187607"/>
            <a:ext cx="1088898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75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045"/>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289744"/>
            <a:ext cx="1726107" cy="572167"/>
          </a:xfrm>
          <a:prstGeom prst="rect">
            <a:avLst/>
          </a:prstGeom>
          <a:noFill/>
        </p:spPr>
        <p:txBody>
          <a:bodyPr wrap="square" anchor="ctr" lIns="0" tIns="0" rIns="0" bIns="0">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847118"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857655"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192905"/>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847118" y="4086416"/>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857655" y="4086416"/>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989671"/>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847118" y="4883182"/>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857655" y="4989671"/>
            <a:ext cx="1553813" cy="230124"/>
          </a:xfrm>
          <a:prstGeom prst="rect">
            <a:avLst/>
          </a:prstGeom>
          <a:noFill/>
        </p:spPr>
        <p:txBody>
          <a:bodyPr wrap="none" anchor="ctr" lIns="0" tIns="0" rIns="0" bIns="0">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786342"/>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505"/>
            <a:ext cx="1874330" cy="681895"/>
          </a:xfrm>
          <a:prstGeom prst="roundRect">
            <a:avLst>
              <a:gd name="adj" fmla="val 188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847118" y="5679853"/>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505"/>
            <a:ext cx="1870805" cy="681895"/>
          </a:xfrm>
          <a:prstGeom prst="roundRect">
            <a:avLst>
              <a:gd name="adj" fmla="val 188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857655" y="5679853"/>
            <a:ext cx="1584472"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25624"/>
            <a:ext cx="2900172"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2325624"/>
            <a:ext cx="2896457"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3098768"/>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848725" y="2975420"/>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4021931"/>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48725" y="3898582"/>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821746"/>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48725" y="4821746"/>
            <a:ext cx="252231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45035"/>
            <a:ext cx="4645628"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14640" y="3507772"/>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314640" y="4363593"/>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314640" y="5219414"/>
            <a:ext cx="4323493" cy="314706"/>
          </a:xfrm>
          <a:prstGeom prst="rect">
            <a:avLst/>
          </a:prstGeom>
          <a:noFill/>
        </p:spPr>
        <p:txBody>
          <a:bodyPr wrap="none" anchor="ctr" lIns="0"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45035"/>
            <a:ext cx="4645724"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911435" y="3507772"/>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11435" y="4363593"/>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911435" y="5219414"/>
            <a:ext cx="4368917" cy="699802"/>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554"/>
            <a:ext cx="674560" cy="674560"/>
          </a:xfrm>
          <a:prstGeom prst="rect">
            <a:avLst/>
          </a:prstGeom>
        </p:spPr>
      </p:pic>
      <p:sp>
        <p:nvSpPr>
          <p:cNvPr id="8" name="TextBox 7"/>
          <p:cNvSpPr txBox="1"/>
          <p:nvPr/>
        </p:nvSpPr>
        <p:spPr>
          <a:xfrm>
            <a:off x="985171" y="3335084"/>
            <a:ext cx="466420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299877" y="3884962"/>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99877" y="4318826"/>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99877" y="4752594"/>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299877" y="5186458"/>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99877" y="5620321"/>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554"/>
            <a:ext cx="674560" cy="674560"/>
          </a:xfrm>
          <a:prstGeom prst="rect">
            <a:avLst/>
          </a:prstGeom>
        </p:spPr>
      </p:pic>
      <p:sp>
        <p:nvSpPr>
          <p:cNvPr id="21" name="TextBox 20"/>
          <p:cNvSpPr txBox="1"/>
          <p:nvPr/>
        </p:nvSpPr>
        <p:spPr>
          <a:xfrm>
            <a:off x="6577965" y="3335084"/>
            <a:ext cx="466439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892671" y="3884962"/>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892671" y="4370546"/>
            <a:ext cx="4395310" cy="1038511"/>
          </a:xfrm>
          <a:prstGeom prst="rect">
            <a:avLst/>
          </a:prstGeom>
          <a:noFill/>
        </p:spPr>
        <p:txBody>
          <a:bodyPr wrap="square" anchor="ctr" lIns="0"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892671" y="5206746"/>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226399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7933182" y="3760756"/>
            <a:ext cx="362645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674554"/>
            <a:ext cx="2897660" cy="92573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787807"/>
            <a:ext cx="4731068"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787807"/>
            <a:ext cx="4782412" cy="63026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558064"/>
            <a:ext cx="1955235"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558064"/>
            <a:ext cx="1955332"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558064"/>
            <a:ext cx="1955235"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558064"/>
            <a:ext cx="1955332"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452116"/>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63073" y="3390710"/>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3073" y="4329398"/>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563594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2813113"/>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3751802"/>
            <a:ext cx="5010381" cy="153152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601873" y="5086636"/>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97424"/>
            <a:ext cx="10468089" cy="773240"/>
          </a:xfrm>
          <a:prstGeom prst="rect">
            <a:avLst/>
          </a:prstGeom>
          <a:noFill/>
        </p:spPr>
        <p:txBody>
          <a:bodyPr wrap="square" anchor="ctr"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483804"/>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38934"/>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 source line under the picture</a:t>
            </a:r>
          </a:p>
        </p:txBody>
      </p:sp>
      <p:pic>
        <p:nvPicPr>
          <p:cNvPr id="5" name="Picture 4" descr="image.png"/>
          <p:cNvPicPr>
            <a:picLocks noChangeAspect="1"/>
          </p:cNvPicPr>
          <p:nvPr/>
        </p:nvPicPr>
        <p:blipFill>
          <a:blip r:embed="rId2"/>
          <a:stretch>
            <a:fillRect/>
          </a:stretch>
        </p:blipFill>
        <p:spPr>
          <a:xfrm>
            <a:off x="0" y="1678019"/>
            <a:ext cx="12192000" cy="4500848"/>
          </a:xfrm>
          <a:prstGeom prst="rect">
            <a:avLst/>
          </a:prstGeom>
        </p:spPr>
      </p:pic>
      <p:sp>
        <p:nvSpPr>
          <p:cNvPr id="6" name="TextBox 5"/>
          <p:cNvSpPr txBox="1"/>
          <p:nvPr/>
        </p:nvSpPr>
        <p:spPr>
          <a:xfrm>
            <a:off x="670465" y="6344221"/>
            <a:ext cx="3357372"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3"/>
              </a:rPr>
              <a:t>Talksmith — md-to-deck</a:t>
            </a:r>
            <a:r>
              <a:rPr sz="1402" b="0" i="0" u="none">
                <a:solidFill>
                  <a:srgbClr val="6E6663"/>
                </a:solidFill>
                <a:latin typeface="Arial"/>
              </a:rPr>
              <a:t> (2026).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an ASCII figure, before Polish renders it</a:t>
            </a:r>
          </a:p>
        </p:txBody>
      </p:sp>
      <p:sp>
        <p:nvSpPr>
          <p:cNvPr id="5" name="Rounded Rectangle 4"/>
          <p:cNvSpPr/>
          <p:nvPr/>
        </p:nvSpPr>
        <p:spPr>
          <a:xfrm>
            <a:off x="670465" y="3385090"/>
            <a:ext cx="10851070" cy="2026253"/>
          </a:xfrm>
          <a:prstGeom prst="roundRect">
            <a:avLst>
              <a:gd name="adj" fmla="val 9627"/>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3394615"/>
            <a:ext cx="10832020" cy="346615"/>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3731704"/>
            <a:ext cx="108320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29913" y="3516630"/>
            <a:ext cx="92869" cy="92869"/>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1012603" y="3516630"/>
            <a:ext cx="92869" cy="92869"/>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1195388" y="3516630"/>
            <a:ext cx="92869" cy="92869"/>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72598" y="4047554"/>
            <a:ext cx="10419557" cy="1086136"/>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1F1F1F"/>
                </a:solidFill>
                <a:latin typeface="Courier New"/>
              </a:rPr>
              <a:t>draft.md ──► FILL ──► slide-model.json ──► RENDER ──► index.html</a:t>
            </a:r>
          </a:p>
          <a:p>
            <a:pPr algn="l">
              <a:lnSpc>
                <a:spcPts val="2952"/>
              </a:lnSpc>
              <a:spcBef>
                <a:spcPts val="0"/>
              </a:spcBef>
              <a:spcAft>
                <a:spcPts val="0"/>
              </a:spcAft>
            </a:pPr>
            <a:r>
              <a:rPr sz="1968" b="0" i="0" u="none">
                <a:solidFill>
                  <a:srgbClr val="1F1F1F"/>
                </a:solidFill>
                <a:latin typeface="Courier New"/>
              </a:rPr>
              <a:t>              │                                   │</a:t>
            </a:r>
          </a:p>
          <a:p>
            <a:pPr algn="l">
              <a:lnSpc>
                <a:spcPts val="2952"/>
              </a:lnSpc>
              <a:spcBef>
                <a:spcPts val="0"/>
              </a:spcBef>
              <a:spcAft>
                <a:spcPts val="0"/>
              </a:spcAft>
            </a:pPr>
            <a:r>
              <a:rPr sz="1968" b="0" i="0" u="none">
                <a:solidFill>
                  <a:srgbClr val="1F1F1F"/>
                </a:solidFill>
                <a:latin typeface="Courier New"/>
              </a:rPr>
              <a:t>              └──── audits (coverage, diversity)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65184"/>
            <a:ext cx="10282273" cy="461391"/>
          </a:xfrm>
          <a:prstGeom prst="rect">
            <a:avLst/>
          </a:prstGeom>
          <a:noFill/>
        </p:spPr>
        <p:txBody>
          <a:bodyPr wrap="square" anchor="ctr"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66144"/>
            <a:ext cx="3475768"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33536"/>
            <a:ext cx="3508283"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two figures fill two columns</a:t>
            </a:r>
          </a:p>
        </p:txBody>
      </p:sp>
      <p:sp>
        <p:nvSpPr>
          <p:cNvPr id="5" name="Rounded Rectangle 4"/>
          <p:cNvSpPr/>
          <p:nvPr/>
        </p:nvSpPr>
        <p:spPr>
          <a:xfrm>
            <a:off x="670465" y="1970913"/>
            <a:ext cx="5290376" cy="2984182"/>
          </a:xfrm>
          <a:prstGeom prst="roundRect">
            <a:avLst>
              <a:gd name="adj" fmla="val 57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9990" y="1980438"/>
            <a:ext cx="5271230" cy="2965132"/>
          </a:xfrm>
          <a:prstGeom prst="rect">
            <a:avLst/>
          </a:prstGeom>
        </p:spPr>
      </p:pic>
      <p:sp>
        <p:nvSpPr>
          <p:cNvPr id="7" name="TextBox 6"/>
          <p:cNvSpPr txBox="1"/>
          <p:nvPr/>
        </p:nvSpPr>
        <p:spPr>
          <a:xfrm>
            <a:off x="670465" y="5131022"/>
            <a:ext cx="5328476"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Loss when real</a:t>
            </a:r>
          </a:p>
        </p:txBody>
      </p:sp>
      <p:sp>
        <p:nvSpPr>
          <p:cNvPr id="8" name="TextBox 7"/>
          <p:cNvSpPr txBox="1"/>
          <p:nvPr/>
        </p:nvSpPr>
        <p:spPr>
          <a:xfrm>
            <a:off x="670465" y="5598509"/>
            <a:ext cx="5328476"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−ln(x): large as x → 0.</a:t>
            </a:r>
          </a:p>
        </p:txBody>
      </p:sp>
      <p:sp>
        <p:nvSpPr>
          <p:cNvPr id="9" name="Rounded Rectangle 8"/>
          <p:cNvSpPr/>
          <p:nvPr/>
        </p:nvSpPr>
        <p:spPr>
          <a:xfrm>
            <a:off x="6229064" y="1970913"/>
            <a:ext cx="5290376" cy="2984182"/>
          </a:xfrm>
          <a:prstGeom prst="roundRect">
            <a:avLst>
              <a:gd name="adj" fmla="val 57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238589" y="1980438"/>
            <a:ext cx="5271230" cy="2965132"/>
          </a:xfrm>
          <a:prstGeom prst="rect">
            <a:avLst/>
          </a:prstGeom>
        </p:spPr>
      </p:pic>
      <p:sp>
        <p:nvSpPr>
          <p:cNvPr id="11" name="TextBox 10"/>
          <p:cNvSpPr txBox="1"/>
          <p:nvPr/>
        </p:nvSpPr>
        <p:spPr>
          <a:xfrm>
            <a:off x="6229064" y="5131022"/>
            <a:ext cx="5328476"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Loss when fake</a:t>
            </a:r>
          </a:p>
        </p:txBody>
      </p:sp>
      <p:sp>
        <p:nvSpPr>
          <p:cNvPr id="12" name="TextBox 11"/>
          <p:cNvSpPr txBox="1"/>
          <p:nvPr/>
        </p:nvSpPr>
        <p:spPr>
          <a:xfrm>
            <a:off x="6229064" y="5598509"/>
            <a:ext cx="5328476"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−ln(1−x): large as x →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four figures make a 2×2</a:t>
            </a:r>
          </a:p>
        </p:txBody>
      </p:sp>
      <p:sp>
        <p:nvSpPr>
          <p:cNvPr id="5" name="Rounded Rectangle 4"/>
          <p:cNvSpPr/>
          <p:nvPr/>
        </p:nvSpPr>
        <p:spPr>
          <a:xfrm>
            <a:off x="670465" y="1775555"/>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2152460" y="1783461"/>
            <a:ext cx="2348389" cy="1321022"/>
          </a:xfrm>
          <a:prstGeom prst="rect">
            <a:avLst/>
          </a:prstGeom>
        </p:spPr>
      </p:pic>
      <p:sp>
        <p:nvSpPr>
          <p:cNvPr id="7" name="TextBox 6"/>
          <p:cNvSpPr txBox="1"/>
          <p:nvPr/>
        </p:nvSpPr>
        <p:spPr>
          <a:xfrm>
            <a:off x="670465" y="3258979"/>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Loss when real</a:t>
            </a:r>
          </a:p>
        </p:txBody>
      </p:sp>
      <p:sp>
        <p:nvSpPr>
          <p:cNvPr id="8" name="TextBox 7"/>
          <p:cNvSpPr txBox="1"/>
          <p:nvPr/>
        </p:nvSpPr>
        <p:spPr>
          <a:xfrm>
            <a:off x="670465" y="3648646"/>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−ln(x): large as x → 0.</a:t>
            </a:r>
          </a:p>
        </p:txBody>
      </p:sp>
      <p:sp>
        <p:nvSpPr>
          <p:cNvPr id="9" name="Rounded Rectangle 8"/>
          <p:cNvSpPr/>
          <p:nvPr/>
        </p:nvSpPr>
        <p:spPr>
          <a:xfrm>
            <a:off x="6206490" y="1775555"/>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7688485" y="1783461"/>
            <a:ext cx="2348389" cy="1321022"/>
          </a:xfrm>
          <a:prstGeom prst="rect">
            <a:avLst/>
          </a:prstGeom>
        </p:spPr>
      </p:pic>
      <p:sp>
        <p:nvSpPr>
          <p:cNvPr id="11" name="TextBox 10"/>
          <p:cNvSpPr txBox="1"/>
          <p:nvPr/>
        </p:nvSpPr>
        <p:spPr>
          <a:xfrm>
            <a:off x="6206490" y="3258979"/>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Loss when fake</a:t>
            </a:r>
          </a:p>
        </p:txBody>
      </p:sp>
      <p:sp>
        <p:nvSpPr>
          <p:cNvPr id="12" name="TextBox 11"/>
          <p:cNvSpPr txBox="1"/>
          <p:nvPr/>
        </p:nvSpPr>
        <p:spPr>
          <a:xfrm>
            <a:off x="6206490" y="3648646"/>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−ln(1−x): large as x → 1.</a:t>
            </a:r>
          </a:p>
        </p:txBody>
      </p:sp>
      <p:sp>
        <p:nvSpPr>
          <p:cNvPr id="13" name="Rounded Rectangle 12"/>
          <p:cNvSpPr/>
          <p:nvPr/>
        </p:nvSpPr>
        <p:spPr>
          <a:xfrm>
            <a:off x="670465" y="4130992"/>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2152460" y="4138898"/>
            <a:ext cx="2348389" cy="1321022"/>
          </a:xfrm>
          <a:prstGeom prst="rect">
            <a:avLst/>
          </a:prstGeom>
        </p:spPr>
      </p:pic>
      <p:sp>
        <p:nvSpPr>
          <p:cNvPr id="15" name="TextBox 14"/>
          <p:cNvSpPr txBox="1"/>
          <p:nvPr/>
        </p:nvSpPr>
        <p:spPr>
          <a:xfrm>
            <a:off x="670465" y="5614416"/>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Third panel</a:t>
            </a:r>
          </a:p>
        </p:txBody>
      </p:sp>
      <p:sp>
        <p:nvSpPr>
          <p:cNvPr id="16" name="TextBox 15"/>
          <p:cNvSpPr txBox="1"/>
          <p:nvPr/>
        </p:nvSpPr>
        <p:spPr>
          <a:xfrm>
            <a:off x="670465" y="6004084"/>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Two by two below.</a:t>
            </a:r>
          </a:p>
        </p:txBody>
      </p:sp>
      <p:sp>
        <p:nvSpPr>
          <p:cNvPr id="17" name="Rounded Rectangle 16"/>
          <p:cNvSpPr/>
          <p:nvPr/>
        </p:nvSpPr>
        <p:spPr>
          <a:xfrm>
            <a:off x="6206490" y="4130992"/>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3"/>
          <a:stretch>
            <a:fillRect/>
          </a:stretch>
        </p:blipFill>
        <p:spPr>
          <a:xfrm>
            <a:off x="7688485" y="4138898"/>
            <a:ext cx="2348389" cy="1321022"/>
          </a:xfrm>
          <a:prstGeom prst="rect">
            <a:avLst/>
          </a:prstGeom>
        </p:spPr>
      </p:pic>
      <p:sp>
        <p:nvSpPr>
          <p:cNvPr id="19" name="TextBox 18"/>
          <p:cNvSpPr txBox="1"/>
          <p:nvPr/>
        </p:nvSpPr>
        <p:spPr>
          <a:xfrm>
            <a:off x="6206490" y="5614416"/>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Fourth panel</a:t>
            </a:r>
          </a:p>
        </p:txBody>
      </p:sp>
      <p:sp>
        <p:nvSpPr>
          <p:cNvPr id="20" name="TextBox 19"/>
          <p:cNvSpPr txBox="1"/>
          <p:nvPr/>
        </p:nvSpPr>
        <p:spPr>
          <a:xfrm>
            <a:off x="6206490" y="6004084"/>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The grid closes square.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5"/>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6"/>
          <a:stretch>
            <a:fillRect/>
          </a:stretch>
        </p:blipFill>
        <p:spPr>
          <a:xfrm>
            <a:off x="7957661" y="4416933"/>
            <a:ext cx="3558350" cy="1831467"/>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2996565"/>
            <a:ext cx="4217670" cy="388525"/>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61099"/>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59369"/>
            <a:ext cx="4217670" cy="388430"/>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23808"/>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2947"/>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28321"/>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65365"/>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90739"/>
            <a:ext cx="4649479" cy="449770"/>
          </a:xfrm>
          <a:prstGeom prst="rect">
            <a:avLst/>
          </a:prstGeom>
          <a:noFill/>
        </p:spPr>
        <p:txBody>
          <a:bodyPr wrap="square" anchor="ctr"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0290"/>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95569"/>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a pair of images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diagrams the whole set shares — neither is dropped to fit one media slot.</a:t>
            </a:r>
          </a:p>
        </p:txBody>
      </p:sp>
      <p:sp>
        <p:nvSpPr>
          <p:cNvPr id="6" name="Rounded Rectangle 5"/>
          <p:cNvSpPr/>
          <p:nvPr/>
        </p:nvSpPr>
        <p:spPr>
          <a:xfrm>
            <a:off x="670465" y="2762440"/>
            <a:ext cx="5457444" cy="1044512"/>
          </a:xfrm>
          <a:prstGeom prst="roundRect">
            <a:avLst>
              <a:gd name="adj" fmla="val 233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77634" y="2969514"/>
            <a:ext cx="470821" cy="470821"/>
          </a:xfrm>
          <a:prstGeom prst="rect">
            <a:avLst/>
          </a:prstGeom>
        </p:spPr>
      </p:pic>
      <p:sp>
        <p:nvSpPr>
          <p:cNvPr id="8" name="TextBox 7"/>
          <p:cNvSpPr txBox="1"/>
          <p:nvPr/>
        </p:nvSpPr>
        <p:spPr>
          <a:xfrm>
            <a:off x="1480185" y="2962180"/>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A media pair</a:t>
            </a:r>
          </a:p>
        </p:txBody>
      </p:sp>
      <p:sp>
        <p:nvSpPr>
          <p:cNvPr id="9" name="Rounded Rectangle 8"/>
          <p:cNvSpPr/>
          <p:nvPr/>
        </p:nvSpPr>
        <p:spPr>
          <a:xfrm>
            <a:off x="1480185" y="3353752"/>
            <a:ext cx="2470594" cy="235363"/>
          </a:xfrm>
          <a:prstGeom prst="roundRect">
            <a:avLst>
              <a:gd name="adj" fmla="val 20720"/>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546003" y="3361087"/>
            <a:ext cx="2377154" cy="220694"/>
          </a:xfrm>
          <a:prstGeom prst="rect">
            <a:avLst/>
          </a:prstGeom>
          <a:noFill/>
        </p:spPr>
        <p:txBody>
          <a:bodyPr wrap="none" anchor="ctr" lIns="0" tIns="0" rIns="0" bIns="0">
            <a:noAutofit/>
          </a:bodyPr>
          <a:lstStyle/>
          <a:p>
            <a:pPr algn="l">
              <a:lnSpc>
                <a:spcPts val="1989"/>
              </a:lnSpc>
              <a:spcBef>
                <a:spcPts val="0"/>
              </a:spcBef>
              <a:spcAft>
                <a:spcPts val="0"/>
              </a:spcAft>
            </a:pPr>
            <a:r>
              <a:rPr sz="1530" b="0" i="0" u="none">
                <a:solidFill>
                  <a:srgbClr val="3B3535"/>
                </a:solidFill>
                <a:latin typeface="Courier New"/>
              </a:rPr>
              <a:t>media: {images: […]}</a:t>
            </a:r>
          </a:p>
        </p:txBody>
      </p:sp>
      <p:sp>
        <p:nvSpPr>
          <p:cNvPr id="11" name="TextBox 10"/>
          <p:cNvSpPr txBox="1"/>
          <p:nvPr/>
        </p:nvSpPr>
        <p:spPr>
          <a:xfrm>
            <a:off x="3950779" y="3331654"/>
            <a:ext cx="1981105" cy="235363"/>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two pictures.</a:t>
            </a:r>
          </a:p>
        </p:txBody>
      </p:sp>
      <p:sp>
        <p:nvSpPr>
          <p:cNvPr id="12" name="Rounded Rectangle 11"/>
          <p:cNvSpPr/>
          <p:nvPr/>
        </p:nvSpPr>
        <p:spPr>
          <a:xfrm>
            <a:off x="670465" y="3976306"/>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877634" y="4183475"/>
            <a:ext cx="470821" cy="470821"/>
          </a:xfrm>
          <a:prstGeom prst="rect">
            <a:avLst/>
          </a:prstGeom>
        </p:spPr>
      </p:pic>
      <p:sp>
        <p:nvSpPr>
          <p:cNvPr id="14" name="TextBox 13"/>
          <p:cNvSpPr txBox="1"/>
          <p:nvPr/>
        </p:nvSpPr>
        <p:spPr>
          <a:xfrm>
            <a:off x="1480185" y="4176141"/>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Stacked in a split</a:t>
            </a:r>
          </a:p>
        </p:txBody>
      </p:sp>
      <p:sp>
        <p:nvSpPr>
          <p:cNvPr id="15" name="TextBox 14"/>
          <p:cNvSpPr txBox="1"/>
          <p:nvPr/>
        </p:nvSpPr>
        <p:spPr>
          <a:xfrm>
            <a:off x="1480185" y="4545616"/>
            <a:ext cx="4478655" cy="235363"/>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each takes half the media column, contained.</a:t>
            </a:r>
          </a:p>
        </p:txBody>
      </p:sp>
      <p:sp>
        <p:nvSpPr>
          <p:cNvPr id="16" name="Rounded Rectangle 15"/>
          <p:cNvSpPr/>
          <p:nvPr/>
        </p:nvSpPr>
        <p:spPr>
          <a:xfrm>
            <a:off x="670465" y="5182838"/>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4"/>
          <a:stretch>
            <a:fillRect/>
          </a:stretch>
        </p:blipFill>
        <p:spPr>
          <a:xfrm>
            <a:off x="877634" y="5389912"/>
            <a:ext cx="470821" cy="470821"/>
          </a:xfrm>
          <a:prstGeom prst="rect">
            <a:avLst/>
          </a:prstGeom>
        </p:spPr>
      </p:pic>
      <p:sp>
        <p:nvSpPr>
          <p:cNvPr id="18" name="TextBox 17"/>
          <p:cNvSpPr txBox="1"/>
          <p:nvPr/>
        </p:nvSpPr>
        <p:spPr>
          <a:xfrm>
            <a:off x="1480185" y="5382578"/>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Not figures</a:t>
            </a:r>
          </a:p>
        </p:txBody>
      </p:sp>
      <p:sp>
        <p:nvSpPr>
          <p:cNvPr id="19" name="TextBox 18"/>
          <p:cNvSpPr txBox="1"/>
          <p:nvPr/>
        </p:nvSpPr>
        <p:spPr>
          <a:xfrm>
            <a:off x="1480185" y="5752052"/>
            <a:ext cx="4478846" cy="235458"/>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the pictures belong to the set, not one per card.</a:t>
            </a:r>
          </a:p>
        </p:txBody>
      </p:sp>
      <p:sp>
        <p:nvSpPr>
          <p:cNvPr id="20" name="Rounded Rectangle 19"/>
          <p:cNvSpPr/>
          <p:nvPr/>
        </p:nvSpPr>
        <p:spPr>
          <a:xfrm>
            <a:off x="6557486" y="2745391"/>
            <a:ext cx="4964049" cy="1653921"/>
          </a:xfrm>
          <a:prstGeom prst="roundRect">
            <a:avLst>
              <a:gd name="adj" fmla="val 10320"/>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5"/>
          <a:stretch>
            <a:fillRect/>
          </a:stretch>
        </p:blipFill>
        <p:spPr>
          <a:xfrm>
            <a:off x="7586377" y="2754916"/>
            <a:ext cx="2906363" cy="1634871"/>
          </a:xfrm>
          <a:prstGeom prst="rect">
            <a:avLst/>
          </a:prstGeom>
        </p:spPr>
      </p:pic>
      <p:sp>
        <p:nvSpPr>
          <p:cNvPr id="22" name="Rounded Rectangle 21"/>
          <p:cNvSpPr/>
          <p:nvPr/>
        </p:nvSpPr>
        <p:spPr>
          <a:xfrm>
            <a:off x="6557486" y="4594288"/>
            <a:ext cx="4964049" cy="1654112"/>
          </a:xfrm>
          <a:prstGeom prst="roundRect">
            <a:avLst>
              <a:gd name="adj" fmla="val 103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426386" y="4603814"/>
            <a:ext cx="1226153" cy="1635062"/>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a pair of images, picture first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Prose beside two contained pictures, mirrored so the pictures lead.</a:t>
            </a:r>
          </a:p>
        </p:txBody>
      </p:sp>
      <p:sp>
        <p:nvSpPr>
          <p:cNvPr id="6" name="Oval 5"/>
          <p:cNvSpPr/>
          <p:nvPr/>
        </p:nvSpPr>
        <p:spPr>
          <a:xfrm>
            <a:off x="6309265" y="317020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3079528"/>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Two pictures</a:t>
            </a:r>
            <a:r>
              <a:rPr sz="2400" b="0" i="0" u="none">
                <a:solidFill>
                  <a:srgbClr val="3B3535"/>
                </a:solidFill>
                <a:latin typeface="Arial"/>
              </a:rPr>
              <a:t>: one media set, stacked in the column.</a:t>
            </a:r>
          </a:p>
        </p:txBody>
      </p:sp>
      <p:sp>
        <p:nvSpPr>
          <p:cNvPr id="8" name="Oval 7"/>
          <p:cNvSpPr/>
          <p:nvPr/>
        </p:nvSpPr>
        <p:spPr>
          <a:xfrm>
            <a:off x="6309265" y="41088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4018216"/>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each keeps its own aspect inside its half.</a:t>
            </a:r>
          </a:p>
        </p:txBody>
      </p:sp>
      <p:sp>
        <p:nvSpPr>
          <p:cNvPr id="10" name="Rounded Rectangle 9"/>
          <p:cNvSpPr/>
          <p:nvPr/>
        </p:nvSpPr>
        <p:spPr>
          <a:xfrm>
            <a:off x="670465" y="2192369"/>
            <a:ext cx="5212080" cy="193043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2"/>
          <a:stretch>
            <a:fillRect/>
          </a:stretch>
        </p:blipFill>
        <p:spPr>
          <a:xfrm>
            <a:off x="2559653" y="2201894"/>
            <a:ext cx="1433512" cy="1911382"/>
          </a:xfrm>
          <a:prstGeom prst="rect">
            <a:avLst/>
          </a:prstGeom>
        </p:spPr>
      </p:pic>
      <p:sp>
        <p:nvSpPr>
          <p:cNvPr id="12" name="Rounded Rectangle 11"/>
          <p:cNvSpPr/>
          <p:nvPr/>
        </p:nvSpPr>
        <p:spPr>
          <a:xfrm>
            <a:off x="670465" y="4317778"/>
            <a:ext cx="5212080" cy="193062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1577435" y="4327303"/>
            <a:ext cx="3398234" cy="1911572"/>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two pictures, side by side</a:t>
            </a:r>
          </a:p>
        </p:txBody>
      </p:sp>
      <p:pic>
        <p:nvPicPr>
          <p:cNvPr id="5" name="Picture 4" descr="image.png"/>
          <p:cNvPicPr>
            <a:picLocks noChangeAspect="1"/>
          </p:cNvPicPr>
          <p:nvPr/>
        </p:nvPicPr>
        <p:blipFill>
          <a:blip r:embed="rId2"/>
          <a:stretch>
            <a:fillRect/>
          </a:stretch>
        </p:blipFill>
        <p:spPr>
          <a:xfrm>
            <a:off x="0" y="1678019"/>
            <a:ext cx="5998559" cy="5179981"/>
          </a:xfrm>
          <a:prstGeom prst="rect">
            <a:avLst/>
          </a:prstGeom>
        </p:spPr>
      </p:pic>
      <p:pic>
        <p:nvPicPr>
          <p:cNvPr id="6" name="Picture 5" descr="image.png"/>
          <p:cNvPicPr>
            <a:picLocks noChangeAspect="1"/>
          </p:cNvPicPr>
          <p:nvPr/>
        </p:nvPicPr>
        <p:blipFill>
          <a:blip r:embed="rId3"/>
          <a:stretch>
            <a:fillRect/>
          </a:stretch>
        </p:blipFill>
        <p:spPr>
          <a:xfrm>
            <a:off x="6193441" y="1678019"/>
            <a:ext cx="5998559" cy="5179981"/>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49238"/>
            <a:ext cx="5209539" cy="1165765"/>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42505"/>
            <a:ext cx="5209539" cy="964692"/>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333661"/>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109216"/>
            <a:ext cx="5350478"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3454" y="1902428"/>
            <a:ext cx="89345" cy="89345"/>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79096" y="1902428"/>
            <a:ext cx="89345" cy="89345"/>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54736" y="1902428"/>
            <a:ext cx="89345" cy="89345"/>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571607" y="1861661"/>
            <a:ext cx="594741" cy="152400"/>
          </a:xfrm>
          <a:prstGeom prst="rect">
            <a:avLst/>
          </a:prstGeom>
          <a:noFill/>
        </p:spPr>
        <p:txBody>
          <a:bodyPr wrap="none" anchor="ctr" lIns="0" tIns="0" rIns="0" bIns="0">
            <a:noAutofit/>
          </a:bodyPr>
          <a:lstStyle/>
          <a:p>
            <a:pPr algn="l">
              <a:lnSpc>
                <a:spcPts val="1044"/>
              </a:lnSpc>
              <a:spcBef>
                <a:spcPts val="0"/>
              </a:spcBef>
              <a:spcAft>
                <a:spcPts val="0"/>
              </a:spcAft>
            </a:pPr>
            <a:r>
              <a:rPr sz="1044" b="0" i="0" u="none" spc="104">
                <a:solidFill>
                  <a:srgbClr val="6E6E78"/>
                </a:solidFill>
                <a:latin typeface="Courier New"/>
              </a:rPr>
              <a:t>PYTHON</a:t>
            </a:r>
          </a:p>
        </p:txBody>
      </p:sp>
      <p:sp>
        <p:nvSpPr>
          <p:cNvPr id="14" name="TextBox 13"/>
          <p:cNvSpPr txBox="1"/>
          <p:nvPr/>
        </p:nvSpPr>
        <p:spPr>
          <a:xfrm>
            <a:off x="6452044" y="2424970"/>
            <a:ext cx="4855888" cy="3549491"/>
          </a:xfrm>
          <a:prstGeom prst="rect">
            <a:avLst/>
          </a:prstGeom>
          <a:noFill/>
        </p:spPr>
        <p:txBody>
          <a:bodyPr wrap="square" anchor="ctr" lIns="0" tIns="0" rIns="0" bIns="0">
            <a:noAutofit/>
          </a:bodyPr>
          <a:lstStyle/>
          <a:p>
            <a:pPr algn="l">
              <a:lnSpc>
                <a:spcPts val="2837"/>
              </a:lnSpc>
              <a:spcBef>
                <a:spcPts val="0"/>
              </a:spcBef>
              <a:spcAft>
                <a:spcPts val="0"/>
              </a:spcAft>
            </a:pPr>
            <a:r>
              <a:rPr sz="1891" b="0" i="0" u="none">
                <a:solidFill>
                  <a:srgbClr val="1F1F1F"/>
                </a:solidFill>
                <a:latin typeface="Courier New"/>
              </a:rPr>
              <a:t>client.messages.create(</a:t>
            </a:r>
          </a:p>
          <a:p>
            <a:pPr algn="l">
              <a:lnSpc>
                <a:spcPts val="2837"/>
              </a:lnSpc>
              <a:spcBef>
                <a:spcPts val="0"/>
              </a:spcBef>
              <a:spcAft>
                <a:spcPts val="0"/>
              </a:spcAft>
            </a:pPr>
            <a:r>
              <a:rPr sz="1891" b="0" i="0" u="none">
                <a:solidFill>
                  <a:srgbClr val="1F1F1F"/>
                </a:solidFill>
                <a:latin typeface="Courier New"/>
              </a:rPr>
              <a:t>  model=</a:t>
            </a:r>
            <a:r>
              <a:rPr sz="1891" b="0" i="0" u="none">
                <a:solidFill>
                  <a:srgbClr val="A31515"/>
                </a:solidFill>
                <a:latin typeface="Courier New"/>
              </a:rPr>
              <a:t>"claude-opus-4-8"</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system=[{</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 SYSTEM_PROMPT,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"cache_control"</a:t>
            </a: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"ephemeral"</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p>
          <a:p>
            <a:pPr algn="l">
              <a:lnSpc>
                <a:spcPts val="2837"/>
              </a:lnSpc>
              <a:spcBef>
                <a:spcPts val="0"/>
              </a:spcBef>
              <a:spcAft>
                <a:spcPts val="0"/>
              </a:spcAft>
            </a:pPr>
            <a:r>
              <a:rPr sz="1891" b="0" i="0" u="none">
                <a:solidFill>
                  <a:srgbClr val="1F1F1F"/>
                </a:solidFill>
                <a:latin typeface="Courier New"/>
              </a:rPr>
              <a:t>  messages=msgs,</a:t>
            </a:r>
          </a:p>
          <a:p>
            <a:pPr algn="l">
              <a:lnSpc>
                <a:spcPts val="2837"/>
              </a:lnSpc>
              <a:spcBef>
                <a:spcPts val="0"/>
              </a:spcBef>
              <a:spcAft>
                <a:spcPts val="0"/>
              </a:spcAft>
            </a:pPr>
            <a:r>
              <a:rPr sz="1891" b="0" i="0" u="none">
                <a:solidFill>
                  <a:srgbClr val="1F1F1F"/>
                </a:solidFill>
                <a:latin typeface="Courier New"/>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36303"/>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64879"/>
            <a:ext cx="10829925"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378" y="2383917"/>
            <a:ext cx="34957" cy="3495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148" y="2383917"/>
            <a:ext cx="34957" cy="3495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3919" y="2383917"/>
            <a:ext cx="34957" cy="3495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996803" y="2365915"/>
            <a:ext cx="401669" cy="66675"/>
          </a:xfrm>
          <a:prstGeom prst="rect">
            <a:avLst/>
          </a:prstGeom>
          <a:noFill/>
        </p:spPr>
        <p:txBody>
          <a:bodyPr wrap="none" anchor="ctr" lIns="0" tIns="0" rIns="0" bIns="0">
            <a:noAutofit/>
          </a:bodyPr>
          <a:lstStyle/>
          <a:p>
            <a:pPr algn="l">
              <a:lnSpc>
                <a:spcPts val="409"/>
              </a:lnSpc>
              <a:spcBef>
                <a:spcPts val="0"/>
              </a:spcBef>
              <a:spcAft>
                <a:spcPts val="0"/>
              </a:spcAft>
            </a:pPr>
            <a:r>
              <a:rPr sz="409" b="0" i="0" u="none" spc="41">
                <a:solidFill>
                  <a:srgbClr val="6E6E78"/>
                </a:solidFill>
                <a:latin typeface="Courier New"/>
              </a:rPr>
              <a:t>TYPESCRIPT</a:t>
            </a:r>
          </a:p>
        </p:txBody>
      </p:sp>
      <p:sp>
        <p:nvSpPr>
          <p:cNvPr id="12" name="TextBox 11"/>
          <p:cNvSpPr txBox="1"/>
          <p:nvPr/>
        </p:nvSpPr>
        <p:spPr>
          <a:xfrm>
            <a:off x="972598" y="2752154"/>
            <a:ext cx="10417430" cy="3223070"/>
          </a:xfrm>
          <a:prstGeom prst="rect">
            <a:avLst/>
          </a:prstGeom>
          <a:noFill/>
        </p:spPr>
        <p:txBody>
          <a:bodyPr wrap="square" anchor="ctr" lIns="0" tIns="0" rIns="0" bIns="0">
            <a:noAutofit/>
          </a:bodyPr>
          <a:lstStyle/>
          <a:p>
            <a:pPr algn="l">
              <a:lnSpc>
                <a:spcPts val="1112"/>
              </a:lnSpc>
              <a:spcBef>
                <a:spcPts val="0"/>
              </a:spcBef>
              <a:spcAft>
                <a:spcPts val="0"/>
              </a:spcAft>
            </a:pPr>
            <a:r>
              <a:rPr sz="741" b="0" i="0" u="none">
                <a:solidFill>
                  <a:srgbClr val="0000FF"/>
                </a:solidFill>
                <a:latin typeface="Courier New"/>
              </a:rPr>
              <a:t>type</a:t>
            </a:r>
            <a:r>
              <a:rPr sz="741" b="0" i="0" u="none">
                <a:solidFill>
                  <a:srgbClr val="1F1F1F"/>
                </a:solidFill>
                <a:latin typeface="Courier New"/>
              </a:rPr>
              <a:t> </a:t>
            </a:r>
            <a:r>
              <a:rPr sz="741" b="0" i="0" u="none">
                <a:solidFill>
                  <a:srgbClr val="267F99"/>
                </a:solidFill>
                <a:latin typeface="Courier New"/>
              </a:rPr>
              <a:t>Cache</a:t>
            </a:r>
            <a:r>
              <a:rPr sz="741" b="0" i="0" u="none">
                <a:solidFill>
                  <a:srgbClr val="1F1F1F"/>
                </a:solidFill>
                <a:latin typeface="Courier New"/>
              </a:rPr>
              <a:t> = { </a:t>
            </a:r>
            <a:r>
              <a:rPr sz="741" b="0" i="0" u="none">
                <a:solidFill>
                  <a:srgbClr val="001080"/>
                </a:solidFill>
                <a:latin typeface="Courier New"/>
              </a:rPr>
              <a:t>key</a:t>
            </a:r>
            <a:r>
              <a:rPr sz="741" b="0" i="0" u="none">
                <a:solidFill>
                  <a:srgbClr val="1F1F1F"/>
                </a:solidFill>
                <a:latin typeface="Courier New"/>
              </a:rPr>
              <a:t>: </a:t>
            </a:r>
            <a:r>
              <a:rPr sz="741" b="0" i="0" u="none">
                <a:solidFill>
                  <a:srgbClr val="267F99"/>
                </a:solidFill>
                <a:latin typeface="Courier New"/>
              </a:rPr>
              <a:t>string</a:t>
            </a:r>
            <a:r>
              <a:rPr sz="741" b="0" i="0" u="none">
                <a:solidFill>
                  <a:srgbClr val="1F1F1F"/>
                </a:solidFill>
                <a:latin typeface="Courier New"/>
              </a:rPr>
              <a:t>; </a:t>
            </a:r>
            <a:r>
              <a:rPr sz="741" b="0" i="0" u="none">
                <a:solidFill>
                  <a:srgbClr val="001080"/>
                </a:solidFill>
                <a:latin typeface="Courier New"/>
              </a:rPr>
              <a:t>ttl</a:t>
            </a:r>
            <a:r>
              <a:rPr sz="741" b="0" i="0" u="none">
                <a:solidFill>
                  <a:srgbClr val="1F1F1F"/>
                </a:solidFill>
                <a:latin typeface="Courier New"/>
              </a:rPr>
              <a:t>: </a:t>
            </a:r>
            <a:r>
              <a:rPr sz="741" b="0" i="0" u="none">
                <a:solidFill>
                  <a:srgbClr val="267F99"/>
                </a:solidFill>
                <a:latin typeface="Courier New"/>
              </a:rPr>
              <a:t>number</a:t>
            </a:r>
            <a:r>
              <a:rPr sz="741" b="0" i="0" u="none">
                <a:solidFill>
                  <a:srgbClr val="1F1F1F"/>
                </a:solidFill>
                <a:latin typeface="Courier New"/>
              </a:rPr>
              <a:t> };</a:t>
            </a:r>
          </a:p>
          <a:p>
            <a:pPr algn="l">
              <a:lnSpc>
                <a:spcPts val="1112"/>
              </a:lnSpc>
              <a:spcBef>
                <a:spcPts val="0"/>
              </a:spcBef>
              <a:spcAft>
                <a:spcPts val="0"/>
              </a:spcAft>
            </a:pPr>
          </a:p>
          <a:p>
            <a:pPr algn="l">
              <a:lnSpc>
                <a:spcPts val="1112"/>
              </a:lnSpc>
              <a:spcBef>
                <a:spcPts val="0"/>
              </a:spcBef>
              <a:spcAft>
                <a:spcPts val="0"/>
              </a:spcAft>
            </a:pPr>
            <a:r>
              <a:rPr sz="741" b="0" i="0" u="none">
                <a:solidFill>
                  <a:srgbClr val="0000FF"/>
                </a:solidFill>
                <a:latin typeface="Courier New"/>
              </a:rPr>
              <a:t>export</a:t>
            </a:r>
            <a:r>
              <a:rPr sz="741" b="0" i="0" u="none">
                <a:solidFill>
                  <a:srgbClr val="1F1F1F"/>
                </a:solidFill>
                <a:latin typeface="Courier New"/>
              </a:rPr>
              <a:t> </a:t>
            </a:r>
            <a:r>
              <a:rPr sz="741" b="0" i="0" u="none">
                <a:solidFill>
                  <a:srgbClr val="0000FF"/>
                </a:solidFill>
                <a:latin typeface="Courier New"/>
              </a:rPr>
              <a:t>async</a:t>
            </a:r>
            <a:r>
              <a:rPr sz="741" b="0" i="0" u="none">
                <a:solidFill>
                  <a:srgbClr val="1F1F1F"/>
                </a:solidFill>
                <a:latin typeface="Courier New"/>
              </a:rPr>
              <a:t> </a:t>
            </a:r>
            <a:r>
              <a:rPr sz="741" b="0" i="0" u="none">
                <a:solidFill>
                  <a:srgbClr val="0000FF"/>
                </a:solidFill>
                <a:latin typeface="Courier New"/>
              </a:rPr>
              <a:t>function</a:t>
            </a:r>
            <a:r>
              <a:rPr sz="741" b="0" i="0" u="none">
                <a:solidFill>
                  <a:srgbClr val="1F1F1F"/>
                </a:solidFill>
                <a:latin typeface="Courier New"/>
              </a:rPr>
              <a:t> </a:t>
            </a:r>
            <a:r>
              <a:rPr sz="741" b="0" i="0" u="none">
                <a:solidFill>
                  <a:srgbClr val="795E26"/>
                </a:solidFill>
                <a:latin typeface="Courier New"/>
              </a:rPr>
              <a:t>ask</a:t>
            </a:r>
            <a:r>
              <a:rPr sz="741" b="0" i="0" u="none">
                <a:solidFill>
                  <a:srgbClr val="1F1F1F"/>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prompt</a:t>
            </a:r>
            <a:r>
              <a:rPr sz="741" b="0" i="0" u="none">
                <a:solidFill>
                  <a:srgbClr val="001080"/>
                </a:solidFill>
                <a:latin typeface="Courier New"/>
              </a:rPr>
              <a:t>: </a:t>
            </a:r>
            <a:r>
              <a:rPr sz="741" b="0" i="0" u="none">
                <a:solidFill>
                  <a:srgbClr val="267F99"/>
                </a:solidFill>
                <a:latin typeface="Courier New"/>
              </a:rPr>
              <a:t>string</a:t>
            </a:r>
            <a:r>
              <a:rPr sz="741" b="0" i="0" u="none">
                <a:solidFill>
                  <a:srgbClr val="001080"/>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opts</a:t>
            </a:r>
            <a:r>
              <a:rPr sz="741" b="0" i="0" u="none">
                <a:solidFill>
                  <a:srgbClr val="001080"/>
                </a:solidFill>
                <a:latin typeface="Courier New"/>
              </a:rPr>
              <a:t>: </a:t>
            </a:r>
            <a:r>
              <a:rPr sz="741" b="0" i="0" u="none">
                <a:solidFill>
                  <a:srgbClr val="267F99"/>
                </a:solidFill>
                <a:latin typeface="Courier New"/>
              </a:rPr>
              <a:t>Partial</a:t>
            </a:r>
            <a:r>
              <a:rPr sz="741" b="0" i="0" u="none">
                <a:solidFill>
                  <a:srgbClr val="001080"/>
                </a:solidFill>
                <a:latin typeface="Courier New"/>
              </a:rPr>
              <a:t>&lt;</a:t>
            </a:r>
            <a:r>
              <a:rPr sz="741" b="0" i="0" u="none">
                <a:solidFill>
                  <a:srgbClr val="267F99"/>
                </a:solidFill>
                <a:latin typeface="Courier New"/>
              </a:rPr>
              <a:t>Cache</a:t>
            </a:r>
            <a:r>
              <a:rPr sz="741" b="0" i="0" u="none">
                <a:solidFill>
                  <a:srgbClr val="001080"/>
                </a:solidFill>
                <a:latin typeface="Courier New"/>
              </a:rPr>
              <a:t>&gt; = {},</a:t>
            </a:r>
          </a:p>
          <a:p>
            <a:pPr algn="l">
              <a:lnSpc>
                <a:spcPts val="1112"/>
              </a:lnSpc>
              <a:spcBef>
                <a:spcPts val="0"/>
              </a:spcBef>
              <a:spcAft>
                <a:spcPts val="0"/>
              </a:spcAft>
            </a:pPr>
            <a:r>
              <a:rPr sz="741" b="0" i="0" u="none">
                <a:solidFill>
                  <a:srgbClr val="1F1F1F"/>
                </a:solidFill>
                <a:latin typeface="Courier New"/>
              </a:rPr>
              <a:t>): </a:t>
            </a:r>
            <a:r>
              <a:rPr sz="741" b="0" i="0" u="none">
                <a:solidFill>
                  <a:srgbClr val="267F99"/>
                </a:solidFill>
                <a:latin typeface="Courier New"/>
              </a:rPr>
              <a:t>Promise</a:t>
            </a:r>
            <a:r>
              <a:rPr sz="741" b="0" i="0" u="none">
                <a:solidFill>
                  <a:srgbClr val="1F1F1F"/>
                </a:solidFill>
                <a:latin typeface="Courier New"/>
              </a:rPr>
              <a:t>&lt;</a:t>
            </a:r>
            <a:r>
              <a:rPr sz="741" b="0" i="0" u="none">
                <a:solidFill>
                  <a:srgbClr val="267F99"/>
                </a:solidFill>
                <a:latin typeface="Courier New"/>
              </a:rPr>
              <a:t>string</a:t>
            </a:r>
            <a:r>
              <a:rPr sz="741" b="0" i="0" u="none">
                <a:solidFill>
                  <a:srgbClr val="1F1F1F"/>
                </a:solidFill>
                <a:latin typeface="Courier New"/>
              </a:rPr>
              <a:t>&gt;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t0 = performance.</a:t>
            </a:r>
            <a:r>
              <a:rPr sz="741" b="0" i="0" u="none">
                <a:solidFill>
                  <a:srgbClr val="795E26"/>
                </a:solidFill>
                <a:latin typeface="Courier New"/>
              </a:rPr>
              <a:t>now</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1" u="none">
                <a:solidFill>
                  <a:srgbClr val="008000"/>
                </a:solidFill>
                <a:latin typeface="Courier New"/>
              </a:rPr>
              <a:t>// one retry: a 529 is the API saying "later", not "no"</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for</a:t>
            </a:r>
            <a:r>
              <a:rPr sz="741" b="0" i="0" u="none">
                <a:solidFill>
                  <a:srgbClr val="1F1F1F"/>
                </a:solidFill>
                <a:latin typeface="Courier New"/>
              </a:rPr>
              <a:t> (</a:t>
            </a:r>
            <a:r>
              <a:rPr sz="741" b="0" i="0" u="none">
                <a:solidFill>
                  <a:srgbClr val="0000FF"/>
                </a:solidFill>
                <a:latin typeface="Courier New"/>
              </a:rPr>
              <a:t>let</a:t>
            </a:r>
            <a:r>
              <a:rPr sz="741" b="0" i="0" u="none">
                <a:solidFill>
                  <a:srgbClr val="1F1F1F"/>
                </a:solidFill>
                <a:latin typeface="Courier New"/>
              </a:rPr>
              <a:t> i = </a:t>
            </a:r>
            <a:r>
              <a:rPr sz="741" b="0" i="0" u="none">
                <a:solidFill>
                  <a:srgbClr val="098658"/>
                </a:solidFill>
                <a:latin typeface="Courier New"/>
              </a:rPr>
              <a:t>0</a:t>
            </a:r>
            <a:r>
              <a:rPr sz="741" b="0" i="0" u="none">
                <a:solidFill>
                  <a:srgbClr val="1F1F1F"/>
                </a:solidFill>
                <a:latin typeface="Courier New"/>
              </a:rPr>
              <a:t>; i &lt; </a:t>
            </a:r>
            <a:r>
              <a:rPr sz="741" b="0" i="0" u="none">
                <a:solidFill>
                  <a:srgbClr val="098658"/>
                </a:solidFill>
                <a:latin typeface="Courier New"/>
              </a:rPr>
              <a:t>2</a:t>
            </a:r>
            <a:r>
              <a:rPr sz="741" b="0" i="0" u="none">
                <a:solidFill>
                  <a:srgbClr val="1F1F1F"/>
                </a:solidFill>
                <a:latin typeface="Courier New"/>
              </a:rPr>
              <a:t>; i++)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res = </a:t>
            </a:r>
            <a:r>
              <a:rPr sz="741" b="0" i="0" u="none">
                <a:solidFill>
                  <a:srgbClr val="0000FF"/>
                </a:solidFill>
                <a:latin typeface="Courier New"/>
              </a:rPr>
              <a:t>await</a:t>
            </a:r>
            <a:r>
              <a:rPr sz="741" b="0" i="0" u="none">
                <a:solidFill>
                  <a:srgbClr val="1F1F1F"/>
                </a:solidFill>
                <a:latin typeface="Courier New"/>
              </a:rPr>
              <a:t> client.</a:t>
            </a:r>
            <a:r>
              <a:rPr sz="741" b="0" i="0" u="none">
                <a:solidFill>
                  <a:srgbClr val="001080"/>
                </a:solidFill>
                <a:latin typeface="Courier New"/>
              </a:rPr>
              <a:t>messages</a:t>
            </a:r>
            <a:r>
              <a:rPr sz="741" b="0" i="0" u="none">
                <a:solidFill>
                  <a:srgbClr val="1F1F1F"/>
                </a:solidFill>
                <a:latin typeface="Courier New"/>
              </a:rPr>
              <a:t>.</a:t>
            </a:r>
            <a:r>
              <a:rPr sz="741" b="0" i="0" u="none">
                <a:solidFill>
                  <a:srgbClr val="795E26"/>
                </a:solidFill>
                <a:latin typeface="Courier New"/>
              </a:rPr>
              <a:t>create</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model</a:t>
            </a:r>
            <a:r>
              <a:rPr sz="741" b="0" i="0" u="none">
                <a:solidFill>
                  <a:srgbClr val="1F1F1F"/>
                </a:solidFill>
                <a:latin typeface="Courier New"/>
              </a:rPr>
              <a:t>: </a:t>
            </a:r>
            <a:r>
              <a:rPr sz="741" b="0" i="0" u="none">
                <a:solidFill>
                  <a:srgbClr val="A31515"/>
                </a:solidFill>
                <a:latin typeface="Courier New"/>
              </a:rPr>
              <a:t>"claude-opus-4-8"</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max_tokens</a:t>
            </a:r>
            <a:r>
              <a:rPr sz="741" b="0" i="0" u="none">
                <a:solidFill>
                  <a:srgbClr val="1F1F1F"/>
                </a:solidFill>
                <a:latin typeface="Courier New"/>
              </a:rPr>
              <a:t>: </a:t>
            </a:r>
            <a:r>
              <a:rPr sz="741" b="0" i="0" u="none">
                <a:solidFill>
                  <a:srgbClr val="098658"/>
                </a:solidFill>
                <a:latin typeface="Courier New"/>
              </a:rPr>
              <a:t>1024</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 </a:t>
            </a:r>
            <a:r>
              <a:rPr sz="741" b="0" i="0" u="none">
                <a:solidFill>
                  <a:srgbClr val="001080"/>
                </a:solidFill>
                <a:latin typeface="Courier New"/>
              </a:rPr>
              <a:t>type</a:t>
            </a:r>
            <a:r>
              <a:rPr sz="741" b="0" i="0" u="none">
                <a:solidFill>
                  <a:srgbClr val="1F1F1F"/>
                </a:solidFill>
                <a:latin typeface="Courier New"/>
              </a:rPr>
              <a:t>: </a:t>
            </a:r>
            <a:r>
              <a:rPr sz="741" b="0" i="0" u="none">
                <a:solidFill>
                  <a:srgbClr val="A31515"/>
                </a:solidFill>
                <a:latin typeface="Courier New"/>
              </a:rPr>
              <a:t>"text"</a:t>
            </a:r>
            <a:r>
              <a:rPr sz="741" b="0" i="0" u="none">
                <a:solidFill>
                  <a:srgbClr val="1F1F1F"/>
                </a:solidFill>
                <a:latin typeface="Courier New"/>
              </a:rPr>
              <a:t>, </a:t>
            </a:r>
            <a:r>
              <a:rPr sz="741" b="0" i="0" u="none">
                <a:solidFill>
                  <a:srgbClr val="001080"/>
                </a:solidFill>
                <a:latin typeface="Courier New"/>
              </a:rPr>
              <a:t>text</a:t>
            </a: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messages</a:t>
            </a:r>
            <a:r>
              <a:rPr sz="741" b="0" i="0" u="none">
                <a:solidFill>
                  <a:srgbClr val="1F1F1F"/>
                </a:solidFill>
                <a:latin typeface="Courier New"/>
              </a:rPr>
              <a:t>: [{ </a:t>
            </a:r>
            <a:r>
              <a:rPr sz="741" b="0" i="0" u="none">
                <a:solidFill>
                  <a:srgbClr val="001080"/>
                </a:solidFill>
                <a:latin typeface="Courier New"/>
              </a:rPr>
              <a:t>role</a:t>
            </a:r>
            <a:r>
              <a:rPr sz="741" b="0" i="0" u="none">
                <a:solidFill>
                  <a:srgbClr val="1F1F1F"/>
                </a:solidFill>
                <a:latin typeface="Courier New"/>
              </a:rPr>
              <a:t>: </a:t>
            </a:r>
            <a:r>
              <a:rPr sz="741" b="0" i="0" u="none">
                <a:solidFill>
                  <a:srgbClr val="A31515"/>
                </a:solidFill>
                <a:latin typeface="Courier New"/>
              </a:rPr>
              <a:t>"user"</a:t>
            </a:r>
            <a:r>
              <a:rPr sz="741" b="0" i="0" u="none">
                <a:solidFill>
                  <a:srgbClr val="1F1F1F"/>
                </a:solidFill>
                <a:latin typeface="Courier New"/>
              </a:rPr>
              <a:t>, </a:t>
            </a:r>
            <a:r>
              <a:rPr sz="741" b="0" i="0" u="none">
                <a:solidFill>
                  <a:srgbClr val="001080"/>
                </a:solidFill>
                <a:latin typeface="Courier New"/>
              </a:rPr>
              <a:t>content</a:t>
            </a:r>
            <a:r>
              <a:rPr sz="741" b="0" i="0" u="none">
                <a:solidFill>
                  <a:srgbClr val="1F1F1F"/>
                </a:solidFill>
                <a:latin typeface="Courier New"/>
              </a:rPr>
              <a:t>: prompt }],</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if</a:t>
            </a:r>
            <a:r>
              <a:rPr sz="741" b="0" i="0" u="none">
                <a:solidFill>
                  <a:srgbClr val="1F1F1F"/>
                </a:solidFill>
                <a:latin typeface="Courier New"/>
              </a:rPr>
              <a:t> (res.</a:t>
            </a:r>
            <a:r>
              <a:rPr sz="741" b="0" i="0" u="none">
                <a:solidFill>
                  <a:srgbClr val="001080"/>
                </a:solidFill>
                <a:latin typeface="Courier New"/>
              </a:rPr>
              <a:t>stop_reason</a:t>
            </a:r>
            <a:r>
              <a:rPr sz="741" b="0" i="0" u="none">
                <a:solidFill>
                  <a:srgbClr val="1F1F1F"/>
                </a:solidFill>
                <a:latin typeface="Courier New"/>
              </a:rPr>
              <a:t> !== </a:t>
            </a:r>
            <a:r>
              <a:rPr sz="741" b="0" i="0" u="none">
                <a:solidFill>
                  <a:srgbClr val="A31515"/>
                </a:solidFill>
                <a:latin typeface="Courier New"/>
              </a:rPr>
              <a:t>"overloaded"</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log.</a:t>
            </a:r>
            <a:r>
              <a:rPr sz="741" b="0" i="0" u="none">
                <a:solidFill>
                  <a:srgbClr val="795E26"/>
                </a:solidFill>
                <a:latin typeface="Courier New"/>
              </a:rPr>
              <a:t>info</a:t>
            </a:r>
            <a:r>
              <a:rPr sz="741" b="0" i="0" u="none">
                <a:solidFill>
                  <a:srgbClr val="1F1F1F"/>
                </a:solidFill>
                <a:latin typeface="Courier New"/>
              </a:rPr>
              <a:t>(</a:t>
            </a:r>
            <a:r>
              <a:rPr sz="741" b="0" i="0" u="none">
                <a:solidFill>
                  <a:srgbClr val="A31515"/>
                </a:solidFill>
                <a:latin typeface="Courier New"/>
              </a:rPr>
              <a:t>"ask"</a:t>
            </a:r>
            <a:r>
              <a:rPr sz="741" b="0" i="0" u="none">
                <a:solidFill>
                  <a:srgbClr val="1F1F1F"/>
                </a:solidFill>
                <a:latin typeface="Courier New"/>
              </a:rPr>
              <a:t>, { </a:t>
            </a:r>
            <a:r>
              <a:rPr sz="741" b="0" i="0" u="none">
                <a:solidFill>
                  <a:srgbClr val="001080"/>
                </a:solidFill>
                <a:latin typeface="Courier New"/>
              </a:rPr>
              <a:t>ms</a:t>
            </a:r>
            <a:r>
              <a:rPr sz="741" b="0" i="0" u="none">
                <a:solidFill>
                  <a:srgbClr val="1F1F1F"/>
                </a:solidFill>
                <a:latin typeface="Courier New"/>
              </a:rPr>
              <a:t>: performance.</a:t>
            </a:r>
            <a:r>
              <a:rPr sz="741" b="0" i="0" u="none">
                <a:solidFill>
                  <a:srgbClr val="795E26"/>
                </a:solidFill>
                <a:latin typeface="Courier New"/>
              </a:rPr>
              <a:t>now</a:t>
            </a:r>
            <a:r>
              <a:rPr sz="741" b="0" i="0" u="none">
                <a:solidFill>
                  <a:srgbClr val="1F1F1F"/>
                </a:solidFill>
                <a:latin typeface="Courier New"/>
              </a:rPr>
              <a:t>() - t0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return</a:t>
            </a:r>
            <a:r>
              <a:rPr sz="741" b="0" i="0" u="none">
                <a:solidFill>
                  <a:srgbClr val="1F1F1F"/>
                </a:solidFill>
                <a:latin typeface="Courier New"/>
              </a:rPr>
              <a:t> res.</a:t>
            </a:r>
            <a:r>
              <a:rPr sz="741" b="0" i="0" u="none">
                <a:solidFill>
                  <a:srgbClr val="001080"/>
                </a:solidFill>
                <a:latin typeface="Courier New"/>
              </a:rPr>
              <a:t>content</a:t>
            </a:r>
            <a:r>
              <a:rPr sz="741" b="0" i="0" u="none">
                <a:solidFill>
                  <a:srgbClr val="1F1F1F"/>
                </a:solidFill>
                <a:latin typeface="Courier New"/>
              </a:rPr>
              <a:t>[</a:t>
            </a:r>
            <a:r>
              <a:rPr sz="741" b="0" i="0" u="none">
                <a:solidFill>
                  <a:srgbClr val="098658"/>
                </a:solidFill>
                <a:latin typeface="Courier New"/>
              </a:rPr>
              <a:t>0</a:t>
            </a:r>
            <a:r>
              <a:rPr sz="741" b="0" i="0" u="none">
                <a:solidFill>
                  <a:srgbClr val="1F1F1F"/>
                </a:solidFill>
                <a:latin typeface="Courier New"/>
              </a:rPr>
              <a:t>].</a:t>
            </a:r>
            <a:r>
              <a:rPr sz="741" b="0" i="0" u="none">
                <a:solidFill>
                  <a:srgbClr val="001080"/>
                </a:solidFill>
                <a:latin typeface="Courier New"/>
              </a:rPr>
              <a:t>text</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await</a:t>
            </a:r>
            <a:r>
              <a:rPr sz="741" b="0" i="0" u="none">
                <a:solidFill>
                  <a:srgbClr val="1F1F1F"/>
                </a:solidFill>
                <a:latin typeface="Courier New"/>
              </a:rPr>
              <a:t> </a:t>
            </a:r>
            <a:r>
              <a:rPr sz="741" b="0" i="0" u="none">
                <a:solidFill>
                  <a:srgbClr val="795E26"/>
                </a:solidFill>
                <a:latin typeface="Courier New"/>
              </a:rPr>
              <a:t>sleep</a:t>
            </a:r>
            <a:r>
              <a:rPr sz="741" b="0" i="0" u="none">
                <a:solidFill>
                  <a:srgbClr val="1F1F1F"/>
                </a:solidFill>
                <a:latin typeface="Courier New"/>
              </a:rPr>
              <a:t>(</a:t>
            </a:r>
            <a:r>
              <a:rPr sz="741" b="0" i="0" u="none">
                <a:solidFill>
                  <a:srgbClr val="098658"/>
                </a:solidFill>
                <a:latin typeface="Courier New"/>
              </a:rPr>
              <a:t>250</a:t>
            </a:r>
            <a:r>
              <a:rPr sz="741" b="0" i="0" u="none">
                <a:solidFill>
                  <a:srgbClr val="1F1F1F"/>
                </a:solidFill>
                <a:latin typeface="Courier New"/>
              </a:rPr>
              <a:t> * (i + </a:t>
            </a:r>
            <a:r>
              <a:rPr sz="741" b="0" i="0" u="none">
                <a:solidFill>
                  <a:srgbClr val="098658"/>
                </a:solidFill>
                <a:latin typeface="Courier New"/>
              </a:rPr>
              <a:t>1</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throw</a:t>
            </a:r>
            <a:r>
              <a:rPr sz="741" b="0" i="0" u="none">
                <a:solidFill>
                  <a:srgbClr val="1F1F1F"/>
                </a:solidFill>
                <a:latin typeface="Courier New"/>
              </a:rPr>
              <a:t> </a:t>
            </a:r>
            <a:r>
              <a:rPr sz="741" b="0" i="0" u="none">
                <a:solidFill>
                  <a:srgbClr val="0000FF"/>
                </a:solidFill>
                <a:latin typeface="Courier New"/>
              </a:rPr>
              <a:t>new</a:t>
            </a:r>
            <a:r>
              <a:rPr sz="741" b="0" i="0" u="none">
                <a:solidFill>
                  <a:srgbClr val="1F1F1F"/>
                </a:solidFill>
                <a:latin typeface="Courier New"/>
              </a:rPr>
              <a:t> </a:t>
            </a:r>
            <a:r>
              <a:rPr sz="741" b="0" i="0" u="none">
                <a:solidFill>
                  <a:srgbClr val="267F99"/>
                </a:solidFill>
                <a:latin typeface="Courier New"/>
              </a:rPr>
              <a:t>Error</a:t>
            </a:r>
            <a:r>
              <a:rPr sz="741" b="0" i="0" u="none">
                <a:solidFill>
                  <a:srgbClr val="1F1F1F"/>
                </a:solidFill>
                <a:latin typeface="Courier New"/>
              </a:rPr>
              <a:t>(</a:t>
            </a:r>
            <a:r>
              <a:rPr sz="741" b="0" i="0" u="none">
                <a:solidFill>
                  <a:srgbClr val="A31515"/>
                </a:solidFill>
                <a:latin typeface="Courier New"/>
              </a:rPr>
              <a:t>"overloaded"</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64589"/>
          </a:xfrm>
          <a:prstGeom prst="rect">
            <a:avLst/>
          </a:prstGeom>
          <a:noFill/>
        </p:spPr>
        <p:txBody>
          <a:bodyPr wrap="square" anchor="ctr"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3920300"/>
            <a:ext cx="2930531"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660582" y="3920300"/>
            <a:ext cx="2930724"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209038"/>
            <a:ext cx="442626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67216"/>
            <a:ext cx="341861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25298"/>
            <a:ext cx="262909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83380"/>
            <a:ext cx="310410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41558"/>
            <a:ext cx="274901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99640"/>
            <a:ext cx="2579656"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84570"/>
            <a:ext cx="462362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24378"/>
            <a:ext cx="1268720"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53707"/>
            <a:ext cx="1268720"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24378"/>
            <a:ext cx="1268913"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53707"/>
            <a:ext cx="1268913"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37841"/>
            <a:ext cx="121564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404997"/>
            <a:ext cx="1215643"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37841"/>
            <a:ext cx="1093828"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404997"/>
            <a:ext cx="1093828"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4287012"/>
            <a:ext cx="707041" cy="707041"/>
          </a:xfrm>
          <a:prstGeom prst="rect">
            <a:avLst/>
          </a:prstGeom>
        </p:spPr>
      </p:pic>
      <p:sp>
        <p:nvSpPr>
          <p:cNvPr id="8" name="TextBox 7"/>
          <p:cNvSpPr txBox="1"/>
          <p:nvPr/>
        </p:nvSpPr>
        <p:spPr>
          <a:xfrm>
            <a:off x="18772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4287012"/>
            <a:ext cx="707041" cy="707041"/>
          </a:xfrm>
          <a:prstGeom prst="rect">
            <a:avLst/>
          </a:prstGeom>
        </p:spPr>
      </p:pic>
      <p:sp>
        <p:nvSpPr>
          <p:cNvPr id="12" name="TextBox 11"/>
          <p:cNvSpPr txBox="1"/>
          <p:nvPr/>
        </p:nvSpPr>
        <p:spPr>
          <a:xfrm>
            <a:off x="74358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47038"/>
          </a:xfrm>
          <a:prstGeom prst="roundRect">
            <a:avLst>
              <a:gd name="adj" fmla="val 1179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826603" y="2201894"/>
            <a:ext cx="2538603" cy="1427988"/>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6701679"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187607"/>
            <a:ext cx="6701679"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23272"/>
            <a:ext cx="1826704" cy="367856"/>
          </a:xfrm>
          <a:prstGeom prst="rect">
            <a:avLst/>
          </a:prstGeom>
          <a:noFill/>
        </p:spPr>
        <p:txBody>
          <a:bodyPr wrap="none" anchor="ctr"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63042"/>
            <a:ext cx="1834484" cy="1623441"/>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23272"/>
            <a:ext cx="1834580" cy="1114330"/>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20706"/>
            <a:ext cx="1834580" cy="1265872"/>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41303"/>
            <a:ext cx="1747266"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19648"/>
            <a:ext cx="1753853" cy="2443639"/>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41303"/>
            <a:ext cx="5554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908554"/>
            <a:ext cx="5554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36031"/>
            <a:ext cx="2101024"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3014377"/>
            <a:ext cx="2112918"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36031"/>
            <a:ext cx="1432179"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3014377"/>
            <a:ext cx="1434040"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3010662"/>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42394"/>
            <a:ext cx="486784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27230"/>
            <a:ext cx="5232464"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47366"/>
            <a:ext cx="582368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356" cy="491490"/>
          </a:xfrm>
          <a:prstGeom prst="roundRect">
            <a:avLst>
              <a:gd name="adj" fmla="val 19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9149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77443" y="1915858"/>
            <a:ext cx="234124" cy="234029"/>
          </a:xfrm>
          <a:prstGeom prst="rect">
            <a:avLst/>
          </a:prstGeom>
        </p:spPr>
      </p:pic>
      <p:sp>
        <p:nvSpPr>
          <p:cNvPr id="8" name="TextBox 7"/>
          <p:cNvSpPr txBox="1"/>
          <p:nvPr/>
        </p:nvSpPr>
        <p:spPr>
          <a:xfrm>
            <a:off x="1228534" y="1910810"/>
            <a:ext cx="6115812" cy="192119"/>
          </a:xfrm>
          <a:prstGeom prst="rect">
            <a:avLst/>
          </a:prstGeom>
          <a:noFill/>
        </p:spPr>
        <p:txBody>
          <a:bodyPr wrap="none" anchor="ctr" lIns="0" tIns="0" rIns="0" bIns="0">
            <a:noAutofit/>
          </a:bodyPr>
          <a:lstStyle/>
          <a:p>
            <a:pPr algn="l">
              <a:lnSpc>
                <a:spcPts val="1817"/>
              </a:lnSpc>
              <a:spcBef>
                <a:spcPts val="0"/>
              </a:spcBef>
              <a:spcAft>
                <a:spcPts val="0"/>
              </a:spcAft>
            </a:pPr>
            <a:r>
              <a:rPr sz="1346" b="1" i="0" u="none">
                <a:solidFill>
                  <a:srgbClr val="1F1E1E"/>
                </a:solidFill>
                <a:latin typeface="Arial"/>
              </a:rPr>
              <a:t>Composición</a:t>
            </a:r>
            <a:r>
              <a:rPr sz="1346" b="0" i="0" u="none">
                <a:solidFill>
                  <a:srgbClr val="1F1E1E"/>
                </a:solidFill>
                <a:latin typeface="Arial"/>
              </a:rPr>
              <a:t>: los campos que valen para cualquier template, no para uno solo.</a:t>
            </a:r>
          </a:p>
        </p:txBody>
      </p:sp>
      <p:sp>
        <p:nvSpPr>
          <p:cNvPr id="9" name="Rounded Rectangle 8"/>
          <p:cNvSpPr/>
          <p:nvPr/>
        </p:nvSpPr>
        <p:spPr>
          <a:xfrm>
            <a:off x="670465" y="2618042"/>
            <a:ext cx="3444716" cy="2825972"/>
          </a:xfrm>
          <a:prstGeom prst="roundRect">
            <a:avLst>
              <a:gd name="adj" fmla="val 862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51452" y="2945797"/>
            <a:ext cx="678942" cy="678942"/>
          </a:xfrm>
          <a:prstGeom prst="rect">
            <a:avLst/>
          </a:prstGeom>
        </p:spPr>
      </p:pic>
      <p:sp>
        <p:nvSpPr>
          <p:cNvPr id="11" name="TextBox 10"/>
          <p:cNvSpPr txBox="1"/>
          <p:nvPr/>
        </p:nvSpPr>
        <p:spPr>
          <a:xfrm>
            <a:off x="1829276" y="2936558"/>
            <a:ext cx="2054041" cy="1146524"/>
          </a:xfrm>
          <a:prstGeom prst="rect">
            <a:avLst/>
          </a:prstGeom>
          <a:noFill/>
        </p:spPr>
        <p:txBody>
          <a:bodyPr wrap="square" anchor="ctr" lIns="0" tIns="0" rIns="0" bIns="0">
            <a:noAutofit/>
          </a:bodyPr>
          <a:lstStyle/>
          <a:p>
            <a:pPr algn="l">
              <a:lnSpc>
                <a:spcPts val="2940"/>
              </a:lnSpc>
              <a:spcBef>
                <a:spcPts val="0"/>
              </a:spcBef>
              <a:spcAft>
                <a:spcPts val="0"/>
              </a:spcAft>
            </a:pPr>
            <a:r>
              <a:rPr sz="2673" b="1" i="0" u="none">
                <a:solidFill>
                  <a:srgbClr val="1F1E1E"/>
                </a:solidFill>
                <a:latin typeface="Arial"/>
              </a:rPr>
              <a:t>Grouped by position</a:t>
            </a:r>
          </a:p>
        </p:txBody>
      </p:sp>
      <p:sp>
        <p:nvSpPr>
          <p:cNvPr id="12" name="TextBox 11"/>
          <p:cNvSpPr txBox="1"/>
          <p:nvPr/>
        </p:nvSpPr>
        <p:spPr>
          <a:xfrm>
            <a:off x="1829276" y="3769328"/>
            <a:ext cx="2054041" cy="1337024"/>
          </a:xfrm>
          <a:prstGeom prst="rect">
            <a:avLst/>
          </a:prstGeom>
          <a:noFill/>
        </p:spPr>
        <p:txBody>
          <a:bodyPr wrap="square" anchor="ctr" lIns="0" tIns="0" rIns="0" bIns="0">
            <a:noAutofit/>
          </a:bodyPr>
          <a:lstStyle/>
          <a:p>
            <a:pPr algn="l">
              <a:lnSpc>
                <a:spcPts val="2696"/>
              </a:lnSpc>
              <a:spcBef>
                <a:spcPts val="0"/>
              </a:spcBef>
              <a:spcAft>
                <a:spcPts val="0"/>
              </a:spcAft>
            </a:pPr>
            <a:r>
              <a:rPr sz="2074" b="0" i="0" u="none">
                <a:solidFill>
                  <a:srgbClr val="3B3535"/>
                </a:solidFill>
                <a:latin typeface="Arial"/>
              </a:rPr>
              <a:t>Every top entry lands above, every bottom entry below.</a:t>
            </a:r>
          </a:p>
        </p:txBody>
      </p:sp>
      <p:sp>
        <p:nvSpPr>
          <p:cNvPr id="13" name="Rounded Rectangle 12"/>
          <p:cNvSpPr/>
          <p:nvPr/>
        </p:nvSpPr>
        <p:spPr>
          <a:xfrm>
            <a:off x="4372737" y="2618042"/>
            <a:ext cx="3444716" cy="2825972"/>
          </a:xfrm>
          <a:prstGeom prst="roundRect">
            <a:avLst>
              <a:gd name="adj" fmla="val 862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4653629" y="2945797"/>
            <a:ext cx="678942" cy="678942"/>
          </a:xfrm>
          <a:prstGeom prst="rect">
            <a:avLst/>
          </a:prstGeom>
        </p:spPr>
      </p:pic>
      <p:sp>
        <p:nvSpPr>
          <p:cNvPr id="15" name="TextBox 14"/>
          <p:cNvSpPr txBox="1"/>
          <p:nvPr/>
        </p:nvSpPr>
        <p:spPr>
          <a:xfrm>
            <a:off x="5531548" y="2936558"/>
            <a:ext cx="2054041" cy="1146524"/>
          </a:xfrm>
          <a:prstGeom prst="rect">
            <a:avLst/>
          </a:prstGeom>
          <a:noFill/>
        </p:spPr>
        <p:txBody>
          <a:bodyPr wrap="square" anchor="ctr" lIns="0" tIns="0" rIns="0" bIns="0">
            <a:noAutofit/>
          </a:bodyPr>
          <a:lstStyle/>
          <a:p>
            <a:pPr algn="l">
              <a:lnSpc>
                <a:spcPts val="2940"/>
              </a:lnSpc>
              <a:spcBef>
                <a:spcPts val="0"/>
              </a:spcBef>
              <a:spcAft>
                <a:spcPts val="0"/>
              </a:spcAft>
            </a:pPr>
            <a:r>
              <a:rPr sz="2673" b="1" i="0" u="none">
                <a:solidFill>
                  <a:srgbClr val="1F1E1E"/>
                </a:solidFill>
                <a:latin typeface="Arial"/>
              </a:rPr>
              <a:t>Same component</a:t>
            </a:r>
          </a:p>
        </p:txBody>
      </p:sp>
      <p:sp>
        <p:nvSpPr>
          <p:cNvPr id="16" name="TextBox 15"/>
          <p:cNvSpPr txBox="1"/>
          <p:nvPr/>
        </p:nvSpPr>
        <p:spPr>
          <a:xfrm>
            <a:off x="5531548" y="3769328"/>
            <a:ext cx="2054041" cy="1337024"/>
          </a:xfrm>
          <a:prstGeom prst="rect">
            <a:avLst/>
          </a:prstGeom>
          <a:noFill/>
        </p:spPr>
        <p:txBody>
          <a:bodyPr wrap="square" anchor="ctr" lIns="0" tIns="0" rIns="0" bIns="0">
            <a:noAutofit/>
          </a:bodyPr>
          <a:lstStyle/>
          <a:p>
            <a:pPr algn="l">
              <a:lnSpc>
                <a:spcPts val="2696"/>
              </a:lnSpc>
              <a:spcBef>
                <a:spcPts val="0"/>
              </a:spcBef>
              <a:spcAft>
                <a:spcPts val="0"/>
              </a:spcAft>
            </a:pPr>
            <a:r>
              <a:rPr sz="2074" b="0" i="0" u="none">
                <a:solidFill>
                  <a:srgbClr val="3B3535"/>
                </a:solidFill>
                <a:latin typeface="Arial"/>
              </a:rPr>
              <a:t>Identical classes, colours and icons in both bands.</a:t>
            </a:r>
          </a:p>
        </p:txBody>
      </p:sp>
      <p:sp>
        <p:nvSpPr>
          <p:cNvPr id="17" name="Rounded Rectangle 16"/>
          <p:cNvSpPr/>
          <p:nvPr/>
        </p:nvSpPr>
        <p:spPr>
          <a:xfrm>
            <a:off x="8074914" y="2618042"/>
            <a:ext cx="3444907" cy="2825972"/>
          </a:xfrm>
          <a:prstGeom prst="roundRect">
            <a:avLst>
              <a:gd name="adj" fmla="val 862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8355902" y="2945797"/>
            <a:ext cx="678942" cy="678942"/>
          </a:xfrm>
          <a:prstGeom prst="rect">
            <a:avLst/>
          </a:prstGeom>
        </p:spPr>
      </p:pic>
      <p:sp>
        <p:nvSpPr>
          <p:cNvPr id="19" name="TextBox 18"/>
          <p:cNvSpPr txBox="1"/>
          <p:nvPr/>
        </p:nvSpPr>
        <p:spPr>
          <a:xfrm>
            <a:off x="9233726" y="2936558"/>
            <a:ext cx="2054234" cy="1146524"/>
          </a:xfrm>
          <a:prstGeom prst="rect">
            <a:avLst/>
          </a:prstGeom>
          <a:noFill/>
        </p:spPr>
        <p:txBody>
          <a:bodyPr wrap="square" anchor="ctr" lIns="0" tIns="0" rIns="0" bIns="0">
            <a:noAutofit/>
          </a:bodyPr>
          <a:lstStyle/>
          <a:p>
            <a:pPr algn="l">
              <a:lnSpc>
                <a:spcPts val="2940"/>
              </a:lnSpc>
              <a:spcBef>
                <a:spcPts val="0"/>
              </a:spcBef>
              <a:spcAft>
                <a:spcPts val="0"/>
              </a:spcAft>
            </a:pPr>
            <a:r>
              <a:rPr sz="2673" b="1" i="0" u="none">
                <a:solidFill>
                  <a:srgbClr val="1F1E1E"/>
                </a:solidFill>
                <a:latin typeface="Arial"/>
              </a:rPr>
              <a:t>Reveal differs</a:t>
            </a:r>
          </a:p>
        </p:txBody>
      </p:sp>
      <p:sp>
        <p:nvSpPr>
          <p:cNvPr id="20" name="TextBox 19"/>
          <p:cNvSpPr txBox="1"/>
          <p:nvPr/>
        </p:nvSpPr>
        <p:spPr>
          <a:xfrm>
            <a:off x="9233726" y="3769328"/>
            <a:ext cx="2054234" cy="1333786"/>
          </a:xfrm>
          <a:prstGeom prst="rect">
            <a:avLst/>
          </a:prstGeom>
          <a:noFill/>
        </p:spPr>
        <p:txBody>
          <a:bodyPr wrap="square" anchor="ctr" lIns="0" tIns="0" rIns="0" bIns="0">
            <a:noAutofit/>
          </a:bodyPr>
          <a:lstStyle/>
          <a:p>
            <a:pPr algn="l">
              <a:lnSpc>
                <a:spcPts val="2696"/>
              </a:lnSpc>
              <a:spcBef>
                <a:spcPts val="0"/>
              </a:spcBef>
              <a:spcAft>
                <a:spcPts val="0"/>
              </a:spcAft>
            </a:pPr>
            <a:r>
              <a:rPr sz="2074"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77496"/>
            <a:ext cx="685904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8658416" y="3453574"/>
            <a:ext cx="292511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67860"/>
          </a:xfrm>
          <a:prstGeom prst="rect">
            <a:avLst/>
          </a:prstGeom>
          <a:noFill/>
        </p:spPr>
        <p:txBody>
          <a:bodyPr wrap="square" anchor="ctr"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91003"/>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91003"/>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1165955" y="2730627"/>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231737"/>
            <a:ext cx="276034" cy="276034"/>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23173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1165955" y="3271361"/>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ctr"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72567"/>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7256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1165955" y="3812096"/>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313301"/>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313301"/>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1165955" y="4352925"/>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3678"/>
            <a:ext cx="179927" cy="179927"/>
          </a:xfrm>
          <a:prstGeom prst="rect">
            <a:avLst/>
          </a:prstGeom>
        </p:spPr>
      </p:pic>
      <p:sp>
        <p:nvSpPr>
          <p:cNvPr id="26" name="TextBox 25"/>
          <p:cNvSpPr txBox="1"/>
          <p:nvPr/>
        </p:nvSpPr>
        <p:spPr>
          <a:xfrm>
            <a:off x="1173004" y="5057013"/>
            <a:ext cx="701897" cy="146114"/>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7" name="TextBox 26"/>
          <p:cNvSpPr txBox="1"/>
          <p:nvPr/>
        </p:nvSpPr>
        <p:spPr>
          <a:xfrm>
            <a:off x="923830" y="5312188"/>
            <a:ext cx="5829443" cy="643509"/>
          </a:xfrm>
          <a:prstGeom prst="rect">
            <a:avLst/>
          </a:prstGeom>
          <a:noFill/>
        </p:spPr>
        <p:txBody>
          <a:bodyPr wrap="square" anchor="ctr"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8" name="TextBox 27"/>
          <p:cNvSpPr txBox="1"/>
          <p:nvPr/>
        </p:nvSpPr>
        <p:spPr>
          <a:xfrm>
            <a:off x="923830" y="5890546"/>
            <a:ext cx="5762625" cy="167735"/>
          </a:xfrm>
          <a:prstGeom prst="rect">
            <a:avLst/>
          </a:prstGeom>
          <a:noFill/>
        </p:spPr>
        <p:txBody>
          <a:bodyPr wrap="none" anchor="ctr"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9" name="Rounded Rectangle 28"/>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54806"/>
          </a:xfrm>
          <a:prstGeom prst="rect">
            <a:avLst/>
          </a:prstGeom>
          <a:noFill/>
        </p:spPr>
        <p:txBody>
          <a:bodyPr wrap="none" anchor="ctr"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61165"/>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61165"/>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1250728" y="2526221"/>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94482"/>
            <a:ext cx="360807" cy="360807"/>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94482"/>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1250728" y="3159538"/>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ctr"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27704"/>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27704"/>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1250728" y="3792855"/>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1259014" y="4617530"/>
            <a:ext cx="815435" cy="171069"/>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3" name="TextBox 22"/>
          <p:cNvSpPr txBox="1"/>
          <p:nvPr/>
        </p:nvSpPr>
        <p:spPr>
          <a:xfrm>
            <a:off x="967169" y="4916329"/>
            <a:ext cx="5752583" cy="935546"/>
          </a:xfrm>
          <a:prstGeom prst="rect">
            <a:avLst/>
          </a:prstGeom>
          <a:noFill/>
        </p:spPr>
        <p:txBody>
          <a:bodyPr wrap="square" anchor="ctr"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4" name="TextBox 23"/>
          <p:cNvSpPr txBox="1"/>
          <p:nvPr/>
        </p:nvSpPr>
        <p:spPr>
          <a:xfrm>
            <a:off x="967169" y="5593652"/>
            <a:ext cx="5752583" cy="446151"/>
          </a:xfrm>
          <a:prstGeom prst="rect">
            <a:avLst/>
          </a:prstGeom>
          <a:noFill/>
        </p:spPr>
        <p:txBody>
          <a:bodyPr wrap="square" anchor="ctr"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5" name="Rounded Rectangle 24"/>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18736"/>
          </a:xfrm>
          <a:prstGeom prst="rect">
            <a:avLst/>
          </a:prstGeom>
          <a:noFill/>
        </p:spPr>
        <p:txBody>
          <a:bodyPr wrap="square" anchor="ctr"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87408"/>
            <a:ext cx="397288" cy="39728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87408"/>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968651" y="2963513"/>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60636"/>
            <a:ext cx="397288" cy="39728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60636"/>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968651" y="3636740"/>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ctr"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977509" y="4513326"/>
            <a:ext cx="864394" cy="181832"/>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19" name="TextBox 18"/>
          <p:cNvSpPr txBox="1"/>
          <p:nvPr/>
        </p:nvSpPr>
        <p:spPr>
          <a:xfrm>
            <a:off x="5667280" y="4830985"/>
            <a:ext cx="5719132" cy="968692"/>
          </a:xfrm>
          <a:prstGeom prst="rect">
            <a:avLst/>
          </a:prstGeom>
          <a:noFill/>
        </p:spPr>
        <p:txBody>
          <a:bodyPr wrap="square" anchor="ctr"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20" name="TextBox 19"/>
          <p:cNvSpPr txBox="1"/>
          <p:nvPr/>
        </p:nvSpPr>
        <p:spPr>
          <a:xfrm>
            <a:off x="5667280" y="5550980"/>
            <a:ext cx="5719132" cy="474154"/>
          </a:xfrm>
          <a:prstGeom prst="rect">
            <a:avLst/>
          </a:prstGeom>
          <a:noFill/>
        </p:spPr>
        <p:txBody>
          <a:bodyPr wrap="square" anchor="ctr"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1" name="Rounded Rectangle 20"/>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Closing</a:t>
            </a:r>
          </a:p>
        </p:txBody>
      </p:sp>
      <p:sp>
        <p:nvSpPr>
          <p:cNvPr id="16" name="TextBox 15"/>
          <p:cNvSpPr txBox="1"/>
          <p:nvPr/>
        </p:nvSpPr>
        <p:spPr>
          <a:xfrm>
            <a:off x="9965531" y="226399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9416701" y="3760756"/>
            <a:ext cx="2142934"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62576"/>
          </a:xfrm>
          <a:prstGeom prst="rect">
            <a:avLst/>
          </a:prstGeom>
          <a:noFill/>
        </p:spPr>
        <p:txBody>
          <a:bodyPr wrap="square" anchor="ctr"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005173" y="3850481"/>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05173" y="4785170"/>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05173" y="5719953"/>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6261735" y="2192369"/>
            <a:ext cx="5295233" cy="230029"/>
          </a:xfrm>
          <a:prstGeom prst="rect">
            <a:avLst/>
          </a:prstGeom>
          <a:noFill/>
        </p:spPr>
        <p:txBody>
          <a:bodyPr wrap="none" anchor="ctr"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4246150" y="2562416"/>
            <a:ext cx="2738628"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8775097" y="2562416"/>
            <a:ext cx="2781872"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8129" cy="1080992"/>
          </a:xfrm>
          <a:prstGeom prst="rect">
            <a:avLst/>
          </a:prstGeom>
          <a:noFill/>
        </p:spPr>
        <p:txBody>
          <a:bodyPr wrap="none" anchor="ctr"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219772" y="3629596"/>
            <a:ext cx="1070896"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176718" y="5340286"/>
            <a:ext cx="1118235"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7698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90556"/>
            <a:ext cx="3927348"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7698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90556"/>
            <a:ext cx="3966733"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498767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401246"/>
            <a:ext cx="3966637" cy="616077"/>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498767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401246"/>
            <a:ext cx="3927443"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805"/>
            <a:ext cx="486823" cy="486918"/>
          </a:xfrm>
          <a:prstGeom prst="rect">
            <a:avLst/>
          </a:prstGeom>
        </p:spPr>
      </p:pic>
      <p:sp>
        <p:nvSpPr>
          <p:cNvPr id="7" name="TextBox 6"/>
          <p:cNvSpPr txBox="1"/>
          <p:nvPr/>
        </p:nvSpPr>
        <p:spPr>
          <a:xfrm>
            <a:off x="1501426" y="2626328"/>
            <a:ext cx="1521631"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23355"/>
            <a:ext cx="1521631" cy="1107567"/>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805"/>
            <a:ext cx="486823" cy="486918"/>
          </a:xfrm>
          <a:prstGeom prst="rect">
            <a:avLst/>
          </a:prstGeom>
        </p:spPr>
      </p:pic>
      <p:sp>
        <p:nvSpPr>
          <p:cNvPr id="11" name="TextBox 10"/>
          <p:cNvSpPr txBox="1"/>
          <p:nvPr/>
        </p:nvSpPr>
        <p:spPr>
          <a:xfrm>
            <a:off x="4198715" y="2626328"/>
            <a:ext cx="1521728"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23355"/>
            <a:ext cx="1521728" cy="1191482"/>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970"/>
            <a:ext cx="486823" cy="486823"/>
          </a:xfrm>
          <a:prstGeom prst="rect">
            <a:avLst/>
          </a:prstGeom>
        </p:spPr>
      </p:pic>
      <p:sp>
        <p:nvSpPr>
          <p:cNvPr id="15" name="TextBox 14"/>
          <p:cNvSpPr txBox="1"/>
          <p:nvPr/>
        </p:nvSpPr>
        <p:spPr>
          <a:xfrm>
            <a:off x="1501426" y="5085398"/>
            <a:ext cx="4215956" cy="275368"/>
          </a:xfrm>
          <a:prstGeom prst="rect">
            <a:avLst/>
          </a:prstGeom>
          <a:noFill/>
        </p:spPr>
        <p:txBody>
          <a:bodyPr wrap="none" anchor="ctr"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14677"/>
            <a:ext cx="4259573" cy="455295"/>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523554"/>
          </a:xfrm>
          <a:prstGeom prst="roundRect">
            <a:avLst>
              <a:gd name="adj" fmla="val 7730"/>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7357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702147"/>
            <a:ext cx="51932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78119"/>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78119"/>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78119"/>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595229" y="2448211"/>
            <a:ext cx="561118" cy="142875"/>
          </a:xfrm>
          <a:prstGeom prst="rect">
            <a:avLst/>
          </a:prstGeom>
          <a:noFill/>
        </p:spPr>
        <p:txBody>
          <a:bodyPr wrap="none" anchor="ctr" lIns="0" tIns="0" rIns="0" bIns="0">
            <a:noAutofit/>
          </a:bodyPr>
          <a:lstStyle/>
          <a:p>
            <a:pPr algn="l">
              <a:lnSpc>
                <a:spcPts val="980"/>
              </a:lnSpc>
              <a:spcBef>
                <a:spcPts val="0"/>
              </a:spcBef>
              <a:spcAft>
                <a:spcPts val="0"/>
              </a:spcAft>
            </a:pPr>
            <a:r>
              <a:rPr sz="980" b="0" i="0" u="none" spc="98">
                <a:solidFill>
                  <a:srgbClr val="6E6E78"/>
                </a:solidFill>
                <a:latin typeface="Courier New"/>
              </a:rPr>
              <a:t>PYTHON</a:t>
            </a:r>
          </a:p>
        </p:txBody>
      </p:sp>
      <p:sp>
        <p:nvSpPr>
          <p:cNvPr id="24" name="TextBox 23"/>
          <p:cNvSpPr txBox="1"/>
          <p:nvPr/>
        </p:nvSpPr>
        <p:spPr>
          <a:xfrm>
            <a:off x="6562534" y="2969133"/>
            <a:ext cx="4795270" cy="1654016"/>
          </a:xfrm>
          <a:prstGeom prst="rect">
            <a:avLst/>
          </a:prstGeom>
          <a:noFill/>
        </p:spPr>
        <p:txBody>
          <a:bodyPr wrap="square" anchor="ctr" lIns="0" tIns="0" rIns="0" bIns="0">
            <a:noAutofit/>
          </a:bodyPr>
          <a:lstStyle/>
          <a:p>
            <a:pPr algn="l">
              <a:lnSpc>
                <a:spcPts val="2664"/>
              </a:lnSpc>
              <a:spcBef>
                <a:spcPts val="0"/>
              </a:spcBef>
              <a:spcAft>
                <a:spcPts val="0"/>
              </a:spcAft>
            </a:pPr>
            <a:r>
              <a:rPr sz="1776" b="0" i="0" u="none">
                <a:solidFill>
                  <a:srgbClr val="1F1F1F"/>
                </a:solidFill>
                <a:latin typeface="Courier New"/>
              </a:rPr>
              <a:t>scaler = StandardScaler()</a:t>
            </a:r>
          </a:p>
          <a:p>
            <a:pPr algn="l">
              <a:lnSpc>
                <a:spcPts val="2664"/>
              </a:lnSpc>
              <a:spcBef>
                <a:spcPts val="0"/>
              </a:spcBef>
              <a:spcAft>
                <a:spcPts val="0"/>
              </a:spcAft>
            </a:pPr>
            <a:r>
              <a:rPr sz="1776" b="0" i="0" u="none">
                <a:solidFill>
                  <a:srgbClr val="1F1F1F"/>
                </a:solidFill>
                <a:latin typeface="Courier New"/>
              </a:rPr>
              <a:t>scaler.fit(X_train)            </a:t>
            </a:r>
            <a:r>
              <a:rPr sz="1776" b="0" i="1" u="none">
                <a:solidFill>
                  <a:srgbClr val="008000"/>
                </a:solidFill>
                <a:latin typeface="Courier New"/>
              </a:rPr>
              <a:t># train only</a:t>
            </a:r>
          </a:p>
          <a:p>
            <a:pPr algn="l">
              <a:lnSpc>
                <a:spcPts val="2664"/>
              </a:lnSpc>
              <a:spcBef>
                <a:spcPts val="0"/>
              </a:spcBef>
              <a:spcAft>
                <a:spcPts val="0"/>
              </a:spcAft>
            </a:pPr>
            <a:r>
              <a:rPr sz="1776" b="0" i="0" u="none">
                <a:solidFill>
                  <a:srgbClr val="1F1F1F"/>
                </a:solidFill>
                <a:latin typeface="Courier New"/>
              </a:rPr>
              <a:t>X_val  = scaler.transform(X_val)</a:t>
            </a:r>
          </a:p>
          <a:p>
            <a:pPr algn="l">
              <a:lnSpc>
                <a:spcPts val="2664"/>
              </a:lnSpc>
              <a:spcBef>
                <a:spcPts val="0"/>
              </a:spcBef>
              <a:spcAft>
                <a:spcPts val="0"/>
              </a:spcAft>
            </a:pPr>
            <a:r>
              <a:rPr sz="1776" b="0" i="0" u="none">
                <a:solidFill>
                  <a:srgbClr val="1F1F1F"/>
                </a:solidFill>
                <a:latin typeface="Courier New"/>
              </a:rPr>
              <a:t>X_test = scaler.transform(X_test)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44935"/>
            <a:ext cx="1534006"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3012091"/>
            <a:ext cx="1533909"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44935"/>
            <a:ext cx="11725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3012091"/>
            <a:ext cx="11725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40630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526619" y="240630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308267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526619" y="308267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882485"/>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526619" y="3759137"/>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805648"/>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526619" y="4682300"/>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3743"/>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085463"/>
            <a:ext cx="1706308" cy="257175"/>
          </a:xfrm>
          <a:prstGeom prst="rect">
            <a:avLst/>
          </a:prstGeom>
          <a:noFill/>
        </p:spPr>
        <p:txBody>
          <a:bodyPr wrap="none" anchor="ctr"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01869"/>
            <a:ext cx="9369933"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795397"/>
            <a:ext cx="9369933" cy="1219200"/>
          </a:xfrm>
          <a:prstGeom prst="rect">
            <a:avLst/>
          </a:prstGeom>
          <a:noFill/>
        </p:spPr>
        <p:txBody>
          <a:bodyPr wrap="none" anchor="ctr"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23480"/>
            <a:ext cx="9490860" cy="625983"/>
          </a:xfrm>
          <a:prstGeom prst="rect">
            <a:avLst/>
          </a:prstGeom>
          <a:noFill/>
        </p:spPr>
        <p:txBody>
          <a:bodyPr wrap="square" anchor="ctr"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82372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71634"/>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71634"/>
            <a:ext cx="4794787" cy="541782"/>
          </a:xfrm>
          <a:prstGeom prst="rect">
            <a:avLst/>
          </a:prstGeom>
          <a:noFill/>
        </p:spPr>
        <p:txBody>
          <a:bodyPr wrap="square" anchor="ctr"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195316"/>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21941"/>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