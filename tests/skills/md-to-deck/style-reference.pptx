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quote with no attribution. Plenty of quoted lines have no person to name — a slogan, an anonymized line from a user interview, a sentence from a standard or a report, something said in the room. The template treats attribution as optional and renders nothing in its place: the quotation mark and the centering already say these are someone else's words, which is the only thing that distinguishes a quote from a statement. The rule this fixture guards is that the fill must not invent an attribution to satisfy the template, and must not demote the slide to statement because none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quote (~60 words) is the edge the full-bleed fit exists for. Only the display type steps down, and it re-wraps across the full measure — the old fit scaled the whole block, which shrank the wrap width with the glyphs and left a narrow column in the middle of an empty slide. The attribution keeps its reading size. Past the floor the slide would be flagged as clipped.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aside is the slide-model expression of an author's &lt;!-- aside: ... --&gt; hint in draft.md. It reserves roughly 37% of the slide width as a full-bleed image column and pads the stage on that side so the head and body lay out in what remains. Because the column crops to fill rather than fitting the whole image, it is only ever atmosphere: a diagram, chart, or screenshot the audience must actually read belongs in a template that owns its image, where it is contained and legible.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variant exists for rhythm: alternating the side across a run of slides keeps a deck from feeling like a template. The choice carries no semantics — it is purely visual pacing.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Inline styling is resolved once, in html_style.py _richtext/_inline_md, on the slide's prose fields — not per template — so any field of any template accepts the marks. Escaping runs first, so authored HTML in a field stays inert text; code blocks, image paths and the enum-ish fields the renderer branches on are excluded, because their bytes are the content.</a:t>
            </a:r>
          </a:p>
          <a:p/>
          <a:p>
            <a:r>
              <a:t>Speaker notes take the same grammar (this note is proof: bold resolves here too) plus their own line breaks, because notes are prose the presenter reads rather than a schema field.</a:t>
            </a:r>
          </a:p>
          <a:p/>
          <a:p>
            <a:r>
              <a:t>The grammar stops at inline marks on purpose: block markdown inside a field (headings, lists, tables) would let content route around the schema, which is where the template and its fields do their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whose items carry no label has nothing to build a card around, so it used to land on fallback and draw as bare bullets. It belongs on process instead: the unlabeled branch of that template is already a numbered list — an outlined number chip and the line — and the numbering is what earns the slide. It turns a loose list into a countable set the audience can hold in mind and the presenter can point at, without implying the items are steps in a sequence. The single column is deliberate here, unlike the labeled set: a numbered list is read top to bottom, and splitting it across columns breaks the 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terms explained side by side. The columns deliberately share no row structure — that is the whole discriminator against value-columns, which is a table wearing columns and whose cells align row by row against a shared factor. Here reading across a row says nothing: each column is read top to bottom on its own, and one column may carry four bullets where its neighbour carries a paragraph. The emphasised column marks the term the slide is about, the one the others define by contrast; it is not a verdict, so the older or worse option may carry it just as well.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two-column case, and the one most likely to be misclassified. It reads adversarial — old way versus new way — but there is no shared factor and no row to read across, so it is not a value-columns grid: each side is explained in its own terms, with its own internal structure. Note also that the emphasised column here is the traditional approach, not the one the talk advocates: emphasis marks the subject under discussion, never the winner.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case for the style test: five rules against three, each a short clause. Guards the count-stepped sizing and the uneven-column layout — the shape that first showed the items had been joined into a single run-on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a screenshot slide takes: the header stays, the image owns everything below it, and the detail the presenter narrates lives here in the notes rather than on the slide face. The image is contained, never cropped — a capture whose edges are cut stops being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highlight image-full renders is its source: a picture without its citation is a picture nobody can check. The line sits under the image on the header's margins, and the image gives up the height it needs — the band is never pushed off the slide. Any other highlight kind on this template is dropped, and field_coverage names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--draft live view a diagram is still an ascii fence — Step 6 has not rendered it yet. The fill carries it verbatim as a code panel where the picture will go, so the slide previews its shape instead of losing the figure. image is polymorphic exactly as media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pictures and no prose: the same edge-to-edge fill, divided between them. Each is contained in its own half, never cropped.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clip on a slide is a demo recording: it runs while the presenter narrates over it. Because the video carries the point and the PDF export only prints its first frame, whatever it shows has to be said here too — a reader of the deck never sees it move.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 design crops media to fill its strip, which for video means the same rule as for a photo: nothing load-bearing goes in it. Ambient motion behind a text slide is what this is for — muted and looping, so it never ends mid-talk and never competes with the presenter's voice.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source highlight is emitted as a child of the stage rather than of .cfit, so it is pinned to the slide's bottom edge instead of trailing the content wherever the content happens to end. Two consequences follow from that placement, and both are the reason for it: on a short slide the citation stays on the baseline instead of floating up under a half-empty body, and the per-slide content-fit pass — which only ever scales .cfit — can neither shrink it nor move it. Every other highlight kind is a remark on the body and stays inside .cfit, where it moves and scales with what it remarks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matrix earns its own template because the axes carry meaning. Filed as four concept cards, the labels survive and the axes vanish — and the axes were the point. The tone colours reuse the pros-cons pair rather than introducing a third palette.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media could hold code, this slide had two bad options: drop the snippet to keep the cards, or become a code-example and flatten the cards into an explanation column. Both lose content. The design places the panel; the template still just emits cards.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lookup table is supporting evidence here, not the slide — so it rides in media like a diagram would. Rendered with the same compare-strip classes value-columns uses, so a table beside a body and a table that is the body read as one piece.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catalog always described a stat pair as the lower band of a content slide, but only the stat template had a stats field — so a slide with this hook had to become a stat and demote its cards. The band is now universal; stat is for when the numbers are the whole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image" Target="../media/image34.png"/><Relationship Id="rId7" Type="http://schemas.openxmlformats.org/officeDocument/2006/relationships/image" Target="../media/image39.png"/><Relationship Id="rId8"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42.png"/><Relationship Id="rId7" Type="http://schemas.openxmlformats.org/officeDocument/2006/relationships/image" Target="../media/image30.png"/><Relationship Id="rId8" Type="http://schemas.openxmlformats.org/officeDocument/2006/relationships/image" Target="../media/image43.png"/><Relationship Id="rId9" Type="http://schemas.openxmlformats.org/officeDocument/2006/relationships/image" Target="../media/image29.png"/><Relationship Id="rId10"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jpg"/><Relationship Id="rId6" Type="http://schemas.openxmlformats.org/officeDocument/2006/relationships/notesSlide" Target="../notesSlides/notes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jpg"/><Relationship Id="rId5"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2.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17.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hyperlink" Target="https://www.who.int" TargetMode="External"/><Relationship Id="rId8" Type="http://schemas.openxmlformats.org/officeDocument/2006/relationships/image" Target="../media/image66.png"/><Relationship Id="rId9" Type="http://schemas.openxmlformats.org/officeDocument/2006/relationships/hyperlink" Target="https://www.who.int/data" TargetMode="External"/><Relationship Id="rId10" Type="http://schemas.openxmlformats.org/officeDocument/2006/relationships/hyperlink" Target="https://who.int" TargetMode="External"/><Relationship Id="rId11" Type="http://schemas.openxmlformats.org/officeDocument/2006/relationships/hyperlink" Target="https://www.who.int/es" TargetMode="External"/><Relationship Id="rId12" Type="http://schemas.openxmlformats.org/officeDocument/2006/relationships/hyperlink" Target="https://app.sli.do/event/x" TargetMode="External"/><Relationship Id="rId13" Type="http://schemas.openxmlformats.org/officeDocument/2006/relationships/hyperlink" Target="mailto:deck@example.org" TargetMode="External"/><Relationship Id="rId14"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108.07258" TargetMode="External"/><Relationship Id="rId3"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hyperlink" Target="https://example.org/talksmith" TargetMode="External"/><Relationship Id="rId4" Type="http://schemas.openxmlformats.org/officeDocument/2006/relationships/notesSlide" Target="../notesSlides/notesSlide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8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9.png"/><Relationship Id="rId4" Type="http://schemas.openxmlformats.org/officeDocument/2006/relationships/image" Target="../media/image9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9.png"/><Relationship Id="rId4" Type="http://schemas.openxmlformats.org/officeDocument/2006/relationships/image" Target="../media/image93.png"/><Relationship Id="rId5" Type="http://schemas.openxmlformats.org/officeDocument/2006/relationships/image" Target="../media/image9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9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75.png"/><Relationship Id="rId4" Type="http://schemas.openxmlformats.org/officeDocument/2006/relationships/notesSlide" Target="../notesSlides/notesSlide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74.png"/><Relationship Id="rId4" Type="http://schemas.openxmlformats.org/officeDocument/2006/relationships/image" Target="../media/image101.png"/><Relationship Id="rId5" Type="http://schemas.openxmlformats.org/officeDocument/2006/relationships/image" Target="../media/image45.png"/><Relationship Id="rId6" Type="http://schemas.openxmlformats.org/officeDocument/2006/relationships/image" Target="../media/image102.png"/><Relationship Id="rId7" Type="http://schemas.openxmlformats.org/officeDocument/2006/relationships/image" Target="../media/image7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hyperlink" Target="https://www.who.int" TargetMode="External"/><Relationship Id="rId5" Type="http://schemas.openxmlformats.org/officeDocument/2006/relationships/image" Target="../media/image105.png"/><Relationship Id="rId6" Type="http://schemas.openxmlformats.org/officeDocument/2006/relationships/notesSlide" Target="../notesSlides/notesSlide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6.png"/><Relationship Id="rId5" Type="http://schemas.openxmlformats.org/officeDocument/2006/relationships/notesSlide" Target="../notesSlides/notesSlide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hyperlink" Target="https://www.who.int" TargetMode="External"/><Relationship Id="rId5" Type="http://schemas.openxmlformats.org/officeDocument/2006/relationships/image" Target="../media/image107.png"/><Relationship Id="rId6" Type="http://schemas.openxmlformats.org/officeDocument/2006/relationships/notesSlide" Target="../notesSlides/notesSlide1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hyperlink" Target="https://www.who.int" TargetMode="External"/><Relationship Id="rId5" Type="http://schemas.openxmlformats.org/officeDocument/2006/relationships/image" Target="../media/image51.jpg"/><Relationship Id="rId6" Type="http://schemas.openxmlformats.org/officeDocument/2006/relationships/notesSlide" Target="../notesSlides/notesSlide1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8.jpg"/><Relationship Id="rId5" Type="http://schemas.openxmlformats.org/officeDocument/2006/relationships/notesSlide" Target="../notesSlides/notesSlide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9.png"/><Relationship Id="rId4" Type="http://schemas.openxmlformats.org/officeDocument/2006/relationships/notesSlide" Target="../notesSlides/notesSlide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notesSlide" Target="../notesSlides/notesSlide2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44.png"/><Relationship Id="rId4" Type="http://schemas.openxmlformats.org/officeDocument/2006/relationships/hyperlink" Target="https://www.who.int" TargetMode="External"/><Relationship Id="rId5" Type="http://schemas.openxmlformats.org/officeDocument/2006/relationships/notesSlide" Target="../notesSlides/notesSlide2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image" Target="../media/image1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75.png"/><Relationship Id="rId4" Type="http://schemas.openxmlformats.org/officeDocument/2006/relationships/notesSlide" Target="../notesSlides/notesSlide2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notesSlide" Target="../notesSlides/notesSlide2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notesSlide" Target="../notesSlides/notesSlide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notesSlide" Target="../notesSlides/notesSlide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notesSlide" Target="../notesSlides/notesSlide2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7.png"/><Relationship Id="rId5" Type="http://schemas.openxmlformats.org/officeDocument/2006/relationships/hyperlink" Target="https://github.com/austral/talksmit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273" y="687991"/>
            <a:ext cx="8146256" cy="762000"/>
          </a:xfrm>
          <a:prstGeom prst="rect">
            <a:avLst/>
          </a:prstGeom>
          <a:noFill/>
        </p:spPr>
        <p:txBody>
          <a:bodyPr wrap="none" anchor="ctr" lIns="0" tIns="0" rIns="0" bIns="0">
            <a:noAutofit/>
          </a:bodyPr>
          <a:lstStyle/>
          <a:p>
            <a:pPr algn="l">
              <a:lnSpc>
                <a:spcPts val="5753"/>
              </a:lnSpc>
              <a:spcBef>
                <a:spcPts val="0"/>
              </a:spcBef>
              <a:spcAft>
                <a:spcPts val="0"/>
              </a:spcAft>
            </a:pPr>
            <a:r>
              <a:rPr sz="5376" b="1" i="0" u="none" spc="-107">
                <a:solidFill>
                  <a:srgbClr val="1F1E1E"/>
                </a:solidFill>
                <a:latin typeface="Arial"/>
              </a:rPr>
              <a:t>Talksmith Style Reference</a:t>
            </a:r>
          </a:p>
        </p:txBody>
      </p:sp>
      <p:sp>
        <p:nvSpPr>
          <p:cNvPr id="3" name="TextBox 2"/>
          <p:cNvSpPr txBox="1"/>
          <p:nvPr/>
        </p:nvSpPr>
        <p:spPr>
          <a:xfrm>
            <a:off x="658273" y="1642205"/>
            <a:ext cx="7173182" cy="285750"/>
          </a:xfrm>
          <a:prstGeom prst="rect">
            <a:avLst/>
          </a:prstGeom>
          <a:noFill/>
        </p:spPr>
        <p:txBody>
          <a:bodyPr wrap="none" anchor="ctr" lIns="0" tIns="0" rIns="0" bIns="0">
            <a:noAutofit/>
          </a:bodyPr>
          <a:lstStyle/>
          <a:p>
            <a:pPr algn="l">
              <a:lnSpc>
                <a:spcPts val="2436"/>
              </a:lnSpc>
              <a:spcBef>
                <a:spcPts val="0"/>
              </a:spcBef>
              <a:spcAft>
                <a:spcPts val="0"/>
              </a:spcAft>
            </a:pPr>
            <a:r>
              <a:rPr sz="1948" b="1" i="0" u="none">
                <a:solidFill>
                  <a:srgbClr val="3B3535"/>
                </a:solidFill>
                <a:latin typeface="Arial"/>
              </a:rPr>
              <a:t>md-to-deck visual regression deck</a:t>
            </a:r>
          </a:p>
        </p:txBody>
      </p:sp>
      <p:sp>
        <p:nvSpPr>
          <p:cNvPr id="4" name="TextBox 3"/>
          <p:cNvSpPr txBox="1"/>
          <p:nvPr/>
        </p:nvSpPr>
        <p:spPr>
          <a:xfrm>
            <a:off x="658273" y="3589592"/>
            <a:ext cx="8187534" cy="986409"/>
          </a:xfrm>
          <a:prstGeom prst="rect">
            <a:avLst/>
          </a:prstGeom>
          <a:noFill/>
        </p:spPr>
        <p:txBody>
          <a:bodyPr wrap="square" anchor="ctr" lIns="0" tIns="0" rIns="0" bIns="0">
            <a:noAutofit/>
          </a:bodyPr>
          <a:lstStyle/>
          <a:p>
            <a:pPr algn="l">
              <a:lnSpc>
                <a:spcPts val="2496"/>
              </a:lnSpc>
              <a:spcBef>
                <a:spcPts val="0"/>
              </a:spcBef>
              <a:spcAft>
                <a:spcPts val="0"/>
              </a:spcAft>
            </a:pPr>
            <a:r>
              <a:rPr sz="2496" b="1" i="0" u="none">
                <a:solidFill>
                  <a:srgbClr val="1F1E1E"/>
                </a:solidFill>
                <a:latin typeface="Arial"/>
              </a:rPr>
              <a:t>One example of every slide template, plus layout edge cases</a:t>
            </a:r>
          </a:p>
        </p:txBody>
      </p:sp>
      <p:sp>
        <p:nvSpPr>
          <p:cNvPr id="5" name="TextBox 4"/>
          <p:cNvSpPr txBox="1"/>
          <p:nvPr/>
        </p:nvSpPr>
        <p:spPr>
          <a:xfrm>
            <a:off x="658273" y="4475702"/>
            <a:ext cx="8187534" cy="711327"/>
          </a:xfrm>
          <a:prstGeom prst="rect">
            <a:avLst/>
          </a:prstGeom>
          <a:noFill/>
        </p:spPr>
        <p:txBody>
          <a:bodyPr wrap="square" anchor="ctr" lIns="0" tIns="0" rIns="0" bIns="0">
            <a:noAutofit/>
          </a:bodyPr>
          <a:lstStyle/>
          <a:p>
            <a:pPr algn="l">
              <a:lnSpc>
                <a:spcPts val="2952"/>
              </a:lnSpc>
              <a:spcBef>
                <a:spcPts val="0"/>
              </a:spcBef>
              <a:spcAft>
                <a:spcPts val="0"/>
              </a:spcAft>
            </a:pPr>
            <a:r>
              <a:rPr sz="1968" b="0" i="0" u="none">
                <a:solidFill>
                  <a:srgbClr val="3B3535"/>
                </a:solidFill>
                <a:latin typeface="Arial"/>
              </a:rPr>
              <a:t>Autor: Talksmith</a:t>
            </a:r>
          </a:p>
          <a:p>
            <a:pPr algn="l">
              <a:lnSpc>
                <a:spcPts val="2952"/>
              </a:lnSpc>
              <a:spcBef>
                <a:spcPts val="0"/>
              </a:spcBef>
              <a:spcAft>
                <a:spcPts val="0"/>
              </a:spcAft>
            </a:pPr>
            <a:r>
              <a:rPr sz="1968" b="0" i="0" u="none">
                <a:solidFill>
                  <a:srgbClr val="3B3535"/>
                </a:solidFill>
                <a:latin typeface="Arial"/>
              </a:rPr>
              <a:t>Última modificación: 2026-07-14</a:t>
            </a:r>
          </a:p>
        </p:txBody>
      </p:sp>
      <p:pic>
        <p:nvPicPr>
          <p:cNvPr id="6" name="Picture 5" descr="image.png"/>
          <p:cNvPicPr>
            <a:picLocks noChangeAspect="1"/>
          </p:cNvPicPr>
          <p:nvPr/>
        </p:nvPicPr>
        <p:blipFill>
          <a:blip r:embed="rId2"/>
          <a:stretch>
            <a:fillRect/>
          </a:stretch>
        </p:blipFill>
        <p:spPr>
          <a:xfrm>
            <a:off x="9095518" y="4907470"/>
            <a:ext cx="2438210" cy="19505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1956816"/>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01</a:t>
            </a:r>
          </a:p>
        </p:txBody>
      </p:sp>
      <p:sp>
        <p:nvSpPr>
          <p:cNvPr id="17" name="TextBox 16"/>
          <p:cNvSpPr txBox="1"/>
          <p:nvPr/>
        </p:nvSpPr>
        <p:spPr>
          <a:xfrm>
            <a:off x="8901112" y="3453574"/>
            <a:ext cx="2678779"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Frames &amp; openers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21130"/>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FRAMES &amp; OPENERS</a:t>
            </a:r>
          </a:p>
        </p:txBody>
      </p:sp>
      <p:sp>
        <p:nvSpPr>
          <p:cNvPr id="3" name="TextBox 2"/>
          <p:cNvSpPr txBox="1"/>
          <p:nvPr/>
        </p:nvSpPr>
        <p:spPr>
          <a:xfrm>
            <a:off x="670465" y="1960245"/>
            <a:ext cx="11032887" cy="3228594"/>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This deck renders one example of every Talksmith slide template.</a:t>
            </a:r>
          </a:p>
        </p:txBody>
      </p:sp>
      <p:sp>
        <p:nvSpPr>
          <p:cNvPr id="4" name="TextBox 3"/>
          <p:cNvSpPr txBox="1"/>
          <p:nvPr/>
        </p:nvSpPr>
        <p:spPr>
          <a:xfrm>
            <a:off x="670465" y="4706588"/>
            <a:ext cx="11032887" cy="722376"/>
          </a:xfrm>
          <a:prstGeom prst="rect">
            <a:avLst/>
          </a:prstGeom>
          <a:noFill/>
        </p:spPr>
        <p:txBody>
          <a:bodyPr wrap="square" anchor="ctr" lIns="0" tIns="0" rIns="0" bIns="0">
            <a:noAutofit/>
          </a:bodyPr>
          <a:lstStyle/>
          <a:p>
            <a:pPr algn="l">
              <a:lnSpc>
                <a:spcPts val="2688"/>
              </a:lnSpc>
              <a:spcBef>
                <a:spcPts val="0"/>
              </a:spcBef>
              <a:spcAft>
                <a:spcPts val="0"/>
              </a:spcAft>
            </a:pPr>
            <a:r>
              <a:rPr sz="2688" b="0" i="0" u="none">
                <a:solidFill>
                  <a:srgbClr val="3B3535"/>
                </a:solidFill>
                <a:latin typeface="Arial"/>
              </a:rPr>
              <a:t>Flip through it, or diff style-reference.html, and any styling regression jumps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2511933"/>
            <a:ext cx="11032887" cy="1831467"/>
          </a:xfrm>
          <a:prstGeom prst="rect">
            <a:avLst/>
          </a:prstGeom>
          <a:noFill/>
        </p:spPr>
        <p:txBody>
          <a:bodyPr wrap="square" anchor="ctr" lIns="0" tIns="0" rIns="0" bIns="0">
            <a:noAutofit/>
          </a:bodyPr>
          <a:lstStyle/>
          <a:p>
            <a:pPr algn="l">
              <a:lnSpc>
                <a:spcPts val="6922"/>
              </a:lnSpc>
              <a:spcBef>
                <a:spcPts val="0"/>
              </a:spcBef>
              <a:spcAft>
                <a:spcPts val="0"/>
              </a:spcAft>
            </a:pPr>
            <a:r>
              <a:rPr sz="6720" b="1" i="0" u="none" spc="-134">
                <a:solidFill>
                  <a:srgbClr val="1F1E1E"/>
                </a:solidFill>
                <a:latin typeface="Arial"/>
              </a:rPr>
              <a:t>A divider is a plain sub-opener within a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1956816"/>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02</a:t>
            </a:r>
          </a:p>
        </p:txBody>
      </p:sp>
      <p:sp>
        <p:nvSpPr>
          <p:cNvPr id="17" name="TextBox 16"/>
          <p:cNvSpPr txBox="1"/>
          <p:nvPr/>
        </p:nvSpPr>
        <p:spPr>
          <a:xfrm>
            <a:off x="8294942" y="3453574"/>
            <a:ext cx="3294043"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Statement &amp; emphasis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817942"/>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2356961"/>
            <a:ext cx="11032887" cy="2434971"/>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A statement slide is one dominant claim, set large.</a:t>
            </a:r>
          </a:p>
        </p:txBody>
      </p:sp>
      <p:sp>
        <p:nvSpPr>
          <p:cNvPr id="4" name="TextBox 3"/>
          <p:cNvSpPr txBox="1"/>
          <p:nvPr/>
        </p:nvSpPr>
        <p:spPr>
          <a:xfrm>
            <a:off x="670465" y="4309777"/>
            <a:ext cx="11032887" cy="722376"/>
          </a:xfrm>
          <a:prstGeom prst="rect">
            <a:avLst/>
          </a:prstGeom>
          <a:noFill/>
        </p:spPr>
        <p:txBody>
          <a:bodyPr wrap="square" anchor="ctr" lIns="0" tIns="0" rIns="0" bIns="0">
            <a:noAutofit/>
          </a:bodyPr>
          <a:lstStyle/>
          <a:p>
            <a:pPr algn="l">
              <a:lnSpc>
                <a:spcPts val="2688"/>
              </a:lnSpc>
              <a:spcBef>
                <a:spcPts val="0"/>
              </a:spcBef>
              <a:spcAft>
                <a:spcPts val="0"/>
              </a:spcAft>
            </a:pPr>
            <a:r>
              <a:rPr sz="2688" b="0" i="0" u="none">
                <a:solidFill>
                  <a:srgbClr val="3B3535"/>
                </a:solidFill>
                <a:latin typeface="Arial"/>
              </a:rPr>
              <a:t>No bullets, no cards — just the single line you want the room to remember.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55047"/>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294067"/>
            <a:ext cx="11032887" cy="4815459"/>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A statement title can run long, and it should still wrap gracefully across two or three lines while reading as one strong, uninterrupted assertion.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big-number: one hero metric</a:t>
            </a:r>
          </a:p>
        </p:txBody>
      </p:sp>
      <p:sp>
        <p:nvSpPr>
          <p:cNvPr id="5" name="TextBox 4"/>
          <p:cNvSpPr txBox="1"/>
          <p:nvPr/>
        </p:nvSpPr>
        <p:spPr>
          <a:xfrm>
            <a:off x="670465" y="1911382"/>
            <a:ext cx="10887075" cy="2314575"/>
          </a:xfrm>
          <a:prstGeom prst="rect">
            <a:avLst/>
          </a:prstGeom>
          <a:noFill/>
        </p:spPr>
        <p:txBody>
          <a:bodyPr wrap="none" anchor="ctr" lIns="0" tIns="0" rIns="0" bIns="0">
            <a:noAutofit/>
          </a:bodyPr>
          <a:lstStyle/>
          <a:p>
            <a:pPr algn="l">
              <a:lnSpc>
                <a:spcPts val="13872"/>
              </a:lnSpc>
              <a:spcBef>
                <a:spcPts val="0"/>
              </a:spcBef>
              <a:spcAft>
                <a:spcPts val="0"/>
              </a:spcAft>
            </a:pPr>
            <a:r>
              <a:rPr sz="16319" b="1" i="0" u="none" spc="-490">
                <a:solidFill>
                  <a:srgbClr val="DA1B2E"/>
                </a:solidFill>
                <a:latin typeface="Arial"/>
              </a:rPr>
              <a:t>1</a:t>
            </a:r>
          </a:p>
        </p:txBody>
      </p:sp>
      <p:sp>
        <p:nvSpPr>
          <p:cNvPr id="6" name="TextBox 5"/>
          <p:cNvSpPr txBox="1"/>
          <p:nvPr/>
        </p:nvSpPr>
        <p:spPr>
          <a:xfrm>
            <a:off x="670465" y="4125182"/>
            <a:ext cx="11030760" cy="1373124"/>
          </a:xfrm>
          <a:prstGeom prst="rect">
            <a:avLst/>
          </a:prstGeom>
          <a:noFill/>
        </p:spPr>
        <p:txBody>
          <a:bodyPr wrap="square" anchor="ctr" lIns="0" tIns="0" rIns="0" bIns="0">
            <a:noAutofit/>
          </a:bodyPr>
          <a:lstStyle/>
          <a:p>
            <a:pPr algn="l">
              <a:lnSpc>
                <a:spcPts val="3456"/>
              </a:lnSpc>
              <a:spcBef>
                <a:spcPts val="0"/>
              </a:spcBef>
              <a:spcAft>
                <a:spcPts val="0"/>
              </a:spcAft>
            </a:pPr>
            <a:r>
              <a:rPr sz="3456" b="1" i="0" u="none">
                <a:solidFill>
                  <a:srgbClr val="1F1E1E"/>
                </a:solidFill>
                <a:latin typeface="Arial"/>
              </a:rPr>
              <a:t>big-number is for a single hero figure — one number set very large, one caption, nothing competing with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328452"/>
            <a:ext cx="9804082"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438846"/>
            <a:ext cx="9804082" cy="1638300"/>
          </a:xfrm>
          <a:prstGeom prst="rect">
            <a:avLst/>
          </a:prstGeom>
          <a:noFill/>
        </p:spPr>
        <p:txBody>
          <a:bodyPr wrap="none" anchor="ctr" lIns="0" tIns="0" rIns="0" bIns="0">
            <a:noAutofit/>
          </a:bodyPr>
          <a:lstStyle/>
          <a:p>
            <a:pPr algn="l">
              <a:lnSpc>
                <a:spcPts val="5760"/>
              </a:lnSpc>
              <a:spcBef>
                <a:spcPts val="0"/>
              </a:spcBef>
              <a:spcAft>
                <a:spcPts val="0"/>
              </a:spcAft>
            </a:pPr>
            <a:r>
              <a:rPr sz="11520" b="1" i="0" u="none">
                <a:solidFill>
                  <a:srgbClr val="DA1B2E"/>
                </a:solidFill>
                <a:latin typeface="Arial"/>
              </a:rPr>
              <a:t>“</a:t>
            </a:r>
          </a:p>
        </p:txBody>
      </p:sp>
      <p:sp>
        <p:nvSpPr>
          <p:cNvPr id="4" name="TextBox 3"/>
          <p:cNvSpPr txBox="1"/>
          <p:nvPr/>
        </p:nvSpPr>
        <p:spPr>
          <a:xfrm>
            <a:off x="670465" y="2749487"/>
            <a:ext cx="9931522" cy="2761202"/>
          </a:xfrm>
          <a:prstGeom prst="rect">
            <a:avLst/>
          </a:prstGeom>
          <a:noFill/>
        </p:spPr>
        <p:txBody>
          <a:bodyPr wrap="square" anchor="ctr" lIns="0" tIns="0" rIns="0" bIns="0">
            <a:noAutofit/>
          </a:bodyPr>
          <a:lstStyle/>
          <a:p>
            <a:pPr algn="l">
              <a:lnSpc>
                <a:spcPts val="5520"/>
              </a:lnSpc>
              <a:spcBef>
                <a:spcPts val="0"/>
              </a:spcBef>
              <a:spcAft>
                <a:spcPts val="0"/>
              </a:spcAft>
            </a:pPr>
            <a:r>
              <a:rPr sz="4800" b="1" i="0" u="none" spc="-48">
                <a:solidFill>
                  <a:srgbClr val="1F1E1E"/>
                </a:solidFill>
                <a:latin typeface="Arial"/>
              </a:rPr>
              <a:t>A quote slide is the whole slide — one voiced line, centered, with an attribution beneath.</a:t>
            </a:r>
          </a:p>
        </p:txBody>
      </p:sp>
      <p:sp>
        <p:nvSpPr>
          <p:cNvPr id="5" name="TextBox 4"/>
          <p:cNvSpPr txBox="1"/>
          <p:nvPr/>
        </p:nvSpPr>
        <p:spPr>
          <a:xfrm>
            <a:off x="670465" y="5189506"/>
            <a:ext cx="9804082" cy="333375"/>
          </a:xfrm>
          <a:prstGeom prst="rect">
            <a:avLst/>
          </a:prstGeom>
          <a:noFill/>
        </p:spPr>
        <p:txBody>
          <a:bodyPr wrap="none" anchor="ctr" lIns="0" tIns="0" rIns="0" bIns="0">
            <a:noAutofit/>
          </a:bodyPr>
          <a:lstStyle/>
          <a:p>
            <a:pPr algn="l">
              <a:lnSpc>
                <a:spcPts val="2304"/>
              </a:lnSpc>
              <a:spcBef>
                <a:spcPts val="0"/>
              </a:spcBef>
              <a:spcAft>
                <a:spcPts val="0"/>
              </a:spcAft>
            </a:pPr>
            <a:r>
              <a:rPr sz="2304" b="1" i="0" u="none">
                <a:solidFill>
                  <a:srgbClr val="3B3535"/>
                </a:solidFill>
                <a:latin typeface="Arial"/>
              </a:rPr>
              <a:t>— the Talksmith style guide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657540"/>
            <a:ext cx="9804082"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767935"/>
            <a:ext cx="9804082" cy="1638300"/>
          </a:xfrm>
          <a:prstGeom prst="rect">
            <a:avLst/>
          </a:prstGeom>
          <a:noFill/>
        </p:spPr>
        <p:txBody>
          <a:bodyPr wrap="none" anchor="ctr" lIns="0" tIns="0" rIns="0" bIns="0">
            <a:noAutofit/>
          </a:bodyPr>
          <a:lstStyle/>
          <a:p>
            <a:pPr algn="l">
              <a:lnSpc>
                <a:spcPts val="5760"/>
              </a:lnSpc>
              <a:spcBef>
                <a:spcPts val="0"/>
              </a:spcBef>
              <a:spcAft>
                <a:spcPts val="0"/>
              </a:spcAft>
            </a:pPr>
            <a:r>
              <a:rPr sz="11520" b="1" i="0" u="none">
                <a:solidFill>
                  <a:srgbClr val="DA1B2E"/>
                </a:solidFill>
                <a:latin typeface="Arial"/>
              </a:rPr>
              <a:t>“</a:t>
            </a:r>
          </a:p>
        </p:txBody>
      </p:sp>
      <p:sp>
        <p:nvSpPr>
          <p:cNvPr id="4" name="TextBox 3"/>
          <p:cNvSpPr txBox="1"/>
          <p:nvPr/>
        </p:nvSpPr>
        <p:spPr>
          <a:xfrm>
            <a:off x="670465" y="3078480"/>
            <a:ext cx="9931522" cy="2102930"/>
          </a:xfrm>
          <a:prstGeom prst="rect">
            <a:avLst/>
          </a:prstGeom>
          <a:noFill/>
        </p:spPr>
        <p:txBody>
          <a:bodyPr wrap="square" anchor="ctr" lIns="0" tIns="0" rIns="0" bIns="0">
            <a:noAutofit/>
          </a:bodyPr>
          <a:lstStyle/>
          <a:p>
            <a:pPr algn="l">
              <a:lnSpc>
                <a:spcPts val="5520"/>
              </a:lnSpc>
              <a:spcBef>
                <a:spcPts val="0"/>
              </a:spcBef>
              <a:spcAft>
                <a:spcPts val="0"/>
              </a:spcAft>
            </a:pPr>
            <a:r>
              <a:rPr sz="4800" b="1" i="0" u="none" spc="-48">
                <a:solidFill>
                  <a:srgbClr val="1F1E1E"/>
                </a:solidFill>
                <a:latin typeface="Arial"/>
              </a:rPr>
              <a:t>No hubo hackers. No hubo malware. Alguien pegó código en un chatbot.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663512"/>
            <a:ext cx="9804082"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935831"/>
            <a:ext cx="9804082" cy="1066800"/>
          </a:xfrm>
          <a:prstGeom prst="rect">
            <a:avLst/>
          </a:prstGeom>
          <a:noFill/>
        </p:spPr>
        <p:txBody>
          <a:bodyPr wrap="none" anchor="ctr" lIns="0" tIns="0" rIns="0" bIns="0">
            <a:noAutofit/>
          </a:bodyPr>
          <a:lstStyle/>
          <a:p>
            <a:pPr algn="l">
              <a:lnSpc>
                <a:spcPts val="3784"/>
              </a:lnSpc>
              <a:spcBef>
                <a:spcPts val="0"/>
              </a:spcBef>
              <a:spcAft>
                <a:spcPts val="0"/>
              </a:spcAft>
            </a:pPr>
            <a:r>
              <a:rPr sz="7570" b="1" i="0" u="none">
                <a:solidFill>
                  <a:srgbClr val="DA1B2E"/>
                </a:solidFill>
                <a:latin typeface="Arial"/>
              </a:rPr>
              <a:t>“</a:t>
            </a:r>
          </a:p>
        </p:txBody>
      </p:sp>
      <p:sp>
        <p:nvSpPr>
          <p:cNvPr id="4" name="TextBox 3"/>
          <p:cNvSpPr txBox="1"/>
          <p:nvPr/>
        </p:nvSpPr>
        <p:spPr>
          <a:xfrm>
            <a:off x="670465" y="1833562"/>
            <a:ext cx="9931522" cy="4131659"/>
          </a:xfrm>
          <a:prstGeom prst="rect">
            <a:avLst/>
          </a:prstGeom>
          <a:noFill/>
        </p:spPr>
        <p:txBody>
          <a:bodyPr wrap="square" anchor="ctr" lIns="0" tIns="0" rIns="0" bIns="0">
            <a:noAutofit/>
          </a:bodyPr>
          <a:lstStyle/>
          <a:p>
            <a:pPr algn="l">
              <a:lnSpc>
                <a:spcPts val="3627"/>
              </a:lnSpc>
              <a:spcBef>
                <a:spcPts val="0"/>
              </a:spcBef>
              <a:spcAft>
                <a:spcPts val="0"/>
              </a:spcAft>
            </a:pPr>
            <a:r>
              <a:rPr sz="3154" b="1" i="0" u="none" spc="-32">
                <a:solidFill>
                  <a:srgbClr val="1F1E1E"/>
                </a:solidFill>
                <a:latin typeface="Arial"/>
              </a:rPr>
              <a:t>An agent is anything that can be viewed as perceiving its environment through sensors and acting upon that environment through actuators. A rational agent is one that does the right thing — for each possible percept sequence, it selects an action expected to maximize its performance measure, given the evidence provided by the percept sequence and whatever built-in knowledge it has.</a:t>
            </a:r>
          </a:p>
        </p:txBody>
      </p:sp>
      <p:sp>
        <p:nvSpPr>
          <p:cNvPr id="5" name="TextBox 4"/>
          <p:cNvSpPr txBox="1"/>
          <p:nvPr/>
        </p:nvSpPr>
        <p:spPr>
          <a:xfrm>
            <a:off x="670465" y="5854446"/>
            <a:ext cx="9804082" cy="333375"/>
          </a:xfrm>
          <a:prstGeom prst="rect">
            <a:avLst/>
          </a:prstGeom>
          <a:noFill/>
        </p:spPr>
        <p:txBody>
          <a:bodyPr wrap="none" anchor="ctr" lIns="0" tIns="0" rIns="0" bIns="0">
            <a:noAutofit/>
          </a:bodyPr>
          <a:lstStyle/>
          <a:p>
            <a:pPr algn="l">
              <a:lnSpc>
                <a:spcPts val="2304"/>
              </a:lnSpc>
              <a:spcBef>
                <a:spcPts val="0"/>
              </a:spcBef>
              <a:spcAft>
                <a:spcPts val="0"/>
              </a:spcAft>
            </a:pPr>
            <a:r>
              <a:rPr sz="2304" b="1" i="0" u="none">
                <a:solidFill>
                  <a:srgbClr val="3B3535"/>
                </a:solidFill>
                <a:latin typeface="Arial"/>
              </a:rPr>
              <a:t>— Russell &amp; Norvig, Artificial Intelligence: A Modern Approach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callout: an emphasized aside</a:t>
            </a:r>
          </a:p>
        </p:txBody>
      </p:sp>
      <p:sp>
        <p:nvSpPr>
          <p:cNvPr id="5" name="Rounded Rectangle 4"/>
          <p:cNvSpPr/>
          <p:nvPr/>
        </p:nvSpPr>
        <p:spPr>
          <a:xfrm>
            <a:off x="670465" y="2714911"/>
            <a:ext cx="10848975" cy="1868805"/>
          </a:xfrm>
          <a:prstGeom prst="roundRect">
            <a:avLst>
              <a:gd name="adj" fmla="val 13047"/>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3007519"/>
            <a:ext cx="560832" cy="560832"/>
          </a:xfrm>
          <a:prstGeom prst="rect">
            <a:avLst/>
          </a:prstGeom>
        </p:spPr>
      </p:pic>
      <p:sp>
        <p:nvSpPr>
          <p:cNvPr id="7" name="TextBox 6"/>
          <p:cNvSpPr txBox="1"/>
          <p:nvPr/>
        </p:nvSpPr>
        <p:spPr>
          <a:xfrm>
            <a:off x="1816322" y="3036094"/>
            <a:ext cx="9521411" cy="1255014"/>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Think of it this way</a:t>
            </a:r>
            <a:r>
              <a:rPr sz="2496" b="0" i="0" u="none">
                <a:solidFill>
                  <a:srgbClr val="000000"/>
                </a:solidFill>
                <a:latin typeface="Arial"/>
              </a:rPr>
              <a:t> A callout is a single rounded panel for a tip, analogy, or warning — pink for a lateral note, blue for a declarative takeaway.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callout: the blue tone</a:t>
            </a:r>
          </a:p>
        </p:txBody>
      </p:sp>
      <p:sp>
        <p:nvSpPr>
          <p:cNvPr id="5" name="Rounded Rectangle 4"/>
          <p:cNvSpPr/>
          <p:nvPr/>
        </p:nvSpPr>
        <p:spPr>
          <a:xfrm>
            <a:off x="670465" y="2714911"/>
            <a:ext cx="10848975" cy="1868805"/>
          </a:xfrm>
          <a:prstGeom prst="roundRect">
            <a:avLst>
              <a:gd name="adj" fmla="val 13047"/>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3007519"/>
            <a:ext cx="560832" cy="560832"/>
          </a:xfrm>
          <a:prstGeom prst="rect">
            <a:avLst/>
          </a:prstGeom>
        </p:spPr>
      </p:pic>
      <p:sp>
        <p:nvSpPr>
          <p:cNvPr id="7" name="TextBox 6"/>
          <p:cNvSpPr txBox="1"/>
          <p:nvPr/>
        </p:nvSpPr>
        <p:spPr>
          <a:xfrm>
            <a:off x="1816322" y="3036094"/>
            <a:ext cx="9521411" cy="1255014"/>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1F1E1E"/>
                </a:solidFill>
                <a:latin typeface="Arial"/>
              </a:rPr>
              <a:t>The other tone</a:t>
            </a:r>
            <a:r>
              <a:rPr sz="2496" b="0" i="0" u="none">
                <a:solidFill>
                  <a:srgbClr val="1F1E1E"/>
                </a:solidFill>
                <a:latin typeface="Arial"/>
              </a:rPr>
              <a:t> Blue is the declarative takeaway — a conclusion the audience should carry out of the slide. Pink (previous slide) is the lateral note: an aside, analogy, or caution.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single-point: one lead plus one point</a:t>
            </a:r>
          </a:p>
        </p:txBody>
      </p:sp>
      <p:sp>
        <p:nvSpPr>
          <p:cNvPr id="5" name="Rounded Rectangle 4"/>
          <p:cNvSpPr/>
          <p:nvPr/>
        </p:nvSpPr>
        <p:spPr>
          <a:xfrm>
            <a:off x="670465" y="2869216"/>
            <a:ext cx="10848975" cy="1440942"/>
          </a:xfrm>
          <a:prstGeom prst="roundRect">
            <a:avLst>
              <a:gd name="adj" fmla="val 16922"/>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3161824"/>
            <a:ext cx="560832" cy="560832"/>
          </a:xfrm>
          <a:prstGeom prst="rect">
            <a:avLst/>
          </a:prstGeom>
        </p:spPr>
      </p:pic>
      <p:sp>
        <p:nvSpPr>
          <p:cNvPr id="7" name="TextBox 6"/>
          <p:cNvSpPr txBox="1"/>
          <p:nvPr/>
        </p:nvSpPr>
        <p:spPr>
          <a:xfrm>
            <a:off x="1816322" y="3190399"/>
            <a:ext cx="9521411" cy="827151"/>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The rule</a:t>
            </a:r>
            <a:r>
              <a:rPr sz="2496" b="0" i="0" u="none">
                <a:solidFill>
                  <a:srgbClr val="000000"/>
                </a:solidFill>
                <a:latin typeface="Arial"/>
              </a:rPr>
              <a:t> When a slide is a claim plus exactly one supporting beat, give that beat a card — never a lone bullet floating under a title.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226399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03</a:t>
            </a:r>
          </a:p>
        </p:txBody>
      </p:sp>
      <p:sp>
        <p:nvSpPr>
          <p:cNvPr id="17" name="TextBox 16"/>
          <p:cNvSpPr txBox="1"/>
          <p:nvPr/>
        </p:nvSpPr>
        <p:spPr>
          <a:xfrm>
            <a:off x="7689532" y="3760756"/>
            <a:ext cx="3870103"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Enumerations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2 cards, explicit icons, reveal together</a:t>
            </a:r>
          </a:p>
        </p:txBody>
      </p:sp>
      <p:sp>
        <p:nvSpPr>
          <p:cNvPr id="5" name="Rounded Rectangle 4"/>
          <p:cNvSpPr/>
          <p:nvPr/>
        </p:nvSpPr>
        <p:spPr>
          <a:xfrm>
            <a:off x="670465" y="2949226"/>
            <a:ext cx="5290376" cy="2201608"/>
          </a:xfrm>
          <a:prstGeom prst="roundRect">
            <a:avLst>
              <a:gd name="adj" fmla="val 1107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3290411"/>
            <a:ext cx="707041" cy="707041"/>
          </a:xfrm>
          <a:prstGeom prst="rect">
            <a:avLst/>
          </a:prstGeom>
        </p:spPr>
      </p:pic>
      <p:sp>
        <p:nvSpPr>
          <p:cNvPr id="7" name="TextBox 6"/>
          <p:cNvSpPr txBox="1"/>
          <p:nvPr/>
        </p:nvSpPr>
        <p:spPr>
          <a:xfrm>
            <a:off x="1877282" y="3280886"/>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Two is valid</a:t>
            </a:r>
          </a:p>
        </p:txBody>
      </p:sp>
      <p:sp>
        <p:nvSpPr>
          <p:cNvPr id="8" name="TextBox 7"/>
          <p:cNvSpPr txBox="1"/>
          <p:nvPr/>
        </p:nvSpPr>
        <p:spPr>
          <a:xfrm>
            <a:off x="1877282" y="3759232"/>
            <a:ext cx="3866864" cy="1050131"/>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two-item labeled set is a real concept-breakdown, not something to drop to prose.</a:t>
            </a:r>
          </a:p>
        </p:txBody>
      </p:sp>
      <p:sp>
        <p:nvSpPr>
          <p:cNvPr id="9" name="Rounded Rectangle 8"/>
          <p:cNvSpPr/>
          <p:nvPr/>
        </p:nvSpPr>
        <p:spPr>
          <a:xfrm>
            <a:off x="6229064" y="2949226"/>
            <a:ext cx="5290376" cy="2201608"/>
          </a:xfrm>
          <a:prstGeom prst="roundRect">
            <a:avLst>
              <a:gd name="adj" fmla="val 1107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3290411"/>
            <a:ext cx="707041" cy="707041"/>
          </a:xfrm>
          <a:prstGeom prst="rect">
            <a:avLst/>
          </a:prstGeom>
        </p:spPr>
      </p:pic>
      <p:sp>
        <p:nvSpPr>
          <p:cNvPr id="11" name="TextBox 10"/>
          <p:cNvSpPr txBox="1"/>
          <p:nvPr/>
        </p:nvSpPr>
        <p:spPr>
          <a:xfrm>
            <a:off x="7435882" y="3280886"/>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Iconed</a:t>
            </a:r>
          </a:p>
        </p:txBody>
      </p:sp>
      <p:sp>
        <p:nvSpPr>
          <p:cNvPr id="12" name="TextBox 11"/>
          <p:cNvSpPr txBox="1"/>
          <p:nvPr/>
        </p:nvSpPr>
        <p:spPr>
          <a:xfrm>
            <a:off x="7435882" y="3759232"/>
            <a:ext cx="3866864" cy="1050131"/>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Each card still gets its own distinct, content-matched icon beside the label.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3 cards (2 + 1 across the width)</a:t>
            </a:r>
          </a:p>
        </p:txBody>
      </p:sp>
      <p:sp>
        <p:nvSpPr>
          <p:cNvPr id="5" name="Rounded Rectangle 4"/>
          <p:cNvSpPr/>
          <p:nvPr/>
        </p:nvSpPr>
        <p:spPr>
          <a:xfrm>
            <a:off x="670465" y="2445068"/>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786348"/>
            <a:ext cx="707041" cy="707041"/>
          </a:xfrm>
          <a:prstGeom prst="rect">
            <a:avLst/>
          </a:prstGeom>
        </p:spPr>
      </p:pic>
      <p:sp>
        <p:nvSpPr>
          <p:cNvPr id="7" name="TextBox 6"/>
          <p:cNvSpPr txBox="1"/>
          <p:nvPr/>
        </p:nvSpPr>
        <p:spPr>
          <a:xfrm>
            <a:off x="1877282" y="2776823"/>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Unordered</a:t>
            </a:r>
          </a:p>
        </p:txBody>
      </p:sp>
      <p:sp>
        <p:nvSpPr>
          <p:cNvPr id="8" name="TextBox 7"/>
          <p:cNvSpPr txBox="1"/>
          <p:nvPr/>
        </p:nvSpPr>
        <p:spPr>
          <a:xfrm>
            <a:off x="1877282" y="3255169"/>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cards have no sequence; order carries no meaning here.</a:t>
            </a:r>
          </a:p>
        </p:txBody>
      </p:sp>
      <p:sp>
        <p:nvSpPr>
          <p:cNvPr id="9" name="Rounded Rectangle 8"/>
          <p:cNvSpPr/>
          <p:nvPr/>
        </p:nvSpPr>
        <p:spPr>
          <a:xfrm>
            <a:off x="6229064" y="2445068"/>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2786348"/>
            <a:ext cx="707041" cy="707041"/>
          </a:xfrm>
          <a:prstGeom prst="rect">
            <a:avLst/>
          </a:prstGeom>
        </p:spPr>
      </p:pic>
      <p:sp>
        <p:nvSpPr>
          <p:cNvPr id="11" name="TextBox 10"/>
          <p:cNvSpPr txBox="1"/>
          <p:nvPr/>
        </p:nvSpPr>
        <p:spPr>
          <a:xfrm>
            <a:off x="7435882" y="2776823"/>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Short bodies</a:t>
            </a:r>
          </a:p>
        </p:txBody>
      </p:sp>
      <p:sp>
        <p:nvSpPr>
          <p:cNvPr id="12" name="TextBox 11"/>
          <p:cNvSpPr txBox="1"/>
          <p:nvPr/>
        </p:nvSpPr>
        <p:spPr>
          <a:xfrm>
            <a:off x="7435882" y="3255169"/>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Keep each body to a line or two so the grid stays even.</a:t>
            </a:r>
          </a:p>
        </p:txBody>
      </p:sp>
      <p:sp>
        <p:nvSpPr>
          <p:cNvPr id="13" name="Rounded Rectangle 12"/>
          <p:cNvSpPr/>
          <p:nvPr/>
        </p:nvSpPr>
        <p:spPr>
          <a:xfrm>
            <a:off x="670465" y="4558474"/>
            <a:ext cx="10848975" cy="1488758"/>
          </a:xfrm>
          <a:prstGeom prst="roundRect">
            <a:avLst>
              <a:gd name="adj" fmla="val 1637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63073" y="4899755"/>
            <a:ext cx="707041" cy="707041"/>
          </a:xfrm>
          <a:prstGeom prst="rect">
            <a:avLst/>
          </a:prstGeom>
        </p:spPr>
      </p:pic>
      <p:sp>
        <p:nvSpPr>
          <p:cNvPr id="15" name="TextBox 14"/>
          <p:cNvSpPr txBox="1"/>
          <p:nvPr/>
        </p:nvSpPr>
        <p:spPr>
          <a:xfrm>
            <a:off x="1877282" y="4890230"/>
            <a:ext cx="93876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No source image</a:t>
            </a:r>
          </a:p>
        </p:txBody>
      </p:sp>
      <p:sp>
        <p:nvSpPr>
          <p:cNvPr id="16" name="TextBox 15"/>
          <p:cNvSpPr txBox="1"/>
          <p:nvPr/>
        </p:nvSpPr>
        <p:spPr>
          <a:xfrm>
            <a:off x="1877282" y="5368576"/>
            <a:ext cx="9387650" cy="304800"/>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Any picture would route the slide to figures instead.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4 cards (2×2), longer bodies edge case</a:t>
            </a:r>
          </a:p>
        </p:txBody>
      </p:sp>
      <p:sp>
        <p:nvSpPr>
          <p:cNvPr id="5" name="Rounded Rectangle 4"/>
          <p:cNvSpPr/>
          <p:nvPr/>
        </p:nvSpPr>
        <p:spPr>
          <a:xfrm>
            <a:off x="670465" y="2328577"/>
            <a:ext cx="5311140"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17067" y="2616137"/>
            <a:ext cx="595884" cy="595884"/>
          </a:xfrm>
          <a:prstGeom prst="rect">
            <a:avLst/>
          </a:prstGeom>
        </p:spPr>
      </p:pic>
      <p:sp>
        <p:nvSpPr>
          <p:cNvPr id="7" name="TextBox 6"/>
          <p:cNvSpPr txBox="1"/>
          <p:nvPr/>
        </p:nvSpPr>
        <p:spPr>
          <a:xfrm>
            <a:off x="1687449" y="2608136"/>
            <a:ext cx="408565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Capacity</a:t>
            </a:r>
          </a:p>
        </p:txBody>
      </p:sp>
      <p:sp>
        <p:nvSpPr>
          <p:cNvPr id="8" name="TextBox 7"/>
          <p:cNvSpPr txBox="1"/>
          <p:nvPr/>
        </p:nvSpPr>
        <p:spPr>
          <a:xfrm>
            <a:off x="1687449" y="3011234"/>
            <a:ext cx="4127317"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Two through six cards fit; beyond six, split across two slides so nothing has to shrink.</a:t>
            </a:r>
          </a:p>
        </p:txBody>
      </p:sp>
      <p:sp>
        <p:nvSpPr>
          <p:cNvPr id="9" name="Rounded Rectangle 8"/>
          <p:cNvSpPr/>
          <p:nvPr/>
        </p:nvSpPr>
        <p:spPr>
          <a:xfrm>
            <a:off x="6207633" y="2328577"/>
            <a:ext cx="5311330"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454235" y="2616137"/>
            <a:ext cx="595884" cy="595884"/>
          </a:xfrm>
          <a:prstGeom prst="rect">
            <a:avLst/>
          </a:prstGeom>
        </p:spPr>
      </p:pic>
      <p:sp>
        <p:nvSpPr>
          <p:cNvPr id="11" name="TextBox 10"/>
          <p:cNvSpPr txBox="1"/>
          <p:nvPr/>
        </p:nvSpPr>
        <p:spPr>
          <a:xfrm>
            <a:off x="7224617" y="2608136"/>
            <a:ext cx="408584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Wrapping</a:t>
            </a:r>
          </a:p>
        </p:txBody>
      </p:sp>
      <p:sp>
        <p:nvSpPr>
          <p:cNvPr id="12" name="TextBox 11"/>
          <p:cNvSpPr txBox="1"/>
          <p:nvPr/>
        </p:nvSpPr>
        <p:spPr>
          <a:xfrm>
            <a:off x="7224617" y="3011234"/>
            <a:ext cx="4127510"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Longer bodies wrap inside their card, and all four cards hold the same height as a 2×2 grid.</a:t>
            </a:r>
          </a:p>
        </p:txBody>
      </p:sp>
      <p:sp>
        <p:nvSpPr>
          <p:cNvPr id="13" name="Rounded Rectangle 12"/>
          <p:cNvSpPr/>
          <p:nvPr/>
        </p:nvSpPr>
        <p:spPr>
          <a:xfrm>
            <a:off x="670465" y="4409884"/>
            <a:ext cx="5311140"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17067" y="4697444"/>
            <a:ext cx="595884" cy="595884"/>
          </a:xfrm>
          <a:prstGeom prst="rect">
            <a:avLst/>
          </a:prstGeom>
        </p:spPr>
      </p:pic>
      <p:sp>
        <p:nvSpPr>
          <p:cNvPr id="15" name="TextBox 14"/>
          <p:cNvSpPr txBox="1"/>
          <p:nvPr/>
        </p:nvSpPr>
        <p:spPr>
          <a:xfrm>
            <a:off x="1687449" y="4689443"/>
            <a:ext cx="408565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Distinct icons</a:t>
            </a:r>
          </a:p>
        </p:txBody>
      </p:sp>
      <p:sp>
        <p:nvSpPr>
          <p:cNvPr id="16" name="TextBox 15"/>
          <p:cNvSpPr txBox="1"/>
          <p:nvPr/>
        </p:nvSpPr>
        <p:spPr>
          <a:xfrm>
            <a:off x="1687449" y="5092541"/>
            <a:ext cx="4127317"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renderer never repeats an icon within a slide, so four cards means four different glyphs.</a:t>
            </a:r>
          </a:p>
        </p:txBody>
      </p:sp>
      <p:sp>
        <p:nvSpPr>
          <p:cNvPr id="17" name="Rounded Rectangle 16"/>
          <p:cNvSpPr/>
          <p:nvPr/>
        </p:nvSpPr>
        <p:spPr>
          <a:xfrm>
            <a:off x="6207633" y="4409884"/>
            <a:ext cx="5311330"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6454235" y="4697444"/>
            <a:ext cx="595884" cy="595884"/>
          </a:xfrm>
          <a:prstGeom prst="rect">
            <a:avLst/>
          </a:prstGeom>
        </p:spPr>
      </p:pic>
      <p:sp>
        <p:nvSpPr>
          <p:cNvPr id="19" name="TextBox 18"/>
          <p:cNvSpPr txBox="1"/>
          <p:nvPr/>
        </p:nvSpPr>
        <p:spPr>
          <a:xfrm>
            <a:off x="7224617" y="4689443"/>
            <a:ext cx="408584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When to switch</a:t>
            </a:r>
          </a:p>
        </p:txBody>
      </p:sp>
      <p:sp>
        <p:nvSpPr>
          <p:cNvPr id="20" name="TextBox 19"/>
          <p:cNvSpPr txBox="1"/>
          <p:nvPr/>
        </p:nvSpPr>
        <p:spPr>
          <a:xfrm>
            <a:off x="7224617" y="5092541"/>
            <a:ext cx="4127510"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If a body is too long to read comfortably here, move it to content-text, which gives each item prose room.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6 cards (3×2), the dense edge</a:t>
            </a:r>
          </a:p>
        </p:txBody>
      </p:sp>
      <p:sp>
        <p:nvSpPr>
          <p:cNvPr id="5" name="Rounded Rectangle 4"/>
          <p:cNvSpPr/>
          <p:nvPr/>
        </p:nvSpPr>
        <p:spPr>
          <a:xfrm>
            <a:off x="670465" y="2328577"/>
            <a:ext cx="346538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17067" y="2616137"/>
            <a:ext cx="595884" cy="595884"/>
          </a:xfrm>
          <a:prstGeom prst="rect">
            <a:avLst/>
          </a:prstGeom>
        </p:spPr>
      </p:pic>
      <p:sp>
        <p:nvSpPr>
          <p:cNvPr id="7" name="TextBox 6"/>
          <p:cNvSpPr txBox="1"/>
          <p:nvPr/>
        </p:nvSpPr>
        <p:spPr>
          <a:xfrm>
            <a:off x="1687449" y="2608136"/>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Default home</a:t>
            </a:r>
          </a:p>
        </p:txBody>
      </p:sp>
      <p:sp>
        <p:nvSpPr>
          <p:cNvPr id="8" name="TextBox 7"/>
          <p:cNvSpPr txBox="1"/>
          <p:nvPr/>
        </p:nvSpPr>
        <p:spPr>
          <a:xfrm>
            <a:off x="1687449" y="3011234"/>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general case for any labeled set of two or more.</a:t>
            </a:r>
          </a:p>
        </p:txBody>
      </p:sp>
      <p:sp>
        <p:nvSpPr>
          <p:cNvPr id="9" name="Rounded Rectangle 8"/>
          <p:cNvSpPr/>
          <p:nvPr/>
        </p:nvSpPr>
        <p:spPr>
          <a:xfrm>
            <a:off x="4361878" y="2328577"/>
            <a:ext cx="346557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4608481" y="2616137"/>
            <a:ext cx="595884" cy="595884"/>
          </a:xfrm>
          <a:prstGeom prst="rect">
            <a:avLst/>
          </a:prstGeom>
        </p:spPr>
      </p:pic>
      <p:sp>
        <p:nvSpPr>
          <p:cNvPr id="11" name="TextBox 10"/>
          <p:cNvSpPr txBox="1"/>
          <p:nvPr/>
        </p:nvSpPr>
        <p:spPr>
          <a:xfrm>
            <a:off x="5378863" y="2608136"/>
            <a:ext cx="2240090"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Grid</a:t>
            </a:r>
          </a:p>
        </p:txBody>
      </p:sp>
      <p:sp>
        <p:nvSpPr>
          <p:cNvPr id="12" name="TextBox 11"/>
          <p:cNvSpPr txBox="1"/>
          <p:nvPr/>
        </p:nvSpPr>
        <p:spPr>
          <a:xfrm>
            <a:off x="5378863" y="3011234"/>
            <a:ext cx="2254069"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Six cards lay out as a 3×2 grid with uniform gutters.</a:t>
            </a:r>
          </a:p>
        </p:txBody>
      </p:sp>
      <p:sp>
        <p:nvSpPr>
          <p:cNvPr id="13" name="Rounded Rectangle 12"/>
          <p:cNvSpPr/>
          <p:nvPr/>
        </p:nvSpPr>
        <p:spPr>
          <a:xfrm>
            <a:off x="8053388" y="2328577"/>
            <a:ext cx="346538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8299990" y="2616137"/>
            <a:ext cx="595884" cy="595884"/>
          </a:xfrm>
          <a:prstGeom prst="rect">
            <a:avLst/>
          </a:prstGeom>
        </p:spPr>
      </p:pic>
      <p:sp>
        <p:nvSpPr>
          <p:cNvPr id="15" name="TextBox 14"/>
          <p:cNvSpPr txBox="1"/>
          <p:nvPr/>
        </p:nvSpPr>
        <p:spPr>
          <a:xfrm>
            <a:off x="9070467" y="2608136"/>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Icon each</a:t>
            </a:r>
          </a:p>
        </p:txBody>
      </p:sp>
      <p:sp>
        <p:nvSpPr>
          <p:cNvPr id="16" name="TextBox 15"/>
          <p:cNvSpPr txBox="1"/>
          <p:nvPr/>
        </p:nvSpPr>
        <p:spPr>
          <a:xfrm>
            <a:off x="9070467" y="3011234"/>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Six distinct icons, one anchoring every concept.</a:t>
            </a:r>
          </a:p>
        </p:txBody>
      </p:sp>
      <p:sp>
        <p:nvSpPr>
          <p:cNvPr id="17" name="Rounded Rectangle 16"/>
          <p:cNvSpPr/>
          <p:nvPr/>
        </p:nvSpPr>
        <p:spPr>
          <a:xfrm>
            <a:off x="670465" y="4409884"/>
            <a:ext cx="346538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917067" y="4697444"/>
            <a:ext cx="595884" cy="595884"/>
          </a:xfrm>
          <a:prstGeom prst="rect">
            <a:avLst/>
          </a:prstGeom>
        </p:spPr>
      </p:pic>
      <p:sp>
        <p:nvSpPr>
          <p:cNvPr id="19" name="TextBox 18"/>
          <p:cNvSpPr txBox="1"/>
          <p:nvPr/>
        </p:nvSpPr>
        <p:spPr>
          <a:xfrm>
            <a:off x="1687449" y="4689443"/>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Terse</a:t>
            </a:r>
          </a:p>
        </p:txBody>
      </p:sp>
      <p:sp>
        <p:nvSpPr>
          <p:cNvPr id="20" name="TextBox 19"/>
          <p:cNvSpPr txBox="1"/>
          <p:nvPr/>
        </p:nvSpPr>
        <p:spPr>
          <a:xfrm>
            <a:off x="1687449" y="5092541"/>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At six cards, keep every body to a single short line.</a:t>
            </a:r>
          </a:p>
        </p:txBody>
      </p:sp>
      <p:sp>
        <p:nvSpPr>
          <p:cNvPr id="21" name="Rounded Rectangle 20"/>
          <p:cNvSpPr/>
          <p:nvPr/>
        </p:nvSpPr>
        <p:spPr>
          <a:xfrm>
            <a:off x="4361878" y="4409884"/>
            <a:ext cx="346557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6"/>
          <a:stretch>
            <a:fillRect/>
          </a:stretch>
        </p:blipFill>
        <p:spPr>
          <a:xfrm>
            <a:off x="4608481" y="4697444"/>
            <a:ext cx="595884" cy="595884"/>
          </a:xfrm>
          <a:prstGeom prst="rect">
            <a:avLst/>
          </a:prstGeom>
        </p:spPr>
      </p:pic>
      <p:sp>
        <p:nvSpPr>
          <p:cNvPr id="23" name="TextBox 22"/>
          <p:cNvSpPr txBox="1"/>
          <p:nvPr/>
        </p:nvSpPr>
        <p:spPr>
          <a:xfrm>
            <a:off x="5378863" y="4689443"/>
            <a:ext cx="2240090"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Split point</a:t>
            </a:r>
          </a:p>
        </p:txBody>
      </p:sp>
      <p:sp>
        <p:nvSpPr>
          <p:cNvPr id="24" name="TextBox 23"/>
          <p:cNvSpPr txBox="1"/>
          <p:nvPr/>
        </p:nvSpPr>
        <p:spPr>
          <a:xfrm>
            <a:off x="5378863" y="5092541"/>
            <a:ext cx="2254069"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Need more than six? Split the set across two slides.</a:t>
            </a:r>
          </a:p>
        </p:txBody>
      </p:sp>
      <p:sp>
        <p:nvSpPr>
          <p:cNvPr id="25" name="Rounded Rectangle 24"/>
          <p:cNvSpPr/>
          <p:nvPr/>
        </p:nvSpPr>
        <p:spPr>
          <a:xfrm>
            <a:off x="8053388" y="4409884"/>
            <a:ext cx="346538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6" name="Picture 25" descr="image.png"/>
          <p:cNvPicPr>
            <a:picLocks noChangeAspect="1"/>
          </p:cNvPicPr>
          <p:nvPr/>
        </p:nvPicPr>
        <p:blipFill>
          <a:blip r:embed="rId7"/>
          <a:stretch>
            <a:fillRect/>
          </a:stretch>
        </p:blipFill>
        <p:spPr>
          <a:xfrm>
            <a:off x="8299990" y="4697444"/>
            <a:ext cx="595884" cy="595884"/>
          </a:xfrm>
          <a:prstGeom prst="rect">
            <a:avLst/>
          </a:prstGeom>
        </p:spPr>
      </p:pic>
      <p:sp>
        <p:nvSpPr>
          <p:cNvPr id="27" name="TextBox 26"/>
          <p:cNvSpPr txBox="1"/>
          <p:nvPr/>
        </p:nvSpPr>
        <p:spPr>
          <a:xfrm>
            <a:off x="9070467" y="4689443"/>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Still cards</a:t>
            </a:r>
          </a:p>
        </p:txBody>
      </p:sp>
      <p:sp>
        <p:nvSpPr>
          <p:cNvPr id="28" name="TextBox 27"/>
          <p:cNvSpPr txBox="1"/>
          <p:nvPr/>
        </p:nvSpPr>
        <p:spPr>
          <a:xfrm>
            <a:off x="9070467" y="5092541"/>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Even this dense, it is cards — never a bullet list.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3 concepts, one row of three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editorial format keeps the icon, the label and the body, and drops the panel around them:</a:t>
            </a:r>
          </a:p>
        </p:txBody>
      </p:sp>
      <p:sp>
        <p:nvSpPr>
          <p:cNvPr id="6" name="Rectangle 5"/>
          <p:cNvSpPr/>
          <p:nvPr/>
        </p:nvSpPr>
        <p:spPr>
          <a:xfrm>
            <a:off x="670465" y="3424238"/>
            <a:ext cx="337242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424238"/>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3616547"/>
            <a:ext cx="377857" cy="377857"/>
          </a:xfrm>
          <a:prstGeom prst="rect">
            <a:avLst/>
          </a:prstGeom>
        </p:spPr>
      </p:pic>
      <p:sp>
        <p:nvSpPr>
          <p:cNvPr id="9" name="TextBox 8"/>
          <p:cNvSpPr txBox="1"/>
          <p:nvPr/>
        </p:nvSpPr>
        <p:spPr>
          <a:xfrm>
            <a:off x="1218914" y="3616547"/>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No card</a:t>
            </a:r>
          </a:p>
        </p:txBody>
      </p:sp>
      <p:sp>
        <p:nvSpPr>
          <p:cNvPr id="10" name="TextBox 9"/>
          <p:cNvSpPr txBox="1"/>
          <p:nvPr/>
        </p:nvSpPr>
        <p:spPr>
          <a:xfrm>
            <a:off x="1218914" y="4083844"/>
            <a:ext cx="2885382"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No fill, no radius, no wide padding — the concept sits on the canvas.</a:t>
            </a:r>
          </a:p>
        </p:txBody>
      </p:sp>
      <p:sp>
        <p:nvSpPr>
          <p:cNvPr id="11" name="Rectangle 10"/>
          <p:cNvSpPr/>
          <p:nvPr/>
        </p:nvSpPr>
        <p:spPr>
          <a:xfrm>
            <a:off x="4408551" y="3424238"/>
            <a:ext cx="337261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8551" y="3424238"/>
            <a:ext cx="337261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8551" y="3616547"/>
            <a:ext cx="377857" cy="377857"/>
          </a:xfrm>
          <a:prstGeom prst="rect">
            <a:avLst/>
          </a:prstGeom>
        </p:spPr>
      </p:pic>
      <p:sp>
        <p:nvSpPr>
          <p:cNvPr id="14" name="TextBox 13"/>
          <p:cNvSpPr txBox="1"/>
          <p:nvPr/>
        </p:nvSpPr>
        <p:spPr>
          <a:xfrm>
            <a:off x="4957000" y="3616547"/>
            <a:ext cx="286226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Small icon</a:t>
            </a:r>
          </a:p>
        </p:txBody>
      </p:sp>
      <p:sp>
        <p:nvSpPr>
          <p:cNvPr id="15" name="TextBox 14"/>
          <p:cNvSpPr txBox="1"/>
          <p:nvPr/>
        </p:nvSpPr>
        <p:spPr>
          <a:xfrm>
            <a:off x="4957000" y="4083844"/>
            <a:ext cx="2885575"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The glyph is a reference mark beside the label, not the anchor.</a:t>
            </a:r>
          </a:p>
        </p:txBody>
      </p:sp>
      <p:sp>
        <p:nvSpPr>
          <p:cNvPr id="16" name="Rectangle 15"/>
          <p:cNvSpPr/>
          <p:nvPr/>
        </p:nvSpPr>
        <p:spPr>
          <a:xfrm>
            <a:off x="8146828" y="3424238"/>
            <a:ext cx="337242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46828" y="3424238"/>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46828" y="3616547"/>
            <a:ext cx="377857" cy="377857"/>
          </a:xfrm>
          <a:prstGeom prst="rect">
            <a:avLst/>
          </a:prstGeom>
        </p:spPr>
      </p:pic>
      <p:sp>
        <p:nvSpPr>
          <p:cNvPr id="19" name="TextBox 18"/>
          <p:cNvSpPr txBox="1"/>
          <p:nvPr/>
        </p:nvSpPr>
        <p:spPr>
          <a:xfrm>
            <a:off x="8695277" y="3616547"/>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One row</a:t>
            </a:r>
          </a:p>
        </p:txBody>
      </p:sp>
      <p:sp>
        <p:nvSpPr>
          <p:cNvPr id="20" name="TextBox 19"/>
          <p:cNvSpPr txBox="1"/>
          <p:nvPr/>
        </p:nvSpPr>
        <p:spPr>
          <a:xfrm>
            <a:off x="8695277" y="4083844"/>
            <a:ext cx="2885382"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Three concepts share a single row instead of two plus one wide.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677543"/>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4 concepts, a 2×2 grid</a:t>
            </a:r>
          </a:p>
        </p:txBody>
      </p:sp>
      <p:sp>
        <p:nvSpPr>
          <p:cNvPr id="5" name="TextBox 4"/>
          <p:cNvSpPr txBox="1"/>
          <p:nvPr/>
        </p:nvSpPr>
        <p:spPr>
          <a:xfrm>
            <a:off x="670465" y="2187607"/>
            <a:ext cx="11032887" cy="469582"/>
          </a:xfrm>
          <a:prstGeom prst="rect">
            <a:avLst/>
          </a:prstGeom>
          <a:noFill/>
        </p:spPr>
        <p:txBody>
          <a:bodyPr wrap="square" anchor="ctr" lIns="0" tIns="0" rIns="0" bIns="0">
            <a:noAutofit/>
          </a:bodyPr>
          <a:lstStyle/>
          <a:p>
            <a:pPr algn="l">
              <a:lnSpc>
                <a:spcPts val="1748"/>
              </a:lnSpc>
              <a:spcBef>
                <a:spcPts val="0"/>
              </a:spcBef>
              <a:spcAft>
                <a:spcPts val="0"/>
              </a:spcAft>
            </a:pPr>
            <a:r>
              <a:rPr sz="1748" b="1" i="0" u="none">
                <a:solidFill>
                  <a:srgbClr val="3B3535"/>
                </a:solidFill>
                <a:latin typeface="Arial"/>
              </a:rPr>
              <a:t>Four concepts fill two columns over two rows — the same rhythm the card grid uses, without the boxes:</a:t>
            </a:r>
          </a:p>
        </p:txBody>
      </p:sp>
      <p:sp>
        <p:nvSpPr>
          <p:cNvPr id="6" name="Rectangle 5"/>
          <p:cNvSpPr/>
          <p:nvPr/>
        </p:nvSpPr>
        <p:spPr>
          <a:xfrm>
            <a:off x="670465" y="3070193"/>
            <a:ext cx="5241608"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070193"/>
            <a:ext cx="524160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3262503"/>
            <a:ext cx="377857" cy="377857"/>
          </a:xfrm>
          <a:prstGeom prst="rect">
            <a:avLst/>
          </a:prstGeom>
        </p:spPr>
      </p:pic>
      <p:sp>
        <p:nvSpPr>
          <p:cNvPr id="9" name="TextBox 8"/>
          <p:cNvSpPr txBox="1"/>
          <p:nvPr/>
        </p:nvSpPr>
        <p:spPr>
          <a:xfrm>
            <a:off x="1218914" y="3262503"/>
            <a:ext cx="4731258"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Two columns</a:t>
            </a:r>
          </a:p>
        </p:txBody>
      </p:sp>
      <p:sp>
        <p:nvSpPr>
          <p:cNvPr id="10" name="TextBox 9"/>
          <p:cNvSpPr txBox="1"/>
          <p:nvPr/>
        </p:nvSpPr>
        <p:spPr>
          <a:xfrm>
            <a:off x="1218914" y="3729800"/>
            <a:ext cx="4782605"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Each concept takes half the useful width, so the measure stays comfortable.</a:t>
            </a:r>
          </a:p>
        </p:txBody>
      </p:sp>
      <p:sp>
        <p:nvSpPr>
          <p:cNvPr id="11" name="Rectangle 10"/>
          <p:cNvSpPr/>
          <p:nvPr/>
        </p:nvSpPr>
        <p:spPr>
          <a:xfrm>
            <a:off x="6277737" y="3070193"/>
            <a:ext cx="5241703"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6277737" y="3070193"/>
            <a:ext cx="524170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6277737" y="3262503"/>
            <a:ext cx="377857" cy="377857"/>
          </a:xfrm>
          <a:prstGeom prst="rect">
            <a:avLst/>
          </a:prstGeom>
        </p:spPr>
      </p:pic>
      <p:sp>
        <p:nvSpPr>
          <p:cNvPr id="14" name="TextBox 13"/>
          <p:cNvSpPr txBox="1"/>
          <p:nvPr/>
        </p:nvSpPr>
        <p:spPr>
          <a:xfrm>
            <a:off x="6826186" y="3262503"/>
            <a:ext cx="4731353"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Aligned labels</a:t>
            </a:r>
          </a:p>
        </p:txBody>
      </p:sp>
      <p:sp>
        <p:nvSpPr>
          <p:cNvPr id="15" name="TextBox 14"/>
          <p:cNvSpPr txBox="1"/>
          <p:nvPr/>
        </p:nvSpPr>
        <p:spPr>
          <a:xfrm>
            <a:off x="6826186" y="3729800"/>
            <a:ext cx="4782702"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Labels in a row share a baseline; bodies indent to the label's left edge.</a:t>
            </a:r>
          </a:p>
        </p:txBody>
      </p:sp>
      <p:sp>
        <p:nvSpPr>
          <p:cNvPr id="16" name="Rectangle 15"/>
          <p:cNvSpPr/>
          <p:nvPr/>
        </p:nvSpPr>
        <p:spPr>
          <a:xfrm>
            <a:off x="670465" y="4773835"/>
            <a:ext cx="5241608"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70465" y="4773835"/>
            <a:ext cx="524160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70465" y="4966144"/>
            <a:ext cx="377857" cy="377857"/>
          </a:xfrm>
          <a:prstGeom prst="rect">
            <a:avLst/>
          </a:prstGeom>
        </p:spPr>
      </p:pic>
      <p:sp>
        <p:nvSpPr>
          <p:cNvPr id="19" name="TextBox 18"/>
          <p:cNvSpPr txBox="1"/>
          <p:nvPr/>
        </p:nvSpPr>
        <p:spPr>
          <a:xfrm>
            <a:off x="1218914" y="4966144"/>
            <a:ext cx="4731258"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A hairline, not a box</a:t>
            </a:r>
          </a:p>
        </p:txBody>
      </p:sp>
      <p:sp>
        <p:nvSpPr>
          <p:cNvPr id="20" name="TextBox 19"/>
          <p:cNvSpPr txBox="1"/>
          <p:nvPr/>
        </p:nvSpPr>
        <p:spPr>
          <a:xfrm>
            <a:off x="1218914" y="5433441"/>
            <a:ext cx="4782605"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One thin rule marks the row; white space does the rest of the separating.</a:t>
            </a:r>
          </a:p>
        </p:txBody>
      </p:sp>
      <p:sp>
        <p:nvSpPr>
          <p:cNvPr id="21" name="Rectangle 20"/>
          <p:cNvSpPr/>
          <p:nvPr/>
        </p:nvSpPr>
        <p:spPr>
          <a:xfrm>
            <a:off x="6277737" y="4773835"/>
            <a:ext cx="5241703"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277737" y="4773835"/>
            <a:ext cx="524170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6277737" y="4966144"/>
            <a:ext cx="377857" cy="377857"/>
          </a:xfrm>
          <a:prstGeom prst="rect">
            <a:avLst/>
          </a:prstGeom>
        </p:spPr>
      </p:pic>
      <p:sp>
        <p:nvSpPr>
          <p:cNvPr id="24" name="TextBox 23"/>
          <p:cNvSpPr txBox="1"/>
          <p:nvPr/>
        </p:nvSpPr>
        <p:spPr>
          <a:xfrm>
            <a:off x="6826186" y="4966144"/>
            <a:ext cx="4731353"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Opt-in</a:t>
            </a:r>
          </a:p>
        </p:txBody>
      </p:sp>
      <p:sp>
        <p:nvSpPr>
          <p:cNvPr id="25" name="TextBox 24"/>
          <p:cNvSpPr txBox="1"/>
          <p:nvPr/>
        </p:nvSpPr>
        <p:spPr>
          <a:xfrm>
            <a:off x="6826186" y="5433441"/>
            <a:ext cx="4782702"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Set format editorial; leaving it off keeps the card grid exactly as it was.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5 concepts, three then two centered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short last row keeps the width of the row above and centers, instead of stretching to fill:</a:t>
            </a:r>
          </a:p>
        </p:txBody>
      </p:sp>
      <p:sp>
        <p:nvSpPr>
          <p:cNvPr id="6" name="Rectangle 5"/>
          <p:cNvSpPr/>
          <p:nvPr/>
        </p:nvSpPr>
        <p:spPr>
          <a:xfrm>
            <a:off x="670465"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30652"/>
            <a:ext cx="364046" cy="364046"/>
          </a:xfrm>
          <a:prstGeom prst="rect">
            <a:avLst/>
          </a:prstGeom>
        </p:spPr>
      </p:pic>
      <p:sp>
        <p:nvSpPr>
          <p:cNvPr id="9" name="TextBox 8"/>
          <p:cNvSpPr txBox="1"/>
          <p:nvPr/>
        </p:nvSpPr>
        <p:spPr>
          <a:xfrm>
            <a:off x="1198816"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Three up top</a:t>
            </a:r>
          </a:p>
        </p:txBody>
      </p:sp>
      <p:sp>
        <p:nvSpPr>
          <p:cNvPr id="10" name="TextBox 9"/>
          <p:cNvSpPr txBox="1"/>
          <p:nvPr/>
        </p:nvSpPr>
        <p:spPr>
          <a:xfrm>
            <a:off x="1198816"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first row sets the column rhythm.</a:t>
            </a:r>
          </a:p>
        </p:txBody>
      </p:sp>
      <p:sp>
        <p:nvSpPr>
          <p:cNvPr id="11" name="Rectangle 10"/>
          <p:cNvSpPr/>
          <p:nvPr/>
        </p:nvSpPr>
        <p:spPr>
          <a:xfrm>
            <a:off x="4403979"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3979"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3979" y="2930652"/>
            <a:ext cx="364046" cy="364046"/>
          </a:xfrm>
          <a:prstGeom prst="rect">
            <a:avLst/>
          </a:prstGeom>
        </p:spPr>
      </p:pic>
      <p:sp>
        <p:nvSpPr>
          <p:cNvPr id="14" name="TextBox 13"/>
          <p:cNvSpPr txBox="1"/>
          <p:nvPr/>
        </p:nvSpPr>
        <p:spPr>
          <a:xfrm>
            <a:off x="4932331"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Same width</a:t>
            </a:r>
          </a:p>
        </p:txBody>
      </p:sp>
      <p:sp>
        <p:nvSpPr>
          <p:cNvPr id="15" name="TextBox 14"/>
          <p:cNvSpPr txBox="1"/>
          <p:nvPr/>
        </p:nvSpPr>
        <p:spPr>
          <a:xfrm>
            <a:off x="4932331" y="3380804"/>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Row two keeps that item width, so every measure matches.</a:t>
            </a:r>
          </a:p>
        </p:txBody>
      </p:sp>
      <p:sp>
        <p:nvSpPr>
          <p:cNvPr id="16" name="Rectangle 15"/>
          <p:cNvSpPr/>
          <p:nvPr/>
        </p:nvSpPr>
        <p:spPr>
          <a:xfrm>
            <a:off x="8137588"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37588"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37588" y="2930652"/>
            <a:ext cx="364046" cy="364046"/>
          </a:xfrm>
          <a:prstGeom prst="rect">
            <a:avLst/>
          </a:prstGeom>
        </p:spPr>
      </p:pic>
      <p:sp>
        <p:nvSpPr>
          <p:cNvPr id="19" name="TextBox 18"/>
          <p:cNvSpPr txBox="1"/>
          <p:nvPr/>
        </p:nvSpPr>
        <p:spPr>
          <a:xfrm>
            <a:off x="8665845"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Centered</a:t>
            </a:r>
          </a:p>
        </p:txBody>
      </p:sp>
      <p:sp>
        <p:nvSpPr>
          <p:cNvPr id="20" name="TextBox 19"/>
          <p:cNvSpPr txBox="1"/>
          <p:nvPr/>
        </p:nvSpPr>
        <p:spPr>
          <a:xfrm>
            <a:off x="8665845"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leftover width splits evenly on both sides.</a:t>
            </a:r>
          </a:p>
        </p:txBody>
      </p:sp>
      <p:sp>
        <p:nvSpPr>
          <p:cNvPr id="21" name="Rectangle 20"/>
          <p:cNvSpPr/>
          <p:nvPr/>
        </p:nvSpPr>
        <p:spPr>
          <a:xfrm>
            <a:off x="2537270"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2537270"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2537270" y="4888706"/>
            <a:ext cx="364046" cy="364046"/>
          </a:xfrm>
          <a:prstGeom prst="rect">
            <a:avLst/>
          </a:prstGeom>
        </p:spPr>
      </p:pic>
      <p:sp>
        <p:nvSpPr>
          <p:cNvPr id="24" name="TextBox 23"/>
          <p:cNvSpPr txBox="1"/>
          <p:nvPr/>
        </p:nvSpPr>
        <p:spPr>
          <a:xfrm>
            <a:off x="3065526"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Never one wide</a:t>
            </a:r>
          </a:p>
        </p:txBody>
      </p:sp>
      <p:sp>
        <p:nvSpPr>
          <p:cNvPr id="25" name="TextBox 24"/>
          <p:cNvSpPr txBox="1"/>
          <p:nvPr/>
        </p:nvSpPr>
        <p:spPr>
          <a:xfrm>
            <a:off x="3065526" y="5338953"/>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No item ever spans a whole row on its own.</a:t>
            </a:r>
          </a:p>
        </p:txBody>
      </p:sp>
      <p:sp>
        <p:nvSpPr>
          <p:cNvPr id="26" name="Rectangle 25"/>
          <p:cNvSpPr/>
          <p:nvPr/>
        </p:nvSpPr>
        <p:spPr>
          <a:xfrm>
            <a:off x="6270784"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6270784"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6270784" y="4888706"/>
            <a:ext cx="364046" cy="364046"/>
          </a:xfrm>
          <a:prstGeom prst="rect">
            <a:avLst/>
          </a:prstGeom>
        </p:spPr>
      </p:pic>
      <p:sp>
        <p:nvSpPr>
          <p:cNvPr id="29" name="TextBox 28"/>
          <p:cNvSpPr txBox="1"/>
          <p:nvPr/>
        </p:nvSpPr>
        <p:spPr>
          <a:xfrm>
            <a:off x="6799040"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Room to breathe</a:t>
            </a:r>
          </a:p>
        </p:txBody>
      </p:sp>
      <p:sp>
        <p:nvSpPr>
          <p:cNvPr id="30" name="TextBox 29"/>
          <p:cNvSpPr txBox="1"/>
          <p:nvPr/>
        </p:nvSpPr>
        <p:spPr>
          <a:xfrm>
            <a:off x="6799040"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unused half-columns read as white space, not as a gap.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6 concepts, a 3×2 grid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Six concepts are the format's comfortable middle — three columns over two rows:</a:t>
            </a:r>
          </a:p>
        </p:txBody>
      </p:sp>
      <p:sp>
        <p:nvSpPr>
          <p:cNvPr id="6" name="Rectangle 5"/>
          <p:cNvSpPr/>
          <p:nvPr/>
        </p:nvSpPr>
        <p:spPr>
          <a:xfrm>
            <a:off x="670465"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30652"/>
            <a:ext cx="364046" cy="364046"/>
          </a:xfrm>
          <a:prstGeom prst="rect">
            <a:avLst/>
          </a:prstGeom>
        </p:spPr>
      </p:pic>
      <p:sp>
        <p:nvSpPr>
          <p:cNvPr id="9" name="TextBox 8"/>
          <p:cNvSpPr txBox="1"/>
          <p:nvPr/>
        </p:nvSpPr>
        <p:spPr>
          <a:xfrm>
            <a:off x="1198816"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Three columns</a:t>
            </a:r>
          </a:p>
        </p:txBody>
      </p:sp>
      <p:sp>
        <p:nvSpPr>
          <p:cNvPr id="10" name="TextBox 9"/>
          <p:cNvSpPr txBox="1"/>
          <p:nvPr/>
        </p:nvSpPr>
        <p:spPr>
          <a:xfrm>
            <a:off x="1198816" y="3380804"/>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same span as the three-concept row, twice over.</a:t>
            </a:r>
          </a:p>
        </p:txBody>
      </p:sp>
      <p:sp>
        <p:nvSpPr>
          <p:cNvPr id="11" name="Rectangle 10"/>
          <p:cNvSpPr/>
          <p:nvPr/>
        </p:nvSpPr>
        <p:spPr>
          <a:xfrm>
            <a:off x="4403979"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3979"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3979" y="2930652"/>
            <a:ext cx="364046" cy="364046"/>
          </a:xfrm>
          <a:prstGeom prst="rect">
            <a:avLst/>
          </a:prstGeom>
        </p:spPr>
      </p:pic>
      <p:sp>
        <p:nvSpPr>
          <p:cNvPr id="14" name="TextBox 13"/>
          <p:cNvSpPr txBox="1"/>
          <p:nvPr/>
        </p:nvSpPr>
        <p:spPr>
          <a:xfrm>
            <a:off x="4932331"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Even density</a:t>
            </a:r>
          </a:p>
        </p:txBody>
      </p:sp>
      <p:sp>
        <p:nvSpPr>
          <p:cNvPr id="15" name="TextBox 14"/>
          <p:cNvSpPr txBox="1"/>
          <p:nvPr/>
        </p:nvSpPr>
        <p:spPr>
          <a:xfrm>
            <a:off x="4932331"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Six flat blocks weigh less than six cards.</a:t>
            </a:r>
          </a:p>
        </p:txBody>
      </p:sp>
      <p:sp>
        <p:nvSpPr>
          <p:cNvPr id="16" name="Rectangle 15"/>
          <p:cNvSpPr/>
          <p:nvPr/>
        </p:nvSpPr>
        <p:spPr>
          <a:xfrm>
            <a:off x="8137588"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37588"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37588" y="2930652"/>
            <a:ext cx="364046" cy="364046"/>
          </a:xfrm>
          <a:prstGeom prst="rect">
            <a:avLst/>
          </a:prstGeom>
        </p:spPr>
      </p:pic>
      <p:sp>
        <p:nvSpPr>
          <p:cNvPr id="19" name="TextBox 18"/>
          <p:cNvSpPr txBox="1"/>
          <p:nvPr/>
        </p:nvSpPr>
        <p:spPr>
          <a:xfrm>
            <a:off x="8665845"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Rows read across</a:t>
            </a:r>
          </a:p>
        </p:txBody>
      </p:sp>
      <p:sp>
        <p:nvSpPr>
          <p:cNvPr id="20" name="TextBox 19"/>
          <p:cNvSpPr txBox="1"/>
          <p:nvPr/>
        </p:nvSpPr>
        <p:spPr>
          <a:xfrm>
            <a:off x="8665845"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Reading order stays left to right, top to bottom.</a:t>
            </a:r>
          </a:p>
        </p:txBody>
      </p:sp>
      <p:sp>
        <p:nvSpPr>
          <p:cNvPr id="21" name="Rectangle 20"/>
          <p:cNvSpPr/>
          <p:nvPr/>
        </p:nvSpPr>
        <p:spPr>
          <a:xfrm>
            <a:off x="670465"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670465" y="4888706"/>
            <a:ext cx="364046" cy="364046"/>
          </a:xfrm>
          <a:prstGeom prst="rect">
            <a:avLst/>
          </a:prstGeom>
        </p:spPr>
      </p:pic>
      <p:sp>
        <p:nvSpPr>
          <p:cNvPr id="24" name="TextBox 23"/>
          <p:cNvSpPr txBox="1"/>
          <p:nvPr/>
        </p:nvSpPr>
        <p:spPr>
          <a:xfrm>
            <a:off x="1198816"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Short bodies</a:t>
            </a:r>
          </a:p>
        </p:txBody>
      </p:sp>
      <p:sp>
        <p:nvSpPr>
          <p:cNvPr id="25" name="TextBox 24"/>
          <p:cNvSpPr txBox="1"/>
          <p:nvPr/>
        </p:nvSpPr>
        <p:spPr>
          <a:xfrm>
            <a:off x="1198816"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Around a hundred characters each at this width.</a:t>
            </a:r>
          </a:p>
        </p:txBody>
      </p:sp>
      <p:sp>
        <p:nvSpPr>
          <p:cNvPr id="26" name="Rectangle 25"/>
          <p:cNvSpPr/>
          <p:nvPr/>
        </p:nvSpPr>
        <p:spPr>
          <a:xfrm>
            <a:off x="4403979"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4403979"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4403979" y="4888706"/>
            <a:ext cx="364046" cy="364046"/>
          </a:xfrm>
          <a:prstGeom prst="rect">
            <a:avLst/>
          </a:prstGeom>
        </p:spPr>
      </p:pic>
      <p:sp>
        <p:nvSpPr>
          <p:cNvPr id="29" name="TextBox 28"/>
          <p:cNvSpPr txBox="1"/>
          <p:nvPr/>
        </p:nvSpPr>
        <p:spPr>
          <a:xfrm>
            <a:off x="4932331"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Longer prose warns</a:t>
            </a:r>
          </a:p>
        </p:txBody>
      </p:sp>
      <p:sp>
        <p:nvSpPr>
          <p:cNvPr id="30" name="TextBox 29"/>
          <p:cNvSpPr txBox="1"/>
          <p:nvPr/>
        </p:nvSpPr>
        <p:spPr>
          <a:xfrm>
            <a:off x="4932331" y="5338953"/>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build says so instead of shrinking the type.</a:t>
            </a:r>
          </a:p>
        </p:txBody>
      </p:sp>
      <p:sp>
        <p:nvSpPr>
          <p:cNvPr id="31" name="Rectangle 30"/>
          <p:cNvSpPr/>
          <p:nvPr/>
        </p:nvSpPr>
        <p:spPr>
          <a:xfrm>
            <a:off x="8137588"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8137588"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8137588" y="4888706"/>
            <a:ext cx="364046" cy="364046"/>
          </a:xfrm>
          <a:prstGeom prst="rect">
            <a:avLst/>
          </a:prstGeom>
        </p:spPr>
      </p:pic>
      <p:sp>
        <p:nvSpPr>
          <p:cNvPr id="34" name="TextBox 33"/>
          <p:cNvSpPr txBox="1"/>
          <p:nvPr/>
        </p:nvSpPr>
        <p:spPr>
          <a:xfrm>
            <a:off x="8665845"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Or use content-text</a:t>
            </a:r>
          </a:p>
        </p:txBody>
      </p:sp>
      <p:sp>
        <p:nvSpPr>
          <p:cNvPr id="35" name="TextBox 34"/>
          <p:cNvSpPr txBox="1"/>
          <p:nvPr/>
        </p:nvSpPr>
        <p:spPr>
          <a:xfrm>
            <a:off x="8665845"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Prose that needs a full-width column is content-text, not a labeled set.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7 concepts, four then three centered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Seven is the count the card grid handled worst — 3+3+1 left a single item stranded on its own row:</a:t>
            </a:r>
          </a:p>
        </p:txBody>
      </p:sp>
      <p:sp>
        <p:nvSpPr>
          <p:cNvPr id="6" name="Rectangle 5"/>
          <p:cNvSpPr/>
          <p:nvPr/>
        </p:nvSpPr>
        <p:spPr>
          <a:xfrm>
            <a:off x="670465" y="2800064"/>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800064"/>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46749"/>
            <a:ext cx="298228" cy="298228"/>
          </a:xfrm>
          <a:prstGeom prst="rect">
            <a:avLst/>
          </a:prstGeom>
        </p:spPr>
      </p:pic>
      <p:sp>
        <p:nvSpPr>
          <p:cNvPr id="9" name="TextBox 8"/>
          <p:cNvSpPr txBox="1"/>
          <p:nvPr/>
        </p:nvSpPr>
        <p:spPr>
          <a:xfrm>
            <a:off x="1094994" y="2946749"/>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Four up top</a:t>
            </a:r>
          </a:p>
        </p:txBody>
      </p:sp>
      <p:sp>
        <p:nvSpPr>
          <p:cNvPr id="10" name="TextBox 9"/>
          <p:cNvSpPr txBox="1"/>
          <p:nvPr/>
        </p:nvSpPr>
        <p:spPr>
          <a:xfrm>
            <a:off x="1094994" y="3320224"/>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Seven and eight concepts move to four columns.</a:t>
            </a:r>
          </a:p>
        </p:txBody>
      </p:sp>
      <p:sp>
        <p:nvSpPr>
          <p:cNvPr id="11" name="Rectangle 10"/>
          <p:cNvSpPr/>
          <p:nvPr/>
        </p:nvSpPr>
        <p:spPr>
          <a:xfrm>
            <a:off x="3468814" y="2800064"/>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3468814" y="2800064"/>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3468814" y="2946749"/>
            <a:ext cx="298228" cy="298228"/>
          </a:xfrm>
          <a:prstGeom prst="rect">
            <a:avLst/>
          </a:prstGeom>
        </p:spPr>
      </p:pic>
      <p:sp>
        <p:nvSpPr>
          <p:cNvPr id="14" name="TextBox 13"/>
          <p:cNvSpPr txBox="1"/>
          <p:nvPr/>
        </p:nvSpPr>
        <p:spPr>
          <a:xfrm>
            <a:off x="3893248" y="2946749"/>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Type steps down</a:t>
            </a:r>
          </a:p>
        </p:txBody>
      </p:sp>
      <p:sp>
        <p:nvSpPr>
          <p:cNvPr id="15" name="TextBox 14"/>
          <p:cNvSpPr txBox="1"/>
          <p:nvPr/>
        </p:nvSpPr>
        <p:spPr>
          <a:xfrm>
            <a:off x="3893248" y="3320224"/>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Icon and text shrink one notch at four across.</a:t>
            </a:r>
          </a:p>
        </p:txBody>
      </p:sp>
      <p:sp>
        <p:nvSpPr>
          <p:cNvPr id="16" name="Rectangle 15"/>
          <p:cNvSpPr/>
          <p:nvPr/>
        </p:nvSpPr>
        <p:spPr>
          <a:xfrm>
            <a:off x="6267164" y="2800064"/>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267164" y="2800064"/>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267164" y="2946749"/>
            <a:ext cx="298228" cy="298228"/>
          </a:xfrm>
          <a:prstGeom prst="rect">
            <a:avLst/>
          </a:prstGeom>
        </p:spPr>
      </p:pic>
      <p:sp>
        <p:nvSpPr>
          <p:cNvPr id="19" name="TextBox 18"/>
          <p:cNvSpPr txBox="1"/>
          <p:nvPr/>
        </p:nvSpPr>
        <p:spPr>
          <a:xfrm>
            <a:off x="6691598" y="2946749"/>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Three centered</a:t>
            </a:r>
          </a:p>
        </p:txBody>
      </p:sp>
      <p:sp>
        <p:nvSpPr>
          <p:cNvPr id="20" name="TextBox 19"/>
          <p:cNvSpPr txBox="1"/>
          <p:nvPr/>
        </p:nvSpPr>
        <p:spPr>
          <a:xfrm>
            <a:off x="6691598" y="3320224"/>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The second row centers on the same grid.</a:t>
            </a:r>
          </a:p>
        </p:txBody>
      </p:sp>
      <p:sp>
        <p:nvSpPr>
          <p:cNvPr id="21" name="Rectangle 20"/>
          <p:cNvSpPr/>
          <p:nvPr/>
        </p:nvSpPr>
        <p:spPr>
          <a:xfrm>
            <a:off x="9065514" y="2800064"/>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065514" y="2800064"/>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9065514" y="2946749"/>
            <a:ext cx="298228" cy="298228"/>
          </a:xfrm>
          <a:prstGeom prst="rect">
            <a:avLst/>
          </a:prstGeom>
        </p:spPr>
      </p:pic>
      <p:sp>
        <p:nvSpPr>
          <p:cNvPr id="24" name="TextBox 23"/>
          <p:cNvSpPr txBox="1"/>
          <p:nvPr/>
        </p:nvSpPr>
        <p:spPr>
          <a:xfrm>
            <a:off x="9489948" y="2946749"/>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No orphan row</a:t>
            </a:r>
          </a:p>
        </p:txBody>
      </p:sp>
      <p:sp>
        <p:nvSpPr>
          <p:cNvPr id="25" name="TextBox 24"/>
          <p:cNvSpPr txBox="1"/>
          <p:nvPr/>
        </p:nvSpPr>
        <p:spPr>
          <a:xfrm>
            <a:off x="9489948" y="3320224"/>
            <a:ext cx="2079177" cy="808292"/>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Nothing is left alone across the width.</a:t>
            </a:r>
          </a:p>
        </p:txBody>
      </p:sp>
      <p:sp>
        <p:nvSpPr>
          <p:cNvPr id="26" name="Rectangle 25"/>
          <p:cNvSpPr/>
          <p:nvPr/>
        </p:nvSpPr>
        <p:spPr>
          <a:xfrm>
            <a:off x="2069592" y="4529233"/>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2069592" y="4529233"/>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2069592" y="4816983"/>
            <a:ext cx="298228" cy="298228"/>
          </a:xfrm>
          <a:prstGeom prst="rect">
            <a:avLst/>
          </a:prstGeom>
        </p:spPr>
      </p:pic>
      <p:sp>
        <p:nvSpPr>
          <p:cNvPr id="29" name="TextBox 28"/>
          <p:cNvSpPr txBox="1"/>
          <p:nvPr/>
        </p:nvSpPr>
        <p:spPr>
          <a:xfrm>
            <a:off x="2494026" y="4675918"/>
            <a:ext cx="2079177" cy="876586"/>
          </a:xfrm>
          <a:prstGeom prst="rect">
            <a:avLst/>
          </a:prstGeom>
          <a:noFill/>
        </p:spPr>
        <p:txBody>
          <a:bodyPr wrap="square" anchor="ctr" lIns="0" tIns="0" rIns="0" bIns="0">
            <a:noAutofit/>
          </a:bodyPr>
          <a:lstStyle/>
          <a:p>
            <a:pPr algn="l">
              <a:lnSpc>
                <a:spcPts val="2283"/>
              </a:lnSpc>
              <a:spcBef>
                <a:spcPts val="0"/>
              </a:spcBef>
              <a:spcAft>
                <a:spcPts val="0"/>
              </a:spcAft>
            </a:pPr>
            <a:r>
              <a:rPr sz="1985" b="1" i="0" u="none">
                <a:solidFill>
                  <a:srgbClr val="1F1E1E"/>
                </a:solidFill>
                <a:latin typeface="Arial"/>
              </a:rPr>
              <a:t>Keep bodies short</a:t>
            </a:r>
          </a:p>
        </p:txBody>
      </p:sp>
      <p:sp>
        <p:nvSpPr>
          <p:cNvPr id="30" name="TextBox 29"/>
          <p:cNvSpPr txBox="1"/>
          <p:nvPr/>
        </p:nvSpPr>
        <p:spPr>
          <a:xfrm>
            <a:off x="2494026" y="5331619"/>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Roughly seventy characters at this width.</a:t>
            </a:r>
          </a:p>
        </p:txBody>
      </p:sp>
      <p:sp>
        <p:nvSpPr>
          <p:cNvPr id="31" name="Rectangle 30"/>
          <p:cNvSpPr/>
          <p:nvPr/>
        </p:nvSpPr>
        <p:spPr>
          <a:xfrm>
            <a:off x="4867942" y="4529233"/>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4867942" y="4529233"/>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4867942" y="4675918"/>
            <a:ext cx="298228" cy="298228"/>
          </a:xfrm>
          <a:prstGeom prst="rect">
            <a:avLst/>
          </a:prstGeom>
        </p:spPr>
      </p:pic>
      <p:sp>
        <p:nvSpPr>
          <p:cNvPr id="34" name="TextBox 33"/>
          <p:cNvSpPr txBox="1"/>
          <p:nvPr/>
        </p:nvSpPr>
        <p:spPr>
          <a:xfrm>
            <a:off x="5292376" y="4675918"/>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Still legible</a:t>
            </a:r>
          </a:p>
        </p:txBody>
      </p:sp>
      <p:sp>
        <p:nvSpPr>
          <p:cNvPr id="35" name="TextBox 34"/>
          <p:cNvSpPr txBox="1"/>
          <p:nvPr/>
        </p:nvSpPr>
        <p:spPr>
          <a:xfrm>
            <a:off x="5292376" y="5049393"/>
            <a:ext cx="2079177" cy="108718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The step-down is bounded, not open-ended.</a:t>
            </a:r>
          </a:p>
        </p:txBody>
      </p:sp>
      <p:sp>
        <p:nvSpPr>
          <p:cNvPr id="36" name="Rectangle 35"/>
          <p:cNvSpPr/>
          <p:nvPr/>
        </p:nvSpPr>
        <p:spPr>
          <a:xfrm>
            <a:off x="7666196" y="4529233"/>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7666196" y="4529233"/>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8" name="Picture 37" descr="image.png"/>
          <p:cNvPicPr>
            <a:picLocks noChangeAspect="1"/>
          </p:cNvPicPr>
          <p:nvPr/>
        </p:nvPicPr>
        <p:blipFill>
          <a:blip r:embed="rId8"/>
          <a:stretch>
            <a:fillRect/>
          </a:stretch>
        </p:blipFill>
        <p:spPr>
          <a:xfrm>
            <a:off x="7666196" y="4675918"/>
            <a:ext cx="298228" cy="298228"/>
          </a:xfrm>
          <a:prstGeom prst="rect">
            <a:avLst/>
          </a:prstGeom>
        </p:spPr>
      </p:pic>
      <p:sp>
        <p:nvSpPr>
          <p:cNvPr id="39" name="TextBox 38"/>
          <p:cNvSpPr txBox="1"/>
          <p:nvPr/>
        </p:nvSpPr>
        <p:spPr>
          <a:xfrm>
            <a:off x="8090726" y="4675918"/>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Past that, split</a:t>
            </a:r>
          </a:p>
        </p:txBody>
      </p:sp>
      <p:sp>
        <p:nvSpPr>
          <p:cNvPr id="40" name="TextBox 39"/>
          <p:cNvSpPr txBox="1"/>
          <p:nvPr/>
        </p:nvSpPr>
        <p:spPr>
          <a:xfrm>
            <a:off x="8090726" y="5049393"/>
            <a:ext cx="2079177" cy="808292"/>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Two slides beat one unreadable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8 concepts, a 4×2 grid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Eight is the ceiling — a regular four-by-two grid, with the takeaway kept out of it:</a:t>
            </a:r>
          </a:p>
        </p:txBody>
      </p:sp>
      <p:sp>
        <p:nvSpPr>
          <p:cNvPr id="6" name="Rectangle 5"/>
          <p:cNvSpPr/>
          <p:nvPr/>
        </p:nvSpPr>
        <p:spPr>
          <a:xfrm>
            <a:off x="670465" y="2820638"/>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820638"/>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65894"/>
            <a:ext cx="295466" cy="295466"/>
          </a:xfrm>
          <a:prstGeom prst="rect">
            <a:avLst/>
          </a:prstGeom>
        </p:spPr>
      </p:pic>
      <p:sp>
        <p:nvSpPr>
          <p:cNvPr id="9" name="TextBox 8"/>
          <p:cNvSpPr txBox="1"/>
          <p:nvPr/>
        </p:nvSpPr>
        <p:spPr>
          <a:xfrm>
            <a:off x="1090898" y="2965894"/>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Four by two</a:t>
            </a:r>
          </a:p>
        </p:txBody>
      </p:sp>
      <p:sp>
        <p:nvSpPr>
          <p:cNvPr id="10" name="TextBox 9"/>
          <p:cNvSpPr txBox="1"/>
          <p:nvPr/>
        </p:nvSpPr>
        <p:spPr>
          <a:xfrm>
            <a:off x="1090898" y="3335846"/>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A regular grid, no partial row.</a:t>
            </a:r>
          </a:p>
        </p:txBody>
      </p:sp>
      <p:sp>
        <p:nvSpPr>
          <p:cNvPr id="11" name="Rectangle 10"/>
          <p:cNvSpPr/>
          <p:nvPr/>
        </p:nvSpPr>
        <p:spPr>
          <a:xfrm>
            <a:off x="3467862" y="2820638"/>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3467862" y="2820638"/>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3467862" y="2965894"/>
            <a:ext cx="295466" cy="295466"/>
          </a:xfrm>
          <a:prstGeom prst="rect">
            <a:avLst/>
          </a:prstGeom>
        </p:spPr>
      </p:pic>
      <p:sp>
        <p:nvSpPr>
          <p:cNvPr id="14" name="TextBox 13"/>
          <p:cNvSpPr txBox="1"/>
          <p:nvPr/>
        </p:nvSpPr>
        <p:spPr>
          <a:xfrm>
            <a:off x="3888391" y="2965894"/>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Equal widths</a:t>
            </a:r>
          </a:p>
        </p:txBody>
      </p:sp>
      <p:sp>
        <p:nvSpPr>
          <p:cNvPr id="15" name="TextBox 14"/>
          <p:cNvSpPr txBox="1"/>
          <p:nvPr/>
        </p:nvSpPr>
        <p:spPr>
          <a:xfrm>
            <a:off x="3888391" y="3335846"/>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Every concept gets the same measure.</a:t>
            </a:r>
          </a:p>
        </p:txBody>
      </p:sp>
      <p:sp>
        <p:nvSpPr>
          <p:cNvPr id="16" name="Rectangle 15"/>
          <p:cNvSpPr/>
          <p:nvPr/>
        </p:nvSpPr>
        <p:spPr>
          <a:xfrm>
            <a:off x="6265450" y="2820638"/>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265450" y="2820638"/>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265450" y="2965894"/>
            <a:ext cx="295466" cy="295466"/>
          </a:xfrm>
          <a:prstGeom prst="rect">
            <a:avLst/>
          </a:prstGeom>
        </p:spPr>
      </p:pic>
      <p:sp>
        <p:nvSpPr>
          <p:cNvPr id="19" name="TextBox 18"/>
          <p:cNvSpPr txBox="1"/>
          <p:nvPr/>
        </p:nvSpPr>
        <p:spPr>
          <a:xfrm>
            <a:off x="6685883" y="2965894"/>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Row rules</a:t>
            </a:r>
          </a:p>
        </p:txBody>
      </p:sp>
      <p:sp>
        <p:nvSpPr>
          <p:cNvPr id="20" name="TextBox 19"/>
          <p:cNvSpPr txBox="1"/>
          <p:nvPr/>
        </p:nvSpPr>
        <p:spPr>
          <a:xfrm>
            <a:off x="6685883" y="3335846"/>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Hairlines mark the two rows.</a:t>
            </a:r>
          </a:p>
        </p:txBody>
      </p:sp>
      <p:sp>
        <p:nvSpPr>
          <p:cNvPr id="21" name="Rectangle 20"/>
          <p:cNvSpPr/>
          <p:nvPr/>
        </p:nvSpPr>
        <p:spPr>
          <a:xfrm>
            <a:off x="9062847" y="2820638"/>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062847" y="2820638"/>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9062847" y="2965894"/>
            <a:ext cx="295466" cy="295466"/>
          </a:xfrm>
          <a:prstGeom prst="rect">
            <a:avLst/>
          </a:prstGeom>
        </p:spPr>
      </p:pic>
      <p:sp>
        <p:nvSpPr>
          <p:cNvPr id="24" name="TextBox 23"/>
          <p:cNvSpPr txBox="1"/>
          <p:nvPr/>
        </p:nvSpPr>
        <p:spPr>
          <a:xfrm>
            <a:off x="9483280" y="2965894"/>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Small glyphs</a:t>
            </a:r>
          </a:p>
        </p:txBody>
      </p:sp>
      <p:sp>
        <p:nvSpPr>
          <p:cNvPr id="25" name="TextBox 24"/>
          <p:cNvSpPr txBox="1"/>
          <p:nvPr/>
        </p:nvSpPr>
        <p:spPr>
          <a:xfrm>
            <a:off x="9483280" y="3335846"/>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Icons support, they do not lead.</a:t>
            </a:r>
          </a:p>
        </p:txBody>
      </p:sp>
      <p:sp>
        <p:nvSpPr>
          <p:cNvPr id="26" name="Rectangle 25"/>
          <p:cNvSpPr/>
          <p:nvPr/>
        </p:nvSpPr>
        <p:spPr>
          <a:xfrm>
            <a:off x="670465" y="4257104"/>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670465" y="4257104"/>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670465" y="4402360"/>
            <a:ext cx="295466" cy="295466"/>
          </a:xfrm>
          <a:prstGeom prst="rect">
            <a:avLst/>
          </a:prstGeom>
        </p:spPr>
      </p:pic>
      <p:sp>
        <p:nvSpPr>
          <p:cNvPr id="29" name="TextBox 28"/>
          <p:cNvSpPr txBox="1"/>
          <p:nvPr/>
        </p:nvSpPr>
        <p:spPr>
          <a:xfrm>
            <a:off x="1090898" y="4402360"/>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Aligned</a:t>
            </a:r>
          </a:p>
        </p:txBody>
      </p:sp>
      <p:sp>
        <p:nvSpPr>
          <p:cNvPr id="30" name="TextBox 29"/>
          <p:cNvSpPr txBox="1"/>
          <p:nvPr/>
        </p:nvSpPr>
        <p:spPr>
          <a:xfrm>
            <a:off x="1090898" y="4772406"/>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Labels in a row share a baseline.</a:t>
            </a:r>
          </a:p>
        </p:txBody>
      </p:sp>
      <p:sp>
        <p:nvSpPr>
          <p:cNvPr id="31" name="Rectangle 30"/>
          <p:cNvSpPr/>
          <p:nvPr/>
        </p:nvSpPr>
        <p:spPr>
          <a:xfrm>
            <a:off x="3467862" y="4257104"/>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3467862" y="4257104"/>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3467862" y="4402360"/>
            <a:ext cx="295466" cy="295466"/>
          </a:xfrm>
          <a:prstGeom prst="rect">
            <a:avLst/>
          </a:prstGeom>
        </p:spPr>
      </p:pic>
      <p:sp>
        <p:nvSpPr>
          <p:cNvPr id="34" name="TextBox 33"/>
          <p:cNvSpPr txBox="1"/>
          <p:nvPr/>
        </p:nvSpPr>
        <p:spPr>
          <a:xfrm>
            <a:off x="3888391" y="4402360"/>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White space</a:t>
            </a:r>
          </a:p>
        </p:txBody>
      </p:sp>
      <p:sp>
        <p:nvSpPr>
          <p:cNvPr id="35" name="TextBox 34"/>
          <p:cNvSpPr txBox="1"/>
          <p:nvPr/>
        </p:nvSpPr>
        <p:spPr>
          <a:xfrm>
            <a:off x="3888391" y="4772406"/>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The row gap carries the separation.</a:t>
            </a:r>
          </a:p>
        </p:txBody>
      </p:sp>
      <p:sp>
        <p:nvSpPr>
          <p:cNvPr id="36" name="Rectangle 35"/>
          <p:cNvSpPr/>
          <p:nvPr/>
        </p:nvSpPr>
        <p:spPr>
          <a:xfrm>
            <a:off x="6265450" y="4257104"/>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6265450" y="4257104"/>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8" name="Picture 37" descr="image.png"/>
          <p:cNvPicPr>
            <a:picLocks noChangeAspect="1"/>
          </p:cNvPicPr>
          <p:nvPr/>
        </p:nvPicPr>
        <p:blipFill>
          <a:blip r:embed="rId8"/>
          <a:stretch>
            <a:fillRect/>
          </a:stretch>
        </p:blipFill>
        <p:spPr>
          <a:xfrm>
            <a:off x="6265450" y="4402360"/>
            <a:ext cx="295466" cy="295466"/>
          </a:xfrm>
          <a:prstGeom prst="rect">
            <a:avLst/>
          </a:prstGeom>
        </p:spPr>
      </p:pic>
      <p:sp>
        <p:nvSpPr>
          <p:cNvPr id="39" name="TextBox 38"/>
          <p:cNvSpPr txBox="1"/>
          <p:nvPr/>
        </p:nvSpPr>
        <p:spPr>
          <a:xfrm>
            <a:off x="6685883" y="4402360"/>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Scans fast</a:t>
            </a:r>
          </a:p>
        </p:txBody>
      </p:sp>
      <p:sp>
        <p:nvSpPr>
          <p:cNvPr id="40" name="TextBox 39"/>
          <p:cNvSpPr txBox="1"/>
          <p:nvPr/>
        </p:nvSpPr>
        <p:spPr>
          <a:xfrm>
            <a:off x="6685883" y="4772406"/>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Eight flat blocks stay readable.</a:t>
            </a:r>
          </a:p>
        </p:txBody>
      </p:sp>
      <p:sp>
        <p:nvSpPr>
          <p:cNvPr id="41" name="Rectangle 40"/>
          <p:cNvSpPr/>
          <p:nvPr/>
        </p:nvSpPr>
        <p:spPr>
          <a:xfrm>
            <a:off x="9062847" y="4257104"/>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9062847" y="4257104"/>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3" name="Picture 42" descr="image.png"/>
          <p:cNvPicPr>
            <a:picLocks noChangeAspect="1"/>
          </p:cNvPicPr>
          <p:nvPr/>
        </p:nvPicPr>
        <p:blipFill>
          <a:blip r:embed="rId9"/>
          <a:stretch>
            <a:fillRect/>
          </a:stretch>
        </p:blipFill>
        <p:spPr>
          <a:xfrm>
            <a:off x="9062847" y="4402360"/>
            <a:ext cx="295466" cy="295466"/>
          </a:xfrm>
          <a:prstGeom prst="rect">
            <a:avLst/>
          </a:prstGeom>
        </p:spPr>
      </p:pic>
      <p:sp>
        <p:nvSpPr>
          <p:cNvPr id="44" name="TextBox 43"/>
          <p:cNvSpPr txBox="1"/>
          <p:nvPr/>
        </p:nvSpPr>
        <p:spPr>
          <a:xfrm>
            <a:off x="9483280" y="4402360"/>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The ceiling</a:t>
            </a:r>
          </a:p>
        </p:txBody>
      </p:sp>
      <p:sp>
        <p:nvSpPr>
          <p:cNvPr id="45" name="TextBox 44"/>
          <p:cNvSpPr txBox="1"/>
          <p:nvPr/>
        </p:nvSpPr>
        <p:spPr>
          <a:xfrm>
            <a:off x="9483280" y="4772406"/>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A ninth concept means a second slide.</a:t>
            </a:r>
          </a:p>
        </p:txBody>
      </p:sp>
      <p:sp>
        <p:nvSpPr>
          <p:cNvPr id="46" name="Rounded Rectangle 45"/>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8" name="Picture 47" descr="image.png"/>
          <p:cNvPicPr>
            <a:picLocks noChangeAspect="1"/>
          </p:cNvPicPr>
          <p:nvPr/>
        </p:nvPicPr>
        <p:blipFill>
          <a:blip r:embed="rId10"/>
          <a:stretch>
            <a:fillRect/>
          </a:stretch>
        </p:blipFill>
        <p:spPr>
          <a:xfrm>
            <a:off x="886016" y="5882735"/>
            <a:ext cx="243745" cy="243745"/>
          </a:xfrm>
          <a:prstGeom prst="rect">
            <a:avLst/>
          </a:prstGeom>
        </p:spPr>
      </p:pic>
      <p:sp>
        <p:nvSpPr>
          <p:cNvPr id="49" name="TextBox 48"/>
          <p:cNvSpPr txBox="1"/>
          <p:nvPr/>
        </p:nvSpPr>
        <p:spPr>
          <a:xfrm>
            <a:off x="1251680" y="5877496"/>
            <a:ext cx="8118253"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conclusion stays a full-width band under the grid — it is a comment on the set, never a ninth cell in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6701679"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aside: a full-bleed image column on the right</a:t>
            </a:r>
          </a:p>
        </p:txBody>
      </p:sp>
      <p:sp>
        <p:nvSpPr>
          <p:cNvPr id="5" name="TextBox 4"/>
          <p:cNvSpPr txBox="1"/>
          <p:nvPr/>
        </p:nvSpPr>
        <p:spPr>
          <a:xfrm>
            <a:off x="670465" y="2187607"/>
            <a:ext cx="66219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image reinforces the point; the text carries it.</a:t>
            </a:r>
          </a:p>
        </p:txBody>
      </p:sp>
      <p:sp>
        <p:nvSpPr>
          <p:cNvPr id="6" name="Rounded Rectangle 5"/>
          <p:cNvSpPr/>
          <p:nvPr/>
        </p:nvSpPr>
        <p:spPr>
          <a:xfrm>
            <a:off x="670465" y="2776728"/>
            <a:ext cx="3193352" cy="1881759"/>
          </a:xfrm>
          <a:prstGeom prst="roundRect">
            <a:avLst>
              <a:gd name="adj" fmla="val 129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2968" y="3024568"/>
            <a:ext cx="513588" cy="513588"/>
          </a:xfrm>
          <a:prstGeom prst="rect">
            <a:avLst/>
          </a:prstGeom>
        </p:spPr>
      </p:pic>
      <p:sp>
        <p:nvSpPr>
          <p:cNvPr id="8" name="TextBox 7"/>
          <p:cNvSpPr txBox="1"/>
          <p:nvPr/>
        </p:nvSpPr>
        <p:spPr>
          <a:xfrm>
            <a:off x="1547146" y="3017615"/>
            <a:ext cx="2154780" cy="962025"/>
          </a:xfrm>
          <a:prstGeom prst="rect">
            <a:avLst/>
          </a:prstGeom>
          <a:noFill/>
        </p:spPr>
        <p:txBody>
          <a:bodyPr wrap="square" anchor="ctr" lIns="0" tIns="0" rIns="0" bIns="0">
            <a:noAutofit/>
          </a:bodyPr>
          <a:lstStyle/>
          <a:p>
            <a:pPr algn="l">
              <a:lnSpc>
                <a:spcPts val="2235"/>
              </a:lnSpc>
              <a:spcBef>
                <a:spcPts val="0"/>
              </a:spcBef>
              <a:spcAft>
                <a:spcPts val="0"/>
              </a:spcAft>
            </a:pPr>
            <a:r>
              <a:rPr sz="2032" b="1" i="0" u="none">
                <a:solidFill>
                  <a:srgbClr val="1F1E1E"/>
                </a:solidFill>
                <a:latin typeface="Arial"/>
              </a:rPr>
              <a:t>Atmosphere, not information</a:t>
            </a:r>
          </a:p>
        </p:txBody>
      </p:sp>
      <p:sp>
        <p:nvSpPr>
          <p:cNvPr id="9" name="TextBox 8"/>
          <p:cNvSpPr txBox="1"/>
          <p:nvPr/>
        </p:nvSpPr>
        <p:spPr>
          <a:xfrm>
            <a:off x="1547146" y="3647599"/>
            <a:ext cx="2154877" cy="739235"/>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The column crops to fill, so nothing in it needs to be read closely.</a:t>
            </a:r>
          </a:p>
        </p:txBody>
      </p:sp>
      <p:sp>
        <p:nvSpPr>
          <p:cNvPr id="10" name="Rounded Rectangle 9"/>
          <p:cNvSpPr/>
          <p:nvPr/>
        </p:nvSpPr>
        <p:spPr>
          <a:xfrm>
            <a:off x="4058602" y="2776728"/>
            <a:ext cx="3193447" cy="1881759"/>
          </a:xfrm>
          <a:prstGeom prst="roundRect">
            <a:avLst>
              <a:gd name="adj" fmla="val 129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271105" y="3024568"/>
            <a:ext cx="513588" cy="513588"/>
          </a:xfrm>
          <a:prstGeom prst="rect">
            <a:avLst/>
          </a:prstGeom>
        </p:spPr>
      </p:pic>
      <p:sp>
        <p:nvSpPr>
          <p:cNvPr id="12" name="TextBox 11"/>
          <p:cNvSpPr txBox="1"/>
          <p:nvPr/>
        </p:nvSpPr>
        <p:spPr>
          <a:xfrm>
            <a:off x="4935284" y="3017615"/>
            <a:ext cx="2142363" cy="290608"/>
          </a:xfrm>
          <a:prstGeom prst="rect">
            <a:avLst/>
          </a:prstGeom>
          <a:noFill/>
        </p:spPr>
        <p:txBody>
          <a:bodyPr wrap="none" anchor="ctr" lIns="0" tIns="0" rIns="0" bIns="0">
            <a:noAutofit/>
          </a:bodyPr>
          <a:lstStyle/>
          <a:p>
            <a:pPr algn="l">
              <a:lnSpc>
                <a:spcPts val="2235"/>
              </a:lnSpc>
              <a:spcBef>
                <a:spcPts val="0"/>
              </a:spcBef>
              <a:spcAft>
                <a:spcPts val="0"/>
              </a:spcAft>
            </a:pPr>
            <a:r>
              <a:rPr sz="2032" b="1" i="0" u="none">
                <a:solidFill>
                  <a:srgbClr val="1F1E1E"/>
                </a:solidFill>
                <a:latin typeface="Arial"/>
              </a:rPr>
              <a:t>Default side</a:t>
            </a:r>
          </a:p>
        </p:txBody>
      </p:sp>
      <p:sp>
        <p:nvSpPr>
          <p:cNvPr id="13" name="TextBox 12"/>
          <p:cNvSpPr txBox="1"/>
          <p:nvPr/>
        </p:nvSpPr>
        <p:spPr>
          <a:xfrm>
            <a:off x="4935284" y="3365087"/>
            <a:ext cx="2154877" cy="951928"/>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An aside sits on the right unless the hint says left.</a:t>
            </a:r>
          </a:p>
        </p:txBody>
      </p:sp>
      <p:sp>
        <p:nvSpPr>
          <p:cNvPr id="14" name="Rounded Rectangle 13"/>
          <p:cNvSpPr/>
          <p:nvPr/>
        </p:nvSpPr>
        <p:spPr>
          <a:xfrm>
            <a:off x="670465" y="4853273"/>
            <a:ext cx="6581584" cy="1340358"/>
          </a:xfrm>
          <a:prstGeom prst="roundRect">
            <a:avLst>
              <a:gd name="adj" fmla="val 181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882968" y="5101114"/>
            <a:ext cx="513588" cy="513588"/>
          </a:xfrm>
          <a:prstGeom prst="rect">
            <a:avLst/>
          </a:prstGeom>
        </p:spPr>
      </p:pic>
      <p:sp>
        <p:nvSpPr>
          <p:cNvPr id="16" name="TextBox 15"/>
          <p:cNvSpPr txBox="1"/>
          <p:nvPr/>
        </p:nvSpPr>
        <p:spPr>
          <a:xfrm>
            <a:off x="1547146" y="5094256"/>
            <a:ext cx="5530501" cy="290608"/>
          </a:xfrm>
          <a:prstGeom prst="rect">
            <a:avLst/>
          </a:prstGeom>
          <a:noFill/>
        </p:spPr>
        <p:txBody>
          <a:bodyPr wrap="none" anchor="ctr" lIns="0" tIns="0" rIns="0" bIns="0">
            <a:noAutofit/>
          </a:bodyPr>
          <a:lstStyle/>
          <a:p>
            <a:pPr algn="l">
              <a:lnSpc>
                <a:spcPts val="2235"/>
              </a:lnSpc>
              <a:spcBef>
                <a:spcPts val="0"/>
              </a:spcBef>
              <a:spcAft>
                <a:spcPts val="0"/>
              </a:spcAft>
            </a:pPr>
            <a:r>
              <a:rPr sz="2032" b="1" i="0" u="none">
                <a:solidFill>
                  <a:srgbClr val="1F1E1E"/>
                </a:solidFill>
                <a:latin typeface="Arial"/>
              </a:rPr>
              <a:t>Any stage-based type</a:t>
            </a:r>
          </a:p>
        </p:txBody>
      </p:sp>
      <p:sp>
        <p:nvSpPr>
          <p:cNvPr id="17" name="TextBox 16"/>
          <p:cNvSpPr txBox="1"/>
          <p:nvPr/>
        </p:nvSpPr>
        <p:spPr>
          <a:xfrm>
            <a:off x="1547146" y="5441632"/>
            <a:ext cx="5593837" cy="480346"/>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The stage macro adds it, so every content template supports it.</a:t>
            </a:r>
          </a:p>
        </p:txBody>
      </p:sp>
      <p:pic>
        <p:nvPicPr>
          <p:cNvPr id="18" name="Picture 17" descr="image.jpg"/>
          <p:cNvPicPr>
            <a:picLocks noChangeAspect="1"/>
          </p:cNvPicPr>
          <p:nvPr/>
        </p:nvPicPr>
        <p:blipFill>
          <a:blip r:embed="rId5"/>
          <a:stretch>
            <a:fillRect/>
          </a:stretch>
        </p:blipFill>
        <p:spPr>
          <a:xfrm>
            <a:off x="7681055" y="0"/>
            <a:ext cx="451094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9376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51082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4937665" y="896112"/>
            <a:ext cx="6701679"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aside: the same column, on the left</a:t>
            </a:r>
          </a:p>
        </p:txBody>
      </p:sp>
      <p:sp>
        <p:nvSpPr>
          <p:cNvPr id="5" name="Rounded Rectangle 4"/>
          <p:cNvSpPr/>
          <p:nvPr/>
        </p:nvSpPr>
        <p:spPr>
          <a:xfrm>
            <a:off x="4937665" y="2551366"/>
            <a:ext cx="3156776" cy="3303365"/>
          </a:xfrm>
          <a:prstGeom prst="roundRect">
            <a:avLst>
              <a:gd name="adj" fmla="val 772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5230273" y="2892647"/>
            <a:ext cx="707041" cy="707041"/>
          </a:xfrm>
          <a:prstGeom prst="rect">
            <a:avLst/>
          </a:prstGeom>
        </p:spPr>
      </p:pic>
      <p:sp>
        <p:nvSpPr>
          <p:cNvPr id="7" name="TextBox 6"/>
          <p:cNvSpPr txBox="1"/>
          <p:nvPr/>
        </p:nvSpPr>
        <p:spPr>
          <a:xfrm>
            <a:off x="6144482" y="2883122"/>
            <a:ext cx="16954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side: left</a:t>
            </a:r>
          </a:p>
        </p:txBody>
      </p:sp>
      <p:sp>
        <p:nvSpPr>
          <p:cNvPr id="8" name="TextBox 7"/>
          <p:cNvSpPr txBox="1"/>
          <p:nvPr/>
        </p:nvSpPr>
        <p:spPr>
          <a:xfrm>
            <a:off x="6144482" y="3361468"/>
            <a:ext cx="1701260"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hint's optional side moves the column to the other edge.</a:t>
            </a:r>
          </a:p>
        </p:txBody>
      </p:sp>
      <p:sp>
        <p:nvSpPr>
          <p:cNvPr id="9" name="Rounded Rectangle 8"/>
          <p:cNvSpPr/>
          <p:nvPr/>
        </p:nvSpPr>
        <p:spPr>
          <a:xfrm>
            <a:off x="8362664" y="2551366"/>
            <a:ext cx="3156776" cy="3303365"/>
          </a:xfrm>
          <a:prstGeom prst="roundRect">
            <a:avLst>
              <a:gd name="adj" fmla="val 772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8655272" y="2892647"/>
            <a:ext cx="707041" cy="707041"/>
          </a:xfrm>
          <a:prstGeom prst="rect">
            <a:avLst/>
          </a:prstGeom>
        </p:spPr>
      </p:pic>
      <p:sp>
        <p:nvSpPr>
          <p:cNvPr id="11" name="TextBox 10"/>
          <p:cNvSpPr txBox="1"/>
          <p:nvPr/>
        </p:nvSpPr>
        <p:spPr>
          <a:xfrm>
            <a:off x="9569482" y="2883122"/>
            <a:ext cx="1701260"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Content reflows</a:t>
            </a:r>
          </a:p>
        </p:txBody>
      </p:sp>
      <p:sp>
        <p:nvSpPr>
          <p:cNvPr id="12" name="TextBox 11"/>
          <p:cNvSpPr txBox="1"/>
          <p:nvPr/>
        </p:nvSpPr>
        <p:spPr>
          <a:xfrm>
            <a:off x="9569482" y="3750278"/>
            <a:ext cx="1701260" cy="176307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stage pads whichever side the image takes.</a:t>
            </a:r>
          </a:p>
        </p:txBody>
      </p:sp>
      <p:pic>
        <p:nvPicPr>
          <p:cNvPr id="13" name="Picture 12" descr="image.jpg"/>
          <p:cNvPicPr>
            <a:picLocks noChangeAspect="1"/>
          </p:cNvPicPr>
          <p:nvPr/>
        </p:nvPicPr>
        <p:blipFill>
          <a:blip r:embed="rId4"/>
          <a:stretch>
            <a:fillRect/>
          </a:stretch>
        </p:blipFill>
        <p:spPr>
          <a:xfrm>
            <a:off x="0" y="0"/>
            <a:ext cx="451094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format row · 3 short cards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lead line sits above a single horizontal row of three to five short cards:</a:t>
            </a:r>
          </a:p>
        </p:txBody>
      </p:sp>
      <p:sp>
        <p:nvSpPr>
          <p:cNvPr id="6" name="Rounded Rectangle 5"/>
          <p:cNvSpPr/>
          <p:nvPr/>
        </p:nvSpPr>
        <p:spPr>
          <a:xfrm>
            <a:off x="670465" y="2909888"/>
            <a:ext cx="3437477"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938689" y="3226784"/>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1077658" y="3365754"/>
            <a:ext cx="453485" cy="453485"/>
          </a:xfrm>
          <a:prstGeom prst="rect">
            <a:avLst/>
          </a:prstGeom>
        </p:spPr>
      </p:pic>
      <p:sp>
        <p:nvSpPr>
          <p:cNvPr id="9" name="TextBox 8"/>
          <p:cNvSpPr txBox="1"/>
          <p:nvPr/>
        </p:nvSpPr>
        <p:spPr>
          <a:xfrm>
            <a:off x="938689" y="4075938"/>
            <a:ext cx="2939224"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Lead</a:t>
            </a:r>
          </a:p>
        </p:txBody>
      </p:sp>
      <p:sp>
        <p:nvSpPr>
          <p:cNvPr id="10" name="TextBox 9"/>
          <p:cNvSpPr txBox="1"/>
          <p:nvPr/>
        </p:nvSpPr>
        <p:spPr>
          <a:xfrm>
            <a:off x="938689" y="4611338"/>
            <a:ext cx="2963691" cy="992505"/>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One framing sentence introduces the row.</a:t>
            </a:r>
          </a:p>
        </p:txBody>
      </p:sp>
      <p:sp>
        <p:nvSpPr>
          <p:cNvPr id="11" name="Rounded Rectangle 10"/>
          <p:cNvSpPr/>
          <p:nvPr/>
        </p:nvSpPr>
        <p:spPr>
          <a:xfrm>
            <a:off x="4376166" y="2909888"/>
            <a:ext cx="3437477"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4644295" y="3226784"/>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783360" y="3365754"/>
            <a:ext cx="453485" cy="453485"/>
          </a:xfrm>
          <a:prstGeom prst="rect">
            <a:avLst/>
          </a:prstGeom>
        </p:spPr>
      </p:pic>
      <p:sp>
        <p:nvSpPr>
          <p:cNvPr id="14" name="TextBox 13"/>
          <p:cNvSpPr txBox="1"/>
          <p:nvPr/>
        </p:nvSpPr>
        <p:spPr>
          <a:xfrm>
            <a:off x="4644295" y="4075938"/>
            <a:ext cx="2939224"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Short</a:t>
            </a:r>
          </a:p>
        </p:txBody>
      </p:sp>
      <p:sp>
        <p:nvSpPr>
          <p:cNvPr id="15" name="TextBox 14"/>
          <p:cNvSpPr txBox="1"/>
          <p:nvPr/>
        </p:nvSpPr>
        <p:spPr>
          <a:xfrm>
            <a:off x="4644295" y="4611338"/>
            <a:ext cx="2963691" cy="992505"/>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Each body stays under about eighty characters.</a:t>
            </a:r>
          </a:p>
        </p:txBody>
      </p:sp>
      <p:sp>
        <p:nvSpPr>
          <p:cNvPr id="16" name="Rounded Rectangle 15"/>
          <p:cNvSpPr/>
          <p:nvPr/>
        </p:nvSpPr>
        <p:spPr>
          <a:xfrm>
            <a:off x="8081772" y="2909888"/>
            <a:ext cx="3437668"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Oval 16"/>
          <p:cNvSpPr/>
          <p:nvPr/>
        </p:nvSpPr>
        <p:spPr>
          <a:xfrm>
            <a:off x="8349996" y="3226784"/>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488966" y="3365754"/>
            <a:ext cx="453485" cy="453485"/>
          </a:xfrm>
          <a:prstGeom prst="rect">
            <a:avLst/>
          </a:prstGeom>
        </p:spPr>
      </p:pic>
      <p:sp>
        <p:nvSpPr>
          <p:cNvPr id="19" name="TextBox 18"/>
          <p:cNvSpPr txBox="1"/>
          <p:nvPr/>
        </p:nvSpPr>
        <p:spPr>
          <a:xfrm>
            <a:off x="8349996" y="4075938"/>
            <a:ext cx="2939320"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One row</a:t>
            </a:r>
          </a:p>
        </p:txBody>
      </p:sp>
      <p:sp>
        <p:nvSpPr>
          <p:cNvPr id="20" name="TextBox 19"/>
          <p:cNvSpPr txBox="1"/>
          <p:nvPr/>
        </p:nvSpPr>
        <p:spPr>
          <a:xfrm>
            <a:off x="8349996" y="4611338"/>
            <a:ext cx="2963788" cy="1026509"/>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Three to five cards share one horizontal band.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the default card grid</a:t>
            </a:r>
          </a:p>
        </p:txBody>
      </p:sp>
      <p:sp>
        <p:nvSpPr>
          <p:cNvPr id="5" name="TextBox 4"/>
          <p:cNvSpPr txBox="1"/>
          <p:nvPr/>
        </p:nvSpPr>
        <p:spPr>
          <a:xfrm>
            <a:off x="670465" y="1634585"/>
            <a:ext cx="910876"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With no</a:t>
            </a:r>
          </a:p>
        </p:txBody>
      </p:sp>
      <p:sp>
        <p:nvSpPr>
          <p:cNvPr id="6" name="Rounded Rectangle 5"/>
          <p:cNvSpPr/>
          <p:nvPr/>
        </p:nvSpPr>
        <p:spPr>
          <a:xfrm>
            <a:off x="1543240" y="1653635"/>
            <a:ext cx="876490"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1613916" y="1663160"/>
            <a:ext cx="782574"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format</a:t>
            </a:r>
          </a:p>
        </p:txBody>
      </p:sp>
      <p:sp>
        <p:nvSpPr>
          <p:cNvPr id="8" name="TextBox 7"/>
          <p:cNvSpPr txBox="1"/>
          <p:nvPr/>
        </p:nvSpPr>
        <p:spPr>
          <a:xfrm>
            <a:off x="2419636" y="1634585"/>
            <a:ext cx="2738628"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 a labeled set renders as</a:t>
            </a:r>
          </a:p>
        </p:txBody>
      </p:sp>
      <p:sp>
        <p:nvSpPr>
          <p:cNvPr id="9" name="TextBox 8"/>
          <p:cNvSpPr txBox="1"/>
          <p:nvPr/>
        </p:nvSpPr>
        <p:spPr>
          <a:xfrm>
            <a:off x="5120164" y="1634585"/>
            <a:ext cx="630174"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cards</a:t>
            </a:r>
          </a:p>
        </p:txBody>
      </p:sp>
      <p:sp>
        <p:nvSpPr>
          <p:cNvPr id="10" name="TextBox 9"/>
          <p:cNvSpPr txBox="1"/>
          <p:nvPr/>
        </p:nvSpPr>
        <p:spPr>
          <a:xfrm>
            <a:off x="5712142" y="1634585"/>
            <a:ext cx="11210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1" name="Rounded Rectangle 10"/>
          <p:cNvSpPr/>
          <p:nvPr/>
        </p:nvSpPr>
        <p:spPr>
          <a:xfrm>
            <a:off x="670465" y="2203228"/>
            <a:ext cx="5308092" cy="2222849"/>
          </a:xfrm>
          <a:prstGeom prst="roundRect">
            <a:avLst>
              <a:gd name="adj" fmla="val 1096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2"/>
          <a:stretch>
            <a:fillRect/>
          </a:stretch>
        </p:blipFill>
        <p:spPr>
          <a:xfrm>
            <a:off x="923734" y="2498693"/>
            <a:ext cx="612076" cy="612172"/>
          </a:xfrm>
          <a:prstGeom prst="rect">
            <a:avLst/>
          </a:prstGeom>
        </p:spPr>
      </p:pic>
      <p:sp>
        <p:nvSpPr>
          <p:cNvPr id="13" name="TextBox 12"/>
          <p:cNvSpPr txBox="1"/>
          <p:nvPr/>
        </p:nvSpPr>
        <p:spPr>
          <a:xfrm>
            <a:off x="1715262" y="2490406"/>
            <a:ext cx="4048125"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Parallel reads side by side</a:t>
            </a:r>
          </a:p>
        </p:txBody>
      </p:sp>
      <p:sp>
        <p:nvSpPr>
          <p:cNvPr id="14" name="TextBox 13"/>
          <p:cNvSpPr txBox="1"/>
          <p:nvPr/>
        </p:nvSpPr>
        <p:spPr>
          <a:xfrm>
            <a:off x="1715262" y="2904554"/>
            <a:ext cx="4089225" cy="1189577"/>
          </a:xfrm>
          <a:prstGeom prst="rect">
            <a:avLst/>
          </a:prstGeom>
          <a:noFill/>
        </p:spPr>
        <p:txBody>
          <a:bodyPr wrap="square" anchor="ctr" lIns="0" tIns="0" rIns="0" bIns="0">
            <a:noAutofit/>
          </a:bodyPr>
          <a:lstStyle/>
          <a:p>
            <a:pPr algn="l">
              <a:lnSpc>
                <a:spcPts val="2443"/>
              </a:lnSpc>
              <a:spcBef>
                <a:spcPts val="0"/>
              </a:spcBef>
              <a:spcAft>
                <a:spcPts val="0"/>
              </a:spcAft>
            </a:pPr>
            <a:r>
              <a:rPr sz="1879" b="0" i="0" u="none">
                <a:solidFill>
                  <a:srgbClr val="3B3535"/>
                </a:solidFill>
                <a:latin typeface="Arial"/>
              </a:rPr>
              <a:t>A labeled set is N </a:t>
            </a:r>
            <a:r>
              <a:rPr sz="1879" b="0" i="1" u="none">
                <a:solidFill>
                  <a:srgbClr val="3B3535"/>
                </a:solidFill>
                <a:latin typeface="Arial"/>
              </a:rPr>
              <a:t>peers</a:t>
            </a:r>
            <a:r>
              <a:rPr sz="1879" b="0" i="0" u="none">
                <a:solidFill>
                  <a:srgbClr val="3B3535"/>
                </a:solidFill>
                <a:latin typeface="Arial"/>
              </a:rPr>
              <a:t>. Stacking them spent the whole slide width on one item and made the set read as a sequence.</a:t>
            </a:r>
          </a:p>
        </p:txBody>
      </p:sp>
      <p:sp>
        <p:nvSpPr>
          <p:cNvPr id="15" name="Rounded Rectangle 14"/>
          <p:cNvSpPr/>
          <p:nvPr/>
        </p:nvSpPr>
        <p:spPr>
          <a:xfrm>
            <a:off x="6210776" y="2203228"/>
            <a:ext cx="5308092" cy="2222849"/>
          </a:xfrm>
          <a:prstGeom prst="roundRect">
            <a:avLst>
              <a:gd name="adj" fmla="val 1096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3"/>
          <a:stretch>
            <a:fillRect/>
          </a:stretch>
        </p:blipFill>
        <p:spPr>
          <a:xfrm>
            <a:off x="6464046" y="2498693"/>
            <a:ext cx="612076" cy="612172"/>
          </a:xfrm>
          <a:prstGeom prst="rect">
            <a:avLst/>
          </a:prstGeom>
        </p:spPr>
      </p:pic>
      <p:sp>
        <p:nvSpPr>
          <p:cNvPr id="17" name="TextBox 16"/>
          <p:cNvSpPr txBox="1"/>
          <p:nvPr/>
        </p:nvSpPr>
        <p:spPr>
          <a:xfrm>
            <a:off x="7255478" y="2490406"/>
            <a:ext cx="4048125"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The lead survives</a:t>
            </a:r>
          </a:p>
        </p:txBody>
      </p:sp>
      <p:sp>
        <p:nvSpPr>
          <p:cNvPr id="18" name="Rounded Rectangle 17"/>
          <p:cNvSpPr/>
          <p:nvPr/>
        </p:nvSpPr>
        <p:spPr>
          <a:xfrm>
            <a:off x="7255478" y="2929318"/>
            <a:ext cx="671798" cy="263842"/>
          </a:xfrm>
          <a:prstGeom prst="roundRect">
            <a:avLst>
              <a:gd name="adj" fmla="val 18483"/>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329202" y="2937510"/>
            <a:ext cx="562451" cy="247364"/>
          </a:xfrm>
          <a:prstGeom prst="rect">
            <a:avLst/>
          </a:prstGeom>
          <a:noFill/>
        </p:spPr>
        <p:txBody>
          <a:bodyPr wrap="none" anchor="ctr" lIns="0" tIns="0" rIns="0" bIns="0">
            <a:noAutofit/>
          </a:bodyPr>
          <a:lstStyle/>
          <a:p>
            <a:pPr algn="l">
              <a:lnSpc>
                <a:spcPts val="2247"/>
              </a:lnSpc>
              <a:spcBef>
                <a:spcPts val="0"/>
              </a:spcBef>
              <a:spcAft>
                <a:spcPts val="0"/>
              </a:spcAft>
            </a:pPr>
            <a:r>
              <a:rPr sz="1729" b="0" i="0" u="none">
                <a:solidFill>
                  <a:srgbClr val="3B3535"/>
                </a:solidFill>
                <a:latin typeface="Courier New"/>
              </a:rPr>
              <a:t>grid</a:t>
            </a:r>
          </a:p>
        </p:txBody>
      </p:sp>
      <p:sp>
        <p:nvSpPr>
          <p:cNvPr id="20" name="TextBox 19"/>
          <p:cNvSpPr txBox="1"/>
          <p:nvPr/>
        </p:nvSpPr>
        <p:spPr>
          <a:xfrm>
            <a:off x="7255478" y="2904554"/>
            <a:ext cx="3721132" cy="1197959"/>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carries the lead the retired format carried, so nothing an old model wrote is dropped on the way over.</a:t>
            </a:r>
          </a:p>
        </p:txBody>
      </p:sp>
      <p:sp>
        <p:nvSpPr>
          <p:cNvPr id="21" name="Rounded Rectangle 20"/>
          <p:cNvSpPr/>
          <p:nvPr/>
        </p:nvSpPr>
        <p:spPr>
          <a:xfrm>
            <a:off x="670465" y="4658296"/>
            <a:ext cx="10848404" cy="1590104"/>
          </a:xfrm>
          <a:prstGeom prst="roundRect">
            <a:avLst>
              <a:gd name="adj" fmla="val 1533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4"/>
          <a:stretch>
            <a:fillRect/>
          </a:stretch>
        </p:blipFill>
        <p:spPr>
          <a:xfrm>
            <a:off x="923734" y="4953762"/>
            <a:ext cx="612076" cy="612076"/>
          </a:xfrm>
          <a:prstGeom prst="rect">
            <a:avLst/>
          </a:prstGeom>
        </p:spPr>
      </p:pic>
      <p:sp>
        <p:nvSpPr>
          <p:cNvPr id="23" name="TextBox 22"/>
          <p:cNvSpPr txBox="1"/>
          <p:nvPr/>
        </p:nvSpPr>
        <p:spPr>
          <a:xfrm>
            <a:off x="1715262" y="4945475"/>
            <a:ext cx="9588436"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Prose still fits</a:t>
            </a:r>
          </a:p>
        </p:txBody>
      </p:sp>
      <p:sp>
        <p:nvSpPr>
          <p:cNvPr id="24" name="TextBox 23"/>
          <p:cNvSpPr txBox="1"/>
          <p:nvPr/>
        </p:nvSpPr>
        <p:spPr>
          <a:xfrm>
            <a:off x="1715262" y="5359622"/>
            <a:ext cx="8975217" cy="26384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 card holds up to about two sentences. Past that the slide is not a labeled set — it is</a:t>
            </a:r>
          </a:p>
        </p:txBody>
      </p:sp>
      <p:sp>
        <p:nvSpPr>
          <p:cNvPr id="25" name="Rounded Rectangle 24"/>
          <p:cNvSpPr/>
          <p:nvPr/>
        </p:nvSpPr>
        <p:spPr>
          <a:xfrm>
            <a:off x="1715262" y="5692902"/>
            <a:ext cx="1720406" cy="263842"/>
          </a:xfrm>
          <a:prstGeom prst="roundRect">
            <a:avLst>
              <a:gd name="adj" fmla="val 18483"/>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788890" y="5701094"/>
            <a:ext cx="1611154" cy="247364"/>
          </a:xfrm>
          <a:prstGeom prst="rect">
            <a:avLst/>
          </a:prstGeom>
          <a:noFill/>
        </p:spPr>
        <p:txBody>
          <a:bodyPr wrap="none" anchor="ctr" lIns="0" tIns="0" rIns="0" bIns="0">
            <a:noAutofit/>
          </a:bodyPr>
          <a:lstStyle/>
          <a:p>
            <a:pPr algn="l">
              <a:lnSpc>
                <a:spcPts val="2247"/>
              </a:lnSpc>
              <a:spcBef>
                <a:spcPts val="0"/>
              </a:spcBef>
              <a:spcAft>
                <a:spcPts val="0"/>
              </a:spcAft>
            </a:pPr>
            <a:r>
              <a:rPr sz="1729" b="0" i="0" u="none">
                <a:solidFill>
                  <a:srgbClr val="3B3535"/>
                </a:solidFill>
                <a:latin typeface="Courier New"/>
              </a:rPr>
              <a:t>content-text</a:t>
            </a:r>
          </a:p>
        </p:txBody>
      </p:sp>
      <p:sp>
        <p:nvSpPr>
          <p:cNvPr id="27" name="TextBox 26"/>
          <p:cNvSpPr txBox="1"/>
          <p:nvPr/>
        </p:nvSpPr>
        <p:spPr>
          <a:xfrm>
            <a:off x="3435668" y="5668137"/>
            <a:ext cx="1556004" cy="26384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 or two slides.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bare anaphora → label-only cards</a:t>
            </a:r>
          </a:p>
        </p:txBody>
      </p:sp>
      <p:sp>
        <p:nvSpPr>
          <p:cNvPr id="5" name="Rounded Rectangle 4"/>
          <p:cNvSpPr/>
          <p:nvPr/>
        </p:nvSpPr>
        <p:spPr>
          <a:xfrm>
            <a:off x="670465" y="2265807"/>
            <a:ext cx="5290376" cy="1460278"/>
          </a:xfrm>
          <a:prstGeom prst="roundRect">
            <a:avLst>
              <a:gd name="adj" fmla="val 166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642330"/>
            <a:ext cx="707041" cy="707041"/>
          </a:xfrm>
          <a:prstGeom prst="rect">
            <a:avLst/>
          </a:prstGeom>
        </p:spPr>
      </p:pic>
      <p:sp>
        <p:nvSpPr>
          <p:cNvPr id="7" name="TextBox 6"/>
          <p:cNvSpPr txBox="1"/>
          <p:nvPr/>
        </p:nvSpPr>
        <p:spPr>
          <a:xfrm>
            <a:off x="1877282" y="2597468"/>
            <a:ext cx="3866864" cy="788956"/>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No labels are required here.</a:t>
            </a:r>
          </a:p>
        </p:txBody>
      </p:sp>
      <p:sp>
        <p:nvSpPr>
          <p:cNvPr id="8" name="Rounded Rectangle 7"/>
          <p:cNvSpPr/>
          <p:nvPr/>
        </p:nvSpPr>
        <p:spPr>
          <a:xfrm>
            <a:off x="6229064" y="2265807"/>
            <a:ext cx="5290376" cy="1460278"/>
          </a:xfrm>
          <a:prstGeom prst="roundRect">
            <a:avLst>
              <a:gd name="adj" fmla="val 166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9" name="Picture 8" descr="image.png"/>
          <p:cNvPicPr>
            <a:picLocks noChangeAspect="1"/>
          </p:cNvPicPr>
          <p:nvPr/>
        </p:nvPicPr>
        <p:blipFill>
          <a:blip r:embed="rId3"/>
          <a:stretch>
            <a:fillRect/>
          </a:stretch>
        </p:blipFill>
        <p:spPr>
          <a:xfrm>
            <a:off x="6521672" y="2642330"/>
            <a:ext cx="707041" cy="707041"/>
          </a:xfrm>
          <a:prstGeom prst="rect">
            <a:avLst/>
          </a:prstGeom>
        </p:spPr>
      </p:pic>
      <p:sp>
        <p:nvSpPr>
          <p:cNvPr id="10" name="TextBox 9"/>
          <p:cNvSpPr txBox="1"/>
          <p:nvPr/>
        </p:nvSpPr>
        <p:spPr>
          <a:xfrm>
            <a:off x="7435882" y="2597468"/>
            <a:ext cx="3866864" cy="788956"/>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Each parallel line becomes one card.</a:t>
            </a:r>
          </a:p>
        </p:txBody>
      </p:sp>
      <p:sp>
        <p:nvSpPr>
          <p:cNvPr id="11" name="Rounded Rectangle 10"/>
          <p:cNvSpPr/>
          <p:nvPr/>
        </p:nvSpPr>
        <p:spPr>
          <a:xfrm>
            <a:off x="670465" y="3994213"/>
            <a:ext cx="10848975" cy="1389602"/>
          </a:xfrm>
          <a:prstGeom prst="roundRect">
            <a:avLst>
              <a:gd name="adj" fmla="val 1754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4"/>
          <a:stretch>
            <a:fillRect/>
          </a:stretch>
        </p:blipFill>
        <p:spPr>
          <a:xfrm>
            <a:off x="963073" y="4335494"/>
            <a:ext cx="707041" cy="707041"/>
          </a:xfrm>
          <a:prstGeom prst="rect">
            <a:avLst/>
          </a:prstGeom>
        </p:spPr>
      </p:pic>
      <p:sp>
        <p:nvSpPr>
          <p:cNvPr id="13" name="TextBox 12"/>
          <p:cNvSpPr txBox="1"/>
          <p:nvPr/>
        </p:nvSpPr>
        <p:spPr>
          <a:xfrm>
            <a:off x="1877282" y="4485132"/>
            <a:ext cx="93876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This keeps such slides off the fallback path.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677543"/>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icons: none — no inferred glyphs</a:t>
            </a:r>
          </a:p>
        </p:txBody>
      </p:sp>
      <p:sp>
        <p:nvSpPr>
          <p:cNvPr id="5" name="Rounded Rectangle 4"/>
          <p:cNvSpPr/>
          <p:nvPr/>
        </p:nvSpPr>
        <p:spPr>
          <a:xfrm>
            <a:off x="670465" y="2206657"/>
            <a:ext cx="1733836"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741140" y="2216182"/>
            <a:ext cx="1640014"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icons: "none"</a:t>
            </a:r>
          </a:p>
        </p:txBody>
      </p:sp>
      <p:sp>
        <p:nvSpPr>
          <p:cNvPr id="7" name="TextBox 6"/>
          <p:cNvSpPr txBox="1"/>
          <p:nvPr/>
        </p:nvSpPr>
        <p:spPr>
          <a:xfrm>
            <a:off x="670465" y="2187607"/>
            <a:ext cx="10572274" cy="480441"/>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turns content-matching off for the set — a deck imported from slides without icons stays without them:</a:t>
            </a:r>
          </a:p>
        </p:txBody>
      </p:sp>
      <p:sp>
        <p:nvSpPr>
          <p:cNvPr id="8" name="Rounded Rectangle 7"/>
          <p:cNvSpPr/>
          <p:nvPr/>
        </p:nvSpPr>
        <p:spPr>
          <a:xfrm>
            <a:off x="670465" y="2978182"/>
            <a:ext cx="5313712" cy="1521904"/>
          </a:xfrm>
          <a:prstGeom prst="roundRect">
            <a:avLst>
              <a:gd name="adj" fmla="val 1602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911828" y="3251835"/>
            <a:ext cx="4869180" cy="329946"/>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No slot</a:t>
            </a:r>
          </a:p>
        </p:txBody>
      </p:sp>
      <p:sp>
        <p:nvSpPr>
          <p:cNvPr id="10" name="TextBox 9"/>
          <p:cNvSpPr txBox="1"/>
          <p:nvPr/>
        </p:nvSpPr>
        <p:spPr>
          <a:xfrm>
            <a:off x="911828" y="3646360"/>
            <a:ext cx="4922596" cy="545402"/>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The card draws no icon element at all, so the label starts at the card's edge.</a:t>
            </a:r>
          </a:p>
        </p:txBody>
      </p:sp>
      <p:sp>
        <p:nvSpPr>
          <p:cNvPr id="11" name="Rounded Rectangle 10"/>
          <p:cNvSpPr/>
          <p:nvPr/>
        </p:nvSpPr>
        <p:spPr>
          <a:xfrm>
            <a:off x="6205442" y="2978182"/>
            <a:ext cx="5313902" cy="1521904"/>
          </a:xfrm>
          <a:prstGeom prst="roundRect">
            <a:avLst>
              <a:gd name="adj" fmla="val 1602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446711" y="3251835"/>
            <a:ext cx="4869275" cy="329946"/>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Same grid</a:t>
            </a:r>
          </a:p>
        </p:txBody>
      </p:sp>
      <p:sp>
        <p:nvSpPr>
          <p:cNvPr id="13" name="TextBox 12"/>
          <p:cNvSpPr txBox="1"/>
          <p:nvPr/>
        </p:nvSpPr>
        <p:spPr>
          <a:xfrm>
            <a:off x="6446711" y="3646360"/>
            <a:ext cx="4922693" cy="545402"/>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Count still drives the layout — four cards are a 2×2, exactly as with icons.</a:t>
            </a:r>
          </a:p>
        </p:txBody>
      </p:sp>
      <p:sp>
        <p:nvSpPr>
          <p:cNvPr id="14" name="Rounded Rectangle 13"/>
          <p:cNvSpPr/>
          <p:nvPr/>
        </p:nvSpPr>
        <p:spPr>
          <a:xfrm>
            <a:off x="670465" y="4721257"/>
            <a:ext cx="5313712" cy="1527143"/>
          </a:xfrm>
          <a:prstGeom prst="roundRect">
            <a:avLst>
              <a:gd name="adj" fmla="val 1596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2"/>
          <a:stretch>
            <a:fillRect/>
          </a:stretch>
        </p:blipFill>
        <p:spPr>
          <a:xfrm>
            <a:off x="911828" y="5002720"/>
            <a:ext cx="583216" cy="583216"/>
          </a:xfrm>
          <a:prstGeom prst="rect">
            <a:avLst/>
          </a:prstGeom>
        </p:spPr>
      </p:pic>
      <p:sp>
        <p:nvSpPr>
          <p:cNvPr id="16" name="TextBox 15"/>
          <p:cNvSpPr txBox="1"/>
          <p:nvPr/>
        </p:nvSpPr>
        <p:spPr>
          <a:xfrm>
            <a:off x="1665922" y="4994910"/>
            <a:ext cx="4115086" cy="329946"/>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Named icons still draw</a:t>
            </a:r>
          </a:p>
        </p:txBody>
      </p:sp>
      <p:sp>
        <p:nvSpPr>
          <p:cNvPr id="17" name="TextBox 16"/>
          <p:cNvSpPr txBox="1"/>
          <p:nvPr/>
        </p:nvSpPr>
        <p:spPr>
          <a:xfrm>
            <a:off x="1665922" y="5389436"/>
            <a:ext cx="2817400" cy="251365"/>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An item that names its own</a:t>
            </a:r>
          </a:p>
        </p:txBody>
      </p:sp>
      <p:sp>
        <p:nvSpPr>
          <p:cNvPr id="18" name="Rounded Rectangle 17"/>
          <p:cNvSpPr/>
          <p:nvPr/>
        </p:nvSpPr>
        <p:spPr>
          <a:xfrm>
            <a:off x="4445127" y="5412962"/>
            <a:ext cx="640080" cy="251365"/>
          </a:xfrm>
          <a:prstGeom prst="roundRect">
            <a:avLst>
              <a:gd name="adj" fmla="val 19401"/>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515326" y="5420868"/>
            <a:ext cx="537686" cy="235648"/>
          </a:xfrm>
          <a:prstGeom prst="rect">
            <a:avLst/>
          </a:prstGeom>
          <a:noFill/>
        </p:spPr>
        <p:txBody>
          <a:bodyPr wrap="none" anchor="ctr" lIns="0" tIns="0" rIns="0" bIns="0">
            <a:noAutofit/>
          </a:bodyPr>
          <a:lstStyle/>
          <a:p>
            <a:pPr algn="l">
              <a:lnSpc>
                <a:spcPts val="2118"/>
              </a:lnSpc>
              <a:spcBef>
                <a:spcPts val="0"/>
              </a:spcBef>
              <a:spcAft>
                <a:spcPts val="0"/>
              </a:spcAft>
            </a:pPr>
            <a:r>
              <a:rPr sz="1630" b="0" i="0" u="none">
                <a:solidFill>
                  <a:srgbClr val="3B3535"/>
                </a:solidFill>
                <a:latin typeface="Courier New"/>
              </a:rPr>
              <a:t>icon</a:t>
            </a:r>
          </a:p>
        </p:txBody>
      </p:sp>
      <p:sp>
        <p:nvSpPr>
          <p:cNvPr id="20" name="TextBox 19"/>
          <p:cNvSpPr txBox="1"/>
          <p:nvPr/>
        </p:nvSpPr>
        <p:spPr>
          <a:xfrm>
            <a:off x="1665922" y="5691378"/>
            <a:ext cx="3497008" cy="251365"/>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keeps it; only the inferred ones go.</a:t>
            </a:r>
          </a:p>
        </p:txBody>
      </p:sp>
      <p:sp>
        <p:nvSpPr>
          <p:cNvPr id="21" name="Rounded Rectangle 20"/>
          <p:cNvSpPr/>
          <p:nvPr/>
        </p:nvSpPr>
        <p:spPr>
          <a:xfrm>
            <a:off x="6205442" y="4721257"/>
            <a:ext cx="5313902" cy="1527143"/>
          </a:xfrm>
          <a:prstGeom prst="roundRect">
            <a:avLst>
              <a:gd name="adj" fmla="val 1596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446711" y="4994910"/>
            <a:ext cx="4869275" cy="329946"/>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Per item too</a:t>
            </a:r>
          </a:p>
        </p:txBody>
      </p:sp>
      <p:sp>
        <p:nvSpPr>
          <p:cNvPr id="23" name="Rounded Rectangle 22"/>
          <p:cNvSpPr/>
          <p:nvPr/>
        </p:nvSpPr>
        <p:spPr>
          <a:xfrm>
            <a:off x="6446711" y="5412962"/>
            <a:ext cx="1639157" cy="251365"/>
          </a:xfrm>
          <a:prstGeom prst="roundRect">
            <a:avLst>
              <a:gd name="adj" fmla="val 19401"/>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517005" y="5420868"/>
            <a:ext cx="1536764" cy="235648"/>
          </a:xfrm>
          <a:prstGeom prst="rect">
            <a:avLst/>
          </a:prstGeom>
          <a:noFill/>
        </p:spPr>
        <p:txBody>
          <a:bodyPr wrap="none" anchor="ctr" lIns="0" tIns="0" rIns="0" bIns="0">
            <a:noAutofit/>
          </a:bodyPr>
          <a:lstStyle/>
          <a:p>
            <a:pPr algn="l">
              <a:lnSpc>
                <a:spcPts val="2118"/>
              </a:lnSpc>
              <a:spcBef>
                <a:spcPts val="0"/>
              </a:spcBef>
              <a:spcAft>
                <a:spcPts val="0"/>
              </a:spcAft>
            </a:pPr>
            <a:r>
              <a:rPr sz="1630" b="0" i="0" u="none">
                <a:solidFill>
                  <a:srgbClr val="3B3535"/>
                </a:solidFill>
                <a:latin typeface="Courier New"/>
              </a:rPr>
              <a:t>icon: "none"</a:t>
            </a:r>
          </a:p>
        </p:txBody>
      </p:sp>
      <p:sp>
        <p:nvSpPr>
          <p:cNvPr id="25" name="TextBox 24"/>
          <p:cNvSpPr txBox="1"/>
          <p:nvPr/>
        </p:nvSpPr>
        <p:spPr>
          <a:xfrm>
            <a:off x="6446711" y="5389436"/>
            <a:ext cx="4658296" cy="55340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on one card opts out just that card.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one item opted out</a:t>
            </a:r>
          </a:p>
        </p:txBody>
      </p:sp>
      <p:sp>
        <p:nvSpPr>
          <p:cNvPr id="5" name="Rectangle 4"/>
          <p:cNvSpPr/>
          <p:nvPr/>
        </p:nvSpPr>
        <p:spPr>
          <a:xfrm>
            <a:off x="670465" y="3165158"/>
            <a:ext cx="3372422" cy="16025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3165158"/>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70465" y="3357372"/>
            <a:ext cx="377857" cy="377857"/>
          </a:xfrm>
          <a:prstGeom prst="rect">
            <a:avLst/>
          </a:prstGeom>
        </p:spPr>
      </p:pic>
      <p:sp>
        <p:nvSpPr>
          <p:cNvPr id="8" name="TextBox 7"/>
          <p:cNvSpPr txBox="1"/>
          <p:nvPr/>
        </p:nvSpPr>
        <p:spPr>
          <a:xfrm>
            <a:off x="1218914" y="3357372"/>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Inferred</a:t>
            </a:r>
          </a:p>
        </p:txBody>
      </p:sp>
      <p:sp>
        <p:nvSpPr>
          <p:cNvPr id="9" name="TextBox 8"/>
          <p:cNvSpPr txBox="1"/>
          <p:nvPr/>
        </p:nvSpPr>
        <p:spPr>
          <a:xfrm>
            <a:off x="1218914" y="3824764"/>
            <a:ext cx="2885382" cy="924973"/>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This concept gets a content-matched glyph.</a:t>
            </a:r>
          </a:p>
        </p:txBody>
      </p:sp>
      <p:sp>
        <p:nvSpPr>
          <p:cNvPr id="10" name="Rectangle 9"/>
          <p:cNvSpPr/>
          <p:nvPr/>
        </p:nvSpPr>
        <p:spPr>
          <a:xfrm>
            <a:off x="4408551" y="3165158"/>
            <a:ext cx="3372612" cy="16025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4408551" y="3165158"/>
            <a:ext cx="337261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408551" y="3357372"/>
            <a:ext cx="341071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Opted out</a:t>
            </a:r>
          </a:p>
        </p:txBody>
      </p:sp>
      <p:sp>
        <p:nvSpPr>
          <p:cNvPr id="13" name="Rounded Rectangle 12"/>
          <p:cNvSpPr/>
          <p:nvPr/>
        </p:nvSpPr>
        <p:spPr>
          <a:xfrm>
            <a:off x="4408551" y="3816382"/>
            <a:ext cx="1768983" cy="276225"/>
          </a:xfrm>
          <a:prstGeom prst="roundRect">
            <a:avLst>
              <a:gd name="adj" fmla="val 17655"/>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485418" y="3825907"/>
            <a:ext cx="1662970" cy="257175"/>
          </a:xfrm>
          <a:prstGeom prst="rect">
            <a:avLst/>
          </a:prstGeom>
          <a:noFill/>
        </p:spPr>
        <p:txBody>
          <a:bodyPr wrap="none" anchor="ctr" lIns="0" tIns="0" rIns="0" bIns="0">
            <a:noAutofit/>
          </a:bodyPr>
          <a:lstStyle/>
          <a:p>
            <a:pPr algn="l">
              <a:lnSpc>
                <a:spcPts val="2385"/>
              </a:lnSpc>
              <a:spcBef>
                <a:spcPts val="0"/>
              </a:spcBef>
              <a:spcAft>
                <a:spcPts val="0"/>
              </a:spcAft>
            </a:pPr>
            <a:r>
              <a:rPr sz="1766" b="0" i="0" u="none">
                <a:solidFill>
                  <a:srgbClr val="3B3535"/>
                </a:solidFill>
                <a:latin typeface="Courier New"/>
              </a:rPr>
              <a:t>icon: "none"</a:t>
            </a:r>
          </a:p>
        </p:txBody>
      </p:sp>
      <p:sp>
        <p:nvSpPr>
          <p:cNvPr id="15" name="TextBox 14"/>
          <p:cNvSpPr txBox="1"/>
          <p:nvPr/>
        </p:nvSpPr>
        <p:spPr>
          <a:xfrm>
            <a:off x="4408551" y="3797332"/>
            <a:ext cx="3108388" cy="936593"/>
          </a:xfrm>
          <a:prstGeom prst="rect">
            <a:avLst/>
          </a:prstGeom>
          <a:noFill/>
        </p:spPr>
        <p:txBody>
          <a:bodyPr wrap="none" anchor="ctr" lIns="0" tIns="0" rIns="0" bIns="0">
            <a:noAutofit/>
          </a:bodyPr>
          <a:lstStyle/>
          <a:p>
            <a:pPr algn="l">
              <a:lnSpc>
                <a:spcPts val="2592"/>
              </a:lnSpc>
              <a:spcBef>
                <a:spcPts val="0"/>
              </a:spcBef>
              <a:spcAft>
                <a:spcPts val="0"/>
              </a:spcAft>
            </a:pPr>
            <a:r>
              <a:rPr sz="1920" b="0" i="0" u="none">
                <a:solidFill>
                  <a:srgbClr val="3B3535"/>
                </a:solidFill>
                <a:latin typeface="Arial"/>
              </a:rPr>
              <a:t>— the label aligns with the hairline, no indent.</a:t>
            </a:r>
          </a:p>
        </p:txBody>
      </p:sp>
      <p:sp>
        <p:nvSpPr>
          <p:cNvPr id="16" name="Rectangle 15"/>
          <p:cNvSpPr/>
          <p:nvPr/>
        </p:nvSpPr>
        <p:spPr>
          <a:xfrm>
            <a:off x="8146828" y="3165158"/>
            <a:ext cx="3372422" cy="16025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46828" y="3165158"/>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3"/>
          <a:stretch>
            <a:fillRect/>
          </a:stretch>
        </p:blipFill>
        <p:spPr>
          <a:xfrm>
            <a:off x="8146828" y="3357372"/>
            <a:ext cx="377857" cy="377857"/>
          </a:xfrm>
          <a:prstGeom prst="rect">
            <a:avLst/>
          </a:prstGeom>
        </p:spPr>
      </p:pic>
      <p:sp>
        <p:nvSpPr>
          <p:cNvPr id="19" name="TextBox 18"/>
          <p:cNvSpPr txBox="1"/>
          <p:nvPr/>
        </p:nvSpPr>
        <p:spPr>
          <a:xfrm>
            <a:off x="8695277" y="3357372"/>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Inferred again</a:t>
            </a:r>
          </a:p>
        </p:txBody>
      </p:sp>
      <p:sp>
        <p:nvSpPr>
          <p:cNvPr id="20" name="TextBox 19"/>
          <p:cNvSpPr txBox="1"/>
          <p:nvPr/>
        </p:nvSpPr>
        <p:spPr>
          <a:xfrm>
            <a:off x="8695277" y="3824764"/>
            <a:ext cx="2885382" cy="924973"/>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The set keeps one icon per item everywhere else.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Inline styling works in </a:t>
            </a:r>
            <a:r>
              <a:rPr sz="4032" b="1" i="1" u="none" spc="-40">
                <a:solidFill>
                  <a:srgbClr val="1F1E1E"/>
                </a:solidFill>
                <a:latin typeface="Arial"/>
              </a:rPr>
              <a:t>every</a:t>
            </a:r>
            <a:r>
              <a:rPr sz="4032" b="1" i="0" u="none" spc="-40">
                <a:solidFill>
                  <a:srgbClr val="1F1E1E"/>
                </a:solidFill>
                <a:latin typeface="Arial"/>
              </a:rPr>
              <a:t> field</a:t>
            </a:r>
          </a:p>
        </p:txBody>
      </p:sp>
      <p:sp>
        <p:nvSpPr>
          <p:cNvPr id="5" name="Rounded Rectangle 4"/>
          <p:cNvSpPr/>
          <p:nvPr/>
        </p:nvSpPr>
        <p:spPr>
          <a:xfrm>
            <a:off x="670465" y="1653635"/>
            <a:ext cx="1121378"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741140" y="1663160"/>
            <a:ext cx="1027557"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**bold**</a:t>
            </a:r>
          </a:p>
        </p:txBody>
      </p:sp>
      <p:sp>
        <p:nvSpPr>
          <p:cNvPr id="7" name="TextBox 6"/>
          <p:cNvSpPr txBox="1"/>
          <p:nvPr/>
        </p:nvSpPr>
        <p:spPr>
          <a:xfrm>
            <a:off x="1791938"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8" name="Rounded Rectangle 7"/>
          <p:cNvSpPr/>
          <p:nvPr/>
        </p:nvSpPr>
        <p:spPr>
          <a:xfrm>
            <a:off x="1915287" y="1653635"/>
            <a:ext cx="1121378"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985962" y="1663160"/>
            <a:ext cx="1027557"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*italic*</a:t>
            </a:r>
          </a:p>
        </p:txBody>
      </p:sp>
      <p:sp>
        <p:nvSpPr>
          <p:cNvPr id="10" name="TextBox 9"/>
          <p:cNvSpPr txBox="1"/>
          <p:nvPr/>
        </p:nvSpPr>
        <p:spPr>
          <a:xfrm>
            <a:off x="3036665"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1" name="Rounded Rectangle 10"/>
          <p:cNvSpPr/>
          <p:nvPr/>
        </p:nvSpPr>
        <p:spPr>
          <a:xfrm>
            <a:off x="3160109" y="1653635"/>
            <a:ext cx="1366361"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3230785" y="1663160"/>
            <a:ext cx="1272540"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~~strike~~</a:t>
            </a:r>
          </a:p>
        </p:txBody>
      </p:sp>
      <p:sp>
        <p:nvSpPr>
          <p:cNvPr id="13" name="TextBox 12"/>
          <p:cNvSpPr txBox="1"/>
          <p:nvPr/>
        </p:nvSpPr>
        <p:spPr>
          <a:xfrm>
            <a:off x="4526470"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4" name="Rounded Rectangle 13"/>
          <p:cNvSpPr/>
          <p:nvPr/>
        </p:nvSpPr>
        <p:spPr>
          <a:xfrm>
            <a:off x="4649819" y="1653635"/>
            <a:ext cx="876490"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720495" y="1663160"/>
            <a:ext cx="782574"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`code`</a:t>
            </a:r>
          </a:p>
        </p:txBody>
      </p:sp>
      <p:sp>
        <p:nvSpPr>
          <p:cNvPr id="16" name="TextBox 15"/>
          <p:cNvSpPr txBox="1"/>
          <p:nvPr/>
        </p:nvSpPr>
        <p:spPr>
          <a:xfrm>
            <a:off x="5526310"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7" name="Rounded Rectangle 16"/>
          <p:cNvSpPr/>
          <p:nvPr/>
        </p:nvSpPr>
        <p:spPr>
          <a:xfrm>
            <a:off x="5649658" y="1653635"/>
            <a:ext cx="1488853"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720334" y="1663160"/>
            <a:ext cx="1395032"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[text](url)</a:t>
            </a:r>
          </a:p>
        </p:txBody>
      </p:sp>
      <p:sp>
        <p:nvSpPr>
          <p:cNvPr id="19" name="TextBox 18"/>
          <p:cNvSpPr txBox="1"/>
          <p:nvPr/>
        </p:nvSpPr>
        <p:spPr>
          <a:xfrm>
            <a:off x="7138511" y="1634585"/>
            <a:ext cx="358482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and a naked URL are resolved in</a:t>
            </a:r>
          </a:p>
        </p:txBody>
      </p:sp>
      <p:sp>
        <p:nvSpPr>
          <p:cNvPr id="20" name="TextBox 19"/>
          <p:cNvSpPr txBox="1"/>
          <p:nvPr/>
        </p:nvSpPr>
        <p:spPr>
          <a:xfrm>
            <a:off x="10685240" y="1634585"/>
            <a:ext cx="617982"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every</a:t>
            </a:r>
          </a:p>
        </p:txBody>
      </p:sp>
      <p:sp>
        <p:nvSpPr>
          <p:cNvPr id="21" name="TextBox 20"/>
          <p:cNvSpPr txBox="1"/>
          <p:nvPr/>
        </p:nvSpPr>
        <p:spPr>
          <a:xfrm>
            <a:off x="670465" y="1867376"/>
            <a:ext cx="1283018"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text field of</a:t>
            </a:r>
          </a:p>
        </p:txBody>
      </p:sp>
      <p:sp>
        <p:nvSpPr>
          <p:cNvPr id="22" name="TextBox 21"/>
          <p:cNvSpPr txBox="1"/>
          <p:nvPr/>
        </p:nvSpPr>
        <p:spPr>
          <a:xfrm>
            <a:off x="1915382" y="1867376"/>
            <a:ext cx="617982"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every</a:t>
            </a:r>
          </a:p>
        </p:txBody>
      </p:sp>
      <p:sp>
        <p:nvSpPr>
          <p:cNvPr id="23" name="TextBox 22"/>
          <p:cNvSpPr txBox="1"/>
          <p:nvPr/>
        </p:nvSpPr>
        <p:spPr>
          <a:xfrm>
            <a:off x="2495264" y="1867376"/>
            <a:ext cx="108604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template:</a:t>
            </a:r>
          </a:p>
        </p:txBody>
      </p:sp>
      <p:sp>
        <p:nvSpPr>
          <p:cNvPr id="24" name="Rounded Rectangle 23"/>
          <p:cNvSpPr/>
          <p:nvPr/>
        </p:nvSpPr>
        <p:spPr>
          <a:xfrm>
            <a:off x="670465" y="2464118"/>
            <a:ext cx="3520535"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5" name="Picture 24" descr="image.png"/>
          <p:cNvPicPr>
            <a:picLocks noChangeAspect="1"/>
          </p:cNvPicPr>
          <p:nvPr/>
        </p:nvPicPr>
        <p:blipFill>
          <a:blip r:embed="rId2"/>
          <a:stretch>
            <a:fillRect/>
          </a:stretch>
        </p:blipFill>
        <p:spPr>
          <a:xfrm>
            <a:off x="826580" y="2646140"/>
            <a:ext cx="377190" cy="377190"/>
          </a:xfrm>
          <a:prstGeom prst="rect">
            <a:avLst/>
          </a:prstGeom>
        </p:spPr>
      </p:pic>
      <p:sp>
        <p:nvSpPr>
          <p:cNvPr id="26" name="TextBox 25"/>
          <p:cNvSpPr txBox="1"/>
          <p:nvPr/>
        </p:nvSpPr>
        <p:spPr>
          <a:xfrm>
            <a:off x="1314164" y="2641092"/>
            <a:ext cx="2758821"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Bold</a:t>
            </a:r>
            <a:r>
              <a:rPr sz="1476" b="1" i="0" u="none">
                <a:solidFill>
                  <a:srgbClr val="1F1E1E"/>
                </a:solidFill>
                <a:latin typeface="Arial"/>
              </a:rPr>
              <a:t> a figure</a:t>
            </a:r>
          </a:p>
        </p:txBody>
      </p:sp>
      <p:sp>
        <p:nvSpPr>
          <p:cNvPr id="27" name="TextBox 26"/>
          <p:cNvSpPr txBox="1"/>
          <p:nvPr/>
        </p:nvSpPr>
        <p:spPr>
          <a:xfrm>
            <a:off x="1314164" y="2896267"/>
            <a:ext cx="2780582" cy="620363"/>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Entrenar un LMM puede consumir </a:t>
            </a:r>
            <a:r>
              <a:rPr sz="1145" b="1" i="0" u="none">
                <a:solidFill>
                  <a:srgbClr val="3B3535"/>
                </a:solidFill>
                <a:latin typeface="Arial"/>
              </a:rPr>
              <a:t>700.000 litros</a:t>
            </a:r>
            <a:r>
              <a:rPr sz="1145" b="0" i="0" u="none">
                <a:solidFill>
                  <a:srgbClr val="3B3535"/>
                </a:solidFill>
                <a:latin typeface="Arial"/>
              </a:rPr>
              <a:t> de agua — the number carries the line, so it reads as the number.</a:t>
            </a:r>
          </a:p>
        </p:txBody>
      </p:sp>
      <p:sp>
        <p:nvSpPr>
          <p:cNvPr id="28" name="Rounded Rectangle 27"/>
          <p:cNvSpPr/>
          <p:nvPr/>
        </p:nvSpPr>
        <p:spPr>
          <a:xfrm>
            <a:off x="4334066" y="2464118"/>
            <a:ext cx="3520630"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9" name="Picture 28" descr="image.png"/>
          <p:cNvPicPr>
            <a:picLocks noChangeAspect="1"/>
          </p:cNvPicPr>
          <p:nvPr/>
        </p:nvPicPr>
        <p:blipFill>
          <a:blip r:embed="rId3"/>
          <a:stretch>
            <a:fillRect/>
          </a:stretch>
        </p:blipFill>
        <p:spPr>
          <a:xfrm>
            <a:off x="4490180" y="2646140"/>
            <a:ext cx="377190" cy="377190"/>
          </a:xfrm>
          <a:prstGeom prst="rect">
            <a:avLst/>
          </a:prstGeom>
        </p:spPr>
      </p:pic>
      <p:sp>
        <p:nvSpPr>
          <p:cNvPr id="30" name="TextBox 29"/>
          <p:cNvSpPr txBox="1"/>
          <p:nvPr/>
        </p:nvSpPr>
        <p:spPr>
          <a:xfrm>
            <a:off x="4977860" y="2641092"/>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1" u="none">
                <a:solidFill>
                  <a:srgbClr val="1F1E1E"/>
                </a:solidFill>
                <a:latin typeface="Arial"/>
              </a:rPr>
              <a:t>Italic</a:t>
            </a:r>
            <a:r>
              <a:rPr sz="1476" b="1" i="0" u="none">
                <a:solidFill>
                  <a:srgbClr val="1F1E1E"/>
                </a:solidFill>
                <a:latin typeface="Arial"/>
              </a:rPr>
              <a:t> a term</a:t>
            </a:r>
          </a:p>
        </p:txBody>
      </p:sp>
      <p:sp>
        <p:nvSpPr>
          <p:cNvPr id="31" name="TextBox 30"/>
          <p:cNvSpPr txBox="1"/>
          <p:nvPr/>
        </p:nvSpPr>
        <p:spPr>
          <a:xfrm>
            <a:off x="4977860" y="2896267"/>
            <a:ext cx="2780678" cy="620363"/>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The </a:t>
            </a:r>
            <a:r>
              <a:rPr sz="1145" b="0" i="1" u="none">
                <a:solidFill>
                  <a:srgbClr val="3B3535"/>
                </a:solidFill>
                <a:latin typeface="Arial"/>
              </a:rPr>
              <a:t>lead</a:t>
            </a:r>
            <a:r>
              <a:rPr sz="1145" b="0" i="0" u="none">
                <a:solidFill>
                  <a:srgbClr val="3B3535"/>
                </a:solidFill>
                <a:latin typeface="Arial"/>
              </a:rPr>
              <a:t> is the title's sub-line; the </a:t>
            </a:r>
            <a:r>
              <a:rPr sz="1145" b="0" i="1" u="none">
                <a:solidFill>
                  <a:srgbClr val="3B3535"/>
                </a:solidFill>
                <a:latin typeface="Arial"/>
              </a:rPr>
              <a:t>body</a:t>
            </a:r>
            <a:r>
              <a:rPr sz="1145" b="0" i="0" u="none">
                <a:solidFill>
                  <a:srgbClr val="3B3535"/>
                </a:solidFill>
                <a:latin typeface="Arial"/>
              </a:rPr>
              <a:t> is what follows it.</a:t>
            </a:r>
          </a:p>
        </p:txBody>
      </p:sp>
      <p:sp>
        <p:nvSpPr>
          <p:cNvPr id="32" name="Rounded Rectangle 31"/>
          <p:cNvSpPr/>
          <p:nvPr/>
        </p:nvSpPr>
        <p:spPr>
          <a:xfrm>
            <a:off x="7997762" y="2464118"/>
            <a:ext cx="3520630"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4"/>
          <a:stretch>
            <a:fillRect/>
          </a:stretch>
        </p:blipFill>
        <p:spPr>
          <a:xfrm>
            <a:off x="8153876" y="2646140"/>
            <a:ext cx="377190" cy="377190"/>
          </a:xfrm>
          <a:prstGeom prst="rect">
            <a:avLst/>
          </a:prstGeom>
        </p:spPr>
      </p:pic>
      <p:sp>
        <p:nvSpPr>
          <p:cNvPr id="34" name="Rounded Rectangle 33"/>
          <p:cNvSpPr/>
          <p:nvPr/>
        </p:nvSpPr>
        <p:spPr>
          <a:xfrm>
            <a:off x="8641556" y="2666524"/>
            <a:ext cx="530733" cy="203264"/>
          </a:xfrm>
          <a:prstGeom prst="roundRect">
            <a:avLst>
              <a:gd name="adj" fmla="val 239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8698611" y="2671572"/>
            <a:ext cx="454628" cy="193072"/>
          </a:xfrm>
          <a:prstGeom prst="rect">
            <a:avLst/>
          </a:prstGeom>
          <a:noFill/>
        </p:spPr>
        <p:txBody>
          <a:bodyPr wrap="none" anchor="ctr" lIns="0" tIns="0" rIns="0" bIns="0">
            <a:noAutofit/>
          </a:bodyPr>
          <a:lstStyle/>
          <a:p>
            <a:pPr algn="l">
              <a:lnSpc>
                <a:spcPts val="1493"/>
              </a:lnSpc>
              <a:spcBef>
                <a:spcPts val="0"/>
              </a:spcBef>
              <a:spcAft>
                <a:spcPts val="0"/>
              </a:spcAft>
            </a:pPr>
            <a:r>
              <a:rPr sz="1357" b="1" i="0" u="none">
                <a:solidFill>
                  <a:srgbClr val="1F1E1E"/>
                </a:solidFill>
                <a:latin typeface="Courier New"/>
              </a:rPr>
              <a:t>code</a:t>
            </a:r>
          </a:p>
        </p:txBody>
      </p:sp>
      <p:sp>
        <p:nvSpPr>
          <p:cNvPr id="36" name="TextBox 35"/>
          <p:cNvSpPr txBox="1"/>
          <p:nvPr/>
        </p:nvSpPr>
        <p:spPr>
          <a:xfrm>
            <a:off x="9172194" y="2641092"/>
            <a:ext cx="583025" cy="21336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inline</a:t>
            </a:r>
          </a:p>
        </p:txBody>
      </p:sp>
      <p:sp>
        <p:nvSpPr>
          <p:cNvPr id="37" name="TextBox 36"/>
          <p:cNvSpPr txBox="1"/>
          <p:nvPr/>
        </p:nvSpPr>
        <p:spPr>
          <a:xfrm>
            <a:off x="8641556" y="2910173"/>
            <a:ext cx="114423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 field name like</a:t>
            </a:r>
          </a:p>
        </p:txBody>
      </p:sp>
      <p:sp>
        <p:nvSpPr>
          <p:cNvPr id="38" name="Rounded Rectangle 37"/>
          <p:cNvSpPr/>
          <p:nvPr/>
        </p:nvSpPr>
        <p:spPr>
          <a:xfrm>
            <a:off x="9747694" y="2925413"/>
            <a:ext cx="138312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9793034" y="2930462"/>
            <a:ext cx="133045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slide-model.json</a:t>
            </a:r>
          </a:p>
        </p:txBody>
      </p:sp>
      <p:sp>
        <p:nvSpPr>
          <p:cNvPr id="40" name="TextBox 39"/>
          <p:cNvSpPr txBox="1"/>
          <p:nvPr/>
        </p:nvSpPr>
        <p:spPr>
          <a:xfrm>
            <a:off x="8641556" y="2910173"/>
            <a:ext cx="2698147"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or a flag like</a:t>
            </a:r>
          </a:p>
        </p:txBody>
      </p:sp>
      <p:sp>
        <p:nvSpPr>
          <p:cNvPr id="41" name="Rounded Rectangle 40"/>
          <p:cNvSpPr/>
          <p:nvPr/>
        </p:nvSpPr>
        <p:spPr>
          <a:xfrm>
            <a:off x="9300305" y="3120676"/>
            <a:ext cx="97926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9345740" y="3125724"/>
            <a:ext cx="92659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--print-pdf</a:t>
            </a:r>
          </a:p>
        </p:txBody>
      </p:sp>
      <p:sp>
        <p:nvSpPr>
          <p:cNvPr id="43" name="TextBox 42"/>
          <p:cNvSpPr txBox="1"/>
          <p:nvPr/>
        </p:nvSpPr>
        <p:spPr>
          <a:xfrm>
            <a:off x="8641556" y="3105436"/>
            <a:ext cx="2758059"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keeps the mono face, and</a:t>
            </a:r>
          </a:p>
        </p:txBody>
      </p:sp>
      <p:sp>
        <p:nvSpPr>
          <p:cNvPr id="44" name="TextBox 43"/>
          <p:cNvSpPr txBox="1"/>
          <p:nvPr/>
        </p:nvSpPr>
        <p:spPr>
          <a:xfrm>
            <a:off x="9284208" y="3300698"/>
            <a:ext cx="160210" cy="162592"/>
          </a:xfrm>
          <a:prstGeom prst="rect">
            <a:avLst/>
          </a:prstGeom>
          <a:noFill/>
        </p:spPr>
        <p:txBody>
          <a:bodyPr wrap="none" anchor="ctr" lIns="0" tIns="0" rIns="0" bIns="0">
            <a:noAutofit/>
          </a:bodyPr>
          <a:lstStyle/>
          <a:p>
            <a:pPr algn="l">
              <a:lnSpc>
                <a:spcPts val="2808"/>
              </a:lnSpc>
              <a:spcBef>
                <a:spcPts val="0"/>
              </a:spcBef>
              <a:spcAft>
                <a:spcPts val="0"/>
              </a:spcAft>
            </a:pPr>
            <a:r>
              <a:rPr sz="2160" b="1" i="0" u="none">
                <a:solidFill>
                  <a:srgbClr val="3B3535"/>
                </a:solidFill>
                <a:latin typeface="Arial"/>
              </a:rPr>
              <a:t>a</a:t>
            </a:r>
          </a:p>
        </p:txBody>
      </p:sp>
      <p:sp>
        <p:nvSpPr>
          <p:cNvPr id="45" name="Rounded Rectangle 44"/>
          <p:cNvSpPr/>
          <p:nvPr/>
        </p:nvSpPr>
        <p:spPr>
          <a:xfrm>
            <a:off x="9406318" y="3315938"/>
            <a:ext cx="333184"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9451753" y="3320987"/>
            <a:ext cx="280416" cy="152400"/>
          </a:xfrm>
          <a:prstGeom prst="rect">
            <a:avLst/>
          </a:prstGeom>
          <a:noFill/>
        </p:spPr>
        <p:txBody>
          <a:bodyPr wrap="none" anchor="ctr" lIns="0" tIns="0" rIns="0" bIns="0">
            <a:noAutofit/>
          </a:bodyPr>
          <a:lstStyle/>
          <a:p>
            <a:pPr algn="l">
              <a:lnSpc>
                <a:spcPts val="1369"/>
              </a:lnSpc>
              <a:spcBef>
                <a:spcPts val="0"/>
              </a:spcBef>
              <a:spcAft>
                <a:spcPts val="0"/>
              </a:spcAft>
            </a:pPr>
            <a:r>
              <a:rPr sz="1053" b="1" i="0" u="none">
                <a:solidFill>
                  <a:srgbClr val="3B3535"/>
                </a:solidFill>
                <a:latin typeface="Courier New"/>
              </a:rPr>
              <a:t>.md</a:t>
            </a:r>
          </a:p>
        </p:txBody>
      </p:sp>
      <p:sp>
        <p:nvSpPr>
          <p:cNvPr id="47" name="TextBox 46"/>
          <p:cNvSpPr txBox="1"/>
          <p:nvPr/>
        </p:nvSpPr>
        <p:spPr>
          <a:xfrm>
            <a:off x="8641556" y="3300698"/>
            <a:ext cx="2485930" cy="357854"/>
          </a:xfrm>
          <a:prstGeom prst="rect">
            <a:avLst/>
          </a:prstGeom>
          <a:noFill/>
        </p:spPr>
        <p:txBody>
          <a:bodyPr wrap="none" anchor="ctr" lIns="0" tIns="0" rIns="0" bIns="0">
            <a:noAutofit/>
          </a:bodyPr>
          <a:lstStyle/>
          <a:p>
            <a:pPr algn="l">
              <a:lnSpc>
                <a:spcPts val="2808"/>
              </a:lnSpc>
              <a:spcBef>
                <a:spcPts val="0"/>
              </a:spcBef>
              <a:spcAft>
                <a:spcPts val="0"/>
              </a:spcAft>
            </a:pPr>
            <a:r>
              <a:rPr sz="2160" b="1" i="0" u="none">
                <a:solidFill>
                  <a:srgbClr val="3B3535"/>
                </a:solidFill>
                <a:latin typeface="Arial"/>
              </a:rPr>
              <a:t>file named inside a bolded phrase</a:t>
            </a:r>
          </a:p>
        </p:txBody>
      </p:sp>
      <p:sp>
        <p:nvSpPr>
          <p:cNvPr id="48" name="TextBox 47"/>
          <p:cNvSpPr txBox="1"/>
          <p:nvPr/>
        </p:nvSpPr>
        <p:spPr>
          <a:xfrm>
            <a:off x="9641586" y="3495961"/>
            <a:ext cx="1363694"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stays bold across it.</a:t>
            </a:r>
          </a:p>
        </p:txBody>
      </p:sp>
      <p:sp>
        <p:nvSpPr>
          <p:cNvPr id="49" name="Rounded Rectangle 48"/>
          <p:cNvSpPr/>
          <p:nvPr/>
        </p:nvSpPr>
        <p:spPr>
          <a:xfrm>
            <a:off x="670465" y="4001072"/>
            <a:ext cx="3520535"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0" name="Picture 49" descr="image.png"/>
          <p:cNvPicPr>
            <a:picLocks noChangeAspect="1"/>
          </p:cNvPicPr>
          <p:nvPr/>
        </p:nvPicPr>
        <p:blipFill>
          <a:blip r:embed="rId5"/>
          <a:stretch>
            <a:fillRect/>
          </a:stretch>
        </p:blipFill>
        <p:spPr>
          <a:xfrm>
            <a:off x="826580" y="4183094"/>
            <a:ext cx="377190" cy="377190"/>
          </a:xfrm>
          <a:prstGeom prst="rect">
            <a:avLst/>
          </a:prstGeom>
        </p:spPr>
      </p:pic>
      <p:sp>
        <p:nvSpPr>
          <p:cNvPr id="51" name="TextBox 50"/>
          <p:cNvSpPr txBox="1"/>
          <p:nvPr/>
        </p:nvSpPr>
        <p:spPr>
          <a:xfrm>
            <a:off x="1314164" y="4177951"/>
            <a:ext cx="2758821"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strike="sngStrike">
                <a:solidFill>
                  <a:srgbClr val="1F1E1E"/>
                </a:solidFill>
                <a:latin typeface="Arial"/>
              </a:rPr>
              <a:t>Strike</a:t>
            </a:r>
            <a:r>
              <a:rPr sz="1476" b="1" i="0" u="none">
                <a:solidFill>
                  <a:srgbClr val="1F1E1E"/>
                </a:solidFill>
                <a:latin typeface="Arial"/>
              </a:rPr>
              <a:t> a superseded value</a:t>
            </a:r>
          </a:p>
        </p:txBody>
      </p:sp>
      <p:sp>
        <p:nvSpPr>
          <p:cNvPr id="52" name="TextBox 51"/>
          <p:cNvSpPr txBox="1"/>
          <p:nvPr/>
        </p:nvSpPr>
        <p:spPr>
          <a:xfrm>
            <a:off x="1314164" y="4433126"/>
            <a:ext cx="2780582" cy="899446"/>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A figure the slide corrects reads </a:t>
            </a:r>
            <a:r>
              <a:rPr sz="1145" b="0" i="0" u="none" strike="sngStrike">
                <a:solidFill>
                  <a:srgbClr val="3B3535"/>
                </a:solidFill>
                <a:latin typeface="Arial"/>
              </a:rPr>
              <a:t>1.2M</a:t>
            </a:r>
            <a:r>
              <a:rPr sz="1145" b="0" i="0" u="none">
                <a:solidFill>
                  <a:srgbClr val="3B3535"/>
                </a:solidFill>
                <a:latin typeface="Arial"/>
              </a:rPr>
              <a:t> </a:t>
            </a:r>
            <a:r>
              <a:rPr sz="1145" b="1" i="0" u="none">
                <a:solidFill>
                  <a:srgbClr val="3B3535"/>
                </a:solidFill>
                <a:latin typeface="Arial"/>
              </a:rPr>
              <a:t>4.4M</a:t>
            </a:r>
            <a:r>
              <a:rPr sz="1145" b="0" i="0" u="none">
                <a:solidFill>
                  <a:srgbClr val="3B3535"/>
                </a:solidFill>
                <a:latin typeface="Arial"/>
              </a:rPr>
              <a:t> — struck, not deleted, so the correction is visible.</a:t>
            </a:r>
          </a:p>
        </p:txBody>
      </p:sp>
      <p:sp>
        <p:nvSpPr>
          <p:cNvPr id="53" name="Rounded Rectangle 52"/>
          <p:cNvSpPr/>
          <p:nvPr/>
        </p:nvSpPr>
        <p:spPr>
          <a:xfrm>
            <a:off x="4334066" y="4001072"/>
            <a:ext cx="3520630"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4" name="Picture 53" descr="image.png"/>
          <p:cNvPicPr>
            <a:picLocks noChangeAspect="1"/>
          </p:cNvPicPr>
          <p:nvPr/>
        </p:nvPicPr>
        <p:blipFill>
          <a:blip r:embed="rId6"/>
          <a:stretch>
            <a:fillRect/>
          </a:stretch>
        </p:blipFill>
        <p:spPr>
          <a:xfrm>
            <a:off x="4490180" y="4183094"/>
            <a:ext cx="377190" cy="377190"/>
          </a:xfrm>
          <a:prstGeom prst="rect">
            <a:avLst/>
          </a:prstGeom>
        </p:spPr>
      </p:pic>
      <p:sp>
        <p:nvSpPr>
          <p:cNvPr id="55" name="TextBox 54"/>
          <p:cNvSpPr txBox="1"/>
          <p:nvPr/>
        </p:nvSpPr>
        <p:spPr>
          <a:xfrm>
            <a:off x="4977860" y="4177951"/>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A titled </a:t>
            </a:r>
            <a:r>
              <a:rPr sz="1476" b="1" i="0" u="sng">
                <a:solidFill>
                  <a:srgbClr val="DA1B2E"/>
                </a:solidFill>
                <a:latin typeface="Arial"/>
                <a:hlinkClick r:id="rId7"/>
              </a:rPr>
              <a:t>link</a:t>
            </a:r>
          </a:p>
        </p:txBody>
      </p:sp>
      <p:sp>
        <p:nvSpPr>
          <p:cNvPr id="56" name="Rounded Rectangle 55"/>
          <p:cNvSpPr/>
          <p:nvPr/>
        </p:nvSpPr>
        <p:spPr>
          <a:xfrm>
            <a:off x="4977860" y="4448366"/>
            <a:ext cx="97926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5023199" y="4453414"/>
            <a:ext cx="92659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[text](url)</a:t>
            </a:r>
          </a:p>
        </p:txBody>
      </p:sp>
      <p:sp>
        <p:nvSpPr>
          <p:cNvPr id="58" name="TextBox 57"/>
          <p:cNvSpPr txBox="1"/>
          <p:nvPr/>
        </p:nvSpPr>
        <p:spPr>
          <a:xfrm>
            <a:off x="4977860" y="4433126"/>
            <a:ext cx="2660523"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shows the title and hides the address. Only</a:t>
            </a:r>
          </a:p>
        </p:txBody>
      </p:sp>
      <p:sp>
        <p:nvSpPr>
          <p:cNvPr id="59" name="Rounded Rectangle 58"/>
          <p:cNvSpPr/>
          <p:nvPr/>
        </p:nvSpPr>
        <p:spPr>
          <a:xfrm>
            <a:off x="6165247" y="4643628"/>
            <a:ext cx="494633"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6210681" y="4648772"/>
            <a:ext cx="441960"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http:</a:t>
            </a:r>
          </a:p>
        </p:txBody>
      </p:sp>
      <p:sp>
        <p:nvSpPr>
          <p:cNvPr id="61" name="TextBox 60"/>
          <p:cNvSpPr txBox="1"/>
          <p:nvPr/>
        </p:nvSpPr>
        <p:spPr>
          <a:xfrm>
            <a:off x="6659880" y="4628388"/>
            <a:ext cx="119443"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t>
            </a:r>
          </a:p>
        </p:txBody>
      </p:sp>
      <p:sp>
        <p:nvSpPr>
          <p:cNvPr id="62" name="Rounded Rectangle 61"/>
          <p:cNvSpPr/>
          <p:nvPr/>
        </p:nvSpPr>
        <p:spPr>
          <a:xfrm>
            <a:off x="6741319" y="4643628"/>
            <a:ext cx="575500"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3" name="TextBox 62"/>
          <p:cNvSpPr txBox="1"/>
          <p:nvPr/>
        </p:nvSpPr>
        <p:spPr>
          <a:xfrm>
            <a:off x="6786658" y="4648772"/>
            <a:ext cx="52273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https:</a:t>
            </a:r>
          </a:p>
        </p:txBody>
      </p:sp>
      <p:sp>
        <p:nvSpPr>
          <p:cNvPr id="64" name="TextBox 63"/>
          <p:cNvSpPr txBox="1"/>
          <p:nvPr/>
        </p:nvSpPr>
        <p:spPr>
          <a:xfrm>
            <a:off x="7316724" y="4628388"/>
            <a:ext cx="32289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and</a:t>
            </a:r>
          </a:p>
        </p:txBody>
      </p:sp>
      <p:sp>
        <p:nvSpPr>
          <p:cNvPr id="65" name="Rounded Rectangle 64"/>
          <p:cNvSpPr/>
          <p:nvPr/>
        </p:nvSpPr>
        <p:spPr>
          <a:xfrm>
            <a:off x="4977860" y="4838986"/>
            <a:ext cx="656177"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6" name="TextBox 65"/>
          <p:cNvSpPr txBox="1"/>
          <p:nvPr/>
        </p:nvSpPr>
        <p:spPr>
          <a:xfrm>
            <a:off x="5023199" y="4844034"/>
            <a:ext cx="603504"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mailto:</a:t>
            </a:r>
          </a:p>
        </p:txBody>
      </p:sp>
      <p:sp>
        <p:nvSpPr>
          <p:cNvPr id="67" name="TextBox 66"/>
          <p:cNvSpPr txBox="1"/>
          <p:nvPr/>
        </p:nvSpPr>
        <p:spPr>
          <a:xfrm>
            <a:off x="5634038" y="4823746"/>
            <a:ext cx="525970"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link —</a:t>
            </a:r>
          </a:p>
        </p:txBody>
      </p:sp>
      <p:sp>
        <p:nvSpPr>
          <p:cNvPr id="68" name="Rounded Rectangle 67"/>
          <p:cNvSpPr/>
          <p:nvPr/>
        </p:nvSpPr>
        <p:spPr>
          <a:xfrm>
            <a:off x="6121908" y="4838986"/>
            <a:ext cx="1463897"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TextBox 68"/>
          <p:cNvSpPr txBox="1"/>
          <p:nvPr/>
        </p:nvSpPr>
        <p:spPr>
          <a:xfrm>
            <a:off x="6167342" y="4844034"/>
            <a:ext cx="1411129"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[x](javascript:…)</a:t>
            </a:r>
          </a:p>
        </p:txBody>
      </p:sp>
      <p:sp>
        <p:nvSpPr>
          <p:cNvPr id="70" name="TextBox 69"/>
          <p:cNvSpPr txBox="1"/>
          <p:nvPr/>
        </p:nvSpPr>
        <p:spPr>
          <a:xfrm>
            <a:off x="4977860" y="5019008"/>
            <a:ext cx="108708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stays literal text.</a:t>
            </a:r>
          </a:p>
        </p:txBody>
      </p:sp>
      <p:sp>
        <p:nvSpPr>
          <p:cNvPr id="71" name="Rounded Rectangle 70"/>
          <p:cNvSpPr/>
          <p:nvPr/>
        </p:nvSpPr>
        <p:spPr>
          <a:xfrm>
            <a:off x="7997762" y="4001072"/>
            <a:ext cx="3520630"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2" name="Picture 71" descr="image.png"/>
          <p:cNvPicPr>
            <a:picLocks noChangeAspect="1"/>
          </p:cNvPicPr>
          <p:nvPr/>
        </p:nvPicPr>
        <p:blipFill>
          <a:blip r:embed="rId8"/>
          <a:stretch>
            <a:fillRect/>
          </a:stretch>
        </p:blipFill>
        <p:spPr>
          <a:xfrm>
            <a:off x="8153876" y="4183094"/>
            <a:ext cx="377190" cy="377190"/>
          </a:xfrm>
          <a:prstGeom prst="rect">
            <a:avLst/>
          </a:prstGeom>
        </p:spPr>
      </p:pic>
      <p:sp>
        <p:nvSpPr>
          <p:cNvPr id="73" name="TextBox 72"/>
          <p:cNvSpPr txBox="1"/>
          <p:nvPr/>
        </p:nvSpPr>
        <p:spPr>
          <a:xfrm>
            <a:off x="8641556" y="4177951"/>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URLs link themselves</a:t>
            </a:r>
          </a:p>
        </p:txBody>
      </p:sp>
      <p:sp>
        <p:nvSpPr>
          <p:cNvPr id="74" name="TextBox 73"/>
          <p:cNvSpPr txBox="1"/>
          <p:nvPr/>
        </p:nvSpPr>
        <p:spPr>
          <a:xfrm>
            <a:off x="8641556" y="4433126"/>
            <a:ext cx="2780678" cy="1113187"/>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Raw as </a:t>
            </a:r>
            <a:r>
              <a:rPr sz="1145" b="1" i="0" u="sng">
                <a:solidFill>
                  <a:srgbClr val="DA1B2E"/>
                </a:solidFill>
                <a:latin typeface="Arial"/>
                <a:hlinkClick r:id="rId9"/>
              </a:rPr>
              <a:t>https://www.who.int/data</a:t>
            </a:r>
            <a:r>
              <a:rPr sz="1145" b="0" i="0" u="none">
                <a:solidFill>
                  <a:srgbClr val="3B3535"/>
                </a:solidFill>
                <a:latin typeface="Arial"/>
              </a:rPr>
              <a:t>, the angle form </a:t>
            </a:r>
            <a:r>
              <a:rPr sz="1145" b="1" i="0" u="sng">
                <a:solidFill>
                  <a:srgbClr val="DA1B2E"/>
                </a:solidFill>
                <a:latin typeface="Arial"/>
                <a:hlinkClick r:id="rId10"/>
              </a:rPr>
              <a:t>https://who.int</a:t>
            </a:r>
            <a:r>
              <a:rPr sz="1145" b="0" i="0" u="none">
                <a:solidFill>
                  <a:srgbClr val="3B3535"/>
                </a:solidFill>
                <a:latin typeface="Arial"/>
              </a:rPr>
              <a:t>, </a:t>
            </a:r>
            <a:r>
              <a:rPr sz="1145" b="1" i="0" u="sng">
                <a:solidFill>
                  <a:srgbClr val="DA1B2E"/>
                </a:solidFill>
                <a:latin typeface="Arial"/>
                <a:hlinkClick r:id="rId11"/>
              </a:rPr>
              <a:t>www.who.int/es</a:t>
            </a:r>
            <a:r>
              <a:rPr sz="1145" b="0" i="0" u="none">
                <a:solidFill>
                  <a:srgbClr val="3B3535"/>
                </a:solidFill>
                <a:latin typeface="Arial"/>
              </a:rPr>
              <a:t>, and even schemeless — </a:t>
            </a:r>
            <a:r>
              <a:rPr sz="1145" b="1" i="0" u="sng">
                <a:solidFill>
                  <a:srgbClr val="DA1B2E"/>
                </a:solidFill>
                <a:latin typeface="Arial"/>
                <a:hlinkClick r:id="rId12"/>
              </a:rPr>
              <a:t>app.sli.do/event/x</a:t>
            </a:r>
            <a:r>
              <a:rPr sz="1145" b="0" i="0" u="none">
                <a:solidFill>
                  <a:srgbClr val="3B3535"/>
                </a:solidFill>
                <a:latin typeface="Arial"/>
              </a:rPr>
              <a:t> — all become clickable. The trailing period stays outside.</a:t>
            </a:r>
          </a:p>
        </p:txBody>
      </p:sp>
      <p:sp>
        <p:nvSpPr>
          <p:cNvPr id="75" name="TextBox 74"/>
          <p:cNvSpPr txBox="1"/>
          <p:nvPr/>
        </p:nvSpPr>
        <p:spPr>
          <a:xfrm>
            <a:off x="670465" y="6027230"/>
            <a:ext cx="7180993"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7"/>
              </a:rPr>
              <a:t>WHO — Ethics and governance of AI for health</a:t>
            </a:r>
            <a:r>
              <a:rPr sz="1402" b="0" i="0" u="none">
                <a:solidFill>
                  <a:srgbClr val="6E6663"/>
                </a:solidFill>
                <a:latin typeface="Arial"/>
              </a:rPr>
              <a:t> (2024) — dudas a </a:t>
            </a:r>
            <a:r>
              <a:rPr sz="1402" b="1" i="0" u="sng">
                <a:solidFill>
                  <a:srgbClr val="DA1B2E"/>
                </a:solidFill>
                <a:latin typeface="Arial"/>
                <a:hlinkClick r:id="rId13"/>
              </a:rPr>
              <a:t>este correo</a:t>
            </a:r>
            <a:r>
              <a:rPr sz="1402" b="0" i="0" u="none">
                <a:solidFill>
                  <a:srgbClr val="6E6663"/>
                </a:solidFill>
                <a:latin typeface="Arial"/>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1956816"/>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04</a:t>
            </a:r>
          </a:p>
        </p:txBody>
      </p:sp>
      <p:sp>
        <p:nvSpPr>
          <p:cNvPr id="17" name="TextBox 16"/>
          <p:cNvSpPr txBox="1"/>
          <p:nvPr/>
        </p:nvSpPr>
        <p:spPr>
          <a:xfrm>
            <a:off x="8262938" y="3453574"/>
            <a:ext cx="3326527"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Ordered &amp; comparison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an ordered sequence of steps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Use process when order carries meaning — steps, phases, or a numbered flow:</a:t>
            </a:r>
          </a:p>
        </p:txBody>
      </p:sp>
      <p:sp>
        <p:nvSpPr>
          <p:cNvPr id="6" name="Rounded Rectangle 5"/>
          <p:cNvSpPr/>
          <p:nvPr/>
        </p:nvSpPr>
        <p:spPr>
          <a:xfrm>
            <a:off x="670465" y="2686050"/>
            <a:ext cx="3437477"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990" y="2695575"/>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937165" y="3805047"/>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1</a:t>
            </a:r>
          </a:p>
        </p:txBody>
      </p:sp>
      <p:sp>
        <p:nvSpPr>
          <p:cNvPr id="9" name="TextBox 8"/>
          <p:cNvSpPr txBox="1"/>
          <p:nvPr/>
        </p:nvSpPr>
        <p:spPr>
          <a:xfrm>
            <a:off x="1679638" y="2944749"/>
            <a:ext cx="2188654"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Classify</a:t>
            </a:r>
          </a:p>
        </p:txBody>
      </p:sp>
      <p:sp>
        <p:nvSpPr>
          <p:cNvPr id="10" name="TextBox 9"/>
          <p:cNvSpPr txBox="1"/>
          <p:nvPr/>
        </p:nvSpPr>
        <p:spPr>
          <a:xfrm>
            <a:off x="1679638" y="3409474"/>
            <a:ext cx="2201863" cy="1658112"/>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The fill step reads final.md and picks each slide's template.</a:t>
            </a:r>
          </a:p>
        </p:txBody>
      </p:sp>
      <p:sp>
        <p:nvSpPr>
          <p:cNvPr id="11" name="Rounded Rectangle 10"/>
          <p:cNvSpPr/>
          <p:nvPr/>
        </p:nvSpPr>
        <p:spPr>
          <a:xfrm>
            <a:off x="4376166" y="2686050"/>
            <a:ext cx="3437477"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385691" y="2695575"/>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4642866" y="3805047"/>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2</a:t>
            </a:r>
          </a:p>
        </p:txBody>
      </p:sp>
      <p:sp>
        <p:nvSpPr>
          <p:cNvPr id="14" name="TextBox 13"/>
          <p:cNvSpPr txBox="1"/>
          <p:nvPr/>
        </p:nvSpPr>
        <p:spPr>
          <a:xfrm>
            <a:off x="5385340" y="2944749"/>
            <a:ext cx="2188654"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Decompose</a:t>
            </a:r>
          </a:p>
        </p:txBody>
      </p:sp>
      <p:sp>
        <p:nvSpPr>
          <p:cNvPr id="15" name="TextBox 14"/>
          <p:cNvSpPr txBox="1"/>
          <p:nvPr/>
        </p:nvSpPr>
        <p:spPr>
          <a:xfrm>
            <a:off x="5385340" y="3409474"/>
            <a:ext cx="2201863" cy="1658112"/>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It splits the body into that template's exact required fields.</a:t>
            </a:r>
          </a:p>
        </p:txBody>
      </p:sp>
      <p:sp>
        <p:nvSpPr>
          <p:cNvPr id="16" name="Rounded Rectangle 15"/>
          <p:cNvSpPr/>
          <p:nvPr/>
        </p:nvSpPr>
        <p:spPr>
          <a:xfrm>
            <a:off x="8081772" y="2686050"/>
            <a:ext cx="3437668"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091297" y="2695575"/>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8348472" y="3805047"/>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3</a:t>
            </a:r>
          </a:p>
        </p:txBody>
      </p:sp>
      <p:sp>
        <p:nvSpPr>
          <p:cNvPr id="19" name="TextBox 18"/>
          <p:cNvSpPr txBox="1"/>
          <p:nvPr/>
        </p:nvSpPr>
        <p:spPr>
          <a:xfrm>
            <a:off x="9091041" y="2944749"/>
            <a:ext cx="218884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Render</a:t>
            </a:r>
          </a:p>
        </p:txBody>
      </p:sp>
      <p:sp>
        <p:nvSpPr>
          <p:cNvPr id="20" name="TextBox 19"/>
          <p:cNvSpPr txBox="1"/>
          <p:nvPr/>
        </p:nvSpPr>
        <p:spPr>
          <a:xfrm>
            <a:off x="9091041" y="3409474"/>
            <a:ext cx="2202056" cy="1684210"/>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build_html.py maps those fields onto Jinja templates, mechanically.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plain enumeration → the numbered list</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Seven unlabeled lines: no labels to card up, so they number instead of falling to bullets.</a:t>
            </a:r>
          </a:p>
        </p:txBody>
      </p:sp>
      <p:sp>
        <p:nvSpPr>
          <p:cNvPr id="6" name="Oval 5"/>
          <p:cNvSpPr/>
          <p:nvPr/>
        </p:nvSpPr>
        <p:spPr>
          <a:xfrm>
            <a:off x="670465" y="2237804"/>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814864" y="2316575"/>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1</a:t>
            </a:r>
          </a:p>
        </p:txBody>
      </p:sp>
      <p:sp>
        <p:nvSpPr>
          <p:cNvPr id="8" name="TextBox 7"/>
          <p:cNvSpPr txBox="1"/>
          <p:nvPr/>
        </p:nvSpPr>
        <p:spPr>
          <a:xfrm>
            <a:off x="1352360" y="2219039"/>
            <a:ext cx="6053614"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Uno cada dos clases, relacionado con temas vistos.</a:t>
            </a:r>
          </a:p>
        </p:txBody>
      </p:sp>
      <p:sp>
        <p:nvSpPr>
          <p:cNvPr id="9" name="Oval 8"/>
          <p:cNvSpPr/>
          <p:nvPr/>
        </p:nvSpPr>
        <p:spPr>
          <a:xfrm>
            <a:off x="670465" y="2839879"/>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814864" y="2918650"/>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2</a:t>
            </a:r>
          </a:p>
        </p:txBody>
      </p:sp>
      <p:sp>
        <p:nvSpPr>
          <p:cNvPr id="11" name="TextBox 10"/>
          <p:cNvSpPr txBox="1"/>
          <p:nvPr/>
        </p:nvSpPr>
        <p:spPr>
          <a:xfrm>
            <a:off x="1352360" y="2821114"/>
            <a:ext cx="3031808"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 grupos de 2 personas.</a:t>
            </a:r>
          </a:p>
        </p:txBody>
      </p:sp>
      <p:sp>
        <p:nvSpPr>
          <p:cNvPr id="12" name="Oval 11"/>
          <p:cNvSpPr/>
          <p:nvPr/>
        </p:nvSpPr>
        <p:spPr>
          <a:xfrm>
            <a:off x="670465" y="3442049"/>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14864" y="3520821"/>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3</a:t>
            </a:r>
          </a:p>
        </p:txBody>
      </p:sp>
      <p:sp>
        <p:nvSpPr>
          <p:cNvPr id="14" name="TextBox 13"/>
          <p:cNvSpPr txBox="1"/>
          <p:nvPr/>
        </p:nvSpPr>
        <p:spPr>
          <a:xfrm>
            <a:off x="1352360" y="3423285"/>
            <a:ext cx="3129058"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Valen </a:t>
            </a:r>
            <a:r>
              <a:rPr sz="2053" b="1" i="0" u="none">
                <a:solidFill>
                  <a:srgbClr val="3B3535"/>
                </a:solidFill>
                <a:latin typeface="Arial"/>
              </a:rPr>
              <a:t>40%</a:t>
            </a:r>
            <a:r>
              <a:rPr sz="2053" b="0" i="0" u="none">
                <a:solidFill>
                  <a:srgbClr val="3B3535"/>
                </a:solidFill>
                <a:latin typeface="Arial"/>
              </a:rPr>
              <a:t> de la nota final.</a:t>
            </a:r>
          </a:p>
        </p:txBody>
      </p:sp>
      <p:sp>
        <p:nvSpPr>
          <p:cNvPr id="15" name="Oval 14"/>
          <p:cNvSpPr/>
          <p:nvPr/>
        </p:nvSpPr>
        <p:spPr>
          <a:xfrm>
            <a:off x="670465" y="4044124"/>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14864" y="4122896"/>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4</a:t>
            </a:r>
          </a:p>
        </p:txBody>
      </p:sp>
      <p:sp>
        <p:nvSpPr>
          <p:cNvPr id="17" name="TextBox 16"/>
          <p:cNvSpPr txBox="1"/>
          <p:nvPr/>
        </p:nvSpPr>
        <p:spPr>
          <a:xfrm>
            <a:off x="1352360" y="4025360"/>
            <a:ext cx="5181981"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Gran parte del trabajo se completa en clase.</a:t>
            </a:r>
          </a:p>
        </p:txBody>
      </p:sp>
      <p:sp>
        <p:nvSpPr>
          <p:cNvPr id="18" name="Oval 17"/>
          <p:cNvSpPr/>
          <p:nvPr/>
        </p:nvSpPr>
        <p:spPr>
          <a:xfrm>
            <a:off x="670465" y="4646200"/>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14864" y="4725067"/>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5</a:t>
            </a:r>
          </a:p>
        </p:txBody>
      </p:sp>
      <p:sp>
        <p:nvSpPr>
          <p:cNvPr id="20" name="TextBox 19"/>
          <p:cNvSpPr txBox="1"/>
          <p:nvPr/>
        </p:nvSpPr>
        <p:spPr>
          <a:xfrm>
            <a:off x="1352360" y="4627531"/>
            <a:ext cx="6867430"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Entrega: antes del viernes siguiente vía repositorio GitHub.</a:t>
            </a:r>
          </a:p>
        </p:txBody>
      </p:sp>
      <p:sp>
        <p:nvSpPr>
          <p:cNvPr id="21" name="Oval 20"/>
          <p:cNvSpPr/>
          <p:nvPr/>
        </p:nvSpPr>
        <p:spPr>
          <a:xfrm>
            <a:off x="670465" y="5248370"/>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814864" y="5327142"/>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6</a:t>
            </a:r>
          </a:p>
        </p:txBody>
      </p:sp>
      <p:sp>
        <p:nvSpPr>
          <p:cNvPr id="23" name="TextBox 22"/>
          <p:cNvSpPr txBox="1"/>
          <p:nvPr/>
        </p:nvSpPr>
        <p:spPr>
          <a:xfrm>
            <a:off x="1352360" y="5229606"/>
            <a:ext cx="4557522"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Todos los entregables son obligatorios.</a:t>
            </a:r>
          </a:p>
        </p:txBody>
      </p:sp>
      <p:sp>
        <p:nvSpPr>
          <p:cNvPr id="24" name="Oval 23"/>
          <p:cNvSpPr/>
          <p:nvPr/>
        </p:nvSpPr>
        <p:spPr>
          <a:xfrm>
            <a:off x="670465" y="5850446"/>
            <a:ext cx="409099" cy="397954"/>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814864" y="5929312"/>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7</a:t>
            </a:r>
          </a:p>
        </p:txBody>
      </p:sp>
      <p:sp>
        <p:nvSpPr>
          <p:cNvPr id="26" name="TextBox 25"/>
          <p:cNvSpPr txBox="1"/>
          <p:nvPr/>
        </p:nvSpPr>
        <p:spPr>
          <a:xfrm>
            <a:off x="1352360" y="5831776"/>
            <a:ext cx="4019550"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Entregas tardías impactan la nota.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plain numbered steps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When the steps are ordered but unlabeled, render them as a vertical numbered list:</a:t>
            </a:r>
          </a:p>
        </p:txBody>
      </p:sp>
      <p:sp>
        <p:nvSpPr>
          <p:cNvPr id="6" name="Oval 5"/>
          <p:cNvSpPr/>
          <p:nvPr/>
        </p:nvSpPr>
        <p:spPr>
          <a:xfrm>
            <a:off x="670465" y="2762250"/>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825436" y="2846832"/>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1</a:t>
            </a:r>
          </a:p>
        </p:txBody>
      </p:sp>
      <p:sp>
        <p:nvSpPr>
          <p:cNvPr id="8" name="TextBox 7"/>
          <p:cNvSpPr txBox="1"/>
          <p:nvPr/>
        </p:nvSpPr>
        <p:spPr>
          <a:xfrm>
            <a:off x="1401985" y="2742152"/>
            <a:ext cx="9042368"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Identify the data you are about to share and where it came from.</a:t>
            </a:r>
          </a:p>
        </p:txBody>
      </p:sp>
      <p:sp>
        <p:nvSpPr>
          <p:cNvPr id="9" name="Oval 8"/>
          <p:cNvSpPr/>
          <p:nvPr/>
        </p:nvSpPr>
        <p:spPr>
          <a:xfrm>
            <a:off x="670465" y="3469196"/>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825436" y="3553682"/>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2</a:t>
            </a:r>
          </a:p>
        </p:txBody>
      </p:sp>
      <p:sp>
        <p:nvSpPr>
          <p:cNvPr id="11" name="TextBox 10"/>
          <p:cNvSpPr txBox="1"/>
          <p:nvPr/>
        </p:nvSpPr>
        <p:spPr>
          <a:xfrm>
            <a:off x="1401985" y="3449098"/>
            <a:ext cx="7648766"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Classify its sensitivity before it leaves your workspace.</a:t>
            </a:r>
          </a:p>
        </p:txBody>
      </p:sp>
      <p:sp>
        <p:nvSpPr>
          <p:cNvPr id="12" name="Oval 11"/>
          <p:cNvSpPr/>
          <p:nvPr/>
        </p:nvSpPr>
        <p:spPr>
          <a:xfrm>
            <a:off x="670465" y="4176141"/>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25436" y="4260628"/>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3</a:t>
            </a:r>
          </a:p>
        </p:txBody>
      </p:sp>
      <p:sp>
        <p:nvSpPr>
          <p:cNvPr id="14" name="TextBox 13"/>
          <p:cNvSpPr txBox="1"/>
          <p:nvPr/>
        </p:nvSpPr>
        <p:spPr>
          <a:xfrm>
            <a:off x="1401985" y="4156043"/>
            <a:ext cx="6628543"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Choose an approved tool for that classification.</a:t>
            </a:r>
          </a:p>
        </p:txBody>
      </p:sp>
      <p:sp>
        <p:nvSpPr>
          <p:cNvPr id="15" name="Oval 14"/>
          <p:cNvSpPr/>
          <p:nvPr/>
        </p:nvSpPr>
        <p:spPr>
          <a:xfrm>
            <a:off x="670465" y="4883086"/>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25436" y="4967573"/>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4</a:t>
            </a:r>
          </a:p>
        </p:txBody>
      </p:sp>
      <p:sp>
        <p:nvSpPr>
          <p:cNvPr id="17" name="TextBox 16"/>
          <p:cNvSpPr txBox="1"/>
          <p:nvPr/>
        </p:nvSpPr>
        <p:spPr>
          <a:xfrm>
            <a:off x="1401985" y="4862989"/>
            <a:ext cx="8742616"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Record what was shared so the workflow can be audited later.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steps beside a supporting diagram</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With an image, the steps become a narrow column and the diagram takes the other half:</a:t>
            </a:r>
          </a:p>
        </p:txBody>
      </p:sp>
      <p:sp>
        <p:nvSpPr>
          <p:cNvPr id="6" name="Rounded Rectangle 5"/>
          <p:cNvSpPr/>
          <p:nvPr/>
        </p:nvSpPr>
        <p:spPr>
          <a:xfrm>
            <a:off x="670465" y="2192369"/>
            <a:ext cx="1570672" cy="4056031"/>
          </a:xfrm>
          <a:prstGeom prst="roundRect">
            <a:avLst>
              <a:gd name="adj" fmla="val 108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323"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918020"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1</a:t>
            </a:r>
          </a:p>
        </p:txBody>
      </p:sp>
      <p:sp>
        <p:nvSpPr>
          <p:cNvPr id="9" name="TextBox 8"/>
          <p:cNvSpPr txBox="1"/>
          <p:nvPr/>
        </p:nvSpPr>
        <p:spPr>
          <a:xfrm>
            <a:off x="1607153" y="2432494"/>
            <a:ext cx="662544" cy="970693"/>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Own layout</a:t>
            </a:r>
          </a:p>
        </p:txBody>
      </p:sp>
      <p:sp>
        <p:nvSpPr>
          <p:cNvPr id="10" name="TextBox 9"/>
          <p:cNvSpPr txBox="1"/>
          <p:nvPr/>
        </p:nvSpPr>
        <p:spPr>
          <a:xfrm>
            <a:off x="1607153" y="3169348"/>
            <a:ext cx="662544" cy="2808542"/>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An image switches process to a two-column arrangement, not the full-width numbered cards.</a:t>
            </a:r>
          </a:p>
        </p:txBody>
      </p:sp>
      <p:sp>
        <p:nvSpPr>
          <p:cNvPr id="11" name="Rounded Rectangle 10"/>
          <p:cNvSpPr/>
          <p:nvPr/>
        </p:nvSpPr>
        <p:spPr>
          <a:xfrm>
            <a:off x="2490026" y="2192369"/>
            <a:ext cx="1570768" cy="4056031"/>
          </a:xfrm>
          <a:prstGeom prst="roundRect">
            <a:avLst>
              <a:gd name="adj" fmla="val 1086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2498884"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737580"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2</a:t>
            </a:r>
          </a:p>
        </p:txBody>
      </p:sp>
      <p:sp>
        <p:nvSpPr>
          <p:cNvPr id="14" name="TextBox 13"/>
          <p:cNvSpPr txBox="1"/>
          <p:nvPr/>
        </p:nvSpPr>
        <p:spPr>
          <a:xfrm>
            <a:off x="3426619" y="2432494"/>
            <a:ext cx="662737" cy="1276160"/>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Rows, not cards</a:t>
            </a:r>
          </a:p>
        </p:txBody>
      </p:sp>
      <p:sp>
        <p:nvSpPr>
          <p:cNvPr id="15" name="TextBox 14"/>
          <p:cNvSpPr txBox="1"/>
          <p:nvPr/>
        </p:nvSpPr>
        <p:spPr>
          <a:xfrm>
            <a:off x="3426619" y="3474910"/>
            <a:ext cx="662737" cy="2502979"/>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Each step compresses to a numbered row so the diagram keeps its space.</a:t>
            </a:r>
          </a:p>
        </p:txBody>
      </p:sp>
      <p:sp>
        <p:nvSpPr>
          <p:cNvPr id="16" name="Rounded Rectangle 15"/>
          <p:cNvSpPr/>
          <p:nvPr/>
        </p:nvSpPr>
        <p:spPr>
          <a:xfrm>
            <a:off x="4309682" y="2192369"/>
            <a:ext cx="1570768" cy="4056031"/>
          </a:xfrm>
          <a:prstGeom prst="roundRect">
            <a:avLst>
              <a:gd name="adj" fmla="val 1086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4318540"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4557236"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3</a:t>
            </a:r>
          </a:p>
        </p:txBody>
      </p:sp>
      <p:sp>
        <p:nvSpPr>
          <p:cNvPr id="19" name="TextBox 18"/>
          <p:cNvSpPr txBox="1"/>
          <p:nvPr/>
        </p:nvSpPr>
        <p:spPr>
          <a:xfrm>
            <a:off x="5246370" y="2432494"/>
            <a:ext cx="662640" cy="970693"/>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Never cropped</a:t>
            </a:r>
          </a:p>
        </p:txBody>
      </p:sp>
      <p:sp>
        <p:nvSpPr>
          <p:cNvPr id="20" name="TextBox 19"/>
          <p:cNvSpPr txBox="1"/>
          <p:nvPr/>
        </p:nvSpPr>
        <p:spPr>
          <a:xfrm>
            <a:off x="5246370" y="3169348"/>
            <a:ext cx="662640" cy="2808542"/>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The supporting image is contained, so a diagram here stays readable.</a:t>
            </a:r>
          </a:p>
        </p:txBody>
      </p:sp>
      <p:sp>
        <p:nvSpPr>
          <p:cNvPr id="21" name="Rounded Rectangle 20"/>
          <p:cNvSpPr/>
          <p:nvPr/>
        </p:nvSpPr>
        <p:spPr>
          <a:xfrm>
            <a:off x="6309265" y="2192369"/>
            <a:ext cx="5212270" cy="4056031"/>
          </a:xfrm>
          <a:prstGeom prst="roundRect">
            <a:avLst>
              <a:gd name="adj" fmla="val 420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2"/>
          <a:stretch>
            <a:fillRect/>
          </a:stretch>
        </p:blipFill>
        <p:spPr>
          <a:xfrm>
            <a:off x="6318980" y="2759869"/>
            <a:ext cx="5192935" cy="2921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diagram first, steps following (image-left)</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same steps with the diagram leading the eye:</a:t>
            </a:r>
          </a:p>
        </p:txBody>
      </p:sp>
      <p:sp>
        <p:nvSpPr>
          <p:cNvPr id="6" name="Rounded Rectangle 5"/>
          <p:cNvSpPr/>
          <p:nvPr/>
        </p:nvSpPr>
        <p:spPr>
          <a:xfrm>
            <a:off x="6309265" y="2745391"/>
            <a:ext cx="1593152" cy="3503009"/>
          </a:xfrm>
          <a:prstGeom prst="roundRect">
            <a:avLst>
              <a:gd name="adj" fmla="val 10713"/>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316885"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6523196"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1</a:t>
            </a:r>
          </a:p>
        </p:txBody>
      </p:sp>
      <p:sp>
        <p:nvSpPr>
          <p:cNvPr id="9" name="TextBox 8"/>
          <p:cNvSpPr txBox="1"/>
          <p:nvPr/>
        </p:nvSpPr>
        <p:spPr>
          <a:xfrm>
            <a:off x="7118794" y="2952940"/>
            <a:ext cx="814426" cy="883539"/>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Own layout</a:t>
            </a:r>
          </a:p>
        </p:txBody>
      </p:sp>
      <p:sp>
        <p:nvSpPr>
          <p:cNvPr id="10" name="TextBox 9"/>
          <p:cNvSpPr txBox="1"/>
          <p:nvPr/>
        </p:nvSpPr>
        <p:spPr>
          <a:xfrm>
            <a:off x="7118794" y="3589782"/>
            <a:ext cx="814426" cy="2422874"/>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An image switches process to a two-column arrangement, not the full-width numbered cards.</a:t>
            </a:r>
          </a:p>
        </p:txBody>
      </p:sp>
      <p:sp>
        <p:nvSpPr>
          <p:cNvPr id="11" name="Rounded Rectangle 10"/>
          <p:cNvSpPr/>
          <p:nvPr/>
        </p:nvSpPr>
        <p:spPr>
          <a:xfrm>
            <a:off x="8117586" y="2745391"/>
            <a:ext cx="1593342" cy="3503009"/>
          </a:xfrm>
          <a:prstGeom prst="roundRect">
            <a:avLst>
              <a:gd name="adj" fmla="val 1071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8125206"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331518"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2</a:t>
            </a:r>
          </a:p>
        </p:txBody>
      </p:sp>
      <p:sp>
        <p:nvSpPr>
          <p:cNvPr id="14" name="TextBox 13"/>
          <p:cNvSpPr txBox="1"/>
          <p:nvPr/>
        </p:nvSpPr>
        <p:spPr>
          <a:xfrm>
            <a:off x="8927020" y="2952940"/>
            <a:ext cx="814716" cy="1147667"/>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Rows, not cards</a:t>
            </a:r>
          </a:p>
        </p:txBody>
      </p:sp>
      <p:sp>
        <p:nvSpPr>
          <p:cNvPr id="15" name="TextBox 14"/>
          <p:cNvSpPr txBox="1"/>
          <p:nvPr/>
        </p:nvSpPr>
        <p:spPr>
          <a:xfrm>
            <a:off x="8927020" y="3853815"/>
            <a:ext cx="814716" cy="2149602"/>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Each step compresses to a numbered row so the diagram keeps its space.</a:t>
            </a:r>
          </a:p>
        </p:txBody>
      </p:sp>
      <p:sp>
        <p:nvSpPr>
          <p:cNvPr id="16" name="Rounded Rectangle 15"/>
          <p:cNvSpPr/>
          <p:nvPr/>
        </p:nvSpPr>
        <p:spPr>
          <a:xfrm>
            <a:off x="9926002" y="2745391"/>
            <a:ext cx="1593342" cy="3503009"/>
          </a:xfrm>
          <a:prstGeom prst="roundRect">
            <a:avLst>
              <a:gd name="adj" fmla="val 1071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9933622"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0139934"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3</a:t>
            </a:r>
          </a:p>
        </p:txBody>
      </p:sp>
      <p:sp>
        <p:nvSpPr>
          <p:cNvPr id="19" name="TextBox 18"/>
          <p:cNvSpPr txBox="1"/>
          <p:nvPr/>
        </p:nvSpPr>
        <p:spPr>
          <a:xfrm>
            <a:off x="10735437" y="2952940"/>
            <a:ext cx="814716" cy="883539"/>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Never cropped</a:t>
            </a:r>
          </a:p>
        </p:txBody>
      </p:sp>
      <p:sp>
        <p:nvSpPr>
          <p:cNvPr id="20" name="TextBox 19"/>
          <p:cNvSpPr txBox="1"/>
          <p:nvPr/>
        </p:nvSpPr>
        <p:spPr>
          <a:xfrm>
            <a:off x="10735437" y="3589782"/>
            <a:ext cx="814716" cy="2390870"/>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The supporting image is contained, so a diagram here stays readable.</a:t>
            </a:r>
          </a:p>
        </p:txBody>
      </p:sp>
      <p:sp>
        <p:nvSpPr>
          <p:cNvPr id="21" name="Rounded Rectangle 20"/>
          <p:cNvSpPr/>
          <p:nvPr/>
        </p:nvSpPr>
        <p:spPr>
          <a:xfrm>
            <a:off x="670465" y="2745391"/>
            <a:ext cx="5212080"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2"/>
          <a:stretch>
            <a:fillRect/>
          </a:stretch>
        </p:blipFill>
        <p:spPr>
          <a:xfrm>
            <a:off x="679990" y="3036379"/>
            <a:ext cx="5192935" cy="2921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timeline: a dated milestone sequence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 optional lead can frame the sequence before the dates begin.</a:t>
            </a:r>
          </a:p>
        </p:txBody>
      </p:sp>
      <p:sp>
        <p:nvSpPr>
          <p:cNvPr id="6" name="Rectangle 5"/>
          <p:cNvSpPr/>
          <p:nvPr/>
        </p:nvSpPr>
        <p:spPr>
          <a:xfrm>
            <a:off x="853250" y="2596896"/>
            <a:ext cx="10666190" cy="29317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853250" y="2596896"/>
            <a:ext cx="57150" cy="293179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806768" y="2718816"/>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337120" y="2568321"/>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1</a:t>
            </a:r>
          </a:p>
        </p:txBody>
      </p:sp>
      <p:sp>
        <p:nvSpPr>
          <p:cNvPr id="10" name="TextBox 9"/>
          <p:cNvSpPr txBox="1"/>
          <p:nvPr/>
        </p:nvSpPr>
        <p:spPr>
          <a:xfrm>
            <a:off x="1337120" y="3018282"/>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Reach for timeline when the labels read as dates or milestones.</a:t>
            </a:r>
          </a:p>
        </p:txBody>
      </p:sp>
      <p:sp>
        <p:nvSpPr>
          <p:cNvPr id="11" name="Oval 10"/>
          <p:cNvSpPr/>
          <p:nvPr/>
        </p:nvSpPr>
        <p:spPr>
          <a:xfrm>
            <a:off x="806768" y="3785426"/>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337120" y="3635026"/>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2</a:t>
            </a:r>
          </a:p>
        </p:txBody>
      </p:sp>
      <p:sp>
        <p:nvSpPr>
          <p:cNvPr id="13" name="TextBox 12"/>
          <p:cNvSpPr txBox="1"/>
          <p:nvPr/>
        </p:nvSpPr>
        <p:spPr>
          <a:xfrm>
            <a:off x="1337120" y="4084892"/>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Time flows top to bottom along a connecting rail with a dot per entry.</a:t>
            </a:r>
          </a:p>
        </p:txBody>
      </p:sp>
      <p:sp>
        <p:nvSpPr>
          <p:cNvPr id="14" name="Oval 13"/>
          <p:cNvSpPr/>
          <p:nvPr/>
        </p:nvSpPr>
        <p:spPr>
          <a:xfrm>
            <a:off x="806768" y="4852130"/>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337120" y="4701635"/>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3</a:t>
            </a:r>
          </a:p>
        </p:txBody>
      </p:sp>
      <p:sp>
        <p:nvSpPr>
          <p:cNvPr id="16" name="TextBox 15"/>
          <p:cNvSpPr txBox="1"/>
          <p:nvPr/>
        </p:nvSpPr>
        <p:spPr>
          <a:xfrm>
            <a:off x="1337120" y="5151501"/>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It differs from process only in that here, when matters more than the step.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timeline: milestones carrying an explicit marker</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optional per-milestone marker rides inside the dot:</a:t>
            </a:r>
          </a:p>
        </p:txBody>
      </p:sp>
      <p:sp>
        <p:nvSpPr>
          <p:cNvPr id="6" name="Rectangle 5"/>
          <p:cNvSpPr/>
          <p:nvPr/>
        </p:nvSpPr>
        <p:spPr>
          <a:xfrm>
            <a:off x="853250" y="2951131"/>
            <a:ext cx="10666190" cy="29317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853250" y="2951131"/>
            <a:ext cx="57150" cy="293179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684943" y="3011996"/>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93159" y="3151251"/>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1</a:t>
            </a:r>
          </a:p>
        </p:txBody>
      </p:sp>
      <p:sp>
        <p:nvSpPr>
          <p:cNvPr id="10" name="TextBox 9"/>
          <p:cNvSpPr txBox="1"/>
          <p:nvPr/>
        </p:nvSpPr>
        <p:spPr>
          <a:xfrm>
            <a:off x="1337120" y="2922556"/>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1</a:t>
            </a:r>
          </a:p>
        </p:txBody>
      </p:sp>
      <p:sp>
        <p:nvSpPr>
          <p:cNvPr id="11" name="TextBox 10"/>
          <p:cNvSpPr txBox="1"/>
          <p:nvPr/>
        </p:nvSpPr>
        <p:spPr>
          <a:xfrm>
            <a:off x="1337120" y="3372422"/>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Reach for timeline when the labels read as dates or milestones.</a:t>
            </a:r>
          </a:p>
        </p:txBody>
      </p:sp>
      <p:sp>
        <p:nvSpPr>
          <p:cNvPr id="12" name="Oval 11"/>
          <p:cNvSpPr/>
          <p:nvPr/>
        </p:nvSpPr>
        <p:spPr>
          <a:xfrm>
            <a:off x="684943" y="4078605"/>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93159" y="4217956"/>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2</a:t>
            </a:r>
          </a:p>
        </p:txBody>
      </p:sp>
      <p:sp>
        <p:nvSpPr>
          <p:cNvPr id="14" name="TextBox 13"/>
          <p:cNvSpPr txBox="1"/>
          <p:nvPr/>
        </p:nvSpPr>
        <p:spPr>
          <a:xfrm>
            <a:off x="1337120" y="3989165"/>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2</a:t>
            </a:r>
          </a:p>
        </p:txBody>
      </p:sp>
      <p:sp>
        <p:nvSpPr>
          <p:cNvPr id="15" name="TextBox 14"/>
          <p:cNvSpPr txBox="1"/>
          <p:nvPr/>
        </p:nvSpPr>
        <p:spPr>
          <a:xfrm>
            <a:off x="1337120" y="4439126"/>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Time flows top to bottom along a connecting rail with a dot per entry.</a:t>
            </a:r>
          </a:p>
        </p:txBody>
      </p:sp>
      <p:sp>
        <p:nvSpPr>
          <p:cNvPr id="16" name="Oval 15"/>
          <p:cNvSpPr/>
          <p:nvPr/>
        </p:nvSpPr>
        <p:spPr>
          <a:xfrm>
            <a:off x="684943" y="5145310"/>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93159" y="5284565"/>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3</a:t>
            </a:r>
          </a:p>
        </p:txBody>
      </p:sp>
      <p:sp>
        <p:nvSpPr>
          <p:cNvPr id="18" name="TextBox 17"/>
          <p:cNvSpPr txBox="1"/>
          <p:nvPr/>
        </p:nvSpPr>
        <p:spPr>
          <a:xfrm>
            <a:off x="1337120" y="5055870"/>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3</a:t>
            </a:r>
          </a:p>
        </p:txBody>
      </p:sp>
      <p:sp>
        <p:nvSpPr>
          <p:cNvPr id="19" name="TextBox 18"/>
          <p:cNvSpPr txBox="1"/>
          <p:nvPr/>
        </p:nvSpPr>
        <p:spPr>
          <a:xfrm>
            <a:off x="1337120" y="5505736"/>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It differs from process only in that here, when matters more than the step.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concept-columns: four terms, the third emphasised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column explains its own term; reading across a row says nothing.</a:t>
            </a:r>
          </a:p>
        </p:txBody>
      </p:sp>
      <p:sp>
        <p:nvSpPr>
          <p:cNvPr id="6" name="Rounded Rectangle 5"/>
          <p:cNvSpPr/>
          <p:nvPr/>
        </p:nvSpPr>
        <p:spPr>
          <a:xfrm>
            <a:off x="670465" y="2768632"/>
            <a:ext cx="2588514" cy="2628328"/>
          </a:xfrm>
          <a:prstGeom prst="roundRect">
            <a:avLst>
              <a:gd name="adj" fmla="val 847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68632"/>
            <a:ext cx="2588514"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82860" y="2931224"/>
            <a:ext cx="2401824"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Language Model</a:t>
            </a:r>
          </a:p>
        </p:txBody>
      </p:sp>
      <p:sp>
        <p:nvSpPr>
          <p:cNvPr id="9" name="TextBox 8"/>
          <p:cNvSpPr txBox="1"/>
          <p:nvPr/>
        </p:nvSpPr>
        <p:spPr>
          <a:xfrm>
            <a:off x="782860" y="3201257"/>
            <a:ext cx="2418230"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Asigna probabilidades a secuencias de palabras: dado un contexto, predice qué sigue.</a:t>
            </a:r>
          </a:p>
        </p:txBody>
      </p:sp>
      <p:sp>
        <p:nvSpPr>
          <p:cNvPr id="10" name="TextBox 9"/>
          <p:cNvSpPr txBox="1"/>
          <p:nvPr/>
        </p:nvSpPr>
        <p:spPr>
          <a:xfrm>
            <a:off x="782860" y="3837242"/>
            <a:ext cx="2401824"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11" name="Oval 10"/>
          <p:cNvSpPr/>
          <p:nvPr/>
        </p:nvSpPr>
        <p:spPr>
          <a:xfrm>
            <a:off x="782860" y="4097941"/>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932878" y="4012406"/>
            <a:ext cx="2251805"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Existen desde los años 1950</a:t>
            </a:r>
          </a:p>
        </p:txBody>
      </p:sp>
      <p:sp>
        <p:nvSpPr>
          <p:cNvPr id="13" name="Oval 12"/>
          <p:cNvSpPr/>
          <p:nvPr/>
        </p:nvSpPr>
        <p:spPr>
          <a:xfrm>
            <a:off x="782860" y="4325969"/>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932878" y="4240340"/>
            <a:ext cx="2251805"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Basados en P(palabra | contexto)</a:t>
            </a:r>
          </a:p>
        </p:txBody>
      </p:sp>
      <p:sp>
        <p:nvSpPr>
          <p:cNvPr id="15" name="Oval 14"/>
          <p:cNvSpPr/>
          <p:nvPr/>
        </p:nvSpPr>
        <p:spPr>
          <a:xfrm>
            <a:off x="782860" y="455390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32878" y="4468368"/>
            <a:ext cx="2265961" cy="345186"/>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Primero estadísticos, luego neuronales</a:t>
            </a:r>
          </a:p>
        </p:txBody>
      </p:sp>
      <p:sp>
        <p:nvSpPr>
          <p:cNvPr id="17" name="TextBox 16"/>
          <p:cNvSpPr txBox="1"/>
          <p:nvPr/>
        </p:nvSpPr>
        <p:spPr>
          <a:xfrm>
            <a:off x="782860" y="4924330"/>
            <a:ext cx="2418230" cy="327850"/>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N-gramas · Shannon (1948) · RNNs</a:t>
            </a:r>
          </a:p>
        </p:txBody>
      </p:sp>
      <p:sp>
        <p:nvSpPr>
          <p:cNvPr id="18" name="Rounded Rectangle 17"/>
          <p:cNvSpPr/>
          <p:nvPr/>
        </p:nvSpPr>
        <p:spPr>
          <a:xfrm>
            <a:off x="3424047" y="2768632"/>
            <a:ext cx="2588609" cy="2628328"/>
          </a:xfrm>
          <a:prstGeom prst="roundRect">
            <a:avLst>
              <a:gd name="adj" fmla="val 847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3424047" y="2768632"/>
            <a:ext cx="2588609"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3536442" y="2931224"/>
            <a:ext cx="2401919"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Foundation Model</a:t>
            </a:r>
          </a:p>
        </p:txBody>
      </p:sp>
      <p:sp>
        <p:nvSpPr>
          <p:cNvPr id="21" name="TextBox 20"/>
          <p:cNvSpPr txBox="1"/>
          <p:nvPr/>
        </p:nvSpPr>
        <p:spPr>
          <a:xfrm>
            <a:off x="3536442" y="3201257"/>
            <a:ext cx="2418327"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Entrenado a escala masiva sobre datos generales, adaptable a múltiples tareas.</a:t>
            </a:r>
          </a:p>
        </p:txBody>
      </p:sp>
      <p:sp>
        <p:nvSpPr>
          <p:cNvPr id="22" name="TextBox 21"/>
          <p:cNvSpPr txBox="1"/>
          <p:nvPr/>
        </p:nvSpPr>
        <p:spPr>
          <a:xfrm>
            <a:off x="3536442" y="3837242"/>
            <a:ext cx="2401919"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23" name="Oval 22"/>
          <p:cNvSpPr/>
          <p:nvPr/>
        </p:nvSpPr>
        <p:spPr>
          <a:xfrm>
            <a:off x="3536442" y="4097941"/>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3686461" y="4012406"/>
            <a:ext cx="2251900"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Entrenado con billones de tokens</a:t>
            </a:r>
          </a:p>
        </p:txBody>
      </p:sp>
      <p:sp>
        <p:nvSpPr>
          <p:cNvPr id="25" name="Oval 24"/>
          <p:cNvSpPr/>
          <p:nvPr/>
        </p:nvSpPr>
        <p:spPr>
          <a:xfrm>
            <a:off x="3536442" y="4325969"/>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3686461" y="4240340"/>
            <a:ext cx="2251900"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Generalista por naturaleza</a:t>
            </a:r>
          </a:p>
        </p:txBody>
      </p:sp>
      <p:sp>
        <p:nvSpPr>
          <p:cNvPr id="27" name="Oval 26"/>
          <p:cNvSpPr/>
          <p:nvPr/>
        </p:nvSpPr>
        <p:spPr>
          <a:xfrm>
            <a:off x="3536442" y="455390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3686461" y="4468368"/>
            <a:ext cx="2251900"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Base para aplicaciones específicas</a:t>
            </a:r>
          </a:p>
        </p:txBody>
      </p:sp>
      <p:sp>
        <p:nvSpPr>
          <p:cNvPr id="29" name="TextBox 28"/>
          <p:cNvSpPr txBox="1"/>
          <p:nvPr/>
        </p:nvSpPr>
        <p:spPr>
          <a:xfrm>
            <a:off x="3536442" y="4748784"/>
            <a:ext cx="2418327" cy="440817"/>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 Gemini, Claude, LLaMA</a:t>
            </a:r>
          </a:p>
        </p:txBody>
      </p:sp>
      <p:sp>
        <p:nvSpPr>
          <p:cNvPr id="30" name="Rounded Rectangle 29"/>
          <p:cNvSpPr/>
          <p:nvPr/>
        </p:nvSpPr>
        <p:spPr>
          <a:xfrm>
            <a:off x="6177629" y="2768632"/>
            <a:ext cx="2588514" cy="2628328"/>
          </a:xfrm>
          <a:prstGeom prst="roundRect">
            <a:avLst>
              <a:gd name="adj" fmla="val 8478"/>
            </a:avLst>
          </a:prstGeom>
          <a:solidFill>
            <a:srgbClr val="EFD5D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Rectangle 30"/>
          <p:cNvSpPr/>
          <p:nvPr/>
        </p:nvSpPr>
        <p:spPr>
          <a:xfrm>
            <a:off x="6177629" y="2768632"/>
            <a:ext cx="2588514" cy="1143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290120" y="2966466"/>
            <a:ext cx="2401824"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DA1B2E"/>
                </a:solidFill>
                <a:latin typeface="Arial"/>
              </a:rPr>
              <a:t>LLM</a:t>
            </a:r>
          </a:p>
        </p:txBody>
      </p:sp>
      <p:sp>
        <p:nvSpPr>
          <p:cNvPr id="33" name="TextBox 32"/>
          <p:cNvSpPr txBox="1"/>
          <p:nvPr/>
        </p:nvSpPr>
        <p:spPr>
          <a:xfrm>
            <a:off x="6290120" y="3236404"/>
            <a:ext cx="2418230"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Un Foundation Model especializado en texto: aprende la distribución del lenguaje natural.</a:t>
            </a:r>
          </a:p>
        </p:txBody>
      </p:sp>
      <p:sp>
        <p:nvSpPr>
          <p:cNvPr id="34" name="TextBox 33"/>
          <p:cNvSpPr txBox="1"/>
          <p:nvPr/>
        </p:nvSpPr>
        <p:spPr>
          <a:xfrm>
            <a:off x="6290120" y="3872389"/>
            <a:ext cx="2401824"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35" name="Oval 34"/>
          <p:cNvSpPr/>
          <p:nvPr/>
        </p:nvSpPr>
        <p:spPr>
          <a:xfrm>
            <a:off x="6290120" y="4133088"/>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440043" y="4047554"/>
            <a:ext cx="2251805"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Sólo procesa y genera tokens</a:t>
            </a:r>
          </a:p>
        </p:txBody>
      </p:sp>
      <p:sp>
        <p:nvSpPr>
          <p:cNvPr id="37" name="Oval 36"/>
          <p:cNvSpPr/>
          <p:nvPr/>
        </p:nvSpPr>
        <p:spPr>
          <a:xfrm>
            <a:off x="6290120" y="4361116"/>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6440043" y="4275582"/>
            <a:ext cx="2251805"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Arquitectura Transformer</a:t>
            </a:r>
          </a:p>
        </p:txBody>
      </p:sp>
      <p:sp>
        <p:nvSpPr>
          <p:cNvPr id="39" name="Oval 38"/>
          <p:cNvSpPr/>
          <p:nvPr/>
        </p:nvSpPr>
        <p:spPr>
          <a:xfrm>
            <a:off x="6290120" y="4589050"/>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6440043" y="4503515"/>
            <a:ext cx="2251805"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Desde 7B hasta +1T parámetros</a:t>
            </a:r>
          </a:p>
        </p:txBody>
      </p:sp>
      <p:sp>
        <p:nvSpPr>
          <p:cNvPr id="41" name="TextBox 40"/>
          <p:cNvSpPr txBox="1"/>
          <p:nvPr/>
        </p:nvSpPr>
        <p:spPr>
          <a:xfrm>
            <a:off x="6290120" y="4783931"/>
            <a:ext cx="2401824" cy="152400"/>
          </a:xfrm>
          <a:prstGeom prst="rect">
            <a:avLst/>
          </a:prstGeom>
          <a:noFill/>
        </p:spPr>
        <p:txBody>
          <a:bodyPr wrap="non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 Claude 3, Mistral</a:t>
            </a:r>
          </a:p>
        </p:txBody>
      </p:sp>
      <p:sp>
        <p:nvSpPr>
          <p:cNvPr id="42" name="Rounded Rectangle 41"/>
          <p:cNvSpPr/>
          <p:nvPr/>
        </p:nvSpPr>
        <p:spPr>
          <a:xfrm>
            <a:off x="8931212" y="2768632"/>
            <a:ext cx="2588609" cy="2628328"/>
          </a:xfrm>
          <a:prstGeom prst="roundRect">
            <a:avLst>
              <a:gd name="adj" fmla="val 847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Rectangle 42"/>
          <p:cNvSpPr/>
          <p:nvPr/>
        </p:nvSpPr>
        <p:spPr>
          <a:xfrm>
            <a:off x="8931212" y="2768632"/>
            <a:ext cx="2588609"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9043606" y="2931224"/>
            <a:ext cx="2401919"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Modelo Multimodal</a:t>
            </a:r>
          </a:p>
        </p:txBody>
      </p:sp>
      <p:sp>
        <p:nvSpPr>
          <p:cNvPr id="45" name="TextBox 44"/>
          <p:cNvSpPr txBox="1"/>
          <p:nvPr/>
        </p:nvSpPr>
        <p:spPr>
          <a:xfrm>
            <a:off x="9043606" y="3201257"/>
            <a:ext cx="2418327" cy="644176"/>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Un Foundation Model que procesa y genera varios tipos de dato a la vez.</a:t>
            </a:r>
          </a:p>
        </p:txBody>
      </p:sp>
      <p:sp>
        <p:nvSpPr>
          <p:cNvPr id="46" name="TextBox 45"/>
          <p:cNvSpPr txBox="1"/>
          <p:nvPr/>
        </p:nvSpPr>
        <p:spPr>
          <a:xfrm>
            <a:off x="9043606" y="3649885"/>
            <a:ext cx="2401919"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47" name="Oval 46"/>
          <p:cNvSpPr/>
          <p:nvPr/>
        </p:nvSpPr>
        <p:spPr>
          <a:xfrm>
            <a:off x="9043606" y="3910584"/>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9193625" y="3825050"/>
            <a:ext cx="2266058" cy="613124"/>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Combina encoders de varias modalidades</a:t>
            </a:r>
          </a:p>
        </p:txBody>
      </p:sp>
      <p:sp>
        <p:nvSpPr>
          <p:cNvPr id="49" name="Oval 48"/>
          <p:cNvSpPr/>
          <p:nvPr/>
        </p:nvSpPr>
        <p:spPr>
          <a:xfrm>
            <a:off x="9043606" y="4314158"/>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9193625" y="4228528"/>
            <a:ext cx="2251996"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Un solo modelo para ver, oír y hablar</a:t>
            </a:r>
          </a:p>
        </p:txBody>
      </p:sp>
      <p:sp>
        <p:nvSpPr>
          <p:cNvPr id="51" name="Oval 50"/>
          <p:cNvSpPr/>
          <p:nvPr/>
        </p:nvSpPr>
        <p:spPr>
          <a:xfrm>
            <a:off x="9043606" y="454209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9193625" y="4456557"/>
            <a:ext cx="2266058" cy="345186"/>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Razonamiento cruzado entre modalidades</a:t>
            </a:r>
          </a:p>
        </p:txBody>
      </p:sp>
      <p:sp>
        <p:nvSpPr>
          <p:cNvPr id="53" name="TextBox 52"/>
          <p:cNvSpPr txBox="1"/>
          <p:nvPr/>
        </p:nvSpPr>
        <p:spPr>
          <a:xfrm>
            <a:off x="9043606" y="4912519"/>
            <a:ext cx="2418327" cy="327850"/>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GPT-4o, Gemini 1.5 Pro, LLaVA</a:t>
            </a:r>
          </a:p>
        </p:txBody>
      </p:sp>
      <p:sp>
        <p:nvSpPr>
          <p:cNvPr id="54" name="Rounded Rectangle 53"/>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Rectangle 54"/>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6" name="Picture 55" descr="image.png"/>
          <p:cNvPicPr>
            <a:picLocks noChangeAspect="1"/>
          </p:cNvPicPr>
          <p:nvPr/>
        </p:nvPicPr>
        <p:blipFill>
          <a:blip r:embed="rId2"/>
          <a:stretch>
            <a:fillRect/>
          </a:stretch>
        </p:blipFill>
        <p:spPr>
          <a:xfrm>
            <a:off x="886016" y="5882735"/>
            <a:ext cx="243745" cy="243745"/>
          </a:xfrm>
          <a:prstGeom prst="rect">
            <a:avLst/>
          </a:prstGeom>
        </p:spPr>
      </p:pic>
      <p:sp>
        <p:nvSpPr>
          <p:cNvPr id="57" name="TextBox 56"/>
          <p:cNvSpPr txBox="1"/>
          <p:nvPr/>
        </p:nvSpPr>
        <p:spPr>
          <a:xfrm>
            <a:off x="1251680" y="5877496"/>
            <a:ext cx="7116794"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Relación</a:t>
            </a:r>
            <a:r>
              <a:rPr sz="1402" b="0" i="0" u="none">
                <a:solidFill>
                  <a:srgbClr val="1F1E1E"/>
                </a:solidFill>
                <a:latin typeface="Arial"/>
              </a:rPr>
              <a:t>: Todo LLM es un Foundation Model, pero no todo Foundation Model es un LLM.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concept-columns: two terms, no shared factors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It looks adversarial, but there is no row to read across — so it is not a comparison grid.</a:t>
            </a:r>
          </a:p>
        </p:txBody>
      </p:sp>
      <p:sp>
        <p:nvSpPr>
          <p:cNvPr id="6" name="TextBox 5"/>
          <p:cNvSpPr txBox="1"/>
          <p:nvPr/>
        </p:nvSpPr>
        <p:spPr>
          <a:xfrm>
            <a:off x="670465" y="2745391"/>
            <a:ext cx="10887170" cy="296608"/>
          </a:xfrm>
          <a:prstGeom prst="rect">
            <a:avLst/>
          </a:prstGeom>
          <a:noFill/>
        </p:spPr>
        <p:txBody>
          <a:bodyPr wrap="none" anchor="ctr" lIns="0" tIns="0" rIns="0" bIns="0">
            <a:noAutofit/>
          </a:bodyPr>
          <a:lstStyle/>
          <a:p>
            <a:pPr algn="l">
              <a:lnSpc>
                <a:spcPts val="2385"/>
              </a:lnSpc>
              <a:spcBef>
                <a:spcPts val="0"/>
              </a:spcBef>
              <a:spcAft>
                <a:spcPts val="0"/>
              </a:spcAft>
            </a:pPr>
            <a:r>
              <a:rPr sz="2074" b="1" i="0" u="none">
                <a:solidFill>
                  <a:srgbClr val="1F1E1E"/>
                </a:solidFill>
                <a:latin typeface="Arial"/>
              </a:rPr>
              <a:t>IA Tradicional vs. Foundation Models</a:t>
            </a:r>
          </a:p>
        </p:txBody>
      </p:sp>
      <p:sp>
        <p:nvSpPr>
          <p:cNvPr id="7" name="Rounded Rectangle 6"/>
          <p:cNvSpPr/>
          <p:nvPr/>
        </p:nvSpPr>
        <p:spPr>
          <a:xfrm>
            <a:off x="670465" y="3314890"/>
            <a:ext cx="5327428" cy="2498312"/>
          </a:xfrm>
          <a:prstGeom prst="roundRect">
            <a:avLst>
              <a:gd name="adj" fmla="val 8784"/>
            </a:avLst>
          </a:prstGeom>
          <a:solidFill>
            <a:srgbClr val="EFD5D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670465" y="3314890"/>
            <a:ext cx="5327428" cy="1143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47058" y="3583019"/>
            <a:ext cx="5012436" cy="262128"/>
          </a:xfrm>
          <a:prstGeom prst="rect">
            <a:avLst/>
          </a:prstGeom>
          <a:noFill/>
        </p:spPr>
        <p:txBody>
          <a:bodyPr wrap="none" anchor="ctr" lIns="0" tIns="0" rIns="0" bIns="0">
            <a:noAutofit/>
          </a:bodyPr>
          <a:lstStyle/>
          <a:p>
            <a:pPr algn="l">
              <a:lnSpc>
                <a:spcPts val="2146"/>
              </a:lnSpc>
              <a:spcBef>
                <a:spcPts val="0"/>
              </a:spcBef>
              <a:spcAft>
                <a:spcPts val="0"/>
              </a:spcAft>
            </a:pPr>
            <a:r>
              <a:rPr sz="1866" b="1" i="0" u="none">
                <a:solidFill>
                  <a:srgbClr val="DA1B2E"/>
                </a:solidFill>
                <a:latin typeface="Arial"/>
              </a:rPr>
              <a:t>IA Tradicional</a:t>
            </a:r>
          </a:p>
        </p:txBody>
      </p:sp>
      <p:sp>
        <p:nvSpPr>
          <p:cNvPr id="10" name="TextBox 9"/>
          <p:cNvSpPr txBox="1"/>
          <p:nvPr/>
        </p:nvSpPr>
        <p:spPr>
          <a:xfrm>
            <a:off x="847058" y="3966020"/>
            <a:ext cx="5012436" cy="206883"/>
          </a:xfrm>
          <a:prstGeom prst="rect">
            <a:avLst/>
          </a:prstGeom>
          <a:noFill/>
        </p:spPr>
        <p:txBody>
          <a:bodyPr wrap="none" anchor="ctr" lIns="0" tIns="0" rIns="0" bIns="0">
            <a:noAutofit/>
          </a:bodyPr>
          <a:lstStyle/>
          <a:p>
            <a:pPr algn="l">
              <a:lnSpc>
                <a:spcPts val="1960"/>
              </a:lnSpc>
              <a:spcBef>
                <a:spcPts val="0"/>
              </a:spcBef>
              <a:spcAft>
                <a:spcPts val="0"/>
              </a:spcAft>
            </a:pPr>
            <a:r>
              <a:rPr sz="1452" b="0" i="0" u="none">
                <a:solidFill>
                  <a:srgbClr val="3B3535"/>
                </a:solidFill>
                <a:latin typeface="Arial"/>
              </a:rPr>
              <a:t>Un modelo por tarea específica, entrenado en casa.</a:t>
            </a:r>
          </a:p>
        </p:txBody>
      </p:sp>
      <p:sp>
        <p:nvSpPr>
          <p:cNvPr id="11" name="Oval 10"/>
          <p:cNvSpPr/>
          <p:nvPr/>
        </p:nvSpPr>
        <p:spPr>
          <a:xfrm>
            <a:off x="847058" y="4375309"/>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023556" y="4297680"/>
            <a:ext cx="4888759" cy="736378"/>
          </a:xfrm>
          <a:prstGeom prst="rect">
            <a:avLst/>
          </a:prstGeom>
          <a:noFill/>
        </p:spPr>
        <p:txBody>
          <a:bodyPr wrap="square" anchor="ctr" lIns="0" tIns="0" rIns="0" bIns="0">
            <a:noAutofit/>
          </a:bodyPr>
          <a:lstStyle/>
          <a:p>
            <a:pPr algn="l">
              <a:lnSpc>
                <a:spcPts val="1797"/>
              </a:lnSpc>
              <a:spcBef>
                <a:spcPts val="0"/>
              </a:spcBef>
              <a:spcAft>
                <a:spcPts val="0"/>
              </a:spcAft>
            </a:pPr>
            <a:r>
              <a:rPr sz="1382" b="0" i="0" u="none">
                <a:solidFill>
                  <a:srgbClr val="3B3535"/>
                </a:solidFill>
                <a:latin typeface="Arial"/>
              </a:rPr>
              <a:t>Requiere datos etiquetados abundantes para cada caso de uso</a:t>
            </a:r>
          </a:p>
        </p:txBody>
      </p:sp>
      <p:sp>
        <p:nvSpPr>
          <p:cNvPr id="13" name="Oval 12"/>
          <p:cNvSpPr/>
          <p:nvPr/>
        </p:nvSpPr>
        <p:spPr>
          <a:xfrm>
            <a:off x="847058" y="4896040"/>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023556" y="4818412"/>
            <a:ext cx="4835842" cy="193167"/>
          </a:xfrm>
          <a:prstGeom prst="rect">
            <a:avLst/>
          </a:prstGeom>
          <a:noFill/>
        </p:spPr>
        <p:txBody>
          <a:bodyPr wrap="none" anchor="ctr" lIns="0" tIns="0" rIns="0" bIns="0">
            <a:noAutofit/>
          </a:bodyPr>
          <a:lstStyle/>
          <a:p>
            <a:pPr algn="l">
              <a:lnSpc>
                <a:spcPts val="1797"/>
              </a:lnSpc>
              <a:spcBef>
                <a:spcPts val="0"/>
              </a:spcBef>
              <a:spcAft>
                <a:spcPts val="0"/>
              </a:spcAft>
            </a:pPr>
            <a:r>
              <a:rPr sz="1382" b="0" i="0" u="none">
                <a:solidFill>
                  <a:srgbClr val="3B3535"/>
                </a:solidFill>
                <a:latin typeface="Arial"/>
              </a:rPr>
              <a:t>Difícil de reutilizar entre dominios distintos</a:t>
            </a:r>
          </a:p>
        </p:txBody>
      </p:sp>
      <p:sp>
        <p:nvSpPr>
          <p:cNvPr id="15" name="TextBox 14"/>
          <p:cNvSpPr txBox="1"/>
          <p:nvPr/>
        </p:nvSpPr>
        <p:spPr>
          <a:xfrm>
            <a:off x="847058" y="5189030"/>
            <a:ext cx="5068001" cy="422624"/>
          </a:xfrm>
          <a:prstGeom prst="rect">
            <a:avLst/>
          </a:prstGeom>
          <a:noFill/>
        </p:spPr>
        <p:txBody>
          <a:bodyPr wrap="square" anchor="ctr" lIns="0" tIns="0" rIns="0" bIns="0">
            <a:noAutofit/>
          </a:bodyPr>
          <a:lstStyle/>
          <a:p>
            <a:pPr algn="l">
              <a:lnSpc>
                <a:spcPts val="1797"/>
              </a:lnSpc>
              <a:spcBef>
                <a:spcPts val="0"/>
              </a:spcBef>
              <a:spcAft>
                <a:spcPts val="0"/>
              </a:spcAft>
            </a:pPr>
            <a:r>
              <a:rPr sz="1382" b="1" i="0" u="none">
                <a:solidFill>
                  <a:srgbClr val="1F1E1E"/>
                </a:solidFill>
                <a:latin typeface="Arial"/>
              </a:rPr>
              <a:t>Ejemplo: un detector de fallos en autopartes sólo detecta eso.</a:t>
            </a:r>
          </a:p>
        </p:txBody>
      </p:sp>
      <p:sp>
        <p:nvSpPr>
          <p:cNvPr id="16" name="Rounded Rectangle 15"/>
          <p:cNvSpPr/>
          <p:nvPr/>
        </p:nvSpPr>
        <p:spPr>
          <a:xfrm>
            <a:off x="6192107" y="3314890"/>
            <a:ext cx="5327428" cy="2498312"/>
          </a:xfrm>
          <a:prstGeom prst="roundRect">
            <a:avLst>
              <a:gd name="adj" fmla="val 878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192107" y="3314890"/>
            <a:ext cx="5327428"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6368701" y="3541586"/>
            <a:ext cx="5012436" cy="262128"/>
          </a:xfrm>
          <a:prstGeom prst="rect">
            <a:avLst/>
          </a:prstGeom>
          <a:noFill/>
        </p:spPr>
        <p:txBody>
          <a:bodyPr wrap="none" anchor="ctr" lIns="0" tIns="0" rIns="0" bIns="0">
            <a:noAutofit/>
          </a:bodyPr>
          <a:lstStyle/>
          <a:p>
            <a:pPr algn="l">
              <a:lnSpc>
                <a:spcPts val="2146"/>
              </a:lnSpc>
              <a:spcBef>
                <a:spcPts val="0"/>
              </a:spcBef>
              <a:spcAft>
                <a:spcPts val="0"/>
              </a:spcAft>
            </a:pPr>
            <a:r>
              <a:rPr sz="1866" b="1" i="0" u="none">
                <a:solidFill>
                  <a:srgbClr val="1F1E1E"/>
                </a:solidFill>
                <a:latin typeface="Arial"/>
              </a:rPr>
              <a:t>Foundation Models</a:t>
            </a:r>
          </a:p>
        </p:txBody>
      </p:sp>
      <p:sp>
        <p:nvSpPr>
          <p:cNvPr id="19" name="TextBox 18"/>
          <p:cNvSpPr txBox="1"/>
          <p:nvPr/>
        </p:nvSpPr>
        <p:spPr>
          <a:xfrm>
            <a:off x="6368701" y="3924681"/>
            <a:ext cx="5068001" cy="802862"/>
          </a:xfrm>
          <a:prstGeom prst="rect">
            <a:avLst/>
          </a:prstGeom>
          <a:noFill/>
        </p:spPr>
        <p:txBody>
          <a:bodyPr wrap="square" anchor="ctr" lIns="0" tIns="0" rIns="0" bIns="0">
            <a:noAutofit/>
          </a:bodyPr>
          <a:lstStyle/>
          <a:p>
            <a:pPr algn="l">
              <a:lnSpc>
                <a:spcPts val="1960"/>
              </a:lnSpc>
              <a:spcBef>
                <a:spcPts val="0"/>
              </a:spcBef>
              <a:spcAft>
                <a:spcPts val="0"/>
              </a:spcAft>
            </a:pPr>
            <a:r>
              <a:rPr sz="1452" b="0" i="0" u="none">
                <a:solidFill>
                  <a:srgbClr val="3B3535"/>
                </a:solidFill>
                <a:latin typeface="Arial"/>
              </a:rPr>
              <a:t>Modelos entrenados con datos a gran escala que adquieren una comprensión general y se adaptan después.</a:t>
            </a:r>
          </a:p>
        </p:txBody>
      </p:sp>
      <p:sp>
        <p:nvSpPr>
          <p:cNvPr id="20" name="TextBox 19"/>
          <p:cNvSpPr txBox="1"/>
          <p:nvPr/>
        </p:nvSpPr>
        <p:spPr>
          <a:xfrm>
            <a:off x="6368701" y="4513516"/>
            <a:ext cx="5012436" cy="193167"/>
          </a:xfrm>
          <a:prstGeom prst="rect">
            <a:avLst/>
          </a:prstGeom>
          <a:noFill/>
        </p:spPr>
        <p:txBody>
          <a:bodyPr wrap="none" anchor="ctr" lIns="0" tIns="0" rIns="0" bIns="0">
            <a:noAutofit/>
          </a:bodyPr>
          <a:lstStyle/>
          <a:p>
            <a:pPr algn="l">
              <a:lnSpc>
                <a:spcPts val="1866"/>
              </a:lnSpc>
              <a:spcBef>
                <a:spcPts val="0"/>
              </a:spcBef>
              <a:spcAft>
                <a:spcPts val="0"/>
              </a:spcAft>
            </a:pPr>
            <a:r>
              <a:rPr sz="1382" b="0" i="0" u="none">
                <a:solidFill>
                  <a:srgbClr val="3B3535"/>
                </a:solidFill>
                <a:latin typeface="Arial"/>
              </a:rPr>
              <a:t>Se exponen como SaaS o se pueden correr localmente.</a:t>
            </a:r>
          </a:p>
        </p:txBody>
      </p:sp>
      <p:sp>
        <p:nvSpPr>
          <p:cNvPr id="21" name="TextBox 20"/>
          <p:cNvSpPr txBox="1"/>
          <p:nvPr/>
        </p:nvSpPr>
        <p:spPr>
          <a:xfrm>
            <a:off x="6368701" y="4840034"/>
            <a:ext cx="5068001" cy="723519"/>
          </a:xfrm>
          <a:prstGeom prst="rect">
            <a:avLst/>
          </a:prstGeom>
          <a:noFill/>
        </p:spPr>
        <p:txBody>
          <a:bodyPr wrap="square" anchor="ctr" lIns="0" tIns="0" rIns="0" bIns="0">
            <a:noAutofit/>
          </a:bodyPr>
          <a:lstStyle/>
          <a:p>
            <a:pPr algn="l">
              <a:lnSpc>
                <a:spcPts val="1866"/>
              </a:lnSpc>
              <a:spcBef>
                <a:spcPts val="0"/>
              </a:spcBef>
              <a:spcAft>
                <a:spcPts val="0"/>
              </a:spcAft>
            </a:pPr>
            <a:r>
              <a:rPr sz="1382" b="0" i="0" u="none">
                <a:solidFill>
                  <a:srgbClr val="3B3535"/>
                </a:solidFill>
                <a:latin typeface="Arial"/>
              </a:rPr>
              <a:t>No hace falta un equipo de data science para empezar a usarlos.</a:t>
            </a:r>
          </a:p>
        </p:txBody>
      </p:sp>
      <p:sp>
        <p:nvSpPr>
          <p:cNvPr id="22" name="TextBox 21"/>
          <p:cNvSpPr txBox="1"/>
          <p:nvPr/>
        </p:nvSpPr>
        <p:spPr>
          <a:xfrm>
            <a:off x="670465" y="6027230"/>
            <a:ext cx="8165497"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Lectura recomendada: </a:t>
            </a:r>
            <a:r>
              <a:rPr sz="1402" b="1" i="0" u="sng">
                <a:solidFill>
                  <a:srgbClr val="DA1B2E"/>
                </a:solidFill>
                <a:latin typeface="Arial"/>
                <a:hlinkClick r:id="rId2"/>
              </a:rPr>
              <a:t>On the Opportunities and Risks of Foundation Models</a:t>
            </a:r>
            <a:r>
              <a:rPr sz="1402" b="0" i="0" u="none">
                <a:solidFill>
                  <a:srgbClr val="6E6663"/>
                </a:solidFill>
                <a:latin typeface="Arial"/>
              </a:rPr>
              <a:t> (Stanford HAI, 2021).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three columns</a:t>
            </a:r>
          </a:p>
        </p:txBody>
      </p:sp>
      <p:sp>
        <p:nvSpPr>
          <p:cNvPr id="5" name="Rectangle 4"/>
          <p:cNvSpPr/>
          <p:nvPr/>
        </p:nvSpPr>
        <p:spPr>
          <a:xfrm>
            <a:off x="670465" y="2200561"/>
            <a:ext cx="10848975" cy="42548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578418"/>
            <a:ext cx="10848975" cy="4762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70465" y="2181511"/>
            <a:ext cx="3524440" cy="34290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Layout</a:t>
            </a:r>
          </a:p>
        </p:txBody>
      </p:sp>
      <p:sp>
        <p:nvSpPr>
          <p:cNvPr id="8" name="TextBox 7"/>
          <p:cNvSpPr txBox="1"/>
          <p:nvPr/>
        </p:nvSpPr>
        <p:spPr>
          <a:xfrm>
            <a:off x="4351782" y="2181511"/>
            <a:ext cx="3524440" cy="34290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Rows</a:t>
            </a:r>
          </a:p>
        </p:txBody>
      </p:sp>
      <p:sp>
        <p:nvSpPr>
          <p:cNvPr id="9" name="TextBox 8"/>
          <p:cNvSpPr txBox="1"/>
          <p:nvPr/>
        </p:nvSpPr>
        <p:spPr>
          <a:xfrm>
            <a:off x="8033004" y="2181511"/>
            <a:ext cx="3524536" cy="34290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Rule</a:t>
            </a:r>
          </a:p>
        </p:txBody>
      </p:sp>
      <p:sp>
        <p:nvSpPr>
          <p:cNvPr id="10" name="TextBox 9"/>
          <p:cNvSpPr txBox="1"/>
          <p:nvPr/>
        </p:nvSpPr>
        <p:spPr>
          <a:xfrm>
            <a:off x="670465" y="2924366"/>
            <a:ext cx="3346249" cy="750856"/>
          </a:xfrm>
          <a:prstGeom prst="rect">
            <a:avLst/>
          </a:prstGeom>
          <a:noFill/>
        </p:spPr>
        <p:txBody>
          <a:bodyPr wrap="square" anchor="ctr" lIns="0" tIns="0" rIns="0" bIns="0">
            <a:noAutofit/>
          </a:bodyPr>
          <a:lstStyle/>
          <a:p>
            <a:pPr algn="l">
              <a:lnSpc>
                <a:spcPts val="2208"/>
              </a:lnSpc>
              <a:spcBef>
                <a:spcPts val="0"/>
              </a:spcBef>
              <a:spcAft>
                <a:spcPts val="0"/>
              </a:spcAft>
            </a:pPr>
            <a:r>
              <a:rPr sz="2208" b="1" i="0" u="none">
                <a:solidFill>
                  <a:srgbClr val="1F1E1E"/>
                </a:solidFill>
                <a:latin typeface="Arial"/>
              </a:rPr>
              <a:t>Two to three equal columns</a:t>
            </a:r>
          </a:p>
        </p:txBody>
      </p:sp>
      <p:sp>
        <p:nvSpPr>
          <p:cNvPr id="11" name="Rounded Rectangle 10"/>
          <p:cNvSpPr/>
          <p:nvPr/>
        </p:nvSpPr>
        <p:spPr>
          <a:xfrm>
            <a:off x="4346543" y="2772346"/>
            <a:ext cx="3496723"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565142" y="2924366"/>
            <a:ext cx="3124275"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Cells align across columns</a:t>
            </a:r>
          </a:p>
        </p:txBody>
      </p:sp>
      <p:sp>
        <p:nvSpPr>
          <p:cNvPr id="13" name="Rounded Rectangle 12"/>
          <p:cNvSpPr/>
          <p:nvPr/>
        </p:nvSpPr>
        <p:spPr>
          <a:xfrm>
            <a:off x="8022622" y="2912554"/>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241220" y="3064478"/>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A card-per-row grid</a:t>
            </a:r>
          </a:p>
        </p:txBody>
      </p:sp>
      <p:sp>
        <p:nvSpPr>
          <p:cNvPr id="15" name="TextBox 14"/>
          <p:cNvSpPr txBox="1"/>
          <p:nvPr/>
        </p:nvSpPr>
        <p:spPr>
          <a:xfrm>
            <a:off x="670465" y="4113657"/>
            <a:ext cx="3316129" cy="314325"/>
          </a:xfrm>
          <a:prstGeom prst="rect">
            <a:avLst/>
          </a:prstGeom>
          <a:noFill/>
        </p:spPr>
        <p:txBody>
          <a:bodyPr wrap="none" anchor="ctr" lIns="0" tIns="0" rIns="0" bIns="0">
            <a:noAutofit/>
          </a:bodyPr>
          <a:lstStyle/>
          <a:p>
            <a:pPr algn="l">
              <a:lnSpc>
                <a:spcPts val="2208"/>
              </a:lnSpc>
              <a:spcBef>
                <a:spcPts val="0"/>
              </a:spcBef>
              <a:spcAft>
                <a:spcPts val="0"/>
              </a:spcAft>
            </a:pPr>
            <a:r>
              <a:rPr sz="2208" b="1" i="0" u="none">
                <a:solidFill>
                  <a:srgbClr val="1F1E1E"/>
                </a:solidFill>
                <a:latin typeface="Arial"/>
              </a:rPr>
              <a:t>Parallel headers</a:t>
            </a:r>
          </a:p>
        </p:txBody>
      </p:sp>
      <p:sp>
        <p:nvSpPr>
          <p:cNvPr id="16" name="Rounded Rectangle 15"/>
          <p:cNvSpPr/>
          <p:nvPr/>
        </p:nvSpPr>
        <p:spPr>
          <a:xfrm>
            <a:off x="4346543" y="3821430"/>
            <a:ext cx="3496723"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4565142" y="3973449"/>
            <a:ext cx="3124275"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One row per comparison point</a:t>
            </a:r>
          </a:p>
        </p:txBody>
      </p:sp>
      <p:sp>
        <p:nvSpPr>
          <p:cNvPr id="18" name="Rounded Rectangle 17"/>
          <p:cNvSpPr/>
          <p:nvPr/>
        </p:nvSpPr>
        <p:spPr>
          <a:xfrm>
            <a:off x="8022622" y="3961638"/>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241220" y="4113657"/>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Never a native table</a:t>
            </a:r>
          </a:p>
        </p:txBody>
      </p:sp>
      <p:sp>
        <p:nvSpPr>
          <p:cNvPr id="20" name="TextBox 19"/>
          <p:cNvSpPr txBox="1"/>
          <p:nvPr/>
        </p:nvSpPr>
        <p:spPr>
          <a:xfrm>
            <a:off x="670465" y="5022532"/>
            <a:ext cx="3316129" cy="314325"/>
          </a:xfrm>
          <a:prstGeom prst="rect">
            <a:avLst/>
          </a:prstGeom>
          <a:noFill/>
        </p:spPr>
        <p:txBody>
          <a:bodyPr wrap="none" anchor="ctr" lIns="0" tIns="0" rIns="0" bIns="0">
            <a:noAutofit/>
          </a:bodyPr>
          <a:lstStyle/>
          <a:p>
            <a:pPr algn="l">
              <a:lnSpc>
                <a:spcPts val="2208"/>
              </a:lnSpc>
              <a:spcBef>
                <a:spcPts val="0"/>
              </a:spcBef>
              <a:spcAft>
                <a:spcPts val="0"/>
              </a:spcAft>
            </a:pPr>
            <a:r>
              <a:rPr sz="2208" b="1" i="0" u="none">
                <a:solidFill>
                  <a:srgbClr val="1F1E1E"/>
                </a:solidFill>
                <a:latin typeface="Arial"/>
              </a:rPr>
              <a:t>Uniform widths</a:t>
            </a:r>
          </a:p>
        </p:txBody>
      </p:sp>
      <p:sp>
        <p:nvSpPr>
          <p:cNvPr id="21" name="Rounded Rectangle 20"/>
          <p:cNvSpPr/>
          <p:nvPr/>
        </p:nvSpPr>
        <p:spPr>
          <a:xfrm>
            <a:off x="4346543" y="4870514"/>
            <a:ext cx="349672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4565142" y="5022532"/>
            <a:ext cx="309743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Shared gridlines</a:t>
            </a:r>
          </a:p>
        </p:txBody>
      </p:sp>
      <p:sp>
        <p:nvSpPr>
          <p:cNvPr id="23" name="Rounded Rectangle 22"/>
          <p:cNvSpPr/>
          <p:nvPr/>
        </p:nvSpPr>
        <p:spPr>
          <a:xfrm>
            <a:off x="8022622" y="4870514"/>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8241220" y="5022532"/>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No plain bullets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two columns (myth vs reality)</a:t>
            </a:r>
          </a:p>
        </p:txBody>
      </p:sp>
      <p:sp>
        <p:nvSpPr>
          <p:cNvPr id="5" name="Rectangle 4"/>
          <p:cNvSpPr/>
          <p:nvPr/>
        </p:nvSpPr>
        <p:spPr>
          <a:xfrm>
            <a:off x="670465" y="2932081"/>
            <a:ext cx="10848975" cy="42548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3309938"/>
            <a:ext cx="10848975" cy="4762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70465" y="2913031"/>
            <a:ext cx="5365147" cy="34290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Myth</a:t>
            </a:r>
          </a:p>
        </p:txBody>
      </p:sp>
      <p:sp>
        <p:nvSpPr>
          <p:cNvPr id="8" name="TextBox 7"/>
          <p:cNvSpPr txBox="1"/>
          <p:nvPr/>
        </p:nvSpPr>
        <p:spPr>
          <a:xfrm>
            <a:off x="6192488" y="2913031"/>
            <a:ext cx="5365147" cy="34290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Reality</a:t>
            </a:r>
          </a:p>
        </p:txBody>
      </p:sp>
      <p:sp>
        <p:nvSpPr>
          <p:cNvPr id="9" name="Rounded Rectangle 8"/>
          <p:cNvSpPr/>
          <p:nvPr/>
        </p:nvSpPr>
        <p:spPr>
          <a:xfrm>
            <a:off x="670465" y="3503866"/>
            <a:ext cx="5334762"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889064" y="3655790"/>
            <a:ext cx="4935474"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A comparison needs a real HTML table</a:t>
            </a:r>
          </a:p>
        </p:txBody>
      </p:sp>
      <p:sp>
        <p:nvSpPr>
          <p:cNvPr id="11" name="Rounded Rectangle 10"/>
          <p:cNvSpPr/>
          <p:nvPr/>
        </p:nvSpPr>
        <p:spPr>
          <a:xfrm>
            <a:off x="6184582" y="3503866"/>
            <a:ext cx="5334857"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403181" y="3655790"/>
            <a:ext cx="4935664"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It renders as a card-per-row grid</a:t>
            </a:r>
          </a:p>
        </p:txBody>
      </p:sp>
      <p:sp>
        <p:nvSpPr>
          <p:cNvPr id="13" name="Rounded Rectangle 12"/>
          <p:cNvSpPr/>
          <p:nvPr/>
        </p:nvSpPr>
        <p:spPr>
          <a:xfrm>
            <a:off x="670465" y="4412742"/>
            <a:ext cx="5334762"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89064" y="4564666"/>
            <a:ext cx="4935474"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The two columns should look different</a:t>
            </a:r>
          </a:p>
        </p:txBody>
      </p:sp>
      <p:sp>
        <p:nvSpPr>
          <p:cNvPr id="15" name="Rounded Rectangle 14"/>
          <p:cNvSpPr/>
          <p:nvPr/>
        </p:nvSpPr>
        <p:spPr>
          <a:xfrm>
            <a:off x="6184582" y="4272534"/>
            <a:ext cx="5334857"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6403181" y="4424553"/>
            <a:ext cx="4990078"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Both columns share the same weight and width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693"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 image: the grid keeps its columns</a:t>
            </a:r>
          </a:p>
        </p:txBody>
      </p:sp>
      <p:sp>
        <p:nvSpPr>
          <p:cNvPr id="5" name="TextBox 4"/>
          <p:cNvSpPr txBox="1"/>
          <p:nvPr/>
        </p:nvSpPr>
        <p:spPr>
          <a:xfrm>
            <a:off x="670465" y="2187607"/>
            <a:ext cx="1088898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table and a diagram on the same slide — neither one has to go.</a:t>
            </a:r>
          </a:p>
        </p:txBody>
      </p:sp>
      <p:sp>
        <p:nvSpPr>
          <p:cNvPr id="6" name="Rectangle 5"/>
          <p:cNvSpPr/>
          <p:nvPr/>
        </p:nvSpPr>
        <p:spPr>
          <a:xfrm>
            <a:off x="670465" y="2745391"/>
            <a:ext cx="5891974" cy="3198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027140"/>
            <a:ext cx="5891974"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670465" y="2745391"/>
            <a:ext cx="190452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What changes</a:t>
            </a:r>
          </a:p>
        </p:txBody>
      </p:sp>
      <p:sp>
        <p:nvSpPr>
          <p:cNvPr id="9" name="TextBox 8"/>
          <p:cNvSpPr txBox="1"/>
          <p:nvPr/>
        </p:nvSpPr>
        <p:spPr>
          <a:xfrm>
            <a:off x="2685002" y="2745391"/>
            <a:ext cx="190452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Chatting</a:t>
            </a:r>
          </a:p>
        </p:txBody>
      </p:sp>
      <p:sp>
        <p:nvSpPr>
          <p:cNvPr id="10" name="TextBox 9"/>
          <p:cNvSpPr txBox="1"/>
          <p:nvPr/>
        </p:nvSpPr>
        <p:spPr>
          <a:xfrm>
            <a:off x="4699635" y="2745391"/>
            <a:ext cx="190090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Delegating</a:t>
            </a:r>
          </a:p>
        </p:txBody>
      </p:sp>
      <p:sp>
        <p:nvSpPr>
          <p:cNvPr id="11" name="TextBox 10"/>
          <p:cNvSpPr txBox="1"/>
          <p:nvPr/>
        </p:nvSpPr>
        <p:spPr>
          <a:xfrm>
            <a:off x="670465" y="3289744"/>
            <a:ext cx="1726107" cy="572167"/>
          </a:xfrm>
          <a:prstGeom prst="rect">
            <a:avLst/>
          </a:prstGeom>
          <a:noFill/>
        </p:spPr>
        <p:txBody>
          <a:bodyPr wrap="square" anchor="ctr" lIns="0" tIns="0" rIns="0" bIns="0">
            <a:noAutofit/>
          </a:bodyPr>
          <a:lstStyle/>
          <a:p>
            <a:pPr algn="l">
              <a:lnSpc>
                <a:spcPts val="1671"/>
              </a:lnSpc>
              <a:spcBef>
                <a:spcPts val="0"/>
              </a:spcBef>
              <a:spcAft>
                <a:spcPts val="0"/>
              </a:spcAft>
            </a:pPr>
            <a:r>
              <a:rPr sz="1671" b="1" i="0" u="none">
                <a:solidFill>
                  <a:srgbClr val="1F1E1E"/>
                </a:solidFill>
                <a:latin typeface="Arial"/>
              </a:rPr>
              <a:t>The way of working</a:t>
            </a:r>
          </a:p>
        </p:txBody>
      </p:sp>
      <p:sp>
        <p:nvSpPr>
          <p:cNvPr id="12" name="Rounded Rectangle 11"/>
          <p:cNvSpPr/>
          <p:nvPr/>
        </p:nvSpPr>
        <p:spPr>
          <a:xfrm>
            <a:off x="2681097" y="3176302"/>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847118" y="3289744"/>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One question at a time</a:t>
            </a:r>
          </a:p>
        </p:txBody>
      </p:sp>
      <p:sp>
        <p:nvSpPr>
          <p:cNvPr id="14" name="Rounded Rectangle 13"/>
          <p:cNvSpPr/>
          <p:nvPr/>
        </p:nvSpPr>
        <p:spPr>
          <a:xfrm>
            <a:off x="4691634" y="3176302"/>
            <a:ext cx="1870805"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857655" y="3289744"/>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One whole assignment</a:t>
            </a:r>
          </a:p>
        </p:txBody>
      </p:sp>
      <p:sp>
        <p:nvSpPr>
          <p:cNvPr id="16" name="TextBox 15"/>
          <p:cNvSpPr txBox="1"/>
          <p:nvPr/>
        </p:nvSpPr>
        <p:spPr>
          <a:xfrm>
            <a:off x="670465" y="4192905"/>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steps</a:t>
            </a:r>
          </a:p>
        </p:txBody>
      </p:sp>
      <p:sp>
        <p:nvSpPr>
          <p:cNvPr id="17" name="Rounded Rectangle 16"/>
          <p:cNvSpPr/>
          <p:nvPr/>
        </p:nvSpPr>
        <p:spPr>
          <a:xfrm>
            <a:off x="2681097" y="3973068"/>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2847118" y="4086416"/>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supply them</a:t>
            </a:r>
          </a:p>
        </p:txBody>
      </p:sp>
      <p:sp>
        <p:nvSpPr>
          <p:cNvPr id="19" name="Rounded Rectangle 18"/>
          <p:cNvSpPr/>
          <p:nvPr/>
        </p:nvSpPr>
        <p:spPr>
          <a:xfrm>
            <a:off x="4691634" y="3973068"/>
            <a:ext cx="1870805"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4857655" y="4086416"/>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It plans and runs them</a:t>
            </a:r>
          </a:p>
        </p:txBody>
      </p:sp>
      <p:sp>
        <p:nvSpPr>
          <p:cNvPr id="21" name="TextBox 20"/>
          <p:cNvSpPr txBox="1"/>
          <p:nvPr/>
        </p:nvSpPr>
        <p:spPr>
          <a:xfrm>
            <a:off x="670465" y="4989671"/>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output</a:t>
            </a:r>
          </a:p>
        </p:txBody>
      </p:sp>
      <p:sp>
        <p:nvSpPr>
          <p:cNvPr id="22" name="Rounded Rectangle 21"/>
          <p:cNvSpPr/>
          <p:nvPr/>
        </p:nvSpPr>
        <p:spPr>
          <a:xfrm>
            <a:off x="2681097" y="4769739"/>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2847118" y="4883182"/>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Text in the window</a:t>
            </a:r>
          </a:p>
        </p:txBody>
      </p:sp>
      <p:sp>
        <p:nvSpPr>
          <p:cNvPr id="24" name="Rounded Rectangle 23"/>
          <p:cNvSpPr/>
          <p:nvPr/>
        </p:nvSpPr>
        <p:spPr>
          <a:xfrm>
            <a:off x="4691634" y="4876228"/>
            <a:ext cx="1870805" cy="472630"/>
          </a:xfrm>
          <a:prstGeom prst="roundRect">
            <a:avLst>
              <a:gd name="adj" fmla="val 2714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4857655" y="4989671"/>
            <a:ext cx="1553813" cy="230124"/>
          </a:xfrm>
          <a:prstGeom prst="rect">
            <a:avLst/>
          </a:prstGeom>
          <a:noFill/>
        </p:spPr>
        <p:txBody>
          <a:bodyPr wrap="none" anchor="ctr" lIns="0" tIns="0" rIns="0" bIns="0">
            <a:noAutofit/>
          </a:bodyPr>
          <a:lstStyle/>
          <a:p>
            <a:pPr algn="l">
              <a:lnSpc>
                <a:spcPts val="1671"/>
              </a:lnSpc>
              <a:spcBef>
                <a:spcPts val="0"/>
              </a:spcBef>
              <a:spcAft>
                <a:spcPts val="0"/>
              </a:spcAft>
            </a:pPr>
            <a:r>
              <a:rPr sz="1671" b="0" i="0" u="none">
                <a:solidFill>
                  <a:srgbClr val="3B3535"/>
                </a:solidFill>
                <a:latin typeface="Arial"/>
              </a:rPr>
              <a:t>Files on disk</a:t>
            </a:r>
          </a:p>
        </p:txBody>
      </p:sp>
      <p:sp>
        <p:nvSpPr>
          <p:cNvPr id="26" name="TextBox 25"/>
          <p:cNvSpPr txBox="1"/>
          <p:nvPr/>
        </p:nvSpPr>
        <p:spPr>
          <a:xfrm>
            <a:off x="670465" y="5786342"/>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human role</a:t>
            </a:r>
          </a:p>
        </p:txBody>
      </p:sp>
      <p:sp>
        <p:nvSpPr>
          <p:cNvPr id="27" name="Rounded Rectangle 26"/>
          <p:cNvSpPr/>
          <p:nvPr/>
        </p:nvSpPr>
        <p:spPr>
          <a:xfrm>
            <a:off x="2681097" y="5566505"/>
            <a:ext cx="1874330" cy="681895"/>
          </a:xfrm>
          <a:prstGeom prst="roundRect">
            <a:avLst>
              <a:gd name="adj" fmla="val 1881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2847118" y="5679853"/>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write and wait</a:t>
            </a:r>
          </a:p>
        </p:txBody>
      </p:sp>
      <p:sp>
        <p:nvSpPr>
          <p:cNvPr id="29" name="Rounded Rectangle 28"/>
          <p:cNvSpPr/>
          <p:nvPr/>
        </p:nvSpPr>
        <p:spPr>
          <a:xfrm>
            <a:off x="4691634" y="5566505"/>
            <a:ext cx="1870805" cy="681895"/>
          </a:xfrm>
          <a:prstGeom prst="roundRect">
            <a:avLst>
              <a:gd name="adj" fmla="val 1881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4857655" y="5679853"/>
            <a:ext cx="1584472"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commission and review</a:t>
            </a:r>
          </a:p>
        </p:txBody>
      </p:sp>
      <p:sp>
        <p:nvSpPr>
          <p:cNvPr id="31" name="Rounded Rectangle 30"/>
          <p:cNvSpPr/>
          <p:nvPr/>
        </p:nvSpPr>
        <p:spPr>
          <a:xfrm>
            <a:off x="6989159" y="2745391"/>
            <a:ext cx="4532281"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2" name="Picture 31" descr="image.png"/>
          <p:cNvPicPr>
            <a:picLocks noChangeAspect="1"/>
          </p:cNvPicPr>
          <p:nvPr/>
        </p:nvPicPr>
        <p:blipFill>
          <a:blip r:embed="rId2"/>
          <a:stretch>
            <a:fillRect/>
          </a:stretch>
        </p:blipFill>
        <p:spPr>
          <a:xfrm>
            <a:off x="6998780" y="3227642"/>
            <a:ext cx="4512945" cy="253860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 image: mirrored (image-left)</a:t>
            </a:r>
          </a:p>
        </p:txBody>
      </p:sp>
      <p:sp>
        <p:nvSpPr>
          <p:cNvPr id="5" name="Rectangle 4"/>
          <p:cNvSpPr/>
          <p:nvPr/>
        </p:nvSpPr>
        <p:spPr>
          <a:xfrm>
            <a:off x="5629466" y="2344674"/>
            <a:ext cx="5892070" cy="3706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5629466" y="2677192"/>
            <a:ext cx="5892070"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5629466" y="2325624"/>
            <a:ext cx="2900172" cy="29527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Factor</a:t>
            </a:r>
          </a:p>
        </p:txBody>
      </p:sp>
      <p:sp>
        <p:nvSpPr>
          <p:cNvPr id="8" name="TextBox 7"/>
          <p:cNvSpPr txBox="1"/>
          <p:nvPr/>
        </p:nvSpPr>
        <p:spPr>
          <a:xfrm>
            <a:off x="8663178" y="2325624"/>
            <a:ext cx="2896457" cy="29527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Mirrored</a:t>
            </a:r>
          </a:p>
        </p:txBody>
      </p:sp>
      <p:sp>
        <p:nvSpPr>
          <p:cNvPr id="9" name="TextBox 8"/>
          <p:cNvSpPr txBox="1"/>
          <p:nvPr/>
        </p:nvSpPr>
        <p:spPr>
          <a:xfrm>
            <a:off x="5629466" y="3098768"/>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Column widths</a:t>
            </a:r>
          </a:p>
        </p:txBody>
      </p:sp>
      <p:sp>
        <p:nvSpPr>
          <p:cNvPr id="10" name="Rounded Rectangle 9"/>
          <p:cNvSpPr/>
          <p:nvPr/>
        </p:nvSpPr>
        <p:spPr>
          <a:xfrm>
            <a:off x="8656320" y="2843974"/>
            <a:ext cx="2865215"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8848725" y="2975420"/>
            <a:ext cx="2540528"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The grid keeps the wider track</a:t>
            </a:r>
          </a:p>
        </p:txBody>
      </p:sp>
      <p:sp>
        <p:nvSpPr>
          <p:cNvPr id="12" name="TextBox 11"/>
          <p:cNvSpPr txBox="1"/>
          <p:nvPr/>
        </p:nvSpPr>
        <p:spPr>
          <a:xfrm>
            <a:off x="5629466" y="4021931"/>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Reading order</a:t>
            </a:r>
          </a:p>
        </p:txBody>
      </p:sp>
      <p:sp>
        <p:nvSpPr>
          <p:cNvPr id="13" name="Rounded Rectangle 12"/>
          <p:cNvSpPr/>
          <p:nvPr/>
        </p:nvSpPr>
        <p:spPr>
          <a:xfrm>
            <a:off x="8656320" y="3767138"/>
            <a:ext cx="2865215"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848725" y="3898582"/>
            <a:ext cx="2540528"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Grid then image, unchanged</a:t>
            </a:r>
          </a:p>
        </p:txBody>
      </p:sp>
      <p:sp>
        <p:nvSpPr>
          <p:cNvPr id="15" name="TextBox 14"/>
          <p:cNvSpPr txBox="1"/>
          <p:nvPr/>
        </p:nvSpPr>
        <p:spPr>
          <a:xfrm>
            <a:off x="5629466" y="4821746"/>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Cell alignment</a:t>
            </a:r>
          </a:p>
        </p:txBody>
      </p:sp>
      <p:sp>
        <p:nvSpPr>
          <p:cNvPr id="16" name="Rounded Rectangle 15"/>
          <p:cNvSpPr/>
          <p:nvPr/>
        </p:nvSpPr>
        <p:spPr>
          <a:xfrm>
            <a:off x="8656320" y="4690300"/>
            <a:ext cx="2865215"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48725" y="4821746"/>
            <a:ext cx="252231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Still left-aligned</a:t>
            </a:r>
          </a:p>
        </p:txBody>
      </p:sp>
      <p:sp>
        <p:nvSpPr>
          <p:cNvPr id="18" name="Rounded Rectangle 17"/>
          <p:cNvSpPr/>
          <p:nvPr/>
        </p:nvSpPr>
        <p:spPr>
          <a:xfrm>
            <a:off x="670465" y="1775555"/>
            <a:ext cx="4532281" cy="4472845"/>
          </a:xfrm>
          <a:prstGeom prst="roundRect">
            <a:avLst>
              <a:gd name="adj" fmla="val 381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2"/>
          <a:stretch>
            <a:fillRect/>
          </a:stretch>
        </p:blipFill>
        <p:spPr>
          <a:xfrm>
            <a:off x="680180" y="2742628"/>
            <a:ext cx="4512945" cy="253860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pros-cons: upside versus downside</a:t>
            </a:r>
          </a:p>
        </p:txBody>
      </p:sp>
      <p:sp>
        <p:nvSpPr>
          <p:cNvPr id="5" name="Rounded Rectangle 4"/>
          <p:cNvSpPr/>
          <p:nvPr/>
        </p:nvSpPr>
        <p:spPr>
          <a:xfrm>
            <a:off x="670465" y="1775555"/>
            <a:ext cx="5251704" cy="4472845"/>
          </a:xfrm>
          <a:prstGeom prst="roundRect">
            <a:avLst>
              <a:gd name="adj" fmla="val 5451"/>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92600" y="2120646"/>
            <a:ext cx="690372" cy="690372"/>
          </a:xfrm>
          <a:prstGeom prst="rect">
            <a:avLst/>
          </a:prstGeom>
        </p:spPr>
      </p:pic>
      <p:sp>
        <p:nvSpPr>
          <p:cNvPr id="7" name="TextBox 6"/>
          <p:cNvSpPr txBox="1"/>
          <p:nvPr/>
        </p:nvSpPr>
        <p:spPr>
          <a:xfrm>
            <a:off x="992600" y="2945035"/>
            <a:ext cx="4645628" cy="395573"/>
          </a:xfrm>
          <a:prstGeom prst="rect">
            <a:avLst/>
          </a:prstGeom>
          <a:noFill/>
        </p:spPr>
        <p:txBody>
          <a:bodyPr wrap="none" anchor="ctr" lIns="0" tIns="0" rIns="0" bIns="0">
            <a:noAutofit/>
          </a:bodyPr>
          <a:lstStyle/>
          <a:p>
            <a:pPr algn="l">
              <a:lnSpc>
                <a:spcPts val="2797"/>
              </a:lnSpc>
              <a:spcBef>
                <a:spcPts val="0"/>
              </a:spcBef>
              <a:spcAft>
                <a:spcPts val="0"/>
              </a:spcAft>
            </a:pPr>
            <a:r>
              <a:rPr sz="2797" b="1" i="0" u="none">
                <a:solidFill>
                  <a:srgbClr val="1F1E1E"/>
                </a:solidFill>
                <a:latin typeface="Arial"/>
              </a:rPr>
              <a:t>Ventajas</a:t>
            </a:r>
          </a:p>
        </p:txBody>
      </p:sp>
      <p:sp>
        <p:nvSpPr>
          <p:cNvPr id="8" name="Oval 7"/>
          <p:cNvSpPr/>
          <p:nvPr/>
        </p:nvSpPr>
        <p:spPr>
          <a:xfrm>
            <a:off x="1053560" y="364188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314640" y="3507772"/>
            <a:ext cx="4368724"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The pro column uses the blue tint with a check</a:t>
            </a:r>
          </a:p>
        </p:txBody>
      </p:sp>
      <p:sp>
        <p:nvSpPr>
          <p:cNvPr id="10" name="Oval 9"/>
          <p:cNvSpPr/>
          <p:nvPr/>
        </p:nvSpPr>
        <p:spPr>
          <a:xfrm>
            <a:off x="1053560" y="4497705"/>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314640" y="4363593"/>
            <a:ext cx="4368724"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Best for a decision framed as a trade-off</a:t>
            </a:r>
          </a:p>
        </p:txBody>
      </p:sp>
      <p:sp>
        <p:nvSpPr>
          <p:cNvPr id="12" name="Oval 11"/>
          <p:cNvSpPr/>
          <p:nvPr/>
        </p:nvSpPr>
        <p:spPr>
          <a:xfrm>
            <a:off x="1053560" y="5353621"/>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314640" y="5219414"/>
            <a:ext cx="4323493" cy="314706"/>
          </a:xfrm>
          <a:prstGeom prst="rect">
            <a:avLst/>
          </a:prstGeom>
          <a:noFill/>
        </p:spPr>
        <p:txBody>
          <a:bodyPr wrap="none" anchor="ctr" lIns="0" tIns="0" rIns="0" bIns="0">
            <a:noAutofit/>
          </a:bodyPr>
          <a:lstStyle/>
          <a:p>
            <a:pPr algn="l">
              <a:lnSpc>
                <a:spcPts val="2816"/>
              </a:lnSpc>
              <a:spcBef>
                <a:spcPts val="0"/>
              </a:spcBef>
              <a:spcAft>
                <a:spcPts val="0"/>
              </a:spcAft>
            </a:pPr>
            <a:r>
              <a:rPr sz="2166" b="0" i="0" u="none">
                <a:solidFill>
                  <a:srgbClr val="1F1E1E"/>
                </a:solidFill>
                <a:latin typeface="Arial"/>
              </a:rPr>
              <a:t>Each line is one short point</a:t>
            </a:r>
          </a:p>
        </p:txBody>
      </p:sp>
      <p:sp>
        <p:nvSpPr>
          <p:cNvPr id="14" name="Rounded Rectangle 13"/>
          <p:cNvSpPr/>
          <p:nvPr/>
        </p:nvSpPr>
        <p:spPr>
          <a:xfrm>
            <a:off x="6267260" y="1775555"/>
            <a:ext cx="5251799" cy="4472845"/>
          </a:xfrm>
          <a:prstGeom prst="roundRect">
            <a:avLst>
              <a:gd name="adj" fmla="val 5451"/>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3"/>
          <a:stretch>
            <a:fillRect/>
          </a:stretch>
        </p:blipFill>
        <p:spPr>
          <a:xfrm>
            <a:off x="6589300" y="2120646"/>
            <a:ext cx="690372" cy="690372"/>
          </a:xfrm>
          <a:prstGeom prst="rect">
            <a:avLst/>
          </a:prstGeom>
        </p:spPr>
      </p:pic>
      <p:sp>
        <p:nvSpPr>
          <p:cNvPr id="16" name="TextBox 15"/>
          <p:cNvSpPr txBox="1"/>
          <p:nvPr/>
        </p:nvSpPr>
        <p:spPr>
          <a:xfrm>
            <a:off x="6589300" y="2945035"/>
            <a:ext cx="4645724" cy="395573"/>
          </a:xfrm>
          <a:prstGeom prst="rect">
            <a:avLst/>
          </a:prstGeom>
          <a:noFill/>
        </p:spPr>
        <p:txBody>
          <a:bodyPr wrap="none" anchor="ctr" lIns="0" tIns="0" rIns="0" bIns="0">
            <a:noAutofit/>
          </a:bodyPr>
          <a:lstStyle/>
          <a:p>
            <a:pPr algn="l">
              <a:lnSpc>
                <a:spcPts val="2797"/>
              </a:lnSpc>
              <a:spcBef>
                <a:spcPts val="0"/>
              </a:spcBef>
              <a:spcAft>
                <a:spcPts val="0"/>
              </a:spcAft>
            </a:pPr>
            <a:r>
              <a:rPr sz="2797" b="1" i="0" u="none">
                <a:solidFill>
                  <a:srgbClr val="1F1E1E"/>
                </a:solidFill>
                <a:latin typeface="Arial"/>
              </a:rPr>
              <a:t>Riesgos</a:t>
            </a:r>
          </a:p>
        </p:txBody>
      </p:sp>
      <p:sp>
        <p:nvSpPr>
          <p:cNvPr id="17" name="Oval 16"/>
          <p:cNvSpPr/>
          <p:nvPr/>
        </p:nvSpPr>
        <p:spPr>
          <a:xfrm>
            <a:off x="6650260" y="364188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6911435" y="3507772"/>
            <a:ext cx="4368917"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The con column uses the pink tint with a mark</a:t>
            </a:r>
          </a:p>
        </p:txBody>
      </p:sp>
      <p:sp>
        <p:nvSpPr>
          <p:cNvPr id="19" name="Oval 18"/>
          <p:cNvSpPr/>
          <p:nvPr/>
        </p:nvSpPr>
        <p:spPr>
          <a:xfrm>
            <a:off x="6650260" y="4497705"/>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6911435" y="4363593"/>
            <a:ext cx="4368917"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Author-directed: two labeled groups</a:t>
            </a:r>
          </a:p>
        </p:txBody>
      </p:sp>
      <p:sp>
        <p:nvSpPr>
          <p:cNvPr id="21" name="Oval 20"/>
          <p:cNvSpPr/>
          <p:nvPr/>
        </p:nvSpPr>
        <p:spPr>
          <a:xfrm>
            <a:off x="6650260" y="5353621"/>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911435" y="5219414"/>
            <a:ext cx="4368917" cy="699802"/>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Not for a general A-versus-B comparison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pros-cons: uneven, longer lists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count is the point of the slide, so the rules stack instead of running together.</a:t>
            </a:r>
          </a:p>
        </p:txBody>
      </p:sp>
      <p:sp>
        <p:nvSpPr>
          <p:cNvPr id="6" name="Rounded Rectangle 5"/>
          <p:cNvSpPr/>
          <p:nvPr/>
        </p:nvSpPr>
        <p:spPr>
          <a:xfrm>
            <a:off x="670465" y="2192369"/>
            <a:ext cx="5255514" cy="4056031"/>
          </a:xfrm>
          <a:prstGeom prst="roundRect">
            <a:avLst>
              <a:gd name="adj" fmla="val 6011"/>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85171" y="2529554"/>
            <a:ext cx="674560" cy="674560"/>
          </a:xfrm>
          <a:prstGeom prst="rect">
            <a:avLst/>
          </a:prstGeom>
        </p:spPr>
      </p:pic>
      <p:sp>
        <p:nvSpPr>
          <p:cNvPr id="8" name="TextBox 7"/>
          <p:cNvSpPr txBox="1"/>
          <p:nvPr/>
        </p:nvSpPr>
        <p:spPr>
          <a:xfrm>
            <a:off x="985171" y="3335084"/>
            <a:ext cx="4664202" cy="386524"/>
          </a:xfrm>
          <a:prstGeom prst="rect">
            <a:avLst/>
          </a:prstGeom>
          <a:noFill/>
        </p:spPr>
        <p:txBody>
          <a:bodyPr wrap="none" anchor="ctr" lIns="0" tIns="0" rIns="0" bIns="0">
            <a:noAutofit/>
          </a:bodyPr>
          <a:lstStyle/>
          <a:p>
            <a:pPr algn="l">
              <a:lnSpc>
                <a:spcPts val="2738"/>
              </a:lnSpc>
              <a:spcBef>
                <a:spcPts val="0"/>
              </a:spcBef>
              <a:spcAft>
                <a:spcPts val="0"/>
              </a:spcAft>
            </a:pPr>
            <a:r>
              <a:rPr sz="2738" b="1" i="0" u="none">
                <a:solidFill>
                  <a:srgbClr val="1F1E1E"/>
                </a:solidFill>
                <a:latin typeface="Arial"/>
              </a:rPr>
              <a:t>Qué hacer</a:t>
            </a:r>
          </a:p>
        </p:txBody>
      </p:sp>
      <p:sp>
        <p:nvSpPr>
          <p:cNvPr id="9" name="Oval 8"/>
          <p:cNvSpPr/>
          <p:nvPr/>
        </p:nvSpPr>
        <p:spPr>
          <a:xfrm>
            <a:off x="1046131" y="4006882"/>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1299877" y="3884962"/>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Split before you explore the data</a:t>
            </a:r>
          </a:p>
        </p:txBody>
      </p:sp>
      <p:sp>
        <p:nvSpPr>
          <p:cNvPr id="11" name="Oval 10"/>
          <p:cNvSpPr/>
          <p:nvPr/>
        </p:nvSpPr>
        <p:spPr>
          <a:xfrm>
            <a:off x="1046131" y="444065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299877" y="4318826"/>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Split by group, never by row</a:t>
            </a:r>
          </a:p>
        </p:txBody>
      </p:sp>
      <p:sp>
        <p:nvSpPr>
          <p:cNvPr id="13" name="Oval 12"/>
          <p:cNvSpPr/>
          <p:nvPr/>
        </p:nvSpPr>
        <p:spPr>
          <a:xfrm>
            <a:off x="1046131" y="487451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299877" y="4752594"/>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Fix the seed and store the split</a:t>
            </a:r>
          </a:p>
        </p:txBody>
      </p:sp>
      <p:sp>
        <p:nvSpPr>
          <p:cNvPr id="15" name="Oval 14"/>
          <p:cNvSpPr/>
          <p:nvPr/>
        </p:nvSpPr>
        <p:spPr>
          <a:xfrm>
            <a:off x="1046131" y="5308378"/>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1299877" y="5186458"/>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Augment the training set only</a:t>
            </a:r>
          </a:p>
        </p:txBody>
      </p:sp>
      <p:sp>
        <p:nvSpPr>
          <p:cNvPr id="17" name="Oval 16"/>
          <p:cNvSpPr/>
          <p:nvPr/>
        </p:nvSpPr>
        <p:spPr>
          <a:xfrm>
            <a:off x="1046131" y="5742242"/>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99877" y="5620321"/>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Write down what you decided and why</a:t>
            </a:r>
          </a:p>
        </p:txBody>
      </p:sp>
      <p:sp>
        <p:nvSpPr>
          <p:cNvPr id="19" name="Rounded Rectangle 18"/>
          <p:cNvSpPr/>
          <p:nvPr/>
        </p:nvSpPr>
        <p:spPr>
          <a:xfrm>
            <a:off x="6263259" y="2192369"/>
            <a:ext cx="5255704" cy="4056031"/>
          </a:xfrm>
          <a:prstGeom prst="roundRect">
            <a:avLst>
              <a:gd name="adj" fmla="val 6011"/>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png"/>
          <p:cNvPicPr>
            <a:picLocks noChangeAspect="1"/>
          </p:cNvPicPr>
          <p:nvPr/>
        </p:nvPicPr>
        <p:blipFill>
          <a:blip r:embed="rId3"/>
          <a:stretch>
            <a:fillRect/>
          </a:stretch>
        </p:blipFill>
        <p:spPr>
          <a:xfrm>
            <a:off x="6577965" y="2529554"/>
            <a:ext cx="674560" cy="674560"/>
          </a:xfrm>
          <a:prstGeom prst="rect">
            <a:avLst/>
          </a:prstGeom>
        </p:spPr>
      </p:pic>
      <p:sp>
        <p:nvSpPr>
          <p:cNvPr id="21" name="TextBox 20"/>
          <p:cNvSpPr txBox="1"/>
          <p:nvPr/>
        </p:nvSpPr>
        <p:spPr>
          <a:xfrm>
            <a:off x="6577965" y="3335084"/>
            <a:ext cx="4664392" cy="386524"/>
          </a:xfrm>
          <a:prstGeom prst="rect">
            <a:avLst/>
          </a:prstGeom>
          <a:noFill/>
        </p:spPr>
        <p:txBody>
          <a:bodyPr wrap="none" anchor="ctr" lIns="0" tIns="0" rIns="0" bIns="0">
            <a:noAutofit/>
          </a:bodyPr>
          <a:lstStyle/>
          <a:p>
            <a:pPr algn="l">
              <a:lnSpc>
                <a:spcPts val="2738"/>
              </a:lnSpc>
              <a:spcBef>
                <a:spcPts val="0"/>
              </a:spcBef>
              <a:spcAft>
                <a:spcPts val="0"/>
              </a:spcAft>
            </a:pPr>
            <a:r>
              <a:rPr sz="2738" b="1" i="0" u="none">
                <a:solidFill>
                  <a:srgbClr val="1F1E1E"/>
                </a:solidFill>
                <a:latin typeface="Arial"/>
              </a:rPr>
              <a:t>Qué no hacer</a:t>
            </a:r>
          </a:p>
        </p:txBody>
      </p:sp>
      <p:sp>
        <p:nvSpPr>
          <p:cNvPr id="22" name="Oval 21"/>
          <p:cNvSpPr/>
          <p:nvPr/>
        </p:nvSpPr>
        <p:spPr>
          <a:xfrm>
            <a:off x="6638925" y="401955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892671" y="3884962"/>
            <a:ext cx="4349686" cy="307467"/>
          </a:xfrm>
          <a:prstGeom prst="rect">
            <a:avLst/>
          </a:prstGeom>
          <a:noFill/>
        </p:spPr>
        <p:txBody>
          <a:bodyPr wrap="none" anchor="ctr" lIns="0" tIns="0" rIns="0" bIns="0">
            <a:noAutofit/>
          </a:bodyPr>
          <a:lstStyle/>
          <a:p>
            <a:pPr algn="l">
              <a:lnSpc>
                <a:spcPts val="2756"/>
              </a:lnSpc>
              <a:spcBef>
                <a:spcPts val="0"/>
              </a:spcBef>
              <a:spcAft>
                <a:spcPts val="0"/>
              </a:spcAft>
            </a:pPr>
            <a:r>
              <a:rPr sz="2120" b="0" i="0" u="none">
                <a:solidFill>
                  <a:srgbClr val="1F1E1E"/>
                </a:solidFill>
                <a:latin typeface="Arial"/>
              </a:rPr>
              <a:t>Tune against the test set</a:t>
            </a:r>
          </a:p>
        </p:txBody>
      </p:sp>
      <p:sp>
        <p:nvSpPr>
          <p:cNvPr id="24" name="Oval 23"/>
          <p:cNvSpPr/>
          <p:nvPr/>
        </p:nvSpPr>
        <p:spPr>
          <a:xfrm>
            <a:off x="6638925" y="450513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892671" y="4370546"/>
            <a:ext cx="4395310" cy="1038511"/>
          </a:xfrm>
          <a:prstGeom prst="rect">
            <a:avLst/>
          </a:prstGeom>
          <a:noFill/>
        </p:spPr>
        <p:txBody>
          <a:bodyPr wrap="square" anchor="ctr" lIns="0" tIns="0" rIns="0" bIns="0">
            <a:noAutofit/>
          </a:bodyPr>
          <a:lstStyle/>
          <a:p>
            <a:pPr algn="l">
              <a:lnSpc>
                <a:spcPts val="2756"/>
              </a:lnSpc>
              <a:spcBef>
                <a:spcPts val="0"/>
              </a:spcBef>
              <a:spcAft>
                <a:spcPts val="0"/>
              </a:spcAft>
            </a:pPr>
            <a:r>
              <a:rPr sz="2120" b="0" i="0" u="none">
                <a:solidFill>
                  <a:srgbClr val="1F1E1E"/>
                </a:solidFill>
                <a:latin typeface="Arial"/>
              </a:rPr>
              <a:t>Re-split because the number came out wrong</a:t>
            </a:r>
          </a:p>
        </p:txBody>
      </p:sp>
      <p:sp>
        <p:nvSpPr>
          <p:cNvPr id="26" name="Oval 25"/>
          <p:cNvSpPr/>
          <p:nvPr/>
        </p:nvSpPr>
        <p:spPr>
          <a:xfrm>
            <a:off x="6638925" y="534143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892671" y="5206746"/>
            <a:ext cx="4349686" cy="307467"/>
          </a:xfrm>
          <a:prstGeom prst="rect">
            <a:avLst/>
          </a:prstGeom>
          <a:noFill/>
        </p:spPr>
        <p:txBody>
          <a:bodyPr wrap="none" anchor="ctr" lIns="0" tIns="0" rIns="0" bIns="0">
            <a:noAutofit/>
          </a:bodyPr>
          <a:lstStyle/>
          <a:p>
            <a:pPr algn="l">
              <a:lnSpc>
                <a:spcPts val="2756"/>
              </a:lnSpc>
              <a:spcBef>
                <a:spcPts val="0"/>
              </a:spcBef>
              <a:spcAft>
                <a:spcPts val="0"/>
              </a:spcAft>
            </a:pPr>
            <a:r>
              <a:rPr sz="2120" b="0" i="0" u="none">
                <a:solidFill>
                  <a:srgbClr val="1F1E1E"/>
                </a:solidFill>
                <a:latin typeface="Arial"/>
              </a:rPr>
              <a:t>Trust the library's default cut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226399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05</a:t>
            </a:r>
          </a:p>
        </p:txBody>
      </p:sp>
      <p:sp>
        <p:nvSpPr>
          <p:cNvPr id="17" name="TextBox 16"/>
          <p:cNvSpPr txBox="1"/>
          <p:nvPr/>
        </p:nvSpPr>
        <p:spPr>
          <a:xfrm>
            <a:off x="7933182" y="3760756"/>
            <a:ext cx="3626453"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Visual &amp;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two to four standalone numbers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446020"/>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764060"/>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674554"/>
            <a:ext cx="2897660" cy="92573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4384358" y="2446020"/>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676966" y="2764060"/>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4676966" y="3674554"/>
            <a:ext cx="2897660" cy="95030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8098155" y="2446020"/>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390763" y="2764060"/>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0</a:t>
            </a:r>
          </a:p>
        </p:txBody>
      </p:sp>
      <p:sp>
        <p:nvSpPr>
          <p:cNvPr id="14" name="TextBox 13"/>
          <p:cNvSpPr txBox="1"/>
          <p:nvPr/>
        </p:nvSpPr>
        <p:spPr>
          <a:xfrm>
            <a:off x="8390763" y="3674554"/>
            <a:ext cx="2897660" cy="95030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bullets — the numbers themselves are the payload</a:t>
            </a:r>
          </a:p>
        </p:txBody>
      </p:sp>
      <p:sp>
        <p:nvSpPr>
          <p:cNvPr id="15" name="Rounded Rectangle 14"/>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2"/>
          <a:stretch>
            <a:fillRect/>
          </a:stretch>
        </p:blipFill>
        <p:spPr>
          <a:xfrm>
            <a:off x="886016" y="5882735"/>
            <a:ext cx="243745" cy="243745"/>
          </a:xfrm>
          <a:prstGeom prst="rect">
            <a:avLst/>
          </a:prstGeom>
        </p:spPr>
      </p:pic>
      <p:sp>
        <p:nvSpPr>
          <p:cNvPr id="18" name="TextBox 17"/>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two numbers (the low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559272"/>
            <a:ext cx="5278184" cy="2224659"/>
          </a:xfrm>
          <a:prstGeom prst="roundRect">
            <a:avLst>
              <a:gd name="adj" fmla="val 1096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877312"/>
            <a:ext cx="4731068"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787807"/>
            <a:ext cx="4731068" cy="285750"/>
          </a:xfrm>
          <a:prstGeom prst="rect">
            <a:avLst/>
          </a:prstGeom>
          <a:noFill/>
        </p:spPr>
        <p:txBody>
          <a:bodyPr wrap="non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6241256" y="2559272"/>
            <a:ext cx="5278184" cy="2224659"/>
          </a:xfrm>
          <a:prstGeom prst="roundRect">
            <a:avLst>
              <a:gd name="adj" fmla="val 1096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533864" y="2877312"/>
            <a:ext cx="4731068"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6533864" y="3787807"/>
            <a:ext cx="4782412" cy="63026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886016" y="5882735"/>
            <a:ext cx="243745" cy="243745"/>
          </a:xfrm>
          <a:prstGeom prst="rect">
            <a:avLst/>
          </a:prstGeom>
        </p:spPr>
      </p:pic>
      <p:sp>
        <p:nvSpPr>
          <p:cNvPr id="15" name="TextBox 14"/>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four numbers (the high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329434"/>
            <a:ext cx="2492692" cy="2864644"/>
          </a:xfrm>
          <a:prstGeom prst="roundRect">
            <a:avLst>
              <a:gd name="adj" fmla="val 97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647474"/>
            <a:ext cx="1945672"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558064"/>
            <a:ext cx="1955235" cy="124577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3455765" y="2329434"/>
            <a:ext cx="2492883" cy="2864644"/>
          </a:xfrm>
          <a:prstGeom prst="roundRect">
            <a:avLst>
              <a:gd name="adj" fmla="val 978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3748373" y="2647474"/>
            <a:ext cx="1945767"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3748373" y="3558064"/>
            <a:ext cx="1955332" cy="1270254"/>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6241256" y="2329434"/>
            <a:ext cx="2492692" cy="2864644"/>
          </a:xfrm>
          <a:prstGeom prst="roundRect">
            <a:avLst>
              <a:gd name="adj" fmla="val 97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533864" y="2647474"/>
            <a:ext cx="1945672"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0</a:t>
            </a:r>
          </a:p>
        </p:txBody>
      </p:sp>
      <p:sp>
        <p:nvSpPr>
          <p:cNvPr id="14" name="TextBox 13"/>
          <p:cNvSpPr txBox="1"/>
          <p:nvPr/>
        </p:nvSpPr>
        <p:spPr>
          <a:xfrm>
            <a:off x="6533864" y="3558064"/>
            <a:ext cx="1955235" cy="1270254"/>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bullets — the numbers themselves are the payload</a:t>
            </a:r>
          </a:p>
        </p:txBody>
      </p:sp>
      <p:sp>
        <p:nvSpPr>
          <p:cNvPr id="15" name="Rounded Rectangle 14"/>
          <p:cNvSpPr/>
          <p:nvPr/>
        </p:nvSpPr>
        <p:spPr>
          <a:xfrm>
            <a:off x="9026557" y="2329434"/>
            <a:ext cx="2492883" cy="2864644"/>
          </a:xfrm>
          <a:prstGeom prst="roundRect">
            <a:avLst>
              <a:gd name="adj" fmla="val 978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319165" y="2647474"/>
            <a:ext cx="1945767"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4×</a:t>
            </a:r>
          </a:p>
        </p:txBody>
      </p:sp>
      <p:sp>
        <p:nvSpPr>
          <p:cNvPr id="17" name="TextBox 16"/>
          <p:cNvSpPr txBox="1"/>
          <p:nvPr/>
        </p:nvSpPr>
        <p:spPr>
          <a:xfrm>
            <a:off x="9319165" y="3558064"/>
            <a:ext cx="1955332" cy="124577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fourth slot, wrapping to a second row</a:t>
            </a:r>
          </a:p>
        </p:txBody>
      </p:sp>
      <p:sp>
        <p:nvSpPr>
          <p:cNvPr id="18" name="Rounded Rectangle 17"/>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png"/>
          <p:cNvPicPr>
            <a:picLocks noChangeAspect="1"/>
          </p:cNvPicPr>
          <p:nvPr/>
        </p:nvPicPr>
        <p:blipFill>
          <a:blip r:embed="rId2"/>
          <a:stretch>
            <a:fillRect/>
          </a:stretch>
        </p:blipFill>
        <p:spPr>
          <a:xfrm>
            <a:off x="886016" y="5882735"/>
            <a:ext cx="243745" cy="243745"/>
          </a:xfrm>
          <a:prstGeom prst="rect">
            <a:avLst/>
          </a:prstGeom>
        </p:spPr>
      </p:pic>
      <p:sp>
        <p:nvSpPr>
          <p:cNvPr id="21" name="TextBox 20"/>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text beside an image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fact leads with a bold label the renderer bolds for you:</a:t>
            </a:r>
          </a:p>
        </p:txBody>
      </p:sp>
      <p:sp>
        <p:nvSpPr>
          <p:cNvPr id="6" name="Oval 5"/>
          <p:cNvSpPr/>
          <p:nvPr/>
        </p:nvSpPr>
        <p:spPr>
          <a:xfrm>
            <a:off x="670465" y="2542794"/>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452116"/>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One image</a:t>
            </a:r>
            <a:r>
              <a:rPr sz="2400" b="0" i="0" u="none">
                <a:solidFill>
                  <a:srgbClr val="3B3535"/>
                </a:solidFill>
                <a:latin typeface="Arial"/>
              </a:rPr>
              <a:t>: supports one to three short facts.</a:t>
            </a:r>
          </a:p>
        </p:txBody>
      </p:sp>
      <p:sp>
        <p:nvSpPr>
          <p:cNvPr id="8" name="Oval 7"/>
          <p:cNvSpPr/>
          <p:nvPr/>
        </p:nvSpPr>
        <p:spPr>
          <a:xfrm>
            <a:off x="670465" y="3481388"/>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963073" y="3390710"/>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Aspect preserved</a:t>
            </a:r>
            <a:r>
              <a:rPr sz="2400" b="0" i="0" u="none">
                <a:solidFill>
                  <a:srgbClr val="3B3535"/>
                </a:solidFill>
                <a:latin typeface="Arial"/>
              </a:rPr>
              <a:t>: the image is never cropped or forced into a box.</a:t>
            </a:r>
          </a:p>
        </p:txBody>
      </p:sp>
      <p:sp>
        <p:nvSpPr>
          <p:cNvPr id="10" name="Oval 9"/>
          <p:cNvSpPr/>
          <p:nvPr/>
        </p:nvSpPr>
        <p:spPr>
          <a:xfrm>
            <a:off x="670465" y="4420076"/>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963073" y="4329398"/>
            <a:ext cx="5010381" cy="77324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Three layouts</a:t>
            </a:r>
            <a:r>
              <a:rPr sz="2400" b="0" i="0" u="none">
                <a:solidFill>
                  <a:srgbClr val="3B3535"/>
                </a:solidFill>
                <a:latin typeface="Arial"/>
              </a:rPr>
              <a:t>: text-left, shown here, plus image-left and image-top.</a:t>
            </a:r>
          </a:p>
        </p:txBody>
      </p:sp>
      <p:sp>
        <p:nvSpPr>
          <p:cNvPr id="12" name="Rounded Rectangle 11"/>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736622"/>
            <a:ext cx="57150" cy="51177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886016" y="5882735"/>
            <a:ext cx="243745" cy="243745"/>
          </a:xfrm>
          <a:prstGeom prst="rect">
            <a:avLst/>
          </a:prstGeom>
        </p:spPr>
      </p:pic>
      <p:sp>
        <p:nvSpPr>
          <p:cNvPr id="15" name="TextBox 14"/>
          <p:cNvSpPr txBox="1"/>
          <p:nvPr/>
        </p:nvSpPr>
        <p:spPr>
          <a:xfrm>
            <a:off x="1251680" y="5877496"/>
            <a:ext cx="5635942"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Never cropped</a:t>
            </a:r>
            <a:r>
              <a:rPr sz="1402" b="0" i="0" u="none">
                <a:solidFill>
                  <a:srgbClr val="1F1E1E"/>
                </a:solidFill>
                <a:latin typeface="Arial"/>
              </a:rPr>
              <a:t>: the tall portrait must show its full height, edge to edge.</a:t>
            </a:r>
          </a:p>
        </p:txBody>
      </p:sp>
      <p:sp>
        <p:nvSpPr>
          <p:cNvPr id="16" name="Rounded Rectangle 15"/>
          <p:cNvSpPr/>
          <p:nvPr/>
        </p:nvSpPr>
        <p:spPr>
          <a:xfrm>
            <a:off x="6309265" y="2192369"/>
            <a:ext cx="5212270" cy="3251644"/>
          </a:xfrm>
          <a:prstGeom prst="roundRect">
            <a:avLst>
              <a:gd name="adj" fmla="val 524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3"/>
          <a:stretch>
            <a:fillRect/>
          </a:stretch>
        </p:blipFill>
        <p:spPr>
          <a:xfrm>
            <a:off x="7703153" y="2201894"/>
            <a:ext cx="2424398" cy="3232594"/>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image-left mirrors the columns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slide, image first — the enumeration is untouched:</a:t>
            </a:r>
          </a:p>
        </p:txBody>
      </p:sp>
      <p:sp>
        <p:nvSpPr>
          <p:cNvPr id="6" name="Oval 5"/>
          <p:cNvSpPr/>
          <p:nvPr/>
        </p:nvSpPr>
        <p:spPr>
          <a:xfrm>
            <a:off x="6309265" y="2903792"/>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601873" y="2813113"/>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Columns swap</a:t>
            </a:r>
            <a:r>
              <a:rPr sz="2400" b="0" i="0" u="none">
                <a:solidFill>
                  <a:srgbClr val="3B3535"/>
                </a:solidFill>
                <a:latin typeface="Arial"/>
              </a:rPr>
              <a:t>: the image takes the left half, the text the right.</a:t>
            </a:r>
          </a:p>
        </p:txBody>
      </p:sp>
      <p:sp>
        <p:nvSpPr>
          <p:cNvPr id="8" name="Oval 7"/>
          <p:cNvSpPr/>
          <p:nvPr/>
        </p:nvSpPr>
        <p:spPr>
          <a:xfrm>
            <a:off x="6309265" y="3842480"/>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601873" y="3751802"/>
            <a:ext cx="5010381" cy="153152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Enumeration unchanged</a:t>
            </a:r>
            <a:r>
              <a:rPr sz="2400" b="0" i="0" u="none">
                <a:solidFill>
                  <a:srgbClr val="3B3535"/>
                </a:solidFill>
                <a:latin typeface="Arial"/>
              </a:rPr>
              <a:t>: facts keep their order, left-edge dots and left alignment.</a:t>
            </a:r>
          </a:p>
        </p:txBody>
      </p:sp>
      <p:sp>
        <p:nvSpPr>
          <p:cNvPr id="10" name="Oval 9"/>
          <p:cNvSpPr/>
          <p:nvPr/>
        </p:nvSpPr>
        <p:spPr>
          <a:xfrm>
            <a:off x="6309265" y="5177314"/>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601873" y="5086636"/>
            <a:ext cx="5010381" cy="116948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Never cropped</a:t>
            </a:r>
            <a:r>
              <a:rPr sz="2400" b="0" i="0" u="none">
                <a:solidFill>
                  <a:srgbClr val="3B3535"/>
                </a:solidFill>
                <a:latin typeface="Arial"/>
              </a:rPr>
              <a:t>: aspect is preserved here exactly as in text-left.</a:t>
            </a:r>
          </a:p>
        </p:txBody>
      </p:sp>
      <p:sp>
        <p:nvSpPr>
          <p:cNvPr id="12" name="Rounded Rectangle 11"/>
          <p:cNvSpPr/>
          <p:nvPr/>
        </p:nvSpPr>
        <p:spPr>
          <a:xfrm>
            <a:off x="670465" y="2745391"/>
            <a:ext cx="5212080"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79990" y="3036379"/>
            <a:ext cx="5192935" cy="2921032"/>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image-top layout for short text</a:t>
            </a:r>
          </a:p>
        </p:txBody>
      </p:sp>
      <p:sp>
        <p:nvSpPr>
          <p:cNvPr id="5" name="Rounded Rectangle 4"/>
          <p:cNvSpPr/>
          <p:nvPr/>
        </p:nvSpPr>
        <p:spPr>
          <a:xfrm>
            <a:off x="670465" y="5046916"/>
            <a:ext cx="10851070" cy="1201484"/>
          </a:xfrm>
          <a:prstGeom prst="roundRect">
            <a:avLst>
              <a:gd name="adj" fmla="val 811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5046916"/>
            <a:ext cx="66675" cy="120148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80884" y="5297424"/>
            <a:ext cx="10468089" cy="773240"/>
          </a:xfrm>
          <a:prstGeom prst="rect">
            <a:avLst/>
          </a:prstGeom>
          <a:noFill/>
        </p:spPr>
        <p:txBody>
          <a:bodyPr wrap="square" anchor="ctr" lIns="0" tIns="0" rIns="0" bIns="0">
            <a:noAutofit/>
          </a:bodyPr>
          <a:lstStyle/>
          <a:p>
            <a:pPr algn="l">
              <a:lnSpc>
                <a:spcPts val="3120"/>
              </a:lnSpc>
              <a:spcBef>
                <a:spcPts val="0"/>
              </a:spcBef>
              <a:spcAft>
                <a:spcPts val="0"/>
              </a:spcAft>
            </a:pPr>
            <a:r>
              <a:rPr sz="2400" b="0" i="0" u="none">
                <a:solidFill>
                  <a:srgbClr val="3B3535"/>
                </a:solidFill>
                <a:latin typeface="Arial"/>
              </a:rPr>
              <a:t>When the text is just a line, the image-top layout lets the image dominate the slide.</a:t>
            </a:r>
          </a:p>
        </p:txBody>
      </p:sp>
      <p:sp>
        <p:nvSpPr>
          <p:cNvPr id="8" name="Rounded Rectangle 7"/>
          <p:cNvSpPr/>
          <p:nvPr/>
        </p:nvSpPr>
        <p:spPr>
          <a:xfrm>
            <a:off x="670465" y="2328577"/>
            <a:ext cx="10851070" cy="2425732"/>
          </a:xfrm>
          <a:prstGeom prst="roundRect">
            <a:avLst>
              <a:gd name="adj" fmla="val 703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9" name="Picture 8" descr="image.png"/>
          <p:cNvPicPr>
            <a:picLocks noChangeAspect="1"/>
          </p:cNvPicPr>
          <p:nvPr/>
        </p:nvPicPr>
        <p:blipFill>
          <a:blip r:embed="rId2"/>
          <a:stretch>
            <a:fillRect/>
          </a:stretch>
        </p:blipFill>
        <p:spPr>
          <a:xfrm>
            <a:off x="3956780" y="2338102"/>
            <a:ext cx="4278535" cy="240668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one image, edge to edge</a:t>
            </a:r>
          </a:p>
        </p:txBody>
      </p:sp>
      <p:pic>
        <p:nvPicPr>
          <p:cNvPr id="5" name="Picture 4" descr="image.png"/>
          <p:cNvPicPr>
            <a:picLocks noChangeAspect="1"/>
          </p:cNvPicPr>
          <p:nvPr/>
        </p:nvPicPr>
        <p:blipFill>
          <a:blip r:embed="rId2"/>
          <a:stretch>
            <a:fillRect/>
          </a:stretch>
        </p:blipFill>
        <p:spPr>
          <a:xfrm>
            <a:off x="0" y="1678019"/>
            <a:ext cx="12192000" cy="5179981"/>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483804"/>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with a line of framing above the image</a:t>
            </a:r>
          </a:p>
        </p:txBody>
      </p:sp>
      <p:sp>
        <p:nvSpPr>
          <p:cNvPr id="5" name="TextBox 4"/>
          <p:cNvSpPr txBox="1"/>
          <p:nvPr/>
        </p:nvSpPr>
        <p:spPr>
          <a:xfrm>
            <a:off x="670465" y="2138934"/>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 optional lead sits under the title; the image still takes everything below it.</a:t>
            </a:r>
          </a:p>
        </p:txBody>
      </p:sp>
      <p:pic>
        <p:nvPicPr>
          <p:cNvPr id="6" name="Picture 5" descr="image.png"/>
          <p:cNvPicPr>
            <a:picLocks noChangeAspect="1"/>
          </p:cNvPicPr>
          <p:nvPr/>
        </p:nvPicPr>
        <p:blipFill>
          <a:blip r:embed="rId2"/>
          <a:stretch>
            <a:fillRect/>
          </a:stretch>
        </p:blipFill>
        <p:spPr>
          <a:xfrm>
            <a:off x="0" y="2599277"/>
            <a:ext cx="12192000" cy="4258723"/>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a source line under the picture</a:t>
            </a:r>
          </a:p>
        </p:txBody>
      </p:sp>
      <p:pic>
        <p:nvPicPr>
          <p:cNvPr id="5" name="Picture 4" descr="image.png"/>
          <p:cNvPicPr>
            <a:picLocks noChangeAspect="1"/>
          </p:cNvPicPr>
          <p:nvPr/>
        </p:nvPicPr>
        <p:blipFill>
          <a:blip r:embed="rId2"/>
          <a:stretch>
            <a:fillRect/>
          </a:stretch>
        </p:blipFill>
        <p:spPr>
          <a:xfrm>
            <a:off x="0" y="1678019"/>
            <a:ext cx="12192000" cy="4500848"/>
          </a:xfrm>
          <a:prstGeom prst="rect">
            <a:avLst/>
          </a:prstGeom>
        </p:spPr>
      </p:pic>
      <p:sp>
        <p:nvSpPr>
          <p:cNvPr id="6" name="TextBox 5"/>
          <p:cNvSpPr txBox="1"/>
          <p:nvPr/>
        </p:nvSpPr>
        <p:spPr>
          <a:xfrm>
            <a:off x="670465" y="6344221"/>
            <a:ext cx="3357372"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3"/>
              </a:rPr>
              <a:t>Talksmith — md-to-deck</a:t>
            </a:r>
            <a:r>
              <a:rPr sz="1402" b="0" i="0" u="none">
                <a:solidFill>
                  <a:srgbClr val="6E6663"/>
                </a:solidFill>
                <a:latin typeface="Arial"/>
              </a:rPr>
              <a:t>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an ASCII figure, before Polish renders it</a:t>
            </a:r>
          </a:p>
        </p:txBody>
      </p:sp>
      <p:sp>
        <p:nvSpPr>
          <p:cNvPr id="5" name="Rounded Rectangle 4"/>
          <p:cNvSpPr/>
          <p:nvPr/>
        </p:nvSpPr>
        <p:spPr>
          <a:xfrm>
            <a:off x="670465" y="3385090"/>
            <a:ext cx="10851070" cy="2026253"/>
          </a:xfrm>
          <a:prstGeom prst="roundRect">
            <a:avLst>
              <a:gd name="adj" fmla="val 9627"/>
            </a:avLst>
          </a:prstGeom>
          <a:solidFill>
            <a:srgbClr val="FFFFFF"/>
          </a:solidFill>
          <a:ln w="9525">
            <a:solidFill>
              <a:srgbClr val="D8D8D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9990" y="3394615"/>
            <a:ext cx="10832020" cy="346615"/>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990" y="3731704"/>
            <a:ext cx="10832020" cy="9525"/>
          </a:xfrm>
          <a:prstGeom prst="rect">
            <a:avLst/>
          </a:prstGeom>
          <a:solidFill>
            <a:srgbClr val="D8D8D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829913" y="3516630"/>
            <a:ext cx="92869" cy="92869"/>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Oval 8"/>
          <p:cNvSpPr/>
          <p:nvPr/>
        </p:nvSpPr>
        <p:spPr>
          <a:xfrm>
            <a:off x="1012603" y="3516630"/>
            <a:ext cx="92869" cy="92869"/>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1195388" y="3516630"/>
            <a:ext cx="92869" cy="92869"/>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972598" y="4047554"/>
            <a:ext cx="10419557" cy="1086136"/>
          </a:xfrm>
          <a:prstGeom prst="rect">
            <a:avLst/>
          </a:prstGeom>
          <a:noFill/>
        </p:spPr>
        <p:txBody>
          <a:bodyPr wrap="square" anchor="ctr" lIns="0" tIns="0" rIns="0" bIns="0">
            <a:noAutofit/>
          </a:bodyPr>
          <a:lstStyle/>
          <a:p>
            <a:pPr algn="l">
              <a:lnSpc>
                <a:spcPts val="2952"/>
              </a:lnSpc>
              <a:spcBef>
                <a:spcPts val="0"/>
              </a:spcBef>
              <a:spcAft>
                <a:spcPts val="0"/>
              </a:spcAft>
            </a:pPr>
            <a:r>
              <a:rPr sz="1968" b="0" i="0" u="none">
                <a:solidFill>
                  <a:srgbClr val="1F1F1F"/>
                </a:solidFill>
                <a:latin typeface="Courier New"/>
              </a:rPr>
              <a:t>draft.md ──► FILL ──► slide-model.json ──► RENDER ──► index.html</a:t>
            </a:r>
          </a:p>
          <a:p>
            <a:pPr algn="l">
              <a:lnSpc>
                <a:spcPts val="2952"/>
              </a:lnSpc>
              <a:spcBef>
                <a:spcPts val="0"/>
              </a:spcBef>
              <a:spcAft>
                <a:spcPts val="0"/>
              </a:spcAft>
            </a:pPr>
            <a:r>
              <a:rPr sz="1968" b="0" i="0" u="none">
                <a:solidFill>
                  <a:srgbClr val="1F1F1F"/>
                </a:solidFill>
                <a:latin typeface="Courier New"/>
              </a:rPr>
              <a:t>              │                                   │</a:t>
            </a:r>
          </a:p>
          <a:p>
            <a:pPr algn="l">
              <a:lnSpc>
                <a:spcPts val="2952"/>
              </a:lnSpc>
              <a:spcBef>
                <a:spcPts val="0"/>
              </a:spcBef>
              <a:spcAft>
                <a:spcPts val="0"/>
              </a:spcAft>
            </a:pPr>
            <a:r>
              <a:rPr sz="1968" b="0" i="0" u="none">
                <a:solidFill>
                  <a:srgbClr val="1F1F1F"/>
                </a:solidFill>
                <a:latin typeface="Courier New"/>
              </a:rPr>
              <a:t>              └──── audits (coverage, diversity)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the empty-text-column guard</a:t>
            </a:r>
          </a:p>
        </p:txBody>
      </p:sp>
      <p:sp>
        <p:nvSpPr>
          <p:cNvPr id="5" name="Rounded Rectangle 4"/>
          <p:cNvSpPr/>
          <p:nvPr/>
        </p:nvSpPr>
        <p:spPr>
          <a:xfrm>
            <a:off x="670465" y="5524214"/>
            <a:ext cx="10851070" cy="724186"/>
          </a:xfrm>
          <a:prstGeom prst="roundRect">
            <a:avLst>
              <a:gd name="adj" fmla="val 1346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5524214"/>
            <a:ext cx="57150" cy="724186"/>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5670328"/>
            <a:ext cx="243745" cy="243745"/>
          </a:xfrm>
          <a:prstGeom prst="rect">
            <a:avLst/>
          </a:prstGeom>
        </p:spPr>
      </p:pic>
      <p:sp>
        <p:nvSpPr>
          <p:cNvPr id="8" name="TextBox 7"/>
          <p:cNvSpPr txBox="1"/>
          <p:nvPr/>
        </p:nvSpPr>
        <p:spPr>
          <a:xfrm>
            <a:off x="1251680" y="5665184"/>
            <a:ext cx="10282273" cy="461391"/>
          </a:xfrm>
          <a:prstGeom prst="rect">
            <a:avLst/>
          </a:prstGeom>
          <a:noFill/>
        </p:spPr>
        <p:txBody>
          <a:bodyPr wrap="square" anchor="ctr" lIns="0" tIns="0" rIns="0" bIns="0">
            <a:noAutofit/>
          </a:bodyPr>
          <a:lstStyle/>
          <a:p>
            <a:pPr algn="l">
              <a:lnSpc>
                <a:spcPts val="1892"/>
              </a:lnSpc>
              <a:spcBef>
                <a:spcPts val="0"/>
              </a:spcBef>
              <a:spcAft>
                <a:spcPts val="0"/>
              </a:spcAft>
            </a:pPr>
            <a:r>
              <a:rPr sz="1402" b="1" i="0" u="none">
                <a:solidFill>
                  <a:srgbClr val="1F1E1E"/>
                </a:solidFill>
                <a:latin typeface="Arial"/>
              </a:rPr>
              <a:t>Guard, not a shape to author</a:t>
            </a:r>
            <a:r>
              <a:rPr sz="1402" b="0" i="0" u="none">
                <a:solidFill>
                  <a:srgbClr val="1F1E1E"/>
                </a:solidFill>
                <a:latin typeface="Arial"/>
              </a:rPr>
              <a:t>: a bare image here still drops the text column instead of projecting an empty one — new models use image-full.</a:t>
            </a:r>
          </a:p>
        </p:txBody>
      </p:sp>
      <p:sp>
        <p:nvSpPr>
          <p:cNvPr id="9" name="Rounded Rectangle 8"/>
          <p:cNvSpPr/>
          <p:nvPr/>
        </p:nvSpPr>
        <p:spPr>
          <a:xfrm>
            <a:off x="670465" y="1775555"/>
            <a:ext cx="10851070" cy="3456051"/>
          </a:xfrm>
          <a:prstGeom prst="roundRect">
            <a:avLst>
              <a:gd name="adj" fmla="val 493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3040856" y="1785080"/>
            <a:ext cx="6110288" cy="3437001"/>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figures: a set where each item has its own image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Three or more figure cards, each an image with a label and a line:</a:t>
            </a:r>
          </a:p>
        </p:txBody>
      </p:sp>
      <p:sp>
        <p:nvSpPr>
          <p:cNvPr id="6" name="Rounded Rectangle 5"/>
          <p:cNvSpPr/>
          <p:nvPr/>
        </p:nvSpPr>
        <p:spPr>
          <a:xfrm>
            <a:off x="670465" y="2848261"/>
            <a:ext cx="3437477"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79990" y="2857786"/>
            <a:ext cx="3418332" cy="1922907"/>
          </a:xfrm>
          <a:prstGeom prst="rect">
            <a:avLst/>
          </a:prstGeom>
        </p:spPr>
      </p:pic>
      <p:sp>
        <p:nvSpPr>
          <p:cNvPr id="8" name="TextBox 7"/>
          <p:cNvSpPr txBox="1"/>
          <p:nvPr/>
        </p:nvSpPr>
        <p:spPr>
          <a:xfrm>
            <a:off x="670465" y="4966144"/>
            <a:ext cx="3475577"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Image per item</a:t>
            </a:r>
          </a:p>
        </p:txBody>
      </p:sp>
      <p:sp>
        <p:nvSpPr>
          <p:cNvPr id="9" name="TextBox 8"/>
          <p:cNvSpPr txBox="1"/>
          <p:nvPr/>
        </p:nvSpPr>
        <p:spPr>
          <a:xfrm>
            <a:off x="670465" y="5433536"/>
            <a:ext cx="3508089"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This is what separates figures from concept-breakdown.</a:t>
            </a:r>
          </a:p>
        </p:txBody>
      </p:sp>
      <p:sp>
        <p:nvSpPr>
          <p:cNvPr id="10" name="Rounded Rectangle 9"/>
          <p:cNvSpPr/>
          <p:nvPr/>
        </p:nvSpPr>
        <p:spPr>
          <a:xfrm>
            <a:off x="4376166" y="2848261"/>
            <a:ext cx="3437477"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385691" y="2857786"/>
            <a:ext cx="3418332" cy="1922907"/>
          </a:xfrm>
          <a:prstGeom prst="rect">
            <a:avLst/>
          </a:prstGeom>
        </p:spPr>
      </p:pic>
      <p:sp>
        <p:nvSpPr>
          <p:cNvPr id="12" name="TextBox 11"/>
          <p:cNvSpPr txBox="1"/>
          <p:nvPr/>
        </p:nvSpPr>
        <p:spPr>
          <a:xfrm>
            <a:off x="4376166" y="4966144"/>
            <a:ext cx="3475577"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Uniform crop</a:t>
            </a:r>
          </a:p>
        </p:txBody>
      </p:sp>
      <p:sp>
        <p:nvSpPr>
          <p:cNvPr id="13" name="TextBox 12"/>
          <p:cNvSpPr txBox="1"/>
          <p:nvPr/>
        </p:nvSpPr>
        <p:spPr>
          <a:xfrm>
            <a:off x="4376166" y="5433536"/>
            <a:ext cx="3508089"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Every figure shares the same size and alignment.</a:t>
            </a:r>
          </a:p>
        </p:txBody>
      </p:sp>
      <p:sp>
        <p:nvSpPr>
          <p:cNvPr id="14" name="Rounded Rectangle 13"/>
          <p:cNvSpPr/>
          <p:nvPr/>
        </p:nvSpPr>
        <p:spPr>
          <a:xfrm>
            <a:off x="8081772" y="2848261"/>
            <a:ext cx="3437668"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2"/>
          <a:stretch>
            <a:fillRect/>
          </a:stretch>
        </p:blipFill>
        <p:spPr>
          <a:xfrm>
            <a:off x="8091488" y="2857786"/>
            <a:ext cx="3418332" cy="1922907"/>
          </a:xfrm>
          <a:prstGeom prst="rect">
            <a:avLst/>
          </a:prstGeom>
        </p:spPr>
      </p:pic>
      <p:sp>
        <p:nvSpPr>
          <p:cNvPr id="16" name="TextBox 15"/>
          <p:cNvSpPr txBox="1"/>
          <p:nvPr/>
        </p:nvSpPr>
        <p:spPr>
          <a:xfrm>
            <a:off x="8081772" y="4966144"/>
            <a:ext cx="3475768"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Label and line</a:t>
            </a:r>
          </a:p>
        </p:txBody>
      </p:sp>
      <p:sp>
        <p:nvSpPr>
          <p:cNvPr id="17" name="TextBox 16"/>
          <p:cNvSpPr txBox="1"/>
          <p:nvPr/>
        </p:nvSpPr>
        <p:spPr>
          <a:xfrm>
            <a:off x="8081772" y="5433536"/>
            <a:ext cx="3508283"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A short caption sits under each image.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figures: two figures fill two columns</a:t>
            </a:r>
          </a:p>
        </p:txBody>
      </p:sp>
      <p:sp>
        <p:nvSpPr>
          <p:cNvPr id="5" name="Rounded Rectangle 4"/>
          <p:cNvSpPr/>
          <p:nvPr/>
        </p:nvSpPr>
        <p:spPr>
          <a:xfrm>
            <a:off x="670465" y="1970913"/>
            <a:ext cx="5290376" cy="2984182"/>
          </a:xfrm>
          <a:prstGeom prst="roundRect">
            <a:avLst>
              <a:gd name="adj" fmla="val 571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679990" y="1980438"/>
            <a:ext cx="5271230" cy="2965132"/>
          </a:xfrm>
          <a:prstGeom prst="rect">
            <a:avLst/>
          </a:prstGeom>
        </p:spPr>
      </p:pic>
      <p:sp>
        <p:nvSpPr>
          <p:cNvPr id="7" name="TextBox 6"/>
          <p:cNvSpPr txBox="1"/>
          <p:nvPr/>
        </p:nvSpPr>
        <p:spPr>
          <a:xfrm>
            <a:off x="670465" y="5131022"/>
            <a:ext cx="5328476"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Loss when real</a:t>
            </a:r>
          </a:p>
        </p:txBody>
      </p:sp>
      <p:sp>
        <p:nvSpPr>
          <p:cNvPr id="8" name="TextBox 7"/>
          <p:cNvSpPr txBox="1"/>
          <p:nvPr/>
        </p:nvSpPr>
        <p:spPr>
          <a:xfrm>
            <a:off x="670465" y="5598509"/>
            <a:ext cx="5328476" cy="285750"/>
          </a:xfrm>
          <a:prstGeom prst="rect">
            <a:avLst/>
          </a:prstGeom>
          <a:noFill/>
        </p:spPr>
        <p:txBody>
          <a:bodyPr wrap="none" anchor="ctr" lIns="0" tIns="0" rIns="0" bIns="0">
            <a:noAutofit/>
          </a:bodyPr>
          <a:lstStyle/>
          <a:p>
            <a:pPr algn="l">
              <a:lnSpc>
                <a:spcPts val="2520"/>
              </a:lnSpc>
              <a:spcBef>
                <a:spcPts val="0"/>
              </a:spcBef>
              <a:spcAft>
                <a:spcPts val="0"/>
              </a:spcAft>
            </a:pPr>
            <a:r>
              <a:rPr sz="2016" b="0" i="0" u="none">
                <a:solidFill>
                  <a:srgbClr val="3B3535"/>
                </a:solidFill>
                <a:latin typeface="Arial"/>
              </a:rPr>
              <a:t>−ln(x): large as x → 0.</a:t>
            </a:r>
          </a:p>
        </p:txBody>
      </p:sp>
      <p:sp>
        <p:nvSpPr>
          <p:cNvPr id="9" name="Rounded Rectangle 8"/>
          <p:cNvSpPr/>
          <p:nvPr/>
        </p:nvSpPr>
        <p:spPr>
          <a:xfrm>
            <a:off x="6229064" y="1970913"/>
            <a:ext cx="5290376" cy="2984182"/>
          </a:xfrm>
          <a:prstGeom prst="roundRect">
            <a:avLst>
              <a:gd name="adj" fmla="val 571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238589" y="1980438"/>
            <a:ext cx="5271230" cy="2965132"/>
          </a:xfrm>
          <a:prstGeom prst="rect">
            <a:avLst/>
          </a:prstGeom>
        </p:spPr>
      </p:pic>
      <p:sp>
        <p:nvSpPr>
          <p:cNvPr id="11" name="TextBox 10"/>
          <p:cNvSpPr txBox="1"/>
          <p:nvPr/>
        </p:nvSpPr>
        <p:spPr>
          <a:xfrm>
            <a:off x="6229064" y="5131022"/>
            <a:ext cx="5328476"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Loss when fake</a:t>
            </a:r>
          </a:p>
        </p:txBody>
      </p:sp>
      <p:sp>
        <p:nvSpPr>
          <p:cNvPr id="12" name="TextBox 11"/>
          <p:cNvSpPr txBox="1"/>
          <p:nvPr/>
        </p:nvSpPr>
        <p:spPr>
          <a:xfrm>
            <a:off x="6229064" y="5598509"/>
            <a:ext cx="5328476" cy="285750"/>
          </a:xfrm>
          <a:prstGeom prst="rect">
            <a:avLst/>
          </a:prstGeom>
          <a:noFill/>
        </p:spPr>
        <p:txBody>
          <a:bodyPr wrap="none" anchor="ctr" lIns="0" tIns="0" rIns="0" bIns="0">
            <a:noAutofit/>
          </a:bodyPr>
          <a:lstStyle/>
          <a:p>
            <a:pPr algn="l">
              <a:lnSpc>
                <a:spcPts val="2520"/>
              </a:lnSpc>
              <a:spcBef>
                <a:spcPts val="0"/>
              </a:spcBef>
              <a:spcAft>
                <a:spcPts val="0"/>
              </a:spcAft>
            </a:pPr>
            <a:r>
              <a:rPr sz="2016" b="0" i="0" u="none">
                <a:solidFill>
                  <a:srgbClr val="3B3535"/>
                </a:solidFill>
                <a:latin typeface="Arial"/>
              </a:rPr>
              <a:t>−ln(1−x): large as x →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figures: four figures make a 2×2</a:t>
            </a:r>
          </a:p>
        </p:txBody>
      </p:sp>
      <p:sp>
        <p:nvSpPr>
          <p:cNvPr id="5" name="Rounded Rectangle 4"/>
          <p:cNvSpPr/>
          <p:nvPr/>
        </p:nvSpPr>
        <p:spPr>
          <a:xfrm>
            <a:off x="670465" y="1775555"/>
            <a:ext cx="5312474" cy="1336929"/>
          </a:xfrm>
          <a:prstGeom prst="roundRect">
            <a:avLst>
              <a:gd name="adj" fmla="val 127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2152460" y="1783461"/>
            <a:ext cx="2348389" cy="1321022"/>
          </a:xfrm>
          <a:prstGeom prst="rect">
            <a:avLst/>
          </a:prstGeom>
        </p:spPr>
      </p:pic>
      <p:sp>
        <p:nvSpPr>
          <p:cNvPr id="7" name="TextBox 6"/>
          <p:cNvSpPr txBox="1"/>
          <p:nvPr/>
        </p:nvSpPr>
        <p:spPr>
          <a:xfrm>
            <a:off x="670465" y="3258979"/>
            <a:ext cx="5350574" cy="293751"/>
          </a:xfrm>
          <a:prstGeom prst="rect">
            <a:avLst/>
          </a:prstGeom>
          <a:noFill/>
        </p:spPr>
        <p:txBody>
          <a:bodyPr wrap="none" anchor="ctr" lIns="0" tIns="0" rIns="0" bIns="0">
            <a:noAutofit/>
          </a:bodyPr>
          <a:lstStyle/>
          <a:p>
            <a:pPr algn="l">
              <a:lnSpc>
                <a:spcPts val="2072"/>
              </a:lnSpc>
              <a:spcBef>
                <a:spcPts val="0"/>
              </a:spcBef>
              <a:spcAft>
                <a:spcPts val="0"/>
              </a:spcAft>
            </a:pPr>
            <a:r>
              <a:rPr sz="2072" b="1" i="0" u="none">
                <a:solidFill>
                  <a:srgbClr val="1F1E1E"/>
                </a:solidFill>
                <a:latin typeface="Arial"/>
              </a:rPr>
              <a:t>Loss when real</a:t>
            </a:r>
          </a:p>
        </p:txBody>
      </p:sp>
      <p:sp>
        <p:nvSpPr>
          <p:cNvPr id="8" name="TextBox 7"/>
          <p:cNvSpPr txBox="1"/>
          <p:nvPr/>
        </p:nvSpPr>
        <p:spPr>
          <a:xfrm>
            <a:off x="670465" y="3648646"/>
            <a:ext cx="5350574" cy="238220"/>
          </a:xfrm>
          <a:prstGeom prst="rect">
            <a:avLst/>
          </a:prstGeom>
          <a:noFill/>
        </p:spPr>
        <p:txBody>
          <a:bodyPr wrap="none" anchor="ctr" lIns="0" tIns="0" rIns="0" bIns="0">
            <a:noAutofit/>
          </a:bodyPr>
          <a:lstStyle/>
          <a:p>
            <a:pPr algn="l">
              <a:lnSpc>
                <a:spcPts val="2092"/>
              </a:lnSpc>
              <a:spcBef>
                <a:spcPts val="0"/>
              </a:spcBef>
              <a:spcAft>
                <a:spcPts val="0"/>
              </a:spcAft>
            </a:pPr>
            <a:r>
              <a:rPr sz="1673" b="0" i="0" u="none">
                <a:solidFill>
                  <a:srgbClr val="3B3535"/>
                </a:solidFill>
                <a:latin typeface="Arial"/>
              </a:rPr>
              <a:t>−ln(x): large as x → 0.</a:t>
            </a:r>
          </a:p>
        </p:txBody>
      </p:sp>
      <p:sp>
        <p:nvSpPr>
          <p:cNvPr id="9" name="Rounded Rectangle 8"/>
          <p:cNvSpPr/>
          <p:nvPr/>
        </p:nvSpPr>
        <p:spPr>
          <a:xfrm>
            <a:off x="6206490" y="1775555"/>
            <a:ext cx="5312474" cy="1336929"/>
          </a:xfrm>
          <a:prstGeom prst="roundRect">
            <a:avLst>
              <a:gd name="adj" fmla="val 127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7688485" y="1783461"/>
            <a:ext cx="2348389" cy="1321022"/>
          </a:xfrm>
          <a:prstGeom prst="rect">
            <a:avLst/>
          </a:prstGeom>
        </p:spPr>
      </p:pic>
      <p:sp>
        <p:nvSpPr>
          <p:cNvPr id="11" name="TextBox 10"/>
          <p:cNvSpPr txBox="1"/>
          <p:nvPr/>
        </p:nvSpPr>
        <p:spPr>
          <a:xfrm>
            <a:off x="6206490" y="3258979"/>
            <a:ext cx="5350574" cy="293751"/>
          </a:xfrm>
          <a:prstGeom prst="rect">
            <a:avLst/>
          </a:prstGeom>
          <a:noFill/>
        </p:spPr>
        <p:txBody>
          <a:bodyPr wrap="none" anchor="ctr" lIns="0" tIns="0" rIns="0" bIns="0">
            <a:noAutofit/>
          </a:bodyPr>
          <a:lstStyle/>
          <a:p>
            <a:pPr algn="l">
              <a:lnSpc>
                <a:spcPts val="2072"/>
              </a:lnSpc>
              <a:spcBef>
                <a:spcPts val="0"/>
              </a:spcBef>
              <a:spcAft>
                <a:spcPts val="0"/>
              </a:spcAft>
            </a:pPr>
            <a:r>
              <a:rPr sz="2072" b="1" i="0" u="none">
                <a:solidFill>
                  <a:srgbClr val="1F1E1E"/>
                </a:solidFill>
                <a:latin typeface="Arial"/>
              </a:rPr>
              <a:t>Loss when fake</a:t>
            </a:r>
          </a:p>
        </p:txBody>
      </p:sp>
      <p:sp>
        <p:nvSpPr>
          <p:cNvPr id="12" name="TextBox 11"/>
          <p:cNvSpPr txBox="1"/>
          <p:nvPr/>
        </p:nvSpPr>
        <p:spPr>
          <a:xfrm>
            <a:off x="6206490" y="3648646"/>
            <a:ext cx="5350574" cy="238220"/>
          </a:xfrm>
          <a:prstGeom prst="rect">
            <a:avLst/>
          </a:prstGeom>
          <a:noFill/>
        </p:spPr>
        <p:txBody>
          <a:bodyPr wrap="none" anchor="ctr" lIns="0" tIns="0" rIns="0" bIns="0">
            <a:noAutofit/>
          </a:bodyPr>
          <a:lstStyle/>
          <a:p>
            <a:pPr algn="l">
              <a:lnSpc>
                <a:spcPts val="2092"/>
              </a:lnSpc>
              <a:spcBef>
                <a:spcPts val="0"/>
              </a:spcBef>
              <a:spcAft>
                <a:spcPts val="0"/>
              </a:spcAft>
            </a:pPr>
            <a:r>
              <a:rPr sz="1673" b="0" i="0" u="none">
                <a:solidFill>
                  <a:srgbClr val="3B3535"/>
                </a:solidFill>
                <a:latin typeface="Arial"/>
              </a:rPr>
              <a:t>−ln(1−x): large as x → 1.</a:t>
            </a:r>
          </a:p>
        </p:txBody>
      </p:sp>
      <p:sp>
        <p:nvSpPr>
          <p:cNvPr id="13" name="Rounded Rectangle 12"/>
          <p:cNvSpPr/>
          <p:nvPr/>
        </p:nvSpPr>
        <p:spPr>
          <a:xfrm>
            <a:off x="670465" y="4130992"/>
            <a:ext cx="5312474" cy="1336929"/>
          </a:xfrm>
          <a:prstGeom prst="roundRect">
            <a:avLst>
              <a:gd name="adj" fmla="val 127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2152460" y="4138898"/>
            <a:ext cx="2348389" cy="1321022"/>
          </a:xfrm>
          <a:prstGeom prst="rect">
            <a:avLst/>
          </a:prstGeom>
        </p:spPr>
      </p:pic>
      <p:sp>
        <p:nvSpPr>
          <p:cNvPr id="15" name="TextBox 14"/>
          <p:cNvSpPr txBox="1"/>
          <p:nvPr/>
        </p:nvSpPr>
        <p:spPr>
          <a:xfrm>
            <a:off x="670465" y="5614416"/>
            <a:ext cx="5350574" cy="293751"/>
          </a:xfrm>
          <a:prstGeom prst="rect">
            <a:avLst/>
          </a:prstGeom>
          <a:noFill/>
        </p:spPr>
        <p:txBody>
          <a:bodyPr wrap="none" anchor="ctr" lIns="0" tIns="0" rIns="0" bIns="0">
            <a:noAutofit/>
          </a:bodyPr>
          <a:lstStyle/>
          <a:p>
            <a:pPr algn="l">
              <a:lnSpc>
                <a:spcPts val="2072"/>
              </a:lnSpc>
              <a:spcBef>
                <a:spcPts val="0"/>
              </a:spcBef>
              <a:spcAft>
                <a:spcPts val="0"/>
              </a:spcAft>
            </a:pPr>
            <a:r>
              <a:rPr sz="2072" b="1" i="0" u="none">
                <a:solidFill>
                  <a:srgbClr val="1F1E1E"/>
                </a:solidFill>
                <a:latin typeface="Arial"/>
              </a:rPr>
              <a:t>Third panel</a:t>
            </a:r>
          </a:p>
        </p:txBody>
      </p:sp>
      <p:sp>
        <p:nvSpPr>
          <p:cNvPr id="16" name="TextBox 15"/>
          <p:cNvSpPr txBox="1"/>
          <p:nvPr/>
        </p:nvSpPr>
        <p:spPr>
          <a:xfrm>
            <a:off x="670465" y="6004084"/>
            <a:ext cx="5350574" cy="238220"/>
          </a:xfrm>
          <a:prstGeom prst="rect">
            <a:avLst/>
          </a:prstGeom>
          <a:noFill/>
        </p:spPr>
        <p:txBody>
          <a:bodyPr wrap="none" anchor="ctr" lIns="0" tIns="0" rIns="0" bIns="0">
            <a:noAutofit/>
          </a:bodyPr>
          <a:lstStyle/>
          <a:p>
            <a:pPr algn="l">
              <a:lnSpc>
                <a:spcPts val="2092"/>
              </a:lnSpc>
              <a:spcBef>
                <a:spcPts val="0"/>
              </a:spcBef>
              <a:spcAft>
                <a:spcPts val="0"/>
              </a:spcAft>
            </a:pPr>
            <a:r>
              <a:rPr sz="1673" b="0" i="0" u="none">
                <a:solidFill>
                  <a:srgbClr val="3B3535"/>
                </a:solidFill>
                <a:latin typeface="Arial"/>
              </a:rPr>
              <a:t>Two by two below.</a:t>
            </a:r>
          </a:p>
        </p:txBody>
      </p:sp>
      <p:sp>
        <p:nvSpPr>
          <p:cNvPr id="17" name="Rounded Rectangle 16"/>
          <p:cNvSpPr/>
          <p:nvPr/>
        </p:nvSpPr>
        <p:spPr>
          <a:xfrm>
            <a:off x="6206490" y="4130992"/>
            <a:ext cx="5312474" cy="1336929"/>
          </a:xfrm>
          <a:prstGeom prst="roundRect">
            <a:avLst>
              <a:gd name="adj" fmla="val 127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3"/>
          <a:stretch>
            <a:fillRect/>
          </a:stretch>
        </p:blipFill>
        <p:spPr>
          <a:xfrm>
            <a:off x="7688485" y="4138898"/>
            <a:ext cx="2348389" cy="1321022"/>
          </a:xfrm>
          <a:prstGeom prst="rect">
            <a:avLst/>
          </a:prstGeom>
        </p:spPr>
      </p:pic>
      <p:sp>
        <p:nvSpPr>
          <p:cNvPr id="19" name="TextBox 18"/>
          <p:cNvSpPr txBox="1"/>
          <p:nvPr/>
        </p:nvSpPr>
        <p:spPr>
          <a:xfrm>
            <a:off x="6206490" y="5614416"/>
            <a:ext cx="5350574" cy="293751"/>
          </a:xfrm>
          <a:prstGeom prst="rect">
            <a:avLst/>
          </a:prstGeom>
          <a:noFill/>
        </p:spPr>
        <p:txBody>
          <a:bodyPr wrap="none" anchor="ctr" lIns="0" tIns="0" rIns="0" bIns="0">
            <a:noAutofit/>
          </a:bodyPr>
          <a:lstStyle/>
          <a:p>
            <a:pPr algn="l">
              <a:lnSpc>
                <a:spcPts val="2072"/>
              </a:lnSpc>
              <a:spcBef>
                <a:spcPts val="0"/>
              </a:spcBef>
              <a:spcAft>
                <a:spcPts val="0"/>
              </a:spcAft>
            </a:pPr>
            <a:r>
              <a:rPr sz="2072" b="1" i="0" u="none">
                <a:solidFill>
                  <a:srgbClr val="1F1E1E"/>
                </a:solidFill>
                <a:latin typeface="Arial"/>
              </a:rPr>
              <a:t>Fourth panel</a:t>
            </a:r>
          </a:p>
        </p:txBody>
      </p:sp>
      <p:sp>
        <p:nvSpPr>
          <p:cNvPr id="20" name="TextBox 19"/>
          <p:cNvSpPr txBox="1"/>
          <p:nvPr/>
        </p:nvSpPr>
        <p:spPr>
          <a:xfrm>
            <a:off x="6206490" y="6004084"/>
            <a:ext cx="5350574" cy="238220"/>
          </a:xfrm>
          <a:prstGeom prst="rect">
            <a:avLst/>
          </a:prstGeom>
          <a:noFill/>
        </p:spPr>
        <p:txBody>
          <a:bodyPr wrap="none" anchor="ctr" lIns="0" tIns="0" rIns="0" bIns="0">
            <a:noAutofit/>
          </a:bodyPr>
          <a:lstStyle/>
          <a:p>
            <a:pPr algn="l">
              <a:lnSpc>
                <a:spcPts val="2092"/>
              </a:lnSpc>
              <a:spcBef>
                <a:spcPts val="0"/>
              </a:spcBef>
              <a:spcAft>
                <a:spcPts val="0"/>
              </a:spcAft>
            </a:pPr>
            <a:r>
              <a:rPr sz="1673" b="0" i="0" u="none">
                <a:solidFill>
                  <a:srgbClr val="3B3535"/>
                </a:solidFill>
                <a:latin typeface="Arial"/>
              </a:rPr>
              <a:t>The grid closes square.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image-grid: four or more images as one composite</a:t>
            </a:r>
          </a:p>
        </p:txBody>
      </p:sp>
      <p:sp>
        <p:nvSpPr>
          <p:cNvPr id="5" name="Rounded Rectangle 4"/>
          <p:cNvSpPr/>
          <p:nvPr/>
        </p:nvSpPr>
        <p:spPr>
          <a:xfrm>
            <a:off x="670465"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673894" y="2331910"/>
            <a:ext cx="3558350" cy="2001583"/>
          </a:xfrm>
          <a:prstGeom prst="rect">
            <a:avLst/>
          </a:prstGeom>
        </p:spPr>
      </p:pic>
      <p:sp>
        <p:nvSpPr>
          <p:cNvPr id="7" name="Rounded Rectangle 6"/>
          <p:cNvSpPr/>
          <p:nvPr/>
        </p:nvSpPr>
        <p:spPr>
          <a:xfrm>
            <a:off x="4312348"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4315778" y="2331910"/>
            <a:ext cx="3558350" cy="2001583"/>
          </a:xfrm>
          <a:prstGeom prst="rect">
            <a:avLst/>
          </a:prstGeom>
        </p:spPr>
      </p:pic>
      <p:sp>
        <p:nvSpPr>
          <p:cNvPr id="9" name="Rounded Rectangle 8"/>
          <p:cNvSpPr/>
          <p:nvPr/>
        </p:nvSpPr>
        <p:spPr>
          <a:xfrm>
            <a:off x="7954328"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7957661" y="2331910"/>
            <a:ext cx="3558350" cy="2001583"/>
          </a:xfrm>
          <a:prstGeom prst="rect">
            <a:avLst/>
          </a:prstGeom>
        </p:spPr>
      </p:pic>
      <p:sp>
        <p:nvSpPr>
          <p:cNvPr id="11" name="Rounded Rectangle 10"/>
          <p:cNvSpPr/>
          <p:nvPr/>
        </p:nvSpPr>
        <p:spPr>
          <a:xfrm>
            <a:off x="670465"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4"/>
          <a:stretch>
            <a:fillRect/>
          </a:stretch>
        </p:blipFill>
        <p:spPr>
          <a:xfrm>
            <a:off x="673894" y="4416933"/>
            <a:ext cx="3558350" cy="1831467"/>
          </a:xfrm>
          <a:prstGeom prst="rect">
            <a:avLst/>
          </a:prstGeom>
        </p:spPr>
      </p:pic>
      <p:sp>
        <p:nvSpPr>
          <p:cNvPr id="13" name="Rounded Rectangle 12"/>
          <p:cNvSpPr/>
          <p:nvPr/>
        </p:nvSpPr>
        <p:spPr>
          <a:xfrm>
            <a:off x="4312348"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5"/>
          <a:stretch>
            <a:fillRect/>
          </a:stretch>
        </p:blipFill>
        <p:spPr>
          <a:xfrm>
            <a:off x="4315778" y="4416933"/>
            <a:ext cx="3558350" cy="1831467"/>
          </a:xfrm>
          <a:prstGeom prst="rect">
            <a:avLst/>
          </a:prstGeom>
        </p:spPr>
      </p:pic>
      <p:sp>
        <p:nvSpPr>
          <p:cNvPr id="15" name="Rounded Rectangle 14"/>
          <p:cNvSpPr/>
          <p:nvPr/>
        </p:nvSpPr>
        <p:spPr>
          <a:xfrm>
            <a:off x="7954328"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4"/>
          <a:stretch>
            <a:fillRect/>
          </a:stretch>
        </p:blipFill>
        <p:spPr>
          <a:xfrm>
            <a:off x="7957661" y="4416933"/>
            <a:ext cx="3558350" cy="1831467"/>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content+cards+image: cards beside one image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short lead sits above the cards (regression guard for the lead field).</a:t>
            </a:r>
          </a:p>
        </p:txBody>
      </p:sp>
      <p:sp>
        <p:nvSpPr>
          <p:cNvPr id="6" name="Rounded Rectangle 5"/>
          <p:cNvSpPr/>
          <p:nvPr/>
        </p:nvSpPr>
        <p:spPr>
          <a:xfrm>
            <a:off x="670465" y="2745391"/>
            <a:ext cx="5457920" cy="1649730"/>
          </a:xfrm>
          <a:prstGeom prst="roundRect">
            <a:avLst>
              <a:gd name="adj" fmla="val 1478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30878" y="3005804"/>
            <a:ext cx="591884" cy="591884"/>
          </a:xfrm>
          <a:prstGeom prst="rect">
            <a:avLst/>
          </a:prstGeom>
        </p:spPr>
      </p:pic>
      <p:sp>
        <p:nvSpPr>
          <p:cNvPr id="8" name="TextBox 7"/>
          <p:cNvSpPr txBox="1"/>
          <p:nvPr/>
        </p:nvSpPr>
        <p:spPr>
          <a:xfrm>
            <a:off x="1688402" y="2996565"/>
            <a:ext cx="4217670" cy="388525"/>
          </a:xfrm>
          <a:prstGeom prst="rect">
            <a:avLst/>
          </a:prstGeom>
          <a:noFill/>
        </p:spPr>
        <p:txBody>
          <a:bodyPr wrap="none" anchor="ctr" lIns="0" tIns="0" rIns="0" bIns="0">
            <a:noAutofit/>
          </a:bodyPr>
          <a:lstStyle/>
          <a:p>
            <a:pPr algn="l">
              <a:lnSpc>
                <a:spcPts val="2970"/>
              </a:lnSpc>
              <a:spcBef>
                <a:spcPts val="0"/>
              </a:spcBef>
              <a:spcAft>
                <a:spcPts val="0"/>
              </a:spcAft>
            </a:pPr>
            <a:r>
              <a:rPr sz="2700" b="1" i="0" u="none">
                <a:solidFill>
                  <a:srgbClr val="1F1E1E"/>
                </a:solidFill>
                <a:latin typeface="Arial"/>
              </a:rPr>
              <a:t>Cards on one side</a:t>
            </a:r>
          </a:p>
        </p:txBody>
      </p:sp>
      <p:sp>
        <p:nvSpPr>
          <p:cNvPr id="9" name="TextBox 8"/>
          <p:cNvSpPr txBox="1"/>
          <p:nvPr/>
        </p:nvSpPr>
        <p:spPr>
          <a:xfrm>
            <a:off x="1688402" y="3461099"/>
            <a:ext cx="4261314" cy="665893"/>
          </a:xfrm>
          <a:prstGeom prst="rect">
            <a:avLst/>
          </a:prstGeom>
          <a:noFill/>
        </p:spPr>
        <p:txBody>
          <a:bodyPr wrap="square" anchor="ctr" lIns="0" tIns="0" rIns="0" bIns="0">
            <a:noAutofit/>
          </a:bodyPr>
          <a:lstStyle/>
          <a:p>
            <a:pPr algn="l">
              <a:lnSpc>
                <a:spcPts val="2724"/>
              </a:lnSpc>
              <a:spcBef>
                <a:spcPts val="0"/>
              </a:spcBef>
              <a:spcAft>
                <a:spcPts val="0"/>
              </a:spcAft>
            </a:pPr>
            <a:r>
              <a:rPr sz="2095" b="0" i="0" u="none">
                <a:solidFill>
                  <a:srgbClr val="3B3535"/>
                </a:solidFill>
                <a:latin typeface="Arial"/>
              </a:rPr>
              <a:t>A labeled set fills one half of the slide.</a:t>
            </a:r>
          </a:p>
        </p:txBody>
      </p:sp>
      <p:sp>
        <p:nvSpPr>
          <p:cNvPr id="10" name="Rounded Rectangle 9"/>
          <p:cNvSpPr/>
          <p:nvPr/>
        </p:nvSpPr>
        <p:spPr>
          <a:xfrm>
            <a:off x="670465" y="4608195"/>
            <a:ext cx="5457920" cy="1640205"/>
          </a:xfrm>
          <a:prstGeom prst="roundRect">
            <a:avLst>
              <a:gd name="adj" fmla="val 1486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930878" y="4868608"/>
            <a:ext cx="591884" cy="591884"/>
          </a:xfrm>
          <a:prstGeom prst="rect">
            <a:avLst/>
          </a:prstGeom>
        </p:spPr>
      </p:pic>
      <p:sp>
        <p:nvSpPr>
          <p:cNvPr id="12" name="TextBox 11"/>
          <p:cNvSpPr txBox="1"/>
          <p:nvPr/>
        </p:nvSpPr>
        <p:spPr>
          <a:xfrm>
            <a:off x="1688402" y="4859369"/>
            <a:ext cx="4217670" cy="388430"/>
          </a:xfrm>
          <a:prstGeom prst="rect">
            <a:avLst/>
          </a:prstGeom>
          <a:noFill/>
        </p:spPr>
        <p:txBody>
          <a:bodyPr wrap="none" anchor="ctr" lIns="0" tIns="0" rIns="0" bIns="0">
            <a:noAutofit/>
          </a:bodyPr>
          <a:lstStyle/>
          <a:p>
            <a:pPr algn="l">
              <a:lnSpc>
                <a:spcPts val="2970"/>
              </a:lnSpc>
              <a:spcBef>
                <a:spcPts val="0"/>
              </a:spcBef>
              <a:spcAft>
                <a:spcPts val="0"/>
              </a:spcAft>
            </a:pPr>
            <a:r>
              <a:rPr sz="2700" b="1" i="0" u="none">
                <a:solidFill>
                  <a:srgbClr val="1F1E1E"/>
                </a:solidFill>
                <a:latin typeface="Arial"/>
              </a:rPr>
              <a:t>Image on the other</a:t>
            </a:r>
          </a:p>
        </p:txBody>
      </p:sp>
      <p:sp>
        <p:nvSpPr>
          <p:cNvPr id="13" name="TextBox 12"/>
          <p:cNvSpPr txBox="1"/>
          <p:nvPr/>
        </p:nvSpPr>
        <p:spPr>
          <a:xfrm>
            <a:off x="1688402" y="5323808"/>
            <a:ext cx="4261314" cy="665893"/>
          </a:xfrm>
          <a:prstGeom prst="rect">
            <a:avLst/>
          </a:prstGeom>
          <a:noFill/>
        </p:spPr>
        <p:txBody>
          <a:bodyPr wrap="square" anchor="ctr" lIns="0" tIns="0" rIns="0" bIns="0">
            <a:noAutofit/>
          </a:bodyPr>
          <a:lstStyle/>
          <a:p>
            <a:pPr algn="l">
              <a:lnSpc>
                <a:spcPts val="2724"/>
              </a:lnSpc>
              <a:spcBef>
                <a:spcPts val="0"/>
              </a:spcBef>
              <a:spcAft>
                <a:spcPts val="0"/>
              </a:spcAft>
            </a:pPr>
            <a:r>
              <a:rPr sz="2095" b="0" i="0" u="none">
                <a:solidFill>
                  <a:srgbClr val="3B3535"/>
                </a:solidFill>
                <a:latin typeface="Arial"/>
              </a:rPr>
              <a:t>A single supporting visual fills the rest.</a:t>
            </a:r>
          </a:p>
        </p:txBody>
      </p:sp>
      <p:sp>
        <p:nvSpPr>
          <p:cNvPr id="14" name="Rounded Rectangle 13"/>
          <p:cNvSpPr/>
          <p:nvPr/>
        </p:nvSpPr>
        <p:spPr>
          <a:xfrm>
            <a:off x="6557486" y="2745391"/>
            <a:ext cx="4964049"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567202" y="3106198"/>
            <a:ext cx="4944713" cy="278149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content+cards+image: image-left mirrors the columns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slide, image first — the cards are untouched:</a:t>
            </a:r>
          </a:p>
        </p:txBody>
      </p:sp>
      <p:sp>
        <p:nvSpPr>
          <p:cNvPr id="6" name="Rounded Rectangle 5"/>
          <p:cNvSpPr/>
          <p:nvPr/>
        </p:nvSpPr>
        <p:spPr>
          <a:xfrm>
            <a:off x="6061043" y="2827020"/>
            <a:ext cx="5457444" cy="913257"/>
          </a:xfrm>
          <a:prstGeom prst="roundRect">
            <a:avLst>
              <a:gd name="adj" fmla="val 2670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243447" y="3009424"/>
            <a:ext cx="414623" cy="414623"/>
          </a:xfrm>
          <a:prstGeom prst="rect">
            <a:avLst/>
          </a:prstGeom>
        </p:spPr>
      </p:pic>
      <p:sp>
        <p:nvSpPr>
          <p:cNvPr id="8" name="TextBox 7"/>
          <p:cNvSpPr txBox="1"/>
          <p:nvPr/>
        </p:nvSpPr>
        <p:spPr>
          <a:xfrm>
            <a:off x="6774085" y="3002947"/>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Columns swap</a:t>
            </a:r>
          </a:p>
        </p:txBody>
      </p:sp>
      <p:sp>
        <p:nvSpPr>
          <p:cNvPr id="9" name="TextBox 8"/>
          <p:cNvSpPr txBox="1"/>
          <p:nvPr/>
        </p:nvSpPr>
        <p:spPr>
          <a:xfrm>
            <a:off x="6774085" y="3328321"/>
            <a:ext cx="4600099" cy="207359"/>
          </a:xfrm>
          <a:prstGeom prst="rect">
            <a:avLst/>
          </a:prstGeom>
          <a:noFill/>
        </p:spPr>
        <p:txBody>
          <a:bodyPr wrap="none" anchor="ctr" lIns="0" tIns="0" rIns="0" bIns="0">
            <a:noAutofit/>
          </a:bodyPr>
          <a:lstStyle/>
          <a:p>
            <a:pPr algn="l">
              <a:lnSpc>
                <a:spcPts val="1909"/>
              </a:lnSpc>
              <a:spcBef>
                <a:spcPts val="0"/>
              </a:spcBef>
              <a:spcAft>
                <a:spcPts val="0"/>
              </a:spcAft>
            </a:pPr>
            <a:r>
              <a:rPr sz="1469" b="0" i="0" u="none">
                <a:solidFill>
                  <a:srgbClr val="3B3535"/>
                </a:solidFill>
                <a:latin typeface="Arial"/>
              </a:rPr>
              <a:t>the image takes the left column, the cards the right.</a:t>
            </a:r>
          </a:p>
        </p:txBody>
      </p:sp>
      <p:sp>
        <p:nvSpPr>
          <p:cNvPr id="10" name="Rounded Rectangle 9"/>
          <p:cNvSpPr/>
          <p:nvPr/>
        </p:nvSpPr>
        <p:spPr>
          <a:xfrm>
            <a:off x="6061043" y="3889438"/>
            <a:ext cx="5457444" cy="1155668"/>
          </a:xfrm>
          <a:prstGeom prst="roundRect">
            <a:avLst>
              <a:gd name="adj" fmla="val 2109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243447" y="4071842"/>
            <a:ext cx="414623" cy="414623"/>
          </a:xfrm>
          <a:prstGeom prst="rect">
            <a:avLst/>
          </a:prstGeom>
        </p:spPr>
      </p:pic>
      <p:sp>
        <p:nvSpPr>
          <p:cNvPr id="12" name="TextBox 11"/>
          <p:cNvSpPr txBox="1"/>
          <p:nvPr/>
        </p:nvSpPr>
        <p:spPr>
          <a:xfrm>
            <a:off x="6774085" y="4065365"/>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Cards unchanged</a:t>
            </a:r>
          </a:p>
        </p:txBody>
      </p:sp>
      <p:sp>
        <p:nvSpPr>
          <p:cNvPr id="13" name="TextBox 12"/>
          <p:cNvSpPr txBox="1"/>
          <p:nvPr/>
        </p:nvSpPr>
        <p:spPr>
          <a:xfrm>
            <a:off x="6774085" y="4390739"/>
            <a:ext cx="4649479" cy="449770"/>
          </a:xfrm>
          <a:prstGeom prst="rect">
            <a:avLst/>
          </a:prstGeom>
          <a:noFill/>
        </p:spPr>
        <p:txBody>
          <a:bodyPr wrap="square" anchor="ctr" lIns="0" tIns="0" rIns="0" bIns="0">
            <a:noAutofit/>
          </a:bodyPr>
          <a:lstStyle/>
          <a:p>
            <a:pPr algn="l">
              <a:lnSpc>
                <a:spcPts val="1909"/>
              </a:lnSpc>
              <a:spcBef>
                <a:spcPts val="0"/>
              </a:spcBef>
              <a:spcAft>
                <a:spcPts val="0"/>
              </a:spcAft>
            </a:pPr>
            <a:r>
              <a:rPr sz="1469" b="0" i="0" u="none">
                <a:solidFill>
                  <a:srgbClr val="3B3535"/>
                </a:solidFill>
                <a:latin typeface="Arial"/>
              </a:rPr>
              <a:t>they keep their order, their icons and their left alignment.</a:t>
            </a:r>
          </a:p>
        </p:txBody>
      </p:sp>
      <p:sp>
        <p:nvSpPr>
          <p:cNvPr id="14" name="Rounded Rectangle 13"/>
          <p:cNvSpPr/>
          <p:nvPr/>
        </p:nvSpPr>
        <p:spPr>
          <a:xfrm>
            <a:off x="6061043" y="5194364"/>
            <a:ext cx="5457444" cy="913257"/>
          </a:xfrm>
          <a:prstGeom prst="roundRect">
            <a:avLst>
              <a:gd name="adj" fmla="val 2670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243447" y="5376767"/>
            <a:ext cx="414623" cy="414623"/>
          </a:xfrm>
          <a:prstGeom prst="rect">
            <a:avLst/>
          </a:prstGeom>
        </p:spPr>
      </p:pic>
      <p:sp>
        <p:nvSpPr>
          <p:cNvPr id="16" name="TextBox 15"/>
          <p:cNvSpPr txBox="1"/>
          <p:nvPr/>
        </p:nvSpPr>
        <p:spPr>
          <a:xfrm>
            <a:off x="6774085" y="5370290"/>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Widths stay put</a:t>
            </a:r>
          </a:p>
        </p:txBody>
      </p:sp>
      <p:sp>
        <p:nvSpPr>
          <p:cNvPr id="17" name="TextBox 16"/>
          <p:cNvSpPr txBox="1"/>
          <p:nvPr/>
        </p:nvSpPr>
        <p:spPr>
          <a:xfrm>
            <a:off x="6774085" y="5695569"/>
            <a:ext cx="4600099" cy="207359"/>
          </a:xfrm>
          <a:prstGeom prst="rect">
            <a:avLst/>
          </a:prstGeom>
          <a:noFill/>
        </p:spPr>
        <p:txBody>
          <a:bodyPr wrap="none" anchor="ctr" lIns="0" tIns="0" rIns="0" bIns="0">
            <a:noAutofit/>
          </a:bodyPr>
          <a:lstStyle/>
          <a:p>
            <a:pPr algn="l">
              <a:lnSpc>
                <a:spcPts val="1909"/>
              </a:lnSpc>
              <a:spcBef>
                <a:spcPts val="0"/>
              </a:spcBef>
              <a:spcAft>
                <a:spcPts val="0"/>
              </a:spcAft>
            </a:pPr>
            <a:r>
              <a:rPr sz="1469" b="0" i="0" u="none">
                <a:solidFill>
                  <a:srgbClr val="3B3535"/>
                </a:solidFill>
                <a:latin typeface="Arial"/>
              </a:rPr>
              <a:t>the wider grid track remains the cards', not the image's.</a:t>
            </a:r>
          </a:p>
        </p:txBody>
      </p:sp>
      <p:sp>
        <p:nvSpPr>
          <p:cNvPr id="18" name="Rounded Rectangle 17"/>
          <p:cNvSpPr/>
          <p:nvPr/>
        </p:nvSpPr>
        <p:spPr>
          <a:xfrm>
            <a:off x="670465" y="2745391"/>
            <a:ext cx="4963858"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5"/>
          <a:stretch>
            <a:fillRect/>
          </a:stretch>
        </p:blipFill>
        <p:spPr>
          <a:xfrm>
            <a:off x="679990" y="3106198"/>
            <a:ext cx="4944713" cy="278149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content+cards+image: cards beside a pair of images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Two diagrams the whole set shares — neither is dropped to fit one media slot.</a:t>
            </a:r>
          </a:p>
        </p:txBody>
      </p:sp>
      <p:sp>
        <p:nvSpPr>
          <p:cNvPr id="6" name="Rounded Rectangle 5"/>
          <p:cNvSpPr/>
          <p:nvPr/>
        </p:nvSpPr>
        <p:spPr>
          <a:xfrm>
            <a:off x="670465" y="2762440"/>
            <a:ext cx="5457444" cy="1044512"/>
          </a:xfrm>
          <a:prstGeom prst="roundRect">
            <a:avLst>
              <a:gd name="adj" fmla="val 2334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77634" y="2969514"/>
            <a:ext cx="470821" cy="470821"/>
          </a:xfrm>
          <a:prstGeom prst="rect">
            <a:avLst/>
          </a:prstGeom>
        </p:spPr>
      </p:pic>
      <p:sp>
        <p:nvSpPr>
          <p:cNvPr id="8" name="TextBox 7"/>
          <p:cNvSpPr txBox="1"/>
          <p:nvPr/>
        </p:nvSpPr>
        <p:spPr>
          <a:xfrm>
            <a:off x="1480185" y="2962180"/>
            <a:ext cx="4478655" cy="308991"/>
          </a:xfrm>
          <a:prstGeom prst="rect">
            <a:avLst/>
          </a:prstGeom>
          <a:noFill/>
        </p:spPr>
        <p:txBody>
          <a:bodyPr wrap="none" anchor="ctr" lIns="0" tIns="0" rIns="0" bIns="0">
            <a:noAutofit/>
          </a:bodyPr>
          <a:lstStyle/>
          <a:p>
            <a:pPr algn="l">
              <a:lnSpc>
                <a:spcPts val="2358"/>
              </a:lnSpc>
              <a:spcBef>
                <a:spcPts val="0"/>
              </a:spcBef>
              <a:spcAft>
                <a:spcPts val="0"/>
              </a:spcAft>
            </a:pPr>
            <a:r>
              <a:rPr sz="2144" b="1" i="0" u="none">
                <a:solidFill>
                  <a:srgbClr val="1F1E1E"/>
                </a:solidFill>
                <a:latin typeface="Arial"/>
              </a:rPr>
              <a:t>A media pair</a:t>
            </a:r>
          </a:p>
        </p:txBody>
      </p:sp>
      <p:sp>
        <p:nvSpPr>
          <p:cNvPr id="9" name="Rounded Rectangle 8"/>
          <p:cNvSpPr/>
          <p:nvPr/>
        </p:nvSpPr>
        <p:spPr>
          <a:xfrm>
            <a:off x="1480185" y="3353752"/>
            <a:ext cx="2470594" cy="235363"/>
          </a:xfrm>
          <a:prstGeom prst="roundRect">
            <a:avLst>
              <a:gd name="adj" fmla="val 20720"/>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1546003" y="3361087"/>
            <a:ext cx="2377154" cy="220694"/>
          </a:xfrm>
          <a:prstGeom prst="rect">
            <a:avLst/>
          </a:prstGeom>
          <a:noFill/>
        </p:spPr>
        <p:txBody>
          <a:bodyPr wrap="none" anchor="ctr" lIns="0" tIns="0" rIns="0" bIns="0">
            <a:noAutofit/>
          </a:bodyPr>
          <a:lstStyle/>
          <a:p>
            <a:pPr algn="l">
              <a:lnSpc>
                <a:spcPts val="1989"/>
              </a:lnSpc>
              <a:spcBef>
                <a:spcPts val="0"/>
              </a:spcBef>
              <a:spcAft>
                <a:spcPts val="0"/>
              </a:spcAft>
            </a:pPr>
            <a:r>
              <a:rPr sz="1530" b="0" i="0" u="none">
                <a:solidFill>
                  <a:srgbClr val="3B3535"/>
                </a:solidFill>
                <a:latin typeface="Courier New"/>
              </a:rPr>
              <a:t>media: {images: […]}</a:t>
            </a:r>
          </a:p>
        </p:txBody>
      </p:sp>
      <p:sp>
        <p:nvSpPr>
          <p:cNvPr id="11" name="TextBox 10"/>
          <p:cNvSpPr txBox="1"/>
          <p:nvPr/>
        </p:nvSpPr>
        <p:spPr>
          <a:xfrm>
            <a:off x="3950779" y="3331654"/>
            <a:ext cx="1981105" cy="235363"/>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carries two pictures.</a:t>
            </a:r>
          </a:p>
        </p:txBody>
      </p:sp>
      <p:sp>
        <p:nvSpPr>
          <p:cNvPr id="12" name="Rounded Rectangle 11"/>
          <p:cNvSpPr/>
          <p:nvPr/>
        </p:nvSpPr>
        <p:spPr>
          <a:xfrm>
            <a:off x="670465" y="3976306"/>
            <a:ext cx="5457444" cy="1036987"/>
          </a:xfrm>
          <a:prstGeom prst="roundRect">
            <a:avLst>
              <a:gd name="adj" fmla="val 235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877634" y="4183475"/>
            <a:ext cx="470821" cy="470821"/>
          </a:xfrm>
          <a:prstGeom prst="rect">
            <a:avLst/>
          </a:prstGeom>
        </p:spPr>
      </p:pic>
      <p:sp>
        <p:nvSpPr>
          <p:cNvPr id="14" name="TextBox 13"/>
          <p:cNvSpPr txBox="1"/>
          <p:nvPr/>
        </p:nvSpPr>
        <p:spPr>
          <a:xfrm>
            <a:off x="1480185" y="4176141"/>
            <a:ext cx="4478655" cy="308991"/>
          </a:xfrm>
          <a:prstGeom prst="rect">
            <a:avLst/>
          </a:prstGeom>
          <a:noFill/>
        </p:spPr>
        <p:txBody>
          <a:bodyPr wrap="none" anchor="ctr" lIns="0" tIns="0" rIns="0" bIns="0">
            <a:noAutofit/>
          </a:bodyPr>
          <a:lstStyle/>
          <a:p>
            <a:pPr algn="l">
              <a:lnSpc>
                <a:spcPts val="2358"/>
              </a:lnSpc>
              <a:spcBef>
                <a:spcPts val="0"/>
              </a:spcBef>
              <a:spcAft>
                <a:spcPts val="0"/>
              </a:spcAft>
            </a:pPr>
            <a:r>
              <a:rPr sz="2144" b="1" i="0" u="none">
                <a:solidFill>
                  <a:srgbClr val="1F1E1E"/>
                </a:solidFill>
                <a:latin typeface="Arial"/>
              </a:rPr>
              <a:t>Stacked in a split</a:t>
            </a:r>
          </a:p>
        </p:txBody>
      </p:sp>
      <p:sp>
        <p:nvSpPr>
          <p:cNvPr id="15" name="TextBox 14"/>
          <p:cNvSpPr txBox="1"/>
          <p:nvPr/>
        </p:nvSpPr>
        <p:spPr>
          <a:xfrm>
            <a:off x="1480185" y="4545616"/>
            <a:ext cx="4478655" cy="235363"/>
          </a:xfrm>
          <a:prstGeom prst="rect">
            <a:avLst/>
          </a:prstGeom>
          <a:noFill/>
        </p:spPr>
        <p:txBody>
          <a:bodyPr wrap="none" anchor="ctr" lIns="0" tIns="0" rIns="0" bIns="0">
            <a:noAutofit/>
          </a:bodyPr>
          <a:lstStyle/>
          <a:p>
            <a:pPr algn="l">
              <a:lnSpc>
                <a:spcPts val="2162"/>
              </a:lnSpc>
              <a:spcBef>
                <a:spcPts val="0"/>
              </a:spcBef>
              <a:spcAft>
                <a:spcPts val="0"/>
              </a:spcAft>
            </a:pPr>
            <a:r>
              <a:rPr sz="1663" b="0" i="0" u="none">
                <a:solidFill>
                  <a:srgbClr val="3B3535"/>
                </a:solidFill>
                <a:latin typeface="Arial"/>
              </a:rPr>
              <a:t>each takes half the media column, contained.</a:t>
            </a:r>
          </a:p>
        </p:txBody>
      </p:sp>
      <p:sp>
        <p:nvSpPr>
          <p:cNvPr id="16" name="Rounded Rectangle 15"/>
          <p:cNvSpPr/>
          <p:nvPr/>
        </p:nvSpPr>
        <p:spPr>
          <a:xfrm>
            <a:off x="670465" y="5182838"/>
            <a:ext cx="5457444" cy="1036987"/>
          </a:xfrm>
          <a:prstGeom prst="roundRect">
            <a:avLst>
              <a:gd name="adj" fmla="val 235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4"/>
          <a:stretch>
            <a:fillRect/>
          </a:stretch>
        </p:blipFill>
        <p:spPr>
          <a:xfrm>
            <a:off x="877634" y="5389912"/>
            <a:ext cx="470821" cy="470821"/>
          </a:xfrm>
          <a:prstGeom prst="rect">
            <a:avLst/>
          </a:prstGeom>
        </p:spPr>
      </p:pic>
      <p:sp>
        <p:nvSpPr>
          <p:cNvPr id="18" name="TextBox 17"/>
          <p:cNvSpPr txBox="1"/>
          <p:nvPr/>
        </p:nvSpPr>
        <p:spPr>
          <a:xfrm>
            <a:off x="1480185" y="5382578"/>
            <a:ext cx="4478655" cy="308991"/>
          </a:xfrm>
          <a:prstGeom prst="rect">
            <a:avLst/>
          </a:prstGeom>
          <a:noFill/>
        </p:spPr>
        <p:txBody>
          <a:bodyPr wrap="none" anchor="ctr" lIns="0" tIns="0" rIns="0" bIns="0">
            <a:noAutofit/>
          </a:bodyPr>
          <a:lstStyle/>
          <a:p>
            <a:pPr algn="l">
              <a:lnSpc>
                <a:spcPts val="2358"/>
              </a:lnSpc>
              <a:spcBef>
                <a:spcPts val="0"/>
              </a:spcBef>
              <a:spcAft>
                <a:spcPts val="0"/>
              </a:spcAft>
            </a:pPr>
            <a:r>
              <a:rPr sz="2144" b="1" i="0" u="none">
                <a:solidFill>
                  <a:srgbClr val="1F1E1E"/>
                </a:solidFill>
                <a:latin typeface="Arial"/>
              </a:rPr>
              <a:t>Not figures</a:t>
            </a:r>
          </a:p>
        </p:txBody>
      </p:sp>
      <p:sp>
        <p:nvSpPr>
          <p:cNvPr id="19" name="TextBox 18"/>
          <p:cNvSpPr txBox="1"/>
          <p:nvPr/>
        </p:nvSpPr>
        <p:spPr>
          <a:xfrm>
            <a:off x="1480185" y="5752052"/>
            <a:ext cx="4478846" cy="235458"/>
          </a:xfrm>
          <a:prstGeom prst="rect">
            <a:avLst/>
          </a:prstGeom>
          <a:noFill/>
        </p:spPr>
        <p:txBody>
          <a:bodyPr wrap="none" anchor="ctr" lIns="0" tIns="0" rIns="0" bIns="0">
            <a:noAutofit/>
          </a:bodyPr>
          <a:lstStyle/>
          <a:p>
            <a:pPr algn="l">
              <a:lnSpc>
                <a:spcPts val="2162"/>
              </a:lnSpc>
              <a:spcBef>
                <a:spcPts val="0"/>
              </a:spcBef>
              <a:spcAft>
                <a:spcPts val="0"/>
              </a:spcAft>
            </a:pPr>
            <a:r>
              <a:rPr sz="1663" b="0" i="0" u="none">
                <a:solidFill>
                  <a:srgbClr val="3B3535"/>
                </a:solidFill>
                <a:latin typeface="Arial"/>
              </a:rPr>
              <a:t>the pictures belong to the set, not one per card.</a:t>
            </a:r>
          </a:p>
        </p:txBody>
      </p:sp>
      <p:sp>
        <p:nvSpPr>
          <p:cNvPr id="20" name="Rounded Rectangle 19"/>
          <p:cNvSpPr/>
          <p:nvPr/>
        </p:nvSpPr>
        <p:spPr>
          <a:xfrm>
            <a:off x="6557486" y="2745391"/>
            <a:ext cx="4964049" cy="1653921"/>
          </a:xfrm>
          <a:prstGeom prst="roundRect">
            <a:avLst>
              <a:gd name="adj" fmla="val 10320"/>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1" name="Picture 20" descr="image.png"/>
          <p:cNvPicPr>
            <a:picLocks noChangeAspect="1"/>
          </p:cNvPicPr>
          <p:nvPr/>
        </p:nvPicPr>
        <p:blipFill>
          <a:blip r:embed="rId5"/>
          <a:stretch>
            <a:fillRect/>
          </a:stretch>
        </p:blipFill>
        <p:spPr>
          <a:xfrm>
            <a:off x="7586377" y="2754916"/>
            <a:ext cx="2906363" cy="1634871"/>
          </a:xfrm>
          <a:prstGeom prst="rect">
            <a:avLst/>
          </a:prstGeom>
        </p:spPr>
      </p:pic>
      <p:sp>
        <p:nvSpPr>
          <p:cNvPr id="22" name="Rounded Rectangle 21"/>
          <p:cNvSpPr/>
          <p:nvPr/>
        </p:nvSpPr>
        <p:spPr>
          <a:xfrm>
            <a:off x="6557486" y="4594288"/>
            <a:ext cx="4964049" cy="1654112"/>
          </a:xfrm>
          <a:prstGeom prst="roundRect">
            <a:avLst>
              <a:gd name="adj" fmla="val 1031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6"/>
          <a:stretch>
            <a:fillRect/>
          </a:stretch>
        </p:blipFill>
        <p:spPr>
          <a:xfrm>
            <a:off x="8426386" y="4603814"/>
            <a:ext cx="1226153" cy="1635062"/>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a pair of images, picture first</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Prose beside two contained pictures, mirrored so the pictures lead.</a:t>
            </a:r>
          </a:p>
        </p:txBody>
      </p:sp>
      <p:sp>
        <p:nvSpPr>
          <p:cNvPr id="6" name="Oval 5"/>
          <p:cNvSpPr/>
          <p:nvPr/>
        </p:nvSpPr>
        <p:spPr>
          <a:xfrm>
            <a:off x="6309265" y="3170206"/>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601873" y="3079528"/>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Two pictures</a:t>
            </a:r>
            <a:r>
              <a:rPr sz="2400" b="0" i="0" u="none">
                <a:solidFill>
                  <a:srgbClr val="3B3535"/>
                </a:solidFill>
                <a:latin typeface="Arial"/>
              </a:rPr>
              <a:t>: one media set, stacked in the column.</a:t>
            </a:r>
          </a:p>
        </p:txBody>
      </p:sp>
      <p:sp>
        <p:nvSpPr>
          <p:cNvPr id="8" name="Oval 7"/>
          <p:cNvSpPr/>
          <p:nvPr/>
        </p:nvSpPr>
        <p:spPr>
          <a:xfrm>
            <a:off x="6309265" y="4108894"/>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601873" y="4018216"/>
            <a:ext cx="5010381" cy="77324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Never cropped</a:t>
            </a:r>
            <a:r>
              <a:rPr sz="2400" b="0" i="0" u="none">
                <a:solidFill>
                  <a:srgbClr val="3B3535"/>
                </a:solidFill>
                <a:latin typeface="Arial"/>
              </a:rPr>
              <a:t>: each keeps its own aspect inside its half.</a:t>
            </a:r>
          </a:p>
        </p:txBody>
      </p:sp>
      <p:sp>
        <p:nvSpPr>
          <p:cNvPr id="10" name="Rounded Rectangle 9"/>
          <p:cNvSpPr/>
          <p:nvPr/>
        </p:nvSpPr>
        <p:spPr>
          <a:xfrm>
            <a:off x="670465" y="2192369"/>
            <a:ext cx="5212080" cy="1930432"/>
          </a:xfrm>
          <a:prstGeom prst="roundRect">
            <a:avLst>
              <a:gd name="adj" fmla="val 884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2"/>
          <a:stretch>
            <a:fillRect/>
          </a:stretch>
        </p:blipFill>
        <p:spPr>
          <a:xfrm>
            <a:off x="2559653" y="2201894"/>
            <a:ext cx="1433512" cy="1911382"/>
          </a:xfrm>
          <a:prstGeom prst="rect">
            <a:avLst/>
          </a:prstGeom>
        </p:spPr>
      </p:pic>
      <p:sp>
        <p:nvSpPr>
          <p:cNvPr id="12" name="Rounded Rectangle 11"/>
          <p:cNvSpPr/>
          <p:nvPr/>
        </p:nvSpPr>
        <p:spPr>
          <a:xfrm>
            <a:off x="670465" y="4317778"/>
            <a:ext cx="5212080" cy="1930622"/>
          </a:xfrm>
          <a:prstGeom prst="roundRect">
            <a:avLst>
              <a:gd name="adj" fmla="val 884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1577435" y="4327303"/>
            <a:ext cx="3398234" cy="1911572"/>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two pictures, side by side</a:t>
            </a:r>
          </a:p>
        </p:txBody>
      </p:sp>
      <p:pic>
        <p:nvPicPr>
          <p:cNvPr id="5" name="Picture 4" descr="image.png"/>
          <p:cNvPicPr>
            <a:picLocks noChangeAspect="1"/>
          </p:cNvPicPr>
          <p:nvPr/>
        </p:nvPicPr>
        <p:blipFill>
          <a:blip r:embed="rId2"/>
          <a:stretch>
            <a:fillRect/>
          </a:stretch>
        </p:blipFill>
        <p:spPr>
          <a:xfrm>
            <a:off x="0" y="1678019"/>
            <a:ext cx="5998559" cy="5179981"/>
          </a:xfrm>
          <a:prstGeom prst="rect">
            <a:avLst/>
          </a:prstGeom>
        </p:spPr>
      </p:pic>
      <p:pic>
        <p:nvPicPr>
          <p:cNvPr id="6" name="Picture 5" descr="image.png"/>
          <p:cNvPicPr>
            <a:picLocks noChangeAspect="1"/>
          </p:cNvPicPr>
          <p:nvPr/>
        </p:nvPicPr>
        <p:blipFill>
          <a:blip r:embed="rId3"/>
          <a:stretch>
            <a:fillRect/>
          </a:stretch>
        </p:blipFill>
        <p:spPr>
          <a:xfrm>
            <a:off x="6193441" y="1678019"/>
            <a:ext cx="5998559" cy="5179981"/>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code-example: a readable code surface</a:t>
            </a:r>
          </a:p>
        </p:txBody>
      </p:sp>
      <p:sp>
        <p:nvSpPr>
          <p:cNvPr id="5" name="TextBox 4"/>
          <p:cNvSpPr txBox="1"/>
          <p:nvPr/>
        </p:nvSpPr>
        <p:spPr>
          <a:xfrm>
            <a:off x="670465" y="3049238"/>
            <a:ext cx="5209539" cy="1165765"/>
          </a:xfrm>
          <a:prstGeom prst="rect">
            <a:avLst/>
          </a:prstGeom>
          <a:noFill/>
        </p:spPr>
        <p:txBody>
          <a:bodyPr wrap="square" anchor="ctr" lIns="0" tIns="0" rIns="0" bIns="0">
            <a:noAutofit/>
          </a:bodyPr>
          <a:lstStyle/>
          <a:p>
            <a:pPr algn="l">
              <a:lnSpc>
                <a:spcPts val="3240"/>
              </a:lnSpc>
              <a:spcBef>
                <a:spcPts val="0"/>
              </a:spcBef>
              <a:spcAft>
                <a:spcPts val="0"/>
              </a:spcAft>
            </a:pPr>
            <a:r>
              <a:rPr sz="2400" b="0" i="0" u="none">
                <a:solidFill>
                  <a:srgbClr val="3B3535"/>
                </a:solidFill>
                <a:latin typeface="Arial"/>
              </a:rPr>
              <a:t>The code sits on a monospace surface with syntax colors.</a:t>
            </a:r>
          </a:p>
        </p:txBody>
      </p:sp>
      <p:sp>
        <p:nvSpPr>
          <p:cNvPr id="6" name="TextBox 5"/>
          <p:cNvSpPr txBox="1"/>
          <p:nvPr/>
        </p:nvSpPr>
        <p:spPr>
          <a:xfrm>
            <a:off x="670465" y="4042505"/>
            <a:ext cx="5209539" cy="964692"/>
          </a:xfrm>
          <a:prstGeom prst="rect">
            <a:avLst/>
          </a:prstGeom>
          <a:noFill/>
        </p:spPr>
        <p:txBody>
          <a:bodyPr wrap="square" anchor="ctr" lIns="0" tIns="0" rIns="0" bIns="0">
            <a:noAutofit/>
          </a:bodyPr>
          <a:lstStyle/>
          <a:p>
            <a:pPr algn="l">
              <a:lnSpc>
                <a:spcPts val="3240"/>
              </a:lnSpc>
              <a:spcBef>
                <a:spcPts val="0"/>
              </a:spcBef>
              <a:spcAft>
                <a:spcPts val="0"/>
              </a:spcAft>
            </a:pPr>
            <a:r>
              <a:rPr sz="2400" b="0" i="0" u="none">
                <a:solidFill>
                  <a:srgbClr val="3B3535"/>
                </a:solidFill>
                <a:latin typeface="Arial"/>
              </a:rPr>
              <a:t>A short explanation column reads alongside it.</a:t>
            </a:r>
          </a:p>
        </p:txBody>
      </p:sp>
      <p:sp>
        <p:nvSpPr>
          <p:cNvPr id="7" name="Rounded Rectangle 6"/>
          <p:cNvSpPr/>
          <p:nvPr/>
        </p:nvSpPr>
        <p:spPr>
          <a:xfrm>
            <a:off x="6149912" y="1775555"/>
            <a:ext cx="5369528" cy="4472845"/>
          </a:xfrm>
          <a:prstGeom prst="roundRect">
            <a:avLst>
              <a:gd name="adj" fmla="val 4361"/>
            </a:avLst>
          </a:prstGeom>
          <a:solidFill>
            <a:srgbClr val="FFFFFF"/>
          </a:solidFill>
          <a:ln w="9525">
            <a:solidFill>
              <a:srgbClr val="D8D8D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6159436" y="1785080"/>
            <a:ext cx="5350478" cy="333661"/>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ectangle 8"/>
          <p:cNvSpPr/>
          <p:nvPr/>
        </p:nvSpPr>
        <p:spPr>
          <a:xfrm>
            <a:off x="6159436" y="2109216"/>
            <a:ext cx="5350478" cy="9525"/>
          </a:xfrm>
          <a:prstGeom prst="rect">
            <a:avLst/>
          </a:prstGeom>
          <a:solidFill>
            <a:srgbClr val="D8D8D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6303454" y="1902428"/>
            <a:ext cx="89345" cy="89345"/>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6479096" y="1902428"/>
            <a:ext cx="89345" cy="89345"/>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6654736" y="1902428"/>
            <a:ext cx="89345" cy="89345"/>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0571607" y="1861661"/>
            <a:ext cx="594741" cy="152400"/>
          </a:xfrm>
          <a:prstGeom prst="rect">
            <a:avLst/>
          </a:prstGeom>
          <a:noFill/>
        </p:spPr>
        <p:txBody>
          <a:bodyPr wrap="none" anchor="ctr" lIns="0" tIns="0" rIns="0" bIns="0">
            <a:noAutofit/>
          </a:bodyPr>
          <a:lstStyle/>
          <a:p>
            <a:pPr algn="l">
              <a:lnSpc>
                <a:spcPts val="1044"/>
              </a:lnSpc>
              <a:spcBef>
                <a:spcPts val="0"/>
              </a:spcBef>
              <a:spcAft>
                <a:spcPts val="0"/>
              </a:spcAft>
            </a:pPr>
            <a:r>
              <a:rPr sz="1044" b="0" i="0" u="none" spc="104">
                <a:solidFill>
                  <a:srgbClr val="6E6E78"/>
                </a:solidFill>
                <a:latin typeface="Courier New"/>
              </a:rPr>
              <a:t>PYTHON</a:t>
            </a:r>
          </a:p>
        </p:txBody>
      </p:sp>
      <p:sp>
        <p:nvSpPr>
          <p:cNvPr id="14" name="TextBox 13"/>
          <p:cNvSpPr txBox="1"/>
          <p:nvPr/>
        </p:nvSpPr>
        <p:spPr>
          <a:xfrm>
            <a:off x="6452044" y="2424970"/>
            <a:ext cx="4855888" cy="3549491"/>
          </a:xfrm>
          <a:prstGeom prst="rect">
            <a:avLst/>
          </a:prstGeom>
          <a:noFill/>
        </p:spPr>
        <p:txBody>
          <a:bodyPr wrap="square" anchor="ctr" lIns="0" tIns="0" rIns="0" bIns="0">
            <a:noAutofit/>
          </a:bodyPr>
          <a:lstStyle/>
          <a:p>
            <a:pPr algn="l">
              <a:lnSpc>
                <a:spcPts val="2837"/>
              </a:lnSpc>
              <a:spcBef>
                <a:spcPts val="0"/>
              </a:spcBef>
              <a:spcAft>
                <a:spcPts val="0"/>
              </a:spcAft>
            </a:pPr>
            <a:r>
              <a:rPr sz="1891" b="0" i="0" u="none">
                <a:solidFill>
                  <a:srgbClr val="1F1F1F"/>
                </a:solidFill>
                <a:latin typeface="Courier New"/>
              </a:rPr>
              <a:t>client.messages.create(</a:t>
            </a:r>
          </a:p>
          <a:p>
            <a:pPr algn="l">
              <a:lnSpc>
                <a:spcPts val="2837"/>
              </a:lnSpc>
              <a:spcBef>
                <a:spcPts val="0"/>
              </a:spcBef>
              <a:spcAft>
                <a:spcPts val="0"/>
              </a:spcAft>
            </a:pPr>
            <a:r>
              <a:rPr sz="1891" b="0" i="0" u="none">
                <a:solidFill>
                  <a:srgbClr val="1F1F1F"/>
                </a:solidFill>
                <a:latin typeface="Courier New"/>
              </a:rPr>
              <a:t>  model=</a:t>
            </a:r>
            <a:r>
              <a:rPr sz="1891" b="0" i="0" u="none">
                <a:solidFill>
                  <a:srgbClr val="A31515"/>
                </a:solidFill>
                <a:latin typeface="Courier New"/>
              </a:rPr>
              <a:t>"claude-opus-4-8"</a:t>
            </a:r>
            <a:r>
              <a:rPr sz="1891" b="0" i="0" u="none">
                <a:solidFill>
                  <a:srgbClr val="1F1F1F"/>
                </a:solidFill>
                <a:latin typeface="Courier New"/>
              </a:rPr>
              <a:t>,</a:t>
            </a:r>
          </a:p>
          <a:p>
            <a:pPr algn="l">
              <a:lnSpc>
                <a:spcPts val="2837"/>
              </a:lnSpc>
              <a:spcBef>
                <a:spcPts val="0"/>
              </a:spcBef>
              <a:spcAft>
                <a:spcPts val="0"/>
              </a:spcAft>
            </a:pPr>
            <a:r>
              <a:rPr sz="1891" b="0" i="0" u="none">
                <a:solidFill>
                  <a:srgbClr val="1F1F1F"/>
                </a:solidFill>
                <a:latin typeface="Courier New"/>
              </a:rPr>
              <a:t>  system=[{</a:t>
            </a:r>
          </a:p>
          <a:p>
            <a:pPr algn="l">
              <a:lnSpc>
                <a:spcPts val="2837"/>
              </a:lnSpc>
              <a:spcBef>
                <a:spcPts val="0"/>
              </a:spcBef>
              <a:spcAft>
                <a:spcPts val="0"/>
              </a:spcAft>
            </a:pPr>
            <a:r>
              <a:rPr sz="1891" b="0" i="0" u="none">
                <a:solidFill>
                  <a:srgbClr val="1F1F1F"/>
                </a:solidFill>
                <a:latin typeface="Courier New"/>
              </a:rPr>
              <a:t>    </a:t>
            </a:r>
            <a:r>
              <a:rPr sz="1891" b="0" i="0" u="none">
                <a:solidFill>
                  <a:srgbClr val="A31515"/>
                </a:solidFill>
                <a:latin typeface="Courier New"/>
              </a:rPr>
              <a:t>"type"</a:t>
            </a:r>
            <a:r>
              <a:rPr sz="1891" b="0" i="0" u="none">
                <a:solidFill>
                  <a:srgbClr val="1F1F1F"/>
                </a:solidFill>
                <a:latin typeface="Courier New"/>
              </a:rPr>
              <a:t>: </a:t>
            </a:r>
            <a:r>
              <a:rPr sz="1891" b="0" i="0" u="none">
                <a:solidFill>
                  <a:srgbClr val="A31515"/>
                </a:solidFill>
                <a:latin typeface="Courier New"/>
              </a:rPr>
              <a:t>"text"</a:t>
            </a:r>
            <a:r>
              <a:rPr sz="1891" b="0" i="0" u="none">
                <a:solidFill>
                  <a:srgbClr val="1F1F1F"/>
                </a:solidFill>
                <a:latin typeface="Courier New"/>
              </a:rPr>
              <a:t>,</a:t>
            </a:r>
          </a:p>
          <a:p>
            <a:pPr algn="l">
              <a:lnSpc>
                <a:spcPts val="2837"/>
              </a:lnSpc>
              <a:spcBef>
                <a:spcPts val="0"/>
              </a:spcBef>
              <a:spcAft>
                <a:spcPts val="0"/>
              </a:spcAft>
            </a:pPr>
            <a:r>
              <a:rPr sz="1891" b="0" i="0" u="none">
                <a:solidFill>
                  <a:srgbClr val="1F1F1F"/>
                </a:solidFill>
                <a:latin typeface="Courier New"/>
              </a:rPr>
              <a:t>    </a:t>
            </a:r>
            <a:r>
              <a:rPr sz="1891" b="0" i="0" u="none">
                <a:solidFill>
                  <a:srgbClr val="A31515"/>
                </a:solidFill>
                <a:latin typeface="Courier New"/>
              </a:rPr>
              <a:t>"text"</a:t>
            </a:r>
            <a:r>
              <a:rPr sz="1891" b="0" i="0" u="none">
                <a:solidFill>
                  <a:srgbClr val="1F1F1F"/>
                </a:solidFill>
                <a:latin typeface="Courier New"/>
              </a:rPr>
              <a:t>: SYSTEM_PROMPT,</a:t>
            </a:r>
          </a:p>
          <a:p>
            <a:pPr algn="l">
              <a:lnSpc>
                <a:spcPts val="2837"/>
              </a:lnSpc>
              <a:spcBef>
                <a:spcPts val="0"/>
              </a:spcBef>
              <a:spcAft>
                <a:spcPts val="0"/>
              </a:spcAft>
            </a:pPr>
            <a:r>
              <a:rPr sz="1891" b="0" i="0" u="none">
                <a:solidFill>
                  <a:srgbClr val="1F1F1F"/>
                </a:solidFill>
                <a:latin typeface="Courier New"/>
              </a:rPr>
              <a:t>    </a:t>
            </a:r>
            <a:r>
              <a:rPr sz="1891" b="0" i="0" u="none">
                <a:solidFill>
                  <a:srgbClr val="A31515"/>
                </a:solidFill>
                <a:latin typeface="Courier New"/>
              </a:rPr>
              <a:t>"cache_control"</a:t>
            </a:r>
            <a:r>
              <a:rPr sz="1891" b="0" i="0" u="none">
                <a:solidFill>
                  <a:srgbClr val="1F1F1F"/>
                </a:solidFill>
                <a:latin typeface="Courier New"/>
              </a:rPr>
              <a:t>: {</a:t>
            </a:r>
            <a:r>
              <a:rPr sz="1891" b="0" i="0" u="none">
                <a:solidFill>
                  <a:srgbClr val="A31515"/>
                </a:solidFill>
                <a:latin typeface="Courier New"/>
              </a:rPr>
              <a:t>"type"</a:t>
            </a:r>
            <a:r>
              <a:rPr sz="1891" b="0" i="0" u="none">
                <a:solidFill>
                  <a:srgbClr val="1F1F1F"/>
                </a:solidFill>
                <a:latin typeface="Courier New"/>
              </a:rPr>
              <a:t>: </a:t>
            </a:r>
            <a:r>
              <a:rPr sz="1891" b="0" i="0" u="none">
                <a:solidFill>
                  <a:srgbClr val="A31515"/>
                </a:solidFill>
                <a:latin typeface="Courier New"/>
              </a:rPr>
              <a:t>"ephemeral"</a:t>
            </a:r>
            <a:r>
              <a:rPr sz="1891" b="0" i="0" u="none">
                <a:solidFill>
                  <a:srgbClr val="1F1F1F"/>
                </a:solidFill>
                <a:latin typeface="Courier New"/>
              </a:rPr>
              <a:t>}</a:t>
            </a:r>
          </a:p>
          <a:p>
            <a:pPr algn="l">
              <a:lnSpc>
                <a:spcPts val="2837"/>
              </a:lnSpc>
              <a:spcBef>
                <a:spcPts val="0"/>
              </a:spcBef>
              <a:spcAft>
                <a:spcPts val="0"/>
              </a:spcAft>
            </a:pPr>
            <a:r>
              <a:rPr sz="1891" b="0" i="0" u="none">
                <a:solidFill>
                  <a:srgbClr val="1F1F1F"/>
                </a:solidFill>
                <a:latin typeface="Courier New"/>
              </a:rPr>
              <a:t>  }],</a:t>
            </a:r>
          </a:p>
          <a:p>
            <a:pPr algn="l">
              <a:lnSpc>
                <a:spcPts val="2837"/>
              </a:lnSpc>
              <a:spcBef>
                <a:spcPts val="0"/>
              </a:spcBef>
              <a:spcAft>
                <a:spcPts val="0"/>
              </a:spcAft>
            </a:pPr>
            <a:r>
              <a:rPr sz="1891" b="0" i="0" u="none">
                <a:solidFill>
                  <a:srgbClr val="1F1F1F"/>
                </a:solidFill>
                <a:latin typeface="Courier New"/>
              </a:rPr>
              <a:t>  messages=msgs,</a:t>
            </a:r>
          </a:p>
          <a:p>
            <a:pPr algn="l">
              <a:lnSpc>
                <a:spcPts val="2837"/>
              </a:lnSpc>
              <a:spcBef>
                <a:spcPts val="0"/>
              </a:spcBef>
              <a:spcAft>
                <a:spcPts val="0"/>
              </a:spcAft>
            </a:pPr>
            <a:r>
              <a:rPr sz="1891" b="0" i="0" u="none">
                <a:solidFill>
                  <a:srgbClr val="1F1F1F"/>
                </a:solidFill>
                <a:latin typeface="Courier New"/>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code-example: code alone, another grammar, a long snippet</a:t>
            </a:r>
          </a:p>
        </p:txBody>
      </p:sp>
      <p:sp>
        <p:nvSpPr>
          <p:cNvPr id="5" name="Rounded Rectangle 4"/>
          <p:cNvSpPr/>
          <p:nvPr/>
        </p:nvSpPr>
        <p:spPr>
          <a:xfrm>
            <a:off x="670465" y="2328577"/>
            <a:ext cx="10848975" cy="3919823"/>
          </a:xfrm>
          <a:prstGeom prst="roundRect">
            <a:avLst>
              <a:gd name="adj" fmla="val 4976"/>
            </a:avLst>
          </a:prstGeom>
          <a:solidFill>
            <a:srgbClr val="FFFFFF"/>
          </a:solidFill>
          <a:ln w="9525">
            <a:solidFill>
              <a:srgbClr val="D8D8D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9990" y="2338102"/>
            <a:ext cx="10829925" cy="136303"/>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990" y="2464879"/>
            <a:ext cx="10829925" cy="9525"/>
          </a:xfrm>
          <a:prstGeom prst="rect">
            <a:avLst/>
          </a:prstGeom>
          <a:solidFill>
            <a:srgbClr val="D8D8D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736378" y="2383917"/>
            <a:ext cx="34957" cy="34957"/>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Oval 8"/>
          <p:cNvSpPr/>
          <p:nvPr/>
        </p:nvSpPr>
        <p:spPr>
          <a:xfrm>
            <a:off x="805148" y="2383917"/>
            <a:ext cx="34957" cy="34957"/>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873919" y="2383917"/>
            <a:ext cx="34957" cy="34957"/>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0996803" y="2365915"/>
            <a:ext cx="401669" cy="66675"/>
          </a:xfrm>
          <a:prstGeom prst="rect">
            <a:avLst/>
          </a:prstGeom>
          <a:noFill/>
        </p:spPr>
        <p:txBody>
          <a:bodyPr wrap="none" anchor="ctr" lIns="0" tIns="0" rIns="0" bIns="0">
            <a:noAutofit/>
          </a:bodyPr>
          <a:lstStyle/>
          <a:p>
            <a:pPr algn="l">
              <a:lnSpc>
                <a:spcPts val="409"/>
              </a:lnSpc>
              <a:spcBef>
                <a:spcPts val="0"/>
              </a:spcBef>
              <a:spcAft>
                <a:spcPts val="0"/>
              </a:spcAft>
            </a:pPr>
            <a:r>
              <a:rPr sz="409" b="0" i="0" u="none" spc="41">
                <a:solidFill>
                  <a:srgbClr val="6E6E78"/>
                </a:solidFill>
                <a:latin typeface="Courier New"/>
              </a:rPr>
              <a:t>TYPESCRIPT</a:t>
            </a:r>
          </a:p>
        </p:txBody>
      </p:sp>
      <p:sp>
        <p:nvSpPr>
          <p:cNvPr id="12" name="TextBox 11"/>
          <p:cNvSpPr txBox="1"/>
          <p:nvPr/>
        </p:nvSpPr>
        <p:spPr>
          <a:xfrm>
            <a:off x="972598" y="2752154"/>
            <a:ext cx="10417430" cy="3223070"/>
          </a:xfrm>
          <a:prstGeom prst="rect">
            <a:avLst/>
          </a:prstGeom>
          <a:noFill/>
        </p:spPr>
        <p:txBody>
          <a:bodyPr wrap="square" anchor="ctr" lIns="0" tIns="0" rIns="0" bIns="0">
            <a:noAutofit/>
          </a:bodyPr>
          <a:lstStyle/>
          <a:p>
            <a:pPr algn="l">
              <a:lnSpc>
                <a:spcPts val="1112"/>
              </a:lnSpc>
              <a:spcBef>
                <a:spcPts val="0"/>
              </a:spcBef>
              <a:spcAft>
                <a:spcPts val="0"/>
              </a:spcAft>
            </a:pPr>
            <a:r>
              <a:rPr sz="741" b="0" i="0" u="none">
                <a:solidFill>
                  <a:srgbClr val="0000FF"/>
                </a:solidFill>
                <a:latin typeface="Courier New"/>
              </a:rPr>
              <a:t>type</a:t>
            </a:r>
            <a:r>
              <a:rPr sz="741" b="0" i="0" u="none">
                <a:solidFill>
                  <a:srgbClr val="1F1F1F"/>
                </a:solidFill>
                <a:latin typeface="Courier New"/>
              </a:rPr>
              <a:t> </a:t>
            </a:r>
            <a:r>
              <a:rPr sz="741" b="0" i="0" u="none">
                <a:solidFill>
                  <a:srgbClr val="267F99"/>
                </a:solidFill>
                <a:latin typeface="Courier New"/>
              </a:rPr>
              <a:t>Cache</a:t>
            </a:r>
            <a:r>
              <a:rPr sz="741" b="0" i="0" u="none">
                <a:solidFill>
                  <a:srgbClr val="1F1F1F"/>
                </a:solidFill>
                <a:latin typeface="Courier New"/>
              </a:rPr>
              <a:t> = { </a:t>
            </a:r>
            <a:r>
              <a:rPr sz="741" b="0" i="0" u="none">
                <a:solidFill>
                  <a:srgbClr val="001080"/>
                </a:solidFill>
                <a:latin typeface="Courier New"/>
              </a:rPr>
              <a:t>key</a:t>
            </a:r>
            <a:r>
              <a:rPr sz="741" b="0" i="0" u="none">
                <a:solidFill>
                  <a:srgbClr val="1F1F1F"/>
                </a:solidFill>
                <a:latin typeface="Courier New"/>
              </a:rPr>
              <a:t>: </a:t>
            </a:r>
            <a:r>
              <a:rPr sz="741" b="0" i="0" u="none">
                <a:solidFill>
                  <a:srgbClr val="267F99"/>
                </a:solidFill>
                <a:latin typeface="Courier New"/>
              </a:rPr>
              <a:t>string</a:t>
            </a:r>
            <a:r>
              <a:rPr sz="741" b="0" i="0" u="none">
                <a:solidFill>
                  <a:srgbClr val="1F1F1F"/>
                </a:solidFill>
                <a:latin typeface="Courier New"/>
              </a:rPr>
              <a:t>; </a:t>
            </a:r>
            <a:r>
              <a:rPr sz="741" b="0" i="0" u="none">
                <a:solidFill>
                  <a:srgbClr val="001080"/>
                </a:solidFill>
                <a:latin typeface="Courier New"/>
              </a:rPr>
              <a:t>ttl</a:t>
            </a:r>
            <a:r>
              <a:rPr sz="741" b="0" i="0" u="none">
                <a:solidFill>
                  <a:srgbClr val="1F1F1F"/>
                </a:solidFill>
                <a:latin typeface="Courier New"/>
              </a:rPr>
              <a:t>: </a:t>
            </a:r>
            <a:r>
              <a:rPr sz="741" b="0" i="0" u="none">
                <a:solidFill>
                  <a:srgbClr val="267F99"/>
                </a:solidFill>
                <a:latin typeface="Courier New"/>
              </a:rPr>
              <a:t>number</a:t>
            </a:r>
            <a:r>
              <a:rPr sz="741" b="0" i="0" u="none">
                <a:solidFill>
                  <a:srgbClr val="1F1F1F"/>
                </a:solidFill>
                <a:latin typeface="Courier New"/>
              </a:rPr>
              <a:t> };</a:t>
            </a:r>
          </a:p>
          <a:p>
            <a:pPr algn="l">
              <a:lnSpc>
                <a:spcPts val="1112"/>
              </a:lnSpc>
              <a:spcBef>
                <a:spcPts val="0"/>
              </a:spcBef>
              <a:spcAft>
                <a:spcPts val="0"/>
              </a:spcAft>
            </a:pPr>
          </a:p>
          <a:p>
            <a:pPr algn="l">
              <a:lnSpc>
                <a:spcPts val="1112"/>
              </a:lnSpc>
              <a:spcBef>
                <a:spcPts val="0"/>
              </a:spcBef>
              <a:spcAft>
                <a:spcPts val="0"/>
              </a:spcAft>
            </a:pPr>
            <a:r>
              <a:rPr sz="741" b="0" i="0" u="none">
                <a:solidFill>
                  <a:srgbClr val="0000FF"/>
                </a:solidFill>
                <a:latin typeface="Courier New"/>
              </a:rPr>
              <a:t>export</a:t>
            </a:r>
            <a:r>
              <a:rPr sz="741" b="0" i="0" u="none">
                <a:solidFill>
                  <a:srgbClr val="1F1F1F"/>
                </a:solidFill>
                <a:latin typeface="Courier New"/>
              </a:rPr>
              <a:t> </a:t>
            </a:r>
            <a:r>
              <a:rPr sz="741" b="0" i="0" u="none">
                <a:solidFill>
                  <a:srgbClr val="0000FF"/>
                </a:solidFill>
                <a:latin typeface="Courier New"/>
              </a:rPr>
              <a:t>async</a:t>
            </a:r>
            <a:r>
              <a:rPr sz="741" b="0" i="0" u="none">
                <a:solidFill>
                  <a:srgbClr val="1F1F1F"/>
                </a:solidFill>
                <a:latin typeface="Courier New"/>
              </a:rPr>
              <a:t> </a:t>
            </a:r>
            <a:r>
              <a:rPr sz="741" b="0" i="0" u="none">
                <a:solidFill>
                  <a:srgbClr val="0000FF"/>
                </a:solidFill>
                <a:latin typeface="Courier New"/>
              </a:rPr>
              <a:t>function</a:t>
            </a:r>
            <a:r>
              <a:rPr sz="741" b="0" i="0" u="none">
                <a:solidFill>
                  <a:srgbClr val="1F1F1F"/>
                </a:solidFill>
                <a:latin typeface="Courier New"/>
              </a:rPr>
              <a:t> </a:t>
            </a:r>
            <a:r>
              <a:rPr sz="741" b="0" i="0" u="none">
                <a:solidFill>
                  <a:srgbClr val="795E26"/>
                </a:solidFill>
                <a:latin typeface="Courier New"/>
              </a:rPr>
              <a:t>ask</a:t>
            </a:r>
            <a:r>
              <a:rPr sz="741" b="0" i="0" u="none">
                <a:solidFill>
                  <a:srgbClr val="1F1F1F"/>
                </a:solidFill>
                <a:latin typeface="Courier New"/>
              </a:rPr>
              <a:t>(</a:t>
            </a:r>
          </a:p>
          <a:p>
            <a:pPr algn="l">
              <a:lnSpc>
                <a:spcPts val="1112"/>
              </a:lnSpc>
              <a:spcBef>
                <a:spcPts val="0"/>
              </a:spcBef>
              <a:spcAft>
                <a:spcPts val="0"/>
              </a:spcAft>
            </a:pPr>
            <a:r>
              <a:rPr sz="741" b="0" i="0" u="none">
                <a:solidFill>
                  <a:srgbClr val="001080"/>
                </a:solidFill>
                <a:latin typeface="Courier New"/>
              </a:rPr>
              <a:t>  </a:t>
            </a:r>
            <a:r>
              <a:rPr sz="741" b="0" i="0" u="none">
                <a:solidFill>
                  <a:srgbClr val="001080"/>
                </a:solidFill>
                <a:latin typeface="Courier New"/>
              </a:rPr>
              <a:t>prompt</a:t>
            </a:r>
            <a:r>
              <a:rPr sz="741" b="0" i="0" u="none">
                <a:solidFill>
                  <a:srgbClr val="001080"/>
                </a:solidFill>
                <a:latin typeface="Courier New"/>
              </a:rPr>
              <a:t>: </a:t>
            </a:r>
            <a:r>
              <a:rPr sz="741" b="0" i="0" u="none">
                <a:solidFill>
                  <a:srgbClr val="267F99"/>
                </a:solidFill>
                <a:latin typeface="Courier New"/>
              </a:rPr>
              <a:t>string</a:t>
            </a:r>
            <a:r>
              <a:rPr sz="741" b="0" i="0" u="none">
                <a:solidFill>
                  <a:srgbClr val="001080"/>
                </a:solidFill>
                <a:latin typeface="Courier New"/>
              </a:rPr>
              <a:t>,</a:t>
            </a:r>
          </a:p>
          <a:p>
            <a:pPr algn="l">
              <a:lnSpc>
                <a:spcPts val="1112"/>
              </a:lnSpc>
              <a:spcBef>
                <a:spcPts val="0"/>
              </a:spcBef>
              <a:spcAft>
                <a:spcPts val="0"/>
              </a:spcAft>
            </a:pPr>
            <a:r>
              <a:rPr sz="741" b="0" i="0" u="none">
                <a:solidFill>
                  <a:srgbClr val="001080"/>
                </a:solidFill>
                <a:latin typeface="Courier New"/>
              </a:rPr>
              <a:t>  </a:t>
            </a:r>
            <a:r>
              <a:rPr sz="741" b="0" i="0" u="none">
                <a:solidFill>
                  <a:srgbClr val="001080"/>
                </a:solidFill>
                <a:latin typeface="Courier New"/>
              </a:rPr>
              <a:t>opts</a:t>
            </a:r>
            <a:r>
              <a:rPr sz="741" b="0" i="0" u="none">
                <a:solidFill>
                  <a:srgbClr val="001080"/>
                </a:solidFill>
                <a:latin typeface="Courier New"/>
              </a:rPr>
              <a:t>: </a:t>
            </a:r>
            <a:r>
              <a:rPr sz="741" b="0" i="0" u="none">
                <a:solidFill>
                  <a:srgbClr val="267F99"/>
                </a:solidFill>
                <a:latin typeface="Courier New"/>
              </a:rPr>
              <a:t>Partial</a:t>
            </a:r>
            <a:r>
              <a:rPr sz="741" b="0" i="0" u="none">
                <a:solidFill>
                  <a:srgbClr val="001080"/>
                </a:solidFill>
                <a:latin typeface="Courier New"/>
              </a:rPr>
              <a:t>&lt;</a:t>
            </a:r>
            <a:r>
              <a:rPr sz="741" b="0" i="0" u="none">
                <a:solidFill>
                  <a:srgbClr val="267F99"/>
                </a:solidFill>
                <a:latin typeface="Courier New"/>
              </a:rPr>
              <a:t>Cache</a:t>
            </a:r>
            <a:r>
              <a:rPr sz="741" b="0" i="0" u="none">
                <a:solidFill>
                  <a:srgbClr val="001080"/>
                </a:solidFill>
                <a:latin typeface="Courier New"/>
              </a:rPr>
              <a:t>&gt; = {},</a:t>
            </a:r>
          </a:p>
          <a:p>
            <a:pPr algn="l">
              <a:lnSpc>
                <a:spcPts val="1112"/>
              </a:lnSpc>
              <a:spcBef>
                <a:spcPts val="0"/>
              </a:spcBef>
              <a:spcAft>
                <a:spcPts val="0"/>
              </a:spcAft>
            </a:pPr>
            <a:r>
              <a:rPr sz="741" b="0" i="0" u="none">
                <a:solidFill>
                  <a:srgbClr val="1F1F1F"/>
                </a:solidFill>
                <a:latin typeface="Courier New"/>
              </a:rPr>
              <a:t>): </a:t>
            </a:r>
            <a:r>
              <a:rPr sz="741" b="0" i="0" u="none">
                <a:solidFill>
                  <a:srgbClr val="267F99"/>
                </a:solidFill>
                <a:latin typeface="Courier New"/>
              </a:rPr>
              <a:t>Promise</a:t>
            </a:r>
            <a:r>
              <a:rPr sz="741" b="0" i="0" u="none">
                <a:solidFill>
                  <a:srgbClr val="1F1F1F"/>
                </a:solidFill>
                <a:latin typeface="Courier New"/>
              </a:rPr>
              <a:t>&lt;</a:t>
            </a:r>
            <a:r>
              <a:rPr sz="741" b="0" i="0" u="none">
                <a:solidFill>
                  <a:srgbClr val="267F99"/>
                </a:solidFill>
                <a:latin typeface="Courier New"/>
              </a:rPr>
              <a:t>string</a:t>
            </a:r>
            <a:r>
              <a:rPr sz="741" b="0" i="0" u="none">
                <a:solidFill>
                  <a:srgbClr val="1F1F1F"/>
                </a:solidFill>
                <a:latin typeface="Courier New"/>
              </a:rPr>
              <a:t>&gt;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const</a:t>
            </a:r>
            <a:r>
              <a:rPr sz="741" b="0" i="0" u="none">
                <a:solidFill>
                  <a:srgbClr val="1F1F1F"/>
                </a:solidFill>
                <a:latin typeface="Courier New"/>
              </a:rPr>
              <a:t> t0 = performance.</a:t>
            </a:r>
            <a:r>
              <a:rPr sz="741" b="0" i="0" u="none">
                <a:solidFill>
                  <a:srgbClr val="795E26"/>
                </a:solidFill>
                <a:latin typeface="Courier New"/>
              </a:rPr>
              <a:t>now</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r>
              <a:rPr sz="741" b="0" i="1" u="none">
                <a:solidFill>
                  <a:srgbClr val="008000"/>
                </a:solidFill>
                <a:latin typeface="Courier New"/>
              </a:rPr>
              <a:t>// one retry: a 529 is the API saying "later", not "no"</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for</a:t>
            </a:r>
            <a:r>
              <a:rPr sz="741" b="0" i="0" u="none">
                <a:solidFill>
                  <a:srgbClr val="1F1F1F"/>
                </a:solidFill>
                <a:latin typeface="Courier New"/>
              </a:rPr>
              <a:t> (</a:t>
            </a:r>
            <a:r>
              <a:rPr sz="741" b="0" i="0" u="none">
                <a:solidFill>
                  <a:srgbClr val="0000FF"/>
                </a:solidFill>
                <a:latin typeface="Courier New"/>
              </a:rPr>
              <a:t>let</a:t>
            </a:r>
            <a:r>
              <a:rPr sz="741" b="0" i="0" u="none">
                <a:solidFill>
                  <a:srgbClr val="1F1F1F"/>
                </a:solidFill>
                <a:latin typeface="Courier New"/>
              </a:rPr>
              <a:t> i = </a:t>
            </a:r>
            <a:r>
              <a:rPr sz="741" b="0" i="0" u="none">
                <a:solidFill>
                  <a:srgbClr val="098658"/>
                </a:solidFill>
                <a:latin typeface="Courier New"/>
              </a:rPr>
              <a:t>0</a:t>
            </a:r>
            <a:r>
              <a:rPr sz="741" b="0" i="0" u="none">
                <a:solidFill>
                  <a:srgbClr val="1F1F1F"/>
                </a:solidFill>
                <a:latin typeface="Courier New"/>
              </a:rPr>
              <a:t>; i &lt; </a:t>
            </a:r>
            <a:r>
              <a:rPr sz="741" b="0" i="0" u="none">
                <a:solidFill>
                  <a:srgbClr val="098658"/>
                </a:solidFill>
                <a:latin typeface="Courier New"/>
              </a:rPr>
              <a:t>2</a:t>
            </a:r>
            <a:r>
              <a:rPr sz="741" b="0" i="0" u="none">
                <a:solidFill>
                  <a:srgbClr val="1F1F1F"/>
                </a:solidFill>
                <a:latin typeface="Courier New"/>
              </a:rPr>
              <a:t>; i++)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const</a:t>
            </a:r>
            <a:r>
              <a:rPr sz="741" b="0" i="0" u="none">
                <a:solidFill>
                  <a:srgbClr val="1F1F1F"/>
                </a:solidFill>
                <a:latin typeface="Courier New"/>
              </a:rPr>
              <a:t> res = </a:t>
            </a:r>
            <a:r>
              <a:rPr sz="741" b="0" i="0" u="none">
                <a:solidFill>
                  <a:srgbClr val="0000FF"/>
                </a:solidFill>
                <a:latin typeface="Courier New"/>
              </a:rPr>
              <a:t>await</a:t>
            </a:r>
            <a:r>
              <a:rPr sz="741" b="0" i="0" u="none">
                <a:solidFill>
                  <a:srgbClr val="1F1F1F"/>
                </a:solidFill>
                <a:latin typeface="Courier New"/>
              </a:rPr>
              <a:t> client.</a:t>
            </a:r>
            <a:r>
              <a:rPr sz="741" b="0" i="0" u="none">
                <a:solidFill>
                  <a:srgbClr val="001080"/>
                </a:solidFill>
                <a:latin typeface="Courier New"/>
              </a:rPr>
              <a:t>messages</a:t>
            </a:r>
            <a:r>
              <a:rPr sz="741" b="0" i="0" u="none">
                <a:solidFill>
                  <a:srgbClr val="1F1F1F"/>
                </a:solidFill>
                <a:latin typeface="Courier New"/>
              </a:rPr>
              <a:t>.</a:t>
            </a:r>
            <a:r>
              <a:rPr sz="741" b="0" i="0" u="none">
                <a:solidFill>
                  <a:srgbClr val="795E26"/>
                </a:solidFill>
                <a:latin typeface="Courier New"/>
              </a:rPr>
              <a:t>create</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r>
              <a:rPr sz="741" b="0" i="0" u="none">
                <a:solidFill>
                  <a:srgbClr val="001080"/>
                </a:solidFill>
                <a:latin typeface="Courier New"/>
              </a:rPr>
              <a:t>model</a:t>
            </a:r>
            <a:r>
              <a:rPr sz="741" b="0" i="0" u="none">
                <a:solidFill>
                  <a:srgbClr val="1F1F1F"/>
                </a:solidFill>
                <a:latin typeface="Courier New"/>
              </a:rPr>
              <a:t>: </a:t>
            </a:r>
            <a:r>
              <a:rPr sz="741" b="0" i="0" u="none">
                <a:solidFill>
                  <a:srgbClr val="A31515"/>
                </a:solidFill>
                <a:latin typeface="Courier New"/>
              </a:rPr>
              <a:t>"claude-opus-4-8"</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r>
              <a:rPr sz="741" b="0" i="0" u="none">
                <a:solidFill>
                  <a:srgbClr val="001080"/>
                </a:solidFill>
                <a:latin typeface="Courier New"/>
              </a:rPr>
              <a:t>max_tokens</a:t>
            </a:r>
            <a:r>
              <a:rPr sz="741" b="0" i="0" u="none">
                <a:solidFill>
                  <a:srgbClr val="1F1F1F"/>
                </a:solidFill>
                <a:latin typeface="Courier New"/>
              </a:rPr>
              <a:t>: </a:t>
            </a:r>
            <a:r>
              <a:rPr sz="741" b="0" i="0" u="none">
                <a:solidFill>
                  <a:srgbClr val="098658"/>
                </a:solidFill>
                <a:latin typeface="Courier New"/>
              </a:rPr>
              <a:t>1024</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r>
              <a:rPr sz="741" b="0" i="0" u="none">
                <a:solidFill>
                  <a:srgbClr val="001080"/>
                </a:solidFill>
                <a:latin typeface="Courier New"/>
              </a:rPr>
              <a:t>system</a:t>
            </a:r>
            <a:r>
              <a:rPr sz="741" b="0" i="0" u="none">
                <a:solidFill>
                  <a:srgbClr val="1F1F1F"/>
                </a:solidFill>
                <a:latin typeface="Courier New"/>
              </a:rPr>
              <a:t>: [{ </a:t>
            </a:r>
            <a:r>
              <a:rPr sz="741" b="0" i="0" u="none">
                <a:solidFill>
                  <a:srgbClr val="001080"/>
                </a:solidFill>
                <a:latin typeface="Courier New"/>
              </a:rPr>
              <a:t>type</a:t>
            </a:r>
            <a:r>
              <a:rPr sz="741" b="0" i="0" u="none">
                <a:solidFill>
                  <a:srgbClr val="1F1F1F"/>
                </a:solidFill>
                <a:latin typeface="Courier New"/>
              </a:rPr>
              <a:t>: </a:t>
            </a:r>
            <a:r>
              <a:rPr sz="741" b="0" i="0" u="none">
                <a:solidFill>
                  <a:srgbClr val="A31515"/>
                </a:solidFill>
                <a:latin typeface="Courier New"/>
              </a:rPr>
              <a:t>"text"</a:t>
            </a:r>
            <a:r>
              <a:rPr sz="741" b="0" i="0" u="none">
                <a:solidFill>
                  <a:srgbClr val="1F1F1F"/>
                </a:solidFill>
                <a:latin typeface="Courier New"/>
              </a:rPr>
              <a:t>, </a:t>
            </a:r>
            <a:r>
              <a:rPr sz="741" b="0" i="0" u="none">
                <a:solidFill>
                  <a:srgbClr val="001080"/>
                </a:solidFill>
                <a:latin typeface="Courier New"/>
              </a:rPr>
              <a:t>text</a:t>
            </a:r>
            <a:r>
              <a:rPr sz="741" b="0" i="0" u="none">
                <a:solidFill>
                  <a:srgbClr val="1F1F1F"/>
                </a:solidFill>
                <a:latin typeface="Courier New"/>
              </a:rPr>
              <a:t>: </a:t>
            </a:r>
            <a:r>
              <a:rPr sz="741" b="0" i="0" u="none">
                <a:solidFill>
                  <a:srgbClr val="001080"/>
                </a:solidFill>
                <a:latin typeface="Courier New"/>
              </a:rPr>
              <a:t>SYSTEM</a:t>
            </a:r>
            <a:r>
              <a:rPr sz="741" b="0" i="0" u="none">
                <a:solidFill>
                  <a:srgbClr val="1F1F1F"/>
                </a:solidFill>
                <a:latin typeface="Courier New"/>
              </a:rPr>
              <a:t> }],</a:t>
            </a:r>
          </a:p>
          <a:p>
            <a:pPr algn="l">
              <a:lnSpc>
                <a:spcPts val="1112"/>
              </a:lnSpc>
              <a:spcBef>
                <a:spcPts val="0"/>
              </a:spcBef>
              <a:spcAft>
                <a:spcPts val="0"/>
              </a:spcAft>
            </a:pPr>
            <a:r>
              <a:rPr sz="741" b="0" i="0" u="none">
                <a:solidFill>
                  <a:srgbClr val="1F1F1F"/>
                </a:solidFill>
                <a:latin typeface="Courier New"/>
              </a:rPr>
              <a:t>      </a:t>
            </a:r>
            <a:r>
              <a:rPr sz="741" b="0" i="0" u="none">
                <a:solidFill>
                  <a:srgbClr val="001080"/>
                </a:solidFill>
                <a:latin typeface="Courier New"/>
              </a:rPr>
              <a:t>messages</a:t>
            </a:r>
            <a:r>
              <a:rPr sz="741" b="0" i="0" u="none">
                <a:solidFill>
                  <a:srgbClr val="1F1F1F"/>
                </a:solidFill>
                <a:latin typeface="Courier New"/>
              </a:rPr>
              <a:t>: [{ </a:t>
            </a:r>
            <a:r>
              <a:rPr sz="741" b="0" i="0" u="none">
                <a:solidFill>
                  <a:srgbClr val="001080"/>
                </a:solidFill>
                <a:latin typeface="Courier New"/>
              </a:rPr>
              <a:t>role</a:t>
            </a:r>
            <a:r>
              <a:rPr sz="741" b="0" i="0" u="none">
                <a:solidFill>
                  <a:srgbClr val="1F1F1F"/>
                </a:solidFill>
                <a:latin typeface="Courier New"/>
              </a:rPr>
              <a:t>: </a:t>
            </a:r>
            <a:r>
              <a:rPr sz="741" b="0" i="0" u="none">
                <a:solidFill>
                  <a:srgbClr val="A31515"/>
                </a:solidFill>
                <a:latin typeface="Courier New"/>
              </a:rPr>
              <a:t>"user"</a:t>
            </a:r>
            <a:r>
              <a:rPr sz="741" b="0" i="0" u="none">
                <a:solidFill>
                  <a:srgbClr val="1F1F1F"/>
                </a:solidFill>
                <a:latin typeface="Courier New"/>
              </a:rPr>
              <a:t>, </a:t>
            </a:r>
            <a:r>
              <a:rPr sz="741" b="0" i="0" u="none">
                <a:solidFill>
                  <a:srgbClr val="001080"/>
                </a:solidFill>
                <a:latin typeface="Courier New"/>
              </a:rPr>
              <a:t>content</a:t>
            </a:r>
            <a:r>
              <a:rPr sz="741" b="0" i="0" u="none">
                <a:solidFill>
                  <a:srgbClr val="1F1F1F"/>
                </a:solidFill>
                <a:latin typeface="Courier New"/>
              </a:rPr>
              <a:t>: prompt }],</a:t>
            </a:r>
          </a:p>
          <a:p>
            <a:pPr algn="l">
              <a:lnSpc>
                <a:spcPts val="1112"/>
              </a:lnSpc>
              <a:spcBef>
                <a:spcPts val="0"/>
              </a:spcBef>
              <a:spcAft>
                <a:spcPts val="0"/>
              </a:spcAft>
            </a:pPr>
            <a:r>
              <a:rPr sz="741" b="0" i="0" u="none">
                <a:solidFill>
                  <a:srgbClr val="1F1F1F"/>
                </a:solidFill>
                <a:latin typeface="Courier New"/>
              </a:rPr>
              <a:t>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if</a:t>
            </a:r>
            <a:r>
              <a:rPr sz="741" b="0" i="0" u="none">
                <a:solidFill>
                  <a:srgbClr val="1F1F1F"/>
                </a:solidFill>
                <a:latin typeface="Courier New"/>
              </a:rPr>
              <a:t> (res.</a:t>
            </a:r>
            <a:r>
              <a:rPr sz="741" b="0" i="0" u="none">
                <a:solidFill>
                  <a:srgbClr val="001080"/>
                </a:solidFill>
                <a:latin typeface="Courier New"/>
              </a:rPr>
              <a:t>stop_reason</a:t>
            </a:r>
            <a:r>
              <a:rPr sz="741" b="0" i="0" u="none">
                <a:solidFill>
                  <a:srgbClr val="1F1F1F"/>
                </a:solidFill>
                <a:latin typeface="Courier New"/>
              </a:rPr>
              <a:t> !== </a:t>
            </a:r>
            <a:r>
              <a:rPr sz="741" b="0" i="0" u="none">
                <a:solidFill>
                  <a:srgbClr val="A31515"/>
                </a:solidFill>
                <a:latin typeface="Courier New"/>
              </a:rPr>
              <a:t>"overloaded"</a:t>
            </a:r>
            <a:r>
              <a:rPr sz="741" b="0" i="0" u="none">
                <a:solidFill>
                  <a:srgbClr val="1F1F1F"/>
                </a:solidFill>
                <a:latin typeface="Courier New"/>
              </a:rPr>
              <a:t>) {</a:t>
            </a:r>
          </a:p>
          <a:p>
            <a:pPr algn="l">
              <a:lnSpc>
                <a:spcPts val="1112"/>
              </a:lnSpc>
              <a:spcBef>
                <a:spcPts val="0"/>
              </a:spcBef>
              <a:spcAft>
                <a:spcPts val="0"/>
              </a:spcAft>
            </a:pPr>
            <a:r>
              <a:rPr sz="741" b="0" i="0" u="none">
                <a:solidFill>
                  <a:srgbClr val="1F1F1F"/>
                </a:solidFill>
                <a:latin typeface="Courier New"/>
              </a:rPr>
              <a:t>      log.</a:t>
            </a:r>
            <a:r>
              <a:rPr sz="741" b="0" i="0" u="none">
                <a:solidFill>
                  <a:srgbClr val="795E26"/>
                </a:solidFill>
                <a:latin typeface="Courier New"/>
              </a:rPr>
              <a:t>info</a:t>
            </a:r>
            <a:r>
              <a:rPr sz="741" b="0" i="0" u="none">
                <a:solidFill>
                  <a:srgbClr val="1F1F1F"/>
                </a:solidFill>
                <a:latin typeface="Courier New"/>
              </a:rPr>
              <a:t>(</a:t>
            </a:r>
            <a:r>
              <a:rPr sz="741" b="0" i="0" u="none">
                <a:solidFill>
                  <a:srgbClr val="A31515"/>
                </a:solidFill>
                <a:latin typeface="Courier New"/>
              </a:rPr>
              <a:t>"ask"</a:t>
            </a:r>
            <a:r>
              <a:rPr sz="741" b="0" i="0" u="none">
                <a:solidFill>
                  <a:srgbClr val="1F1F1F"/>
                </a:solidFill>
                <a:latin typeface="Courier New"/>
              </a:rPr>
              <a:t>, { </a:t>
            </a:r>
            <a:r>
              <a:rPr sz="741" b="0" i="0" u="none">
                <a:solidFill>
                  <a:srgbClr val="001080"/>
                </a:solidFill>
                <a:latin typeface="Courier New"/>
              </a:rPr>
              <a:t>ms</a:t>
            </a:r>
            <a:r>
              <a:rPr sz="741" b="0" i="0" u="none">
                <a:solidFill>
                  <a:srgbClr val="1F1F1F"/>
                </a:solidFill>
                <a:latin typeface="Courier New"/>
              </a:rPr>
              <a:t>: performance.</a:t>
            </a:r>
            <a:r>
              <a:rPr sz="741" b="0" i="0" u="none">
                <a:solidFill>
                  <a:srgbClr val="795E26"/>
                </a:solidFill>
                <a:latin typeface="Courier New"/>
              </a:rPr>
              <a:t>now</a:t>
            </a:r>
            <a:r>
              <a:rPr sz="741" b="0" i="0" u="none">
                <a:solidFill>
                  <a:srgbClr val="1F1F1F"/>
                </a:solidFill>
                <a:latin typeface="Courier New"/>
              </a:rPr>
              <a:t>() - t0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return</a:t>
            </a:r>
            <a:r>
              <a:rPr sz="741" b="0" i="0" u="none">
                <a:solidFill>
                  <a:srgbClr val="1F1F1F"/>
                </a:solidFill>
                <a:latin typeface="Courier New"/>
              </a:rPr>
              <a:t> res.</a:t>
            </a:r>
            <a:r>
              <a:rPr sz="741" b="0" i="0" u="none">
                <a:solidFill>
                  <a:srgbClr val="001080"/>
                </a:solidFill>
                <a:latin typeface="Courier New"/>
              </a:rPr>
              <a:t>content</a:t>
            </a:r>
            <a:r>
              <a:rPr sz="741" b="0" i="0" u="none">
                <a:solidFill>
                  <a:srgbClr val="1F1F1F"/>
                </a:solidFill>
                <a:latin typeface="Courier New"/>
              </a:rPr>
              <a:t>[</a:t>
            </a:r>
            <a:r>
              <a:rPr sz="741" b="0" i="0" u="none">
                <a:solidFill>
                  <a:srgbClr val="098658"/>
                </a:solidFill>
                <a:latin typeface="Courier New"/>
              </a:rPr>
              <a:t>0</a:t>
            </a:r>
            <a:r>
              <a:rPr sz="741" b="0" i="0" u="none">
                <a:solidFill>
                  <a:srgbClr val="1F1F1F"/>
                </a:solidFill>
                <a:latin typeface="Courier New"/>
              </a:rPr>
              <a:t>].</a:t>
            </a:r>
            <a:r>
              <a:rPr sz="741" b="0" i="0" u="none">
                <a:solidFill>
                  <a:srgbClr val="001080"/>
                </a:solidFill>
                <a:latin typeface="Courier New"/>
              </a:rPr>
              <a:t>text</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await</a:t>
            </a:r>
            <a:r>
              <a:rPr sz="741" b="0" i="0" u="none">
                <a:solidFill>
                  <a:srgbClr val="1F1F1F"/>
                </a:solidFill>
                <a:latin typeface="Courier New"/>
              </a:rPr>
              <a:t> </a:t>
            </a:r>
            <a:r>
              <a:rPr sz="741" b="0" i="0" u="none">
                <a:solidFill>
                  <a:srgbClr val="795E26"/>
                </a:solidFill>
                <a:latin typeface="Courier New"/>
              </a:rPr>
              <a:t>sleep</a:t>
            </a:r>
            <a:r>
              <a:rPr sz="741" b="0" i="0" u="none">
                <a:solidFill>
                  <a:srgbClr val="1F1F1F"/>
                </a:solidFill>
                <a:latin typeface="Courier New"/>
              </a:rPr>
              <a:t>(</a:t>
            </a:r>
            <a:r>
              <a:rPr sz="741" b="0" i="0" u="none">
                <a:solidFill>
                  <a:srgbClr val="098658"/>
                </a:solidFill>
                <a:latin typeface="Courier New"/>
              </a:rPr>
              <a:t>250</a:t>
            </a:r>
            <a:r>
              <a:rPr sz="741" b="0" i="0" u="none">
                <a:solidFill>
                  <a:srgbClr val="1F1F1F"/>
                </a:solidFill>
                <a:latin typeface="Courier New"/>
              </a:rPr>
              <a:t> * (i + </a:t>
            </a:r>
            <a:r>
              <a:rPr sz="741" b="0" i="0" u="none">
                <a:solidFill>
                  <a:srgbClr val="098658"/>
                </a:solidFill>
                <a:latin typeface="Courier New"/>
              </a:rPr>
              <a:t>1</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  }</a:t>
            </a:r>
          </a:p>
          <a:p>
            <a:pPr algn="l">
              <a:lnSpc>
                <a:spcPts val="1112"/>
              </a:lnSpc>
              <a:spcBef>
                <a:spcPts val="0"/>
              </a:spcBef>
              <a:spcAft>
                <a:spcPts val="0"/>
              </a:spcAft>
            </a:pPr>
            <a:r>
              <a:rPr sz="741" b="0" i="0" u="none">
                <a:solidFill>
                  <a:srgbClr val="1F1F1F"/>
                </a:solidFill>
                <a:latin typeface="Courier New"/>
              </a:rPr>
              <a:t>  </a:t>
            </a:r>
            <a:r>
              <a:rPr sz="741" b="0" i="0" u="none">
                <a:solidFill>
                  <a:srgbClr val="0000FF"/>
                </a:solidFill>
                <a:latin typeface="Courier New"/>
              </a:rPr>
              <a:t>throw</a:t>
            </a:r>
            <a:r>
              <a:rPr sz="741" b="0" i="0" u="none">
                <a:solidFill>
                  <a:srgbClr val="1F1F1F"/>
                </a:solidFill>
                <a:latin typeface="Courier New"/>
              </a:rPr>
              <a:t> </a:t>
            </a:r>
            <a:r>
              <a:rPr sz="741" b="0" i="0" u="none">
                <a:solidFill>
                  <a:srgbClr val="0000FF"/>
                </a:solidFill>
                <a:latin typeface="Courier New"/>
              </a:rPr>
              <a:t>new</a:t>
            </a:r>
            <a:r>
              <a:rPr sz="741" b="0" i="0" u="none">
                <a:solidFill>
                  <a:srgbClr val="1F1F1F"/>
                </a:solidFill>
                <a:latin typeface="Courier New"/>
              </a:rPr>
              <a:t> </a:t>
            </a:r>
            <a:r>
              <a:rPr sz="741" b="0" i="0" u="none">
                <a:solidFill>
                  <a:srgbClr val="267F99"/>
                </a:solidFill>
                <a:latin typeface="Courier New"/>
              </a:rPr>
              <a:t>Error</a:t>
            </a:r>
            <a:r>
              <a:rPr sz="741" b="0" i="0" u="none">
                <a:solidFill>
                  <a:srgbClr val="1F1F1F"/>
                </a:solidFill>
                <a:latin typeface="Courier New"/>
              </a:rPr>
              <a:t>(</a:t>
            </a:r>
            <a:r>
              <a:rPr sz="741" b="0" i="0" u="none">
                <a:solidFill>
                  <a:srgbClr val="A31515"/>
                </a:solidFill>
                <a:latin typeface="Courier New"/>
              </a:rPr>
              <a:t>"overloaded"</a:t>
            </a:r>
            <a:r>
              <a:rPr sz="741" b="0" i="0" u="none">
                <a:solidFill>
                  <a:srgbClr val="1F1F1F"/>
                </a:solidFill>
                <a:latin typeface="Courier New"/>
              </a:rPr>
              <a:t>);</a:t>
            </a:r>
          </a:p>
          <a:p>
            <a:pPr algn="l">
              <a:lnSpc>
                <a:spcPts val="1112"/>
              </a:lnSpc>
              <a:spcBef>
                <a:spcPts val="0"/>
              </a:spcBef>
              <a:spcAft>
                <a:spcPts val="0"/>
              </a:spcAft>
            </a:pPr>
            <a:r>
              <a:rPr sz="741" b="0" i="0" u="none">
                <a:solidFill>
                  <a:srgbClr val="1F1F1F"/>
                </a:solidFill>
                <a:latin typeface="Courier New"/>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content-text: the prose last resort</a:t>
            </a:r>
          </a:p>
        </p:txBody>
      </p:sp>
      <p:sp>
        <p:nvSpPr>
          <p:cNvPr id="5" name="TextBox 4"/>
          <p:cNvSpPr txBox="1"/>
          <p:nvPr/>
        </p:nvSpPr>
        <p:spPr>
          <a:xfrm>
            <a:off x="670465" y="2159508"/>
            <a:ext cx="11030760" cy="1664589"/>
          </a:xfrm>
          <a:prstGeom prst="rect">
            <a:avLst/>
          </a:prstGeom>
          <a:noFill/>
        </p:spPr>
        <p:txBody>
          <a:bodyPr wrap="square" anchor="ctr" lIns="0" tIns="0" rIns="0" bIns="0">
            <a:noAutofit/>
          </a:bodyPr>
          <a:lstStyle/>
          <a:p>
            <a:pPr algn="l">
              <a:lnSpc>
                <a:spcPts val="4416"/>
              </a:lnSpc>
              <a:spcBef>
                <a:spcPts val="0"/>
              </a:spcBef>
              <a:spcAft>
                <a:spcPts val="0"/>
              </a:spcAft>
            </a:pPr>
            <a:r>
              <a:rPr sz="3840" b="1" i="0" u="none">
                <a:solidFill>
                  <a:srgbClr val="1F1E1E"/>
                </a:solidFill>
                <a:latin typeface="Arial"/>
              </a:rPr>
              <a:t>content-text carries only prose — a definition or a framing — when nothing richer fits.</a:t>
            </a:r>
          </a:p>
        </p:txBody>
      </p:sp>
      <p:sp>
        <p:nvSpPr>
          <p:cNvPr id="6" name="Rounded Rectangle 5"/>
          <p:cNvSpPr/>
          <p:nvPr/>
        </p:nvSpPr>
        <p:spPr>
          <a:xfrm>
            <a:off x="670465" y="3646742"/>
            <a:ext cx="3453670" cy="1926146"/>
          </a:xfrm>
          <a:prstGeom prst="roundRect">
            <a:avLst>
              <a:gd name="adj" fmla="val 1012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3920300"/>
            <a:ext cx="2930531" cy="1636300"/>
          </a:xfrm>
          <a:prstGeom prst="rect">
            <a:avLst/>
          </a:prstGeom>
          <a:noFill/>
        </p:spPr>
        <p:txBody>
          <a:bodyPr wrap="square" anchor="ctr" lIns="0" tIns="0" rIns="0" bIns="0">
            <a:noAutofit/>
          </a:bodyPr>
          <a:lstStyle/>
          <a:p>
            <a:pPr algn="l">
              <a:lnSpc>
                <a:spcPts val="2112"/>
              </a:lnSpc>
              <a:spcBef>
                <a:spcPts val="0"/>
              </a:spcBef>
              <a:spcAft>
                <a:spcPts val="0"/>
              </a:spcAft>
            </a:pPr>
            <a:r>
              <a:rPr sz="2112" b="1" i="0" u="none">
                <a:solidFill>
                  <a:srgbClr val="3B3535"/>
                </a:solidFill>
                <a:latin typeface="Arial"/>
              </a:rPr>
              <a:t>It renders as one lead line plus a few light panels, never a paragraph and never bullets.</a:t>
            </a:r>
          </a:p>
        </p:txBody>
      </p:sp>
      <p:sp>
        <p:nvSpPr>
          <p:cNvPr id="8" name="Rounded Rectangle 7"/>
          <p:cNvSpPr/>
          <p:nvPr/>
        </p:nvSpPr>
        <p:spPr>
          <a:xfrm>
            <a:off x="4367974" y="3646742"/>
            <a:ext cx="3453860" cy="1926146"/>
          </a:xfrm>
          <a:prstGeom prst="roundRect">
            <a:avLst>
              <a:gd name="adj" fmla="val 1012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4660582" y="3920300"/>
            <a:ext cx="2930724" cy="1636300"/>
          </a:xfrm>
          <a:prstGeom prst="rect">
            <a:avLst/>
          </a:prstGeom>
          <a:noFill/>
        </p:spPr>
        <p:txBody>
          <a:bodyPr wrap="square" anchor="ctr" lIns="0" tIns="0" rIns="0" bIns="0">
            <a:noAutofit/>
          </a:bodyPr>
          <a:lstStyle/>
          <a:p>
            <a:pPr algn="l">
              <a:lnSpc>
                <a:spcPts val="2112"/>
              </a:lnSpc>
              <a:spcBef>
                <a:spcPts val="0"/>
              </a:spcBef>
              <a:spcAft>
                <a:spcPts val="0"/>
              </a:spcAft>
            </a:pPr>
            <a:r>
              <a:rPr sz="2112" b="1" i="0" u="none">
                <a:solidFill>
                  <a:srgbClr val="3B3535"/>
                </a:solidFill>
                <a:latin typeface="Arial"/>
              </a:rPr>
              <a:t>The fill flags it as a restructure candidate: most prose slides are really cards in disguise.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the seven kinds</a:t>
            </a:r>
          </a:p>
        </p:txBody>
      </p:sp>
      <p:sp>
        <p:nvSpPr>
          <p:cNvPr id="5" name="Rounded Rectangle 4"/>
          <p:cNvSpPr/>
          <p:nvPr/>
        </p:nvSpPr>
        <p:spPr>
          <a:xfrm>
            <a:off x="670465" y="2068163"/>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068163"/>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2214277"/>
            <a:ext cx="243745" cy="243745"/>
          </a:xfrm>
          <a:prstGeom prst="rect">
            <a:avLst/>
          </a:prstGeom>
        </p:spPr>
      </p:pic>
      <p:sp>
        <p:nvSpPr>
          <p:cNvPr id="8" name="TextBox 7"/>
          <p:cNvSpPr txBox="1"/>
          <p:nvPr/>
        </p:nvSpPr>
        <p:spPr>
          <a:xfrm>
            <a:off x="1251680" y="2209038"/>
            <a:ext cx="442626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Takeaway</a:t>
            </a:r>
            <a:r>
              <a:rPr sz="1402" b="0" i="0" u="none">
                <a:solidFill>
                  <a:srgbClr val="1F1E1E"/>
                </a:solidFill>
                <a:latin typeface="Arial"/>
              </a:rPr>
              <a:t>: the one idea to remember (the default kind).</a:t>
            </a:r>
          </a:p>
        </p:txBody>
      </p:sp>
      <p:sp>
        <p:nvSpPr>
          <p:cNvPr id="9" name="Rounded Rectangle 8"/>
          <p:cNvSpPr/>
          <p:nvPr/>
        </p:nvSpPr>
        <p:spPr>
          <a:xfrm>
            <a:off x="670465" y="2726246"/>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2726246"/>
            <a:ext cx="57150" cy="51177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886016" y="2872359"/>
            <a:ext cx="243745" cy="243745"/>
          </a:xfrm>
          <a:prstGeom prst="rect">
            <a:avLst/>
          </a:prstGeom>
        </p:spPr>
      </p:pic>
      <p:sp>
        <p:nvSpPr>
          <p:cNvPr id="12" name="TextBox 11"/>
          <p:cNvSpPr txBox="1"/>
          <p:nvPr/>
        </p:nvSpPr>
        <p:spPr>
          <a:xfrm>
            <a:off x="1251680" y="2867216"/>
            <a:ext cx="341861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Important</a:t>
            </a:r>
            <a:r>
              <a:rPr sz="1402" b="0" i="0" u="none">
                <a:solidFill>
                  <a:srgbClr val="1F1E1E"/>
                </a:solidFill>
                <a:latin typeface="Arial"/>
              </a:rPr>
              <a:t>: a risk, a limit, or a hard 'do not'.</a:t>
            </a:r>
          </a:p>
        </p:txBody>
      </p:sp>
      <p:sp>
        <p:nvSpPr>
          <p:cNvPr id="13" name="Rounded Rectangle 12"/>
          <p:cNvSpPr/>
          <p:nvPr/>
        </p:nvSpPr>
        <p:spPr>
          <a:xfrm>
            <a:off x="670465" y="3384328"/>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70465" y="3384328"/>
            <a:ext cx="57150" cy="511778"/>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886016" y="3530537"/>
            <a:ext cx="243745" cy="243745"/>
          </a:xfrm>
          <a:prstGeom prst="rect">
            <a:avLst/>
          </a:prstGeom>
        </p:spPr>
      </p:pic>
      <p:sp>
        <p:nvSpPr>
          <p:cNvPr id="16" name="TextBox 15"/>
          <p:cNvSpPr txBox="1"/>
          <p:nvPr/>
        </p:nvSpPr>
        <p:spPr>
          <a:xfrm>
            <a:off x="1251680" y="3525298"/>
            <a:ext cx="2629090"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Definition</a:t>
            </a:r>
            <a:r>
              <a:rPr sz="1402" b="0" i="0" u="none">
                <a:solidFill>
                  <a:srgbClr val="1F1E1E"/>
                </a:solidFill>
                <a:latin typeface="Arial"/>
              </a:rPr>
              <a:t>: a term being defined.</a:t>
            </a:r>
          </a:p>
        </p:txBody>
      </p:sp>
      <p:sp>
        <p:nvSpPr>
          <p:cNvPr id="17" name="Rounded Rectangle 16"/>
          <p:cNvSpPr/>
          <p:nvPr/>
        </p:nvSpPr>
        <p:spPr>
          <a:xfrm>
            <a:off x="670465" y="4042505"/>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70465" y="4042505"/>
            <a:ext cx="57150" cy="511778"/>
          </a:xfrm>
          <a:prstGeom prst="rect">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5"/>
          <a:stretch>
            <a:fillRect/>
          </a:stretch>
        </p:blipFill>
        <p:spPr>
          <a:xfrm>
            <a:off x="886016" y="4188619"/>
            <a:ext cx="243745" cy="243745"/>
          </a:xfrm>
          <a:prstGeom prst="rect">
            <a:avLst/>
          </a:prstGeom>
        </p:spPr>
      </p:pic>
      <p:sp>
        <p:nvSpPr>
          <p:cNvPr id="20" name="TextBox 19"/>
          <p:cNvSpPr txBox="1"/>
          <p:nvPr/>
        </p:nvSpPr>
        <p:spPr>
          <a:xfrm>
            <a:off x="1251680" y="4183380"/>
            <a:ext cx="3104102"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Example</a:t>
            </a:r>
            <a:r>
              <a:rPr sz="1402" b="0" i="0" u="none">
                <a:solidFill>
                  <a:srgbClr val="1F1E1E"/>
                </a:solidFill>
                <a:latin typeface="Arial"/>
              </a:rPr>
              <a:t>: a concrete case or scenario.</a:t>
            </a:r>
          </a:p>
        </p:txBody>
      </p:sp>
      <p:sp>
        <p:nvSpPr>
          <p:cNvPr id="21" name="Rounded Rectangle 20"/>
          <p:cNvSpPr/>
          <p:nvPr/>
        </p:nvSpPr>
        <p:spPr>
          <a:xfrm>
            <a:off x="670465" y="4700588"/>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4700588"/>
            <a:ext cx="57150" cy="511778"/>
          </a:xfrm>
          <a:prstGeom prst="rect">
            <a:avLst/>
          </a:prstGeom>
          <a:solidFill>
            <a:srgbClr val="8A7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6"/>
          <a:stretch>
            <a:fillRect/>
          </a:stretch>
        </p:blipFill>
        <p:spPr>
          <a:xfrm>
            <a:off x="886016" y="4846701"/>
            <a:ext cx="243745" cy="243745"/>
          </a:xfrm>
          <a:prstGeom prst="rect">
            <a:avLst/>
          </a:prstGeom>
        </p:spPr>
      </p:pic>
      <p:sp>
        <p:nvSpPr>
          <p:cNvPr id="24" name="TextBox 23"/>
          <p:cNvSpPr txBox="1"/>
          <p:nvPr/>
        </p:nvSpPr>
        <p:spPr>
          <a:xfrm>
            <a:off x="1251680" y="4841558"/>
            <a:ext cx="274901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1" u="none">
                <a:solidFill>
                  <a:srgbClr val="1F1E1E"/>
                </a:solidFill>
                <a:latin typeface="Arial"/>
              </a:rPr>
              <a:t>"A cited line — rendered in italics."</a:t>
            </a:r>
          </a:p>
        </p:txBody>
      </p:sp>
      <p:sp>
        <p:nvSpPr>
          <p:cNvPr id="25" name="Rounded Rectangle 24"/>
          <p:cNvSpPr/>
          <p:nvPr/>
        </p:nvSpPr>
        <p:spPr>
          <a:xfrm>
            <a:off x="670465" y="5358670"/>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Rectangle 25"/>
          <p:cNvSpPr/>
          <p:nvPr/>
        </p:nvSpPr>
        <p:spPr>
          <a:xfrm>
            <a:off x="670465" y="5358670"/>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7" name="Picture 26" descr="image.png"/>
          <p:cNvPicPr>
            <a:picLocks noChangeAspect="1"/>
          </p:cNvPicPr>
          <p:nvPr/>
        </p:nvPicPr>
        <p:blipFill>
          <a:blip r:embed="rId7"/>
          <a:stretch>
            <a:fillRect/>
          </a:stretch>
        </p:blipFill>
        <p:spPr>
          <a:xfrm>
            <a:off x="886016" y="5504879"/>
            <a:ext cx="243745" cy="243745"/>
          </a:xfrm>
          <a:prstGeom prst="rect">
            <a:avLst/>
          </a:prstGeom>
        </p:spPr>
      </p:pic>
      <p:sp>
        <p:nvSpPr>
          <p:cNvPr id="28" name="TextBox 27"/>
          <p:cNvSpPr txBox="1"/>
          <p:nvPr/>
        </p:nvSpPr>
        <p:spPr>
          <a:xfrm>
            <a:off x="1251680" y="5499640"/>
            <a:ext cx="2579656"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Note</a:t>
            </a:r>
            <a:r>
              <a:rPr sz="1402" b="0" i="0" u="none">
                <a:solidFill>
                  <a:srgbClr val="1F1E1E"/>
                </a:solidFill>
                <a:latin typeface="Arial"/>
              </a:rPr>
              <a:t>: an aside or minor context.</a:t>
            </a:r>
          </a:p>
        </p:txBody>
      </p:sp>
      <p:sp>
        <p:nvSpPr>
          <p:cNvPr id="29" name="TextBox 28"/>
          <p:cNvSpPr txBox="1"/>
          <p:nvPr/>
        </p:nvSpPr>
        <p:spPr>
          <a:xfrm>
            <a:off x="670465" y="6084570"/>
            <a:ext cx="462362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Talksmith slide-model schema, §highlights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split-right — media contained on the right</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diagram the audience actually reads gets half the canvas, uncropped.</a:t>
            </a:r>
          </a:p>
        </p:txBody>
      </p:sp>
      <p:sp>
        <p:nvSpPr>
          <p:cNvPr id="6" name="Rounded Rectangle 5"/>
          <p:cNvSpPr/>
          <p:nvPr/>
        </p:nvSpPr>
        <p:spPr>
          <a:xfrm>
            <a:off x="670465" y="2745391"/>
            <a:ext cx="2492312" cy="3067812"/>
          </a:xfrm>
          <a:prstGeom prst="roundRect">
            <a:avLst>
              <a:gd name="adj" fmla="val 978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16591" y="3032474"/>
            <a:ext cx="594646" cy="594646"/>
          </a:xfrm>
          <a:prstGeom prst="rect">
            <a:avLst/>
          </a:prstGeom>
        </p:spPr>
      </p:pic>
      <p:sp>
        <p:nvSpPr>
          <p:cNvPr id="8" name="TextBox 7"/>
          <p:cNvSpPr txBox="1"/>
          <p:nvPr/>
        </p:nvSpPr>
        <p:spPr>
          <a:xfrm>
            <a:off x="1685449" y="3024378"/>
            <a:ext cx="1268720" cy="1052417"/>
          </a:xfrm>
          <a:prstGeom prst="rect">
            <a:avLst/>
          </a:prstGeom>
          <a:noFill/>
        </p:spPr>
        <p:txBody>
          <a:bodyPr wrap="square" anchor="ctr" lIns="0" tIns="0" rIns="0" bIns="0">
            <a:noAutofit/>
          </a:bodyPr>
          <a:lstStyle/>
          <a:p>
            <a:pPr algn="l">
              <a:lnSpc>
                <a:spcPts val="2572"/>
              </a:lnSpc>
              <a:spcBef>
                <a:spcPts val="0"/>
              </a:spcBef>
              <a:spcAft>
                <a:spcPts val="0"/>
              </a:spcAft>
            </a:pPr>
            <a:r>
              <a:rPr sz="2339" b="1" i="0" u="none">
                <a:solidFill>
                  <a:srgbClr val="1F1E1E"/>
                </a:solidFill>
                <a:latin typeface="Arial"/>
              </a:rPr>
              <a:t>Design first</a:t>
            </a:r>
          </a:p>
        </p:txBody>
      </p:sp>
      <p:sp>
        <p:nvSpPr>
          <p:cNvPr id="9" name="TextBox 8"/>
          <p:cNvSpPr txBox="1"/>
          <p:nvPr/>
        </p:nvSpPr>
        <p:spPr>
          <a:xfrm>
            <a:off x="1685449" y="3753707"/>
            <a:ext cx="1268720" cy="1755172"/>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How the canvas is divided is chosen before the template.</a:t>
            </a:r>
          </a:p>
        </p:txBody>
      </p:sp>
      <p:sp>
        <p:nvSpPr>
          <p:cNvPr id="10" name="Rounded Rectangle 9"/>
          <p:cNvSpPr/>
          <p:nvPr/>
        </p:nvSpPr>
        <p:spPr>
          <a:xfrm>
            <a:off x="3388328" y="2745391"/>
            <a:ext cx="2492407" cy="3067812"/>
          </a:xfrm>
          <a:prstGeom prst="roundRect">
            <a:avLst>
              <a:gd name="adj" fmla="val 978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3634359" y="3032474"/>
            <a:ext cx="594646" cy="594646"/>
          </a:xfrm>
          <a:prstGeom prst="rect">
            <a:avLst/>
          </a:prstGeom>
        </p:spPr>
      </p:pic>
      <p:sp>
        <p:nvSpPr>
          <p:cNvPr id="12" name="TextBox 11"/>
          <p:cNvSpPr txBox="1"/>
          <p:nvPr/>
        </p:nvSpPr>
        <p:spPr>
          <a:xfrm>
            <a:off x="4403217" y="3024378"/>
            <a:ext cx="1268913" cy="1052417"/>
          </a:xfrm>
          <a:prstGeom prst="rect">
            <a:avLst/>
          </a:prstGeom>
          <a:noFill/>
        </p:spPr>
        <p:txBody>
          <a:bodyPr wrap="square" anchor="ctr" lIns="0" tIns="0" rIns="0" bIns="0">
            <a:noAutofit/>
          </a:bodyPr>
          <a:lstStyle/>
          <a:p>
            <a:pPr algn="l">
              <a:lnSpc>
                <a:spcPts val="2572"/>
              </a:lnSpc>
              <a:spcBef>
                <a:spcPts val="0"/>
              </a:spcBef>
              <a:spcAft>
                <a:spcPts val="0"/>
              </a:spcAft>
            </a:pPr>
            <a:r>
              <a:rPr sz="2339" b="1" i="0" u="none">
                <a:solidFill>
                  <a:srgbClr val="1F1E1E"/>
                </a:solidFill>
                <a:latin typeface="Arial"/>
              </a:rPr>
              <a:t>Style second</a:t>
            </a:r>
          </a:p>
        </p:txBody>
      </p:sp>
      <p:sp>
        <p:nvSpPr>
          <p:cNvPr id="13" name="TextBox 12"/>
          <p:cNvSpPr txBox="1"/>
          <p:nvPr/>
        </p:nvSpPr>
        <p:spPr>
          <a:xfrm>
            <a:off x="4403217" y="3753707"/>
            <a:ext cx="1268913" cy="1755172"/>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sp>
        <p:nvSpPr>
          <p:cNvPr id="15" name="Rounded Rectangle 14"/>
          <p:cNvSpPr/>
          <p:nvPr/>
        </p:nvSpPr>
        <p:spPr>
          <a:xfrm>
            <a:off x="6309265" y="2745391"/>
            <a:ext cx="5212270" cy="3067812"/>
          </a:xfrm>
          <a:prstGeom prst="roundRect">
            <a:avLst>
              <a:gd name="adj" fmla="val 5563"/>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5"/>
          <a:stretch>
            <a:fillRect/>
          </a:stretch>
        </p:blipFill>
        <p:spPr>
          <a:xfrm>
            <a:off x="6318980" y="2818828"/>
            <a:ext cx="5192935" cy="2921032"/>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split-left — the picture leads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design mirrored in CSS; the markup order (and the reading order) never changes.</a:t>
            </a:r>
          </a:p>
        </p:txBody>
      </p:sp>
      <p:sp>
        <p:nvSpPr>
          <p:cNvPr id="6" name="Rounded Rectangle 5"/>
          <p:cNvSpPr/>
          <p:nvPr/>
        </p:nvSpPr>
        <p:spPr>
          <a:xfrm>
            <a:off x="6309265" y="2206085"/>
            <a:ext cx="2678335" cy="4016312"/>
          </a:xfrm>
          <a:prstGeom prst="roundRect">
            <a:avLst>
              <a:gd name="adj" fmla="val 910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601873" y="2547366"/>
            <a:ext cx="707041" cy="707041"/>
          </a:xfrm>
          <a:prstGeom prst="rect">
            <a:avLst/>
          </a:prstGeom>
        </p:spPr>
      </p:pic>
      <p:sp>
        <p:nvSpPr>
          <p:cNvPr id="8" name="TextBox 7"/>
          <p:cNvSpPr txBox="1"/>
          <p:nvPr/>
        </p:nvSpPr>
        <p:spPr>
          <a:xfrm>
            <a:off x="7516082" y="2537841"/>
            <a:ext cx="1215643"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7516082" y="3404997"/>
            <a:ext cx="1215643" cy="247592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9255728" y="2206085"/>
            <a:ext cx="2265807" cy="4016312"/>
          </a:xfrm>
          <a:prstGeom prst="roundRect">
            <a:avLst>
              <a:gd name="adj" fmla="val 1076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9548336" y="2547366"/>
            <a:ext cx="707041" cy="707041"/>
          </a:xfrm>
          <a:prstGeom prst="rect">
            <a:avLst/>
          </a:prstGeom>
        </p:spPr>
      </p:pic>
      <p:sp>
        <p:nvSpPr>
          <p:cNvPr id="12" name="TextBox 11"/>
          <p:cNvSpPr txBox="1"/>
          <p:nvPr/>
        </p:nvSpPr>
        <p:spPr>
          <a:xfrm>
            <a:off x="10462641" y="2537841"/>
            <a:ext cx="1093828"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10462641" y="3404997"/>
            <a:ext cx="1093828" cy="247592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sp>
        <p:nvSpPr>
          <p:cNvPr id="14" name="Rounded Rectangle 13"/>
          <p:cNvSpPr/>
          <p:nvPr/>
        </p:nvSpPr>
        <p:spPr>
          <a:xfrm>
            <a:off x="670465" y="2192369"/>
            <a:ext cx="5212080" cy="4056031"/>
          </a:xfrm>
          <a:prstGeom prst="roundRect">
            <a:avLst>
              <a:gd name="adj" fmla="val 420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79990" y="2759869"/>
            <a:ext cx="5192935" cy="2921032"/>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banded — media over a caption band</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For text too short to hold a column.</a:t>
            </a:r>
          </a:p>
        </p:txBody>
      </p:sp>
      <p:sp>
        <p:nvSpPr>
          <p:cNvPr id="6" name="Rounded Rectangle 5"/>
          <p:cNvSpPr/>
          <p:nvPr/>
        </p:nvSpPr>
        <p:spPr>
          <a:xfrm>
            <a:off x="670465" y="3945731"/>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63073" y="4287012"/>
            <a:ext cx="707041" cy="707041"/>
          </a:xfrm>
          <a:prstGeom prst="rect">
            <a:avLst/>
          </a:prstGeom>
        </p:spPr>
      </p:pic>
      <p:sp>
        <p:nvSpPr>
          <p:cNvPr id="8" name="TextBox 7"/>
          <p:cNvSpPr txBox="1"/>
          <p:nvPr/>
        </p:nvSpPr>
        <p:spPr>
          <a:xfrm>
            <a:off x="1877282" y="4277487"/>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1877282" y="4755832"/>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6229064" y="3945731"/>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521672" y="4287012"/>
            <a:ext cx="707041" cy="707041"/>
          </a:xfrm>
          <a:prstGeom prst="rect">
            <a:avLst/>
          </a:prstGeom>
        </p:spPr>
      </p:pic>
      <p:sp>
        <p:nvSpPr>
          <p:cNvPr id="12" name="TextBox 11"/>
          <p:cNvSpPr txBox="1"/>
          <p:nvPr/>
        </p:nvSpPr>
        <p:spPr>
          <a:xfrm>
            <a:off x="7435882" y="4277487"/>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7435882" y="4755832"/>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sp>
        <p:nvSpPr>
          <p:cNvPr id="15" name="Rounded Rectangle 14"/>
          <p:cNvSpPr/>
          <p:nvPr/>
        </p:nvSpPr>
        <p:spPr>
          <a:xfrm>
            <a:off x="670465" y="2192369"/>
            <a:ext cx="10851070" cy="1447038"/>
          </a:xfrm>
          <a:prstGeom prst="roundRect">
            <a:avLst>
              <a:gd name="adj" fmla="val 1179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5"/>
          <a:stretch>
            <a:fillRect/>
          </a:stretch>
        </p:blipFill>
        <p:spPr>
          <a:xfrm>
            <a:off x="4826603" y="2201894"/>
            <a:ext cx="2538603" cy="1427988"/>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6701679" cy="1677543"/>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column-right — a cropped atmosphere strip</a:t>
            </a:r>
          </a:p>
        </p:txBody>
      </p:sp>
      <p:sp>
        <p:nvSpPr>
          <p:cNvPr id="5" name="TextBox 4"/>
          <p:cNvSpPr txBox="1"/>
          <p:nvPr/>
        </p:nvSpPr>
        <p:spPr>
          <a:xfrm>
            <a:off x="670465" y="2187607"/>
            <a:ext cx="6701679" cy="469582"/>
          </a:xfrm>
          <a:prstGeom prst="rect">
            <a:avLst/>
          </a:prstGeom>
          <a:noFill/>
        </p:spPr>
        <p:txBody>
          <a:bodyPr wrap="square" anchor="ctr" lIns="0" tIns="0" rIns="0" bIns="0">
            <a:noAutofit/>
          </a:bodyPr>
          <a:lstStyle/>
          <a:p>
            <a:pPr algn="l">
              <a:lnSpc>
                <a:spcPts val="1748"/>
              </a:lnSpc>
              <a:spcBef>
                <a:spcPts val="0"/>
              </a:spcBef>
              <a:spcAft>
                <a:spcPts val="0"/>
              </a:spcAft>
            </a:pPr>
            <a:r>
              <a:rPr sz="1748" b="1" i="0" u="none">
                <a:solidFill>
                  <a:srgbClr val="3B3535"/>
                </a:solidFill>
                <a:latin typeface="Arial"/>
              </a:rPr>
              <a:t>A narrow full-bleed column that crops to fill: tone, never information.</a:t>
            </a:r>
          </a:p>
        </p:txBody>
      </p:sp>
      <p:sp>
        <p:nvSpPr>
          <p:cNvPr id="6" name="Rounded Rectangle 5"/>
          <p:cNvSpPr/>
          <p:nvPr/>
        </p:nvSpPr>
        <p:spPr>
          <a:xfrm>
            <a:off x="670465" y="3018282"/>
            <a:ext cx="3167348" cy="2709672"/>
          </a:xfrm>
          <a:prstGeom prst="roundRect">
            <a:avLst>
              <a:gd name="adj" fmla="val 89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39546" y="3332036"/>
            <a:ext cx="650176" cy="650176"/>
          </a:xfrm>
          <a:prstGeom prst="rect">
            <a:avLst/>
          </a:prstGeom>
        </p:spPr>
      </p:pic>
      <p:sp>
        <p:nvSpPr>
          <p:cNvPr id="8" name="TextBox 7"/>
          <p:cNvSpPr txBox="1"/>
          <p:nvPr/>
        </p:nvSpPr>
        <p:spPr>
          <a:xfrm>
            <a:off x="1780127" y="3323272"/>
            <a:ext cx="1826704" cy="367856"/>
          </a:xfrm>
          <a:prstGeom prst="rect">
            <a:avLst/>
          </a:prstGeom>
          <a:noFill/>
        </p:spPr>
        <p:txBody>
          <a:bodyPr wrap="none" anchor="ctr" lIns="0" tIns="0" rIns="0" bIns="0">
            <a:noAutofit/>
          </a:bodyPr>
          <a:lstStyle/>
          <a:p>
            <a:pPr algn="l">
              <a:lnSpc>
                <a:spcPts val="2817"/>
              </a:lnSpc>
              <a:spcBef>
                <a:spcPts val="0"/>
              </a:spcBef>
              <a:spcAft>
                <a:spcPts val="0"/>
              </a:spcAft>
            </a:pPr>
            <a:r>
              <a:rPr sz="2561" b="1" i="0" u="none">
                <a:solidFill>
                  <a:srgbClr val="1F1E1E"/>
                </a:solidFill>
                <a:latin typeface="Arial"/>
              </a:rPr>
              <a:t>Design first</a:t>
            </a:r>
          </a:p>
        </p:txBody>
      </p:sp>
      <p:sp>
        <p:nvSpPr>
          <p:cNvPr id="9" name="TextBox 8"/>
          <p:cNvSpPr txBox="1"/>
          <p:nvPr/>
        </p:nvSpPr>
        <p:spPr>
          <a:xfrm>
            <a:off x="1780127" y="3763042"/>
            <a:ext cx="1834484" cy="1623441"/>
          </a:xfrm>
          <a:prstGeom prst="rect">
            <a:avLst/>
          </a:prstGeom>
          <a:noFill/>
        </p:spPr>
        <p:txBody>
          <a:bodyPr wrap="square" anchor="ctr" lIns="0" tIns="0" rIns="0" bIns="0">
            <a:noAutofit/>
          </a:bodyPr>
          <a:lstStyle/>
          <a:p>
            <a:pPr algn="l">
              <a:lnSpc>
                <a:spcPts val="2583"/>
              </a:lnSpc>
              <a:spcBef>
                <a:spcPts val="0"/>
              </a:spcBef>
              <a:spcAft>
                <a:spcPts val="0"/>
              </a:spcAft>
            </a:pPr>
            <a:r>
              <a:rPr sz="1987" b="0" i="0" u="none">
                <a:solidFill>
                  <a:srgbClr val="3B3535"/>
                </a:solidFill>
                <a:latin typeface="Arial"/>
              </a:rPr>
              <a:t>How the canvas is divided is chosen before the template.</a:t>
            </a:r>
          </a:p>
        </p:txBody>
      </p:sp>
      <p:sp>
        <p:nvSpPr>
          <p:cNvPr id="10" name="Rounded Rectangle 9"/>
          <p:cNvSpPr/>
          <p:nvPr/>
        </p:nvSpPr>
        <p:spPr>
          <a:xfrm>
            <a:off x="4084415" y="3018282"/>
            <a:ext cx="3167444" cy="2709672"/>
          </a:xfrm>
          <a:prstGeom prst="roundRect">
            <a:avLst>
              <a:gd name="adj" fmla="val 89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353401" y="3332036"/>
            <a:ext cx="650176" cy="650176"/>
          </a:xfrm>
          <a:prstGeom prst="rect">
            <a:avLst/>
          </a:prstGeom>
        </p:spPr>
      </p:pic>
      <p:sp>
        <p:nvSpPr>
          <p:cNvPr id="12" name="TextBox 11"/>
          <p:cNvSpPr txBox="1"/>
          <p:nvPr/>
        </p:nvSpPr>
        <p:spPr>
          <a:xfrm>
            <a:off x="5194078" y="3323272"/>
            <a:ext cx="1834580" cy="1114330"/>
          </a:xfrm>
          <a:prstGeom prst="rect">
            <a:avLst/>
          </a:prstGeom>
          <a:noFill/>
        </p:spPr>
        <p:txBody>
          <a:bodyPr wrap="square" anchor="ctr" lIns="0" tIns="0" rIns="0" bIns="0">
            <a:noAutofit/>
          </a:bodyPr>
          <a:lstStyle/>
          <a:p>
            <a:pPr algn="l">
              <a:lnSpc>
                <a:spcPts val="2817"/>
              </a:lnSpc>
              <a:spcBef>
                <a:spcPts val="0"/>
              </a:spcBef>
              <a:spcAft>
                <a:spcPts val="0"/>
              </a:spcAft>
            </a:pPr>
            <a:r>
              <a:rPr sz="2561" b="1" i="0" u="none">
                <a:solidFill>
                  <a:srgbClr val="1F1E1E"/>
                </a:solidFill>
                <a:latin typeface="Arial"/>
              </a:rPr>
              <a:t>Style second</a:t>
            </a:r>
          </a:p>
        </p:txBody>
      </p:sp>
      <p:sp>
        <p:nvSpPr>
          <p:cNvPr id="13" name="TextBox 12"/>
          <p:cNvSpPr txBox="1"/>
          <p:nvPr/>
        </p:nvSpPr>
        <p:spPr>
          <a:xfrm>
            <a:off x="5194078" y="4120706"/>
            <a:ext cx="1834580" cy="1265872"/>
          </a:xfrm>
          <a:prstGeom prst="rect">
            <a:avLst/>
          </a:prstGeom>
          <a:noFill/>
        </p:spPr>
        <p:txBody>
          <a:bodyPr wrap="square" anchor="ctr" lIns="0" tIns="0" rIns="0" bIns="0">
            <a:noAutofit/>
          </a:bodyPr>
          <a:lstStyle/>
          <a:p>
            <a:pPr algn="l">
              <a:lnSpc>
                <a:spcPts val="2583"/>
              </a:lnSpc>
              <a:spcBef>
                <a:spcPts val="0"/>
              </a:spcBef>
              <a:spcAft>
                <a:spcPts val="0"/>
              </a:spcAft>
            </a:pPr>
            <a:r>
              <a:rPr sz="1987"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pic>
        <p:nvPicPr>
          <p:cNvPr id="15" name="Picture 14" descr="image.jpg"/>
          <p:cNvPicPr>
            <a:picLocks noChangeAspect="1"/>
          </p:cNvPicPr>
          <p:nvPr/>
        </p:nvPicPr>
        <p:blipFill>
          <a:blip r:embed="rId5"/>
          <a:stretch>
            <a:fillRect/>
          </a:stretch>
        </p:blipFill>
        <p:spPr>
          <a:xfrm>
            <a:off x="7681055" y="0"/>
            <a:ext cx="4510945"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bleed — the media fills the stage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content sits over the picture.</a:t>
            </a:r>
          </a:p>
        </p:txBody>
      </p:sp>
      <p:sp>
        <p:nvSpPr>
          <p:cNvPr id="6" name="Rounded Rectangle 5"/>
          <p:cNvSpPr/>
          <p:nvPr/>
        </p:nvSpPr>
        <p:spPr>
          <a:xfrm>
            <a:off x="670465" y="2987897"/>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63073" y="3329178"/>
            <a:ext cx="707041" cy="707041"/>
          </a:xfrm>
          <a:prstGeom prst="rect">
            <a:avLst/>
          </a:prstGeom>
        </p:spPr>
      </p:pic>
      <p:sp>
        <p:nvSpPr>
          <p:cNvPr id="8" name="TextBox 7"/>
          <p:cNvSpPr txBox="1"/>
          <p:nvPr/>
        </p:nvSpPr>
        <p:spPr>
          <a:xfrm>
            <a:off x="1877282" y="3319653"/>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1877282" y="3797903"/>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6229064" y="2987897"/>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521672" y="3329178"/>
            <a:ext cx="707041" cy="707041"/>
          </a:xfrm>
          <a:prstGeom prst="rect">
            <a:avLst/>
          </a:prstGeom>
        </p:spPr>
      </p:pic>
      <p:sp>
        <p:nvSpPr>
          <p:cNvPr id="12" name="TextBox 11"/>
          <p:cNvSpPr txBox="1"/>
          <p:nvPr/>
        </p:nvSpPr>
        <p:spPr>
          <a:xfrm>
            <a:off x="7435882" y="3319653"/>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7435882" y="3797903"/>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pic>
        <p:nvPicPr>
          <p:cNvPr id="14" name="Picture 13" descr="image.jp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34187"/>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video: a clip is media — split-right, contained</a:t>
            </a:r>
          </a:p>
        </p:txBody>
      </p:sp>
      <p:sp>
        <p:nvSpPr>
          <p:cNvPr id="3" name="Rounded Rectangle 2"/>
          <p:cNvSpPr/>
          <p:nvPr/>
        </p:nvSpPr>
        <p:spPr>
          <a:xfrm>
            <a:off x="670465" y="1709547"/>
            <a:ext cx="3208592" cy="4372737"/>
          </a:xfrm>
          <a:prstGeom prst="roundRect">
            <a:avLst>
              <a:gd name="adj" fmla="val 759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Picture 3" descr="image.png"/>
          <p:cNvPicPr>
            <a:picLocks noChangeAspect="1"/>
          </p:cNvPicPr>
          <p:nvPr/>
        </p:nvPicPr>
        <p:blipFill>
          <a:blip r:embed="rId2"/>
          <a:stretch>
            <a:fillRect/>
          </a:stretch>
        </p:blipFill>
        <p:spPr>
          <a:xfrm>
            <a:off x="963073" y="2050828"/>
            <a:ext cx="707041" cy="707041"/>
          </a:xfrm>
          <a:prstGeom prst="rect">
            <a:avLst/>
          </a:prstGeom>
        </p:spPr>
      </p:pic>
      <p:sp>
        <p:nvSpPr>
          <p:cNvPr id="5" name="TextBox 4"/>
          <p:cNvSpPr txBox="1"/>
          <p:nvPr/>
        </p:nvSpPr>
        <p:spPr>
          <a:xfrm>
            <a:off x="1877282" y="2041303"/>
            <a:ext cx="1747266"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Autoplays</a:t>
            </a:r>
          </a:p>
        </p:txBody>
      </p:sp>
      <p:sp>
        <p:nvSpPr>
          <p:cNvPr id="6" name="TextBox 5"/>
          <p:cNvSpPr txBox="1"/>
          <p:nvPr/>
        </p:nvSpPr>
        <p:spPr>
          <a:xfrm>
            <a:off x="1877282" y="2519648"/>
            <a:ext cx="1753853" cy="2443639"/>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Reveal starts it when the slide comes up and pauses it on the way out.</a:t>
            </a:r>
          </a:p>
        </p:txBody>
      </p:sp>
      <p:sp>
        <p:nvSpPr>
          <p:cNvPr id="7" name="Rounded Rectangle 6"/>
          <p:cNvSpPr/>
          <p:nvPr/>
        </p:nvSpPr>
        <p:spPr>
          <a:xfrm>
            <a:off x="4147280" y="1709547"/>
            <a:ext cx="1735264" cy="4372737"/>
          </a:xfrm>
          <a:prstGeom prst="roundRect">
            <a:avLst>
              <a:gd name="adj" fmla="val 1405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3"/>
          <a:stretch>
            <a:fillRect/>
          </a:stretch>
        </p:blipFill>
        <p:spPr>
          <a:xfrm>
            <a:off x="4439888" y="2050828"/>
            <a:ext cx="707041" cy="707041"/>
          </a:xfrm>
          <a:prstGeom prst="rect">
            <a:avLst/>
          </a:prstGeom>
        </p:spPr>
      </p:pic>
      <p:sp>
        <p:nvSpPr>
          <p:cNvPr id="9" name="TextBox 8"/>
          <p:cNvSpPr txBox="1"/>
          <p:nvPr/>
        </p:nvSpPr>
        <p:spPr>
          <a:xfrm>
            <a:off x="5354098" y="2041303"/>
            <a:ext cx="555424"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Same frame</a:t>
            </a:r>
          </a:p>
        </p:txBody>
      </p:sp>
      <p:sp>
        <p:nvSpPr>
          <p:cNvPr id="10" name="TextBox 9"/>
          <p:cNvSpPr txBox="1"/>
          <p:nvPr/>
        </p:nvSpPr>
        <p:spPr>
          <a:xfrm>
            <a:off x="5354098" y="2908554"/>
            <a:ext cx="555424"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video takes the box an image would, in every design.</a:t>
            </a:r>
          </a:p>
        </p:txBody>
      </p:sp>
      <p:sp>
        <p:nvSpPr>
          <p:cNvPr id="11" name="Rounded Rectangle 10"/>
          <p:cNvSpPr/>
          <p:nvPr/>
        </p:nvSpPr>
        <p:spPr>
          <a:xfrm>
            <a:off x="6309265" y="1613630"/>
            <a:ext cx="5212270" cy="4634770"/>
          </a:xfrm>
          <a:prstGeom prst="roundRect">
            <a:avLst>
              <a:gd name="adj" fmla="val 368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7391400" y="3073718"/>
            <a:ext cx="3048000" cy="1714500"/>
          </a:xfrm>
          <a:prstGeom prst="roundRect">
            <a:avLst>
              <a:gd name="adj" fmla="val 7111"/>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ounded Rectangle 12"/>
          <p:cNvSpPr/>
          <p:nvPr/>
        </p:nvSpPr>
        <p:spPr>
          <a:xfrm>
            <a:off x="7391400" y="3073718"/>
            <a:ext cx="3048000" cy="1714500"/>
          </a:xfrm>
          <a:prstGeom prst="roundRect">
            <a:avLst>
              <a:gd name="adj" fmla="val 6666"/>
            </a:avLst>
          </a:prstGeom>
          <a:solidFill>
            <a:srgbClr val="1818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34187"/>
            <a:ext cx="6701679"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video: cropped to fill — column-right</a:t>
            </a:r>
          </a:p>
        </p:txBody>
      </p:sp>
      <p:sp>
        <p:nvSpPr>
          <p:cNvPr id="3" name="Rounded Rectangle 2"/>
          <p:cNvSpPr/>
          <p:nvPr/>
        </p:nvSpPr>
        <p:spPr>
          <a:xfrm>
            <a:off x="670465" y="2204276"/>
            <a:ext cx="3562350" cy="3983831"/>
          </a:xfrm>
          <a:prstGeom prst="roundRect">
            <a:avLst>
              <a:gd name="adj" fmla="val 684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Picture 3" descr="image.png"/>
          <p:cNvPicPr>
            <a:picLocks noChangeAspect="1"/>
          </p:cNvPicPr>
          <p:nvPr/>
        </p:nvPicPr>
        <p:blipFill>
          <a:blip r:embed="rId2"/>
          <a:stretch>
            <a:fillRect/>
          </a:stretch>
        </p:blipFill>
        <p:spPr>
          <a:xfrm>
            <a:off x="963073" y="2545556"/>
            <a:ext cx="707041" cy="707041"/>
          </a:xfrm>
          <a:prstGeom prst="rect">
            <a:avLst/>
          </a:prstGeom>
        </p:spPr>
      </p:pic>
      <p:sp>
        <p:nvSpPr>
          <p:cNvPr id="5" name="TextBox 4"/>
          <p:cNvSpPr txBox="1"/>
          <p:nvPr/>
        </p:nvSpPr>
        <p:spPr>
          <a:xfrm>
            <a:off x="1877282" y="2536031"/>
            <a:ext cx="2101024"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Atmosphere</a:t>
            </a:r>
          </a:p>
        </p:txBody>
      </p:sp>
      <p:sp>
        <p:nvSpPr>
          <p:cNvPr id="6" name="TextBox 5"/>
          <p:cNvSpPr txBox="1"/>
          <p:nvPr/>
        </p:nvSpPr>
        <p:spPr>
          <a:xfrm>
            <a:off x="1877282" y="3014377"/>
            <a:ext cx="2112918"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column crops to fill, so nothing in the clip is meant to be read.</a:t>
            </a:r>
          </a:p>
        </p:txBody>
      </p:sp>
      <p:sp>
        <p:nvSpPr>
          <p:cNvPr id="7" name="Rounded Rectangle 6"/>
          <p:cNvSpPr/>
          <p:nvPr/>
        </p:nvSpPr>
        <p:spPr>
          <a:xfrm>
            <a:off x="4501039" y="2204276"/>
            <a:ext cx="2753296" cy="3983831"/>
          </a:xfrm>
          <a:prstGeom prst="roundRect">
            <a:avLst>
              <a:gd name="adj" fmla="val 885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3"/>
          <a:stretch>
            <a:fillRect/>
          </a:stretch>
        </p:blipFill>
        <p:spPr>
          <a:xfrm>
            <a:off x="4793647" y="2545556"/>
            <a:ext cx="707041" cy="707041"/>
          </a:xfrm>
          <a:prstGeom prst="rect">
            <a:avLst/>
          </a:prstGeom>
        </p:spPr>
      </p:pic>
      <p:sp>
        <p:nvSpPr>
          <p:cNvPr id="9" name="TextBox 8"/>
          <p:cNvSpPr txBox="1"/>
          <p:nvPr/>
        </p:nvSpPr>
        <p:spPr>
          <a:xfrm>
            <a:off x="5707856" y="2536031"/>
            <a:ext cx="1432179"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Looping</a:t>
            </a:r>
          </a:p>
        </p:txBody>
      </p:sp>
      <p:sp>
        <p:nvSpPr>
          <p:cNvPr id="10" name="TextBox 9"/>
          <p:cNvSpPr txBox="1"/>
          <p:nvPr/>
        </p:nvSpPr>
        <p:spPr>
          <a:xfrm>
            <a:off x="5707856" y="3014377"/>
            <a:ext cx="1434040"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muted + loop is the shape ambient motion takes: it cycles, quietly.</a:t>
            </a:r>
          </a:p>
        </p:txBody>
      </p:sp>
      <p:sp>
        <p:nvSpPr>
          <p:cNvPr id="11" name="Rounded Rectangle 10"/>
          <p:cNvSpPr/>
          <p:nvPr/>
        </p:nvSpPr>
        <p:spPr>
          <a:xfrm>
            <a:off x="7681055" y="0"/>
            <a:ext cx="4510945" cy="6858000"/>
          </a:xfrm>
          <a:prstGeom prst="roundRect">
            <a:avLst>
              <a:gd name="adj" fmla="val 270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7681055" y="0"/>
            <a:ext cx="4510945" cy="6858000"/>
          </a:xfrm>
          <a:prstGeom prst="roundRect">
            <a:avLst>
              <a:gd name="adj" fmla="val 2533"/>
            </a:avLst>
          </a:prstGeom>
          <a:solidFill>
            <a:srgbClr val="1818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source pins to the bottom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This slide is deliberately short.</a:t>
            </a:r>
          </a:p>
        </p:txBody>
      </p:sp>
      <p:sp>
        <p:nvSpPr>
          <p:cNvPr id="6" name="Rounded Rectangle 5"/>
          <p:cNvSpPr/>
          <p:nvPr/>
        </p:nvSpPr>
        <p:spPr>
          <a:xfrm>
            <a:off x="670465" y="2689479"/>
            <a:ext cx="10848975" cy="1440942"/>
          </a:xfrm>
          <a:prstGeom prst="roundRect">
            <a:avLst>
              <a:gd name="adj" fmla="val 16922"/>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1011746" y="2982087"/>
            <a:ext cx="560832" cy="560832"/>
          </a:xfrm>
          <a:prstGeom prst="rect">
            <a:avLst/>
          </a:prstGeom>
        </p:spPr>
      </p:pic>
      <p:sp>
        <p:nvSpPr>
          <p:cNvPr id="8" name="TextBox 7"/>
          <p:cNvSpPr txBox="1"/>
          <p:nvPr/>
        </p:nvSpPr>
        <p:spPr>
          <a:xfrm>
            <a:off x="1816322" y="3010662"/>
            <a:ext cx="9521411" cy="827151"/>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Chrome, not a remark</a:t>
            </a:r>
            <a:r>
              <a:rPr sz="2496" b="0" i="0" u="none">
                <a:solidFill>
                  <a:srgbClr val="000000"/>
                </a:solidFill>
                <a:latin typeface="Arial"/>
              </a:rPr>
              <a:t> The citation credits the material; it does not comment on it, so it leaves the content flow entirely.</a:t>
            </a:r>
          </a:p>
        </p:txBody>
      </p:sp>
      <p:sp>
        <p:nvSpPr>
          <p:cNvPr id="9" name="Rounded Rectangle 8"/>
          <p:cNvSpPr/>
          <p:nvPr/>
        </p:nvSpPr>
        <p:spPr>
          <a:xfrm>
            <a:off x="670465" y="5301424"/>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5301424"/>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886016" y="5447538"/>
            <a:ext cx="243745" cy="243745"/>
          </a:xfrm>
          <a:prstGeom prst="rect">
            <a:avLst/>
          </a:prstGeom>
        </p:spPr>
      </p:pic>
      <p:sp>
        <p:nvSpPr>
          <p:cNvPr id="12" name="TextBox 11"/>
          <p:cNvSpPr txBox="1"/>
          <p:nvPr/>
        </p:nvSpPr>
        <p:spPr>
          <a:xfrm>
            <a:off x="1251680" y="5442394"/>
            <a:ext cx="486784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takeaway </a:t>
            </a:r>
            <a:r>
              <a:rPr sz="1402" b="0" i="1" u="none">
                <a:solidFill>
                  <a:srgbClr val="1F1E1E"/>
                </a:solidFill>
                <a:latin typeface="Arial"/>
              </a:rPr>
              <a:t>is</a:t>
            </a:r>
            <a:r>
              <a:rPr sz="1402" b="0" i="0" u="none">
                <a:solidFill>
                  <a:srgbClr val="1F1E1E"/>
                </a:solidFill>
                <a:latin typeface="Arial"/>
              </a:rPr>
              <a:t> a remark on the body, so it stays with the body.</a:t>
            </a:r>
          </a:p>
        </p:txBody>
      </p:sp>
      <p:sp>
        <p:nvSpPr>
          <p:cNvPr id="13" name="TextBox 12"/>
          <p:cNvSpPr txBox="1"/>
          <p:nvPr/>
        </p:nvSpPr>
        <p:spPr>
          <a:xfrm>
            <a:off x="670465" y="6027230"/>
            <a:ext cx="5232464"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OMS — Ethics and governance of AI for health</a:t>
            </a:r>
            <a:r>
              <a:rPr sz="1402" b="0" i="0" u="none">
                <a:solidFill>
                  <a:srgbClr val="6E6663"/>
                </a:solidFill>
                <a:latin typeface="Arial"/>
              </a:rPr>
              <a:t> (2024).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a framing band opens the slide</a:t>
            </a:r>
          </a:p>
        </p:txBody>
      </p:sp>
      <p:sp>
        <p:nvSpPr>
          <p:cNvPr id="5" name="Rounded Rectangle 4"/>
          <p:cNvSpPr/>
          <p:nvPr/>
        </p:nvSpPr>
        <p:spPr>
          <a:xfrm>
            <a:off x="670465" y="2406396"/>
            <a:ext cx="10848975"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406396"/>
            <a:ext cx="57150" cy="511778"/>
          </a:xfrm>
          <a:prstGeom prst="rect">
            <a:avLst/>
          </a:prstGeom>
          <a:solidFill>
            <a:srgbClr val="8A7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2552510"/>
            <a:ext cx="243745" cy="243745"/>
          </a:xfrm>
          <a:prstGeom prst="rect">
            <a:avLst/>
          </a:prstGeom>
        </p:spPr>
      </p:pic>
      <p:sp>
        <p:nvSpPr>
          <p:cNvPr id="8" name="TextBox 7"/>
          <p:cNvSpPr txBox="1"/>
          <p:nvPr/>
        </p:nvSpPr>
        <p:spPr>
          <a:xfrm>
            <a:off x="1251680" y="2547366"/>
            <a:ext cx="5823680"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1" u="none">
                <a:solidFill>
                  <a:srgbClr val="1F1E1E"/>
                </a:solidFill>
                <a:latin typeface="Arial"/>
              </a:rPr>
              <a:t>Anthropic</a:t>
            </a:r>
            <a:r>
              <a:rPr sz="1402" b="0" i="1" u="none">
                <a:solidFill>
                  <a:srgbClr val="1F1E1E"/>
                </a:solidFill>
                <a:latin typeface="Arial"/>
              </a:rPr>
              <a:t>: Menos una sesión de chat, más asignarle tareas a un colega.</a:t>
            </a:r>
          </a:p>
        </p:txBody>
      </p:sp>
      <p:sp>
        <p:nvSpPr>
          <p:cNvPr id="9" name="Rounded Rectangle 8"/>
          <p:cNvSpPr/>
          <p:nvPr/>
        </p:nvSpPr>
        <p:spPr>
          <a:xfrm>
            <a:off x="670465" y="3283934"/>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963073" y="3625120"/>
            <a:ext cx="707041" cy="707041"/>
          </a:xfrm>
          <a:prstGeom prst="rect">
            <a:avLst/>
          </a:prstGeom>
        </p:spPr>
      </p:pic>
      <p:sp>
        <p:nvSpPr>
          <p:cNvPr id="11" name="TextBox 10"/>
          <p:cNvSpPr txBox="1"/>
          <p:nvPr/>
        </p:nvSpPr>
        <p:spPr>
          <a:xfrm>
            <a:off x="1877282" y="3615595"/>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Frames, not remarks</a:t>
            </a:r>
          </a:p>
        </p:txBody>
      </p:sp>
      <p:sp>
        <p:nvSpPr>
          <p:cNvPr id="12" name="TextBox 11"/>
          <p:cNvSpPr txBox="1"/>
          <p:nvPr/>
        </p:nvSpPr>
        <p:spPr>
          <a:xfrm>
            <a:off x="1877282" y="4093940"/>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band sets up the cards instead of summarizing them.</a:t>
            </a:r>
          </a:p>
        </p:txBody>
      </p:sp>
      <p:sp>
        <p:nvSpPr>
          <p:cNvPr id="13" name="Rounded Rectangle 12"/>
          <p:cNvSpPr/>
          <p:nvPr/>
        </p:nvSpPr>
        <p:spPr>
          <a:xfrm>
            <a:off x="6229064" y="3283934"/>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6521672" y="3625120"/>
            <a:ext cx="707041" cy="707041"/>
          </a:xfrm>
          <a:prstGeom prst="rect">
            <a:avLst/>
          </a:prstGeom>
        </p:spPr>
      </p:pic>
      <p:sp>
        <p:nvSpPr>
          <p:cNvPr id="15" name="TextBox 14"/>
          <p:cNvSpPr txBox="1"/>
          <p:nvPr/>
        </p:nvSpPr>
        <p:spPr>
          <a:xfrm>
            <a:off x="7435882" y="3615595"/>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No fragment</a:t>
            </a:r>
          </a:p>
        </p:txBody>
      </p:sp>
      <p:sp>
        <p:nvSpPr>
          <p:cNvPr id="16" name="TextBox 15"/>
          <p:cNvSpPr txBox="1"/>
          <p:nvPr/>
        </p:nvSpPr>
        <p:spPr>
          <a:xfrm>
            <a:off x="7435882" y="4093940"/>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It is on screen from the moment the slide opens.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a slide can carry both bands</a:t>
            </a:r>
          </a:p>
        </p:txBody>
      </p:sp>
      <p:sp>
        <p:nvSpPr>
          <p:cNvPr id="5" name="Rounded Rectangle 4"/>
          <p:cNvSpPr/>
          <p:nvPr/>
        </p:nvSpPr>
        <p:spPr>
          <a:xfrm>
            <a:off x="670465" y="1775555"/>
            <a:ext cx="10849546" cy="420338"/>
          </a:xfrm>
          <a:prstGeom prst="roundRect">
            <a:avLst>
              <a:gd name="adj" fmla="val 2320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1775555"/>
            <a:ext cx="57150" cy="420338"/>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47439" y="1895570"/>
            <a:ext cx="200216" cy="200216"/>
          </a:xfrm>
          <a:prstGeom prst="rect">
            <a:avLst/>
          </a:prstGeom>
        </p:spPr>
      </p:pic>
      <p:sp>
        <p:nvSpPr>
          <p:cNvPr id="8" name="TextBox 7"/>
          <p:cNvSpPr txBox="1"/>
          <p:nvPr/>
        </p:nvSpPr>
        <p:spPr>
          <a:xfrm>
            <a:off x="1147762" y="1891189"/>
            <a:ext cx="5235988" cy="164306"/>
          </a:xfrm>
          <a:prstGeom prst="rect">
            <a:avLst/>
          </a:prstGeom>
          <a:noFill/>
        </p:spPr>
        <p:txBody>
          <a:bodyPr wrap="none" anchor="ctr" lIns="0" tIns="0" rIns="0" bIns="0">
            <a:noAutofit/>
          </a:bodyPr>
          <a:lstStyle/>
          <a:p>
            <a:pPr algn="l">
              <a:lnSpc>
                <a:spcPts val="1552"/>
              </a:lnSpc>
              <a:spcBef>
                <a:spcPts val="0"/>
              </a:spcBef>
              <a:spcAft>
                <a:spcPts val="0"/>
              </a:spcAft>
            </a:pPr>
            <a:r>
              <a:rPr sz="1149" b="1" i="0" u="none">
                <a:solidFill>
                  <a:srgbClr val="1F1E1E"/>
                </a:solidFill>
                <a:latin typeface="Arial"/>
              </a:rPr>
              <a:t>Composición</a:t>
            </a:r>
            <a:r>
              <a:rPr sz="1149" b="0" i="0" u="none">
                <a:solidFill>
                  <a:srgbClr val="1F1E1E"/>
                </a:solidFill>
                <a:latin typeface="Arial"/>
              </a:rPr>
              <a:t>: los campos que valen para cualquier template, no para uno solo.</a:t>
            </a:r>
          </a:p>
        </p:txBody>
      </p:sp>
      <p:sp>
        <p:nvSpPr>
          <p:cNvPr id="9" name="Rounded Rectangle 8"/>
          <p:cNvSpPr/>
          <p:nvPr/>
        </p:nvSpPr>
        <p:spPr>
          <a:xfrm>
            <a:off x="670465" y="2496122"/>
            <a:ext cx="5314664" cy="1515237"/>
          </a:xfrm>
          <a:prstGeom prst="roundRect">
            <a:avLst>
              <a:gd name="adj" fmla="val 160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910780" y="2776347"/>
            <a:ext cx="580644" cy="580644"/>
          </a:xfrm>
          <a:prstGeom prst="rect">
            <a:avLst/>
          </a:prstGeom>
        </p:spPr>
      </p:pic>
      <p:sp>
        <p:nvSpPr>
          <p:cNvPr id="11" name="TextBox 10"/>
          <p:cNvSpPr txBox="1"/>
          <p:nvPr/>
        </p:nvSpPr>
        <p:spPr>
          <a:xfrm>
            <a:off x="1661541" y="2768537"/>
            <a:ext cx="4121372"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Grouped by position</a:t>
            </a:r>
          </a:p>
        </p:txBody>
      </p:sp>
      <p:sp>
        <p:nvSpPr>
          <p:cNvPr id="12" name="TextBox 11"/>
          <p:cNvSpPr txBox="1"/>
          <p:nvPr/>
        </p:nvSpPr>
        <p:spPr>
          <a:xfrm>
            <a:off x="1661541" y="3161348"/>
            <a:ext cx="4163571" cy="543020"/>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Every top entry lands above, every bottom entry below.</a:t>
            </a:r>
          </a:p>
        </p:txBody>
      </p:sp>
      <p:sp>
        <p:nvSpPr>
          <p:cNvPr id="13" name="Rounded Rectangle 12"/>
          <p:cNvSpPr/>
          <p:nvPr/>
        </p:nvSpPr>
        <p:spPr>
          <a:xfrm>
            <a:off x="6205347" y="2496122"/>
            <a:ext cx="5314664" cy="1515237"/>
          </a:xfrm>
          <a:prstGeom prst="roundRect">
            <a:avLst>
              <a:gd name="adj" fmla="val 160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6445663" y="2776347"/>
            <a:ext cx="580644" cy="580644"/>
          </a:xfrm>
          <a:prstGeom prst="rect">
            <a:avLst/>
          </a:prstGeom>
        </p:spPr>
      </p:pic>
      <p:sp>
        <p:nvSpPr>
          <p:cNvPr id="15" name="TextBox 14"/>
          <p:cNvSpPr txBox="1"/>
          <p:nvPr/>
        </p:nvSpPr>
        <p:spPr>
          <a:xfrm>
            <a:off x="7196423" y="2768537"/>
            <a:ext cx="4121372"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Same component</a:t>
            </a:r>
          </a:p>
        </p:txBody>
      </p:sp>
      <p:sp>
        <p:nvSpPr>
          <p:cNvPr id="16" name="TextBox 15"/>
          <p:cNvSpPr txBox="1"/>
          <p:nvPr/>
        </p:nvSpPr>
        <p:spPr>
          <a:xfrm>
            <a:off x="7196423" y="3161348"/>
            <a:ext cx="4163571" cy="543020"/>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Identical classes, colours and icons in both bands.</a:t>
            </a:r>
          </a:p>
        </p:txBody>
      </p:sp>
      <p:sp>
        <p:nvSpPr>
          <p:cNvPr id="17" name="Rounded Rectangle 16"/>
          <p:cNvSpPr/>
          <p:nvPr/>
        </p:nvSpPr>
        <p:spPr>
          <a:xfrm>
            <a:off x="670465" y="4231576"/>
            <a:ext cx="10849546" cy="1212437"/>
          </a:xfrm>
          <a:prstGeom prst="roundRect">
            <a:avLst>
              <a:gd name="adj" fmla="val 2011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910780" y="4511802"/>
            <a:ext cx="580644" cy="580644"/>
          </a:xfrm>
          <a:prstGeom prst="rect">
            <a:avLst/>
          </a:prstGeom>
        </p:spPr>
      </p:pic>
      <p:sp>
        <p:nvSpPr>
          <p:cNvPr id="19" name="TextBox 18"/>
          <p:cNvSpPr txBox="1"/>
          <p:nvPr/>
        </p:nvSpPr>
        <p:spPr>
          <a:xfrm>
            <a:off x="1661541" y="4503992"/>
            <a:ext cx="9656254"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Reveal differs</a:t>
            </a:r>
          </a:p>
        </p:txBody>
      </p:sp>
      <p:sp>
        <p:nvSpPr>
          <p:cNvPr id="20" name="TextBox 19"/>
          <p:cNvSpPr txBox="1"/>
          <p:nvPr/>
        </p:nvSpPr>
        <p:spPr>
          <a:xfrm>
            <a:off x="1661541" y="4896898"/>
            <a:ext cx="9656254" cy="250317"/>
          </a:xfrm>
          <a:prstGeom prst="rect">
            <a:avLst/>
          </a:prstGeom>
          <a:noFill/>
        </p:spPr>
        <p:txBody>
          <a:bodyPr wrap="none" anchor="ctr" lIns="0" tIns="0" rIns="0" bIns="0">
            <a:noAutofit/>
          </a:bodyPr>
          <a:lstStyle/>
          <a:p>
            <a:pPr algn="l">
              <a:lnSpc>
                <a:spcPts val="2303"/>
              </a:lnSpc>
              <a:spcBef>
                <a:spcPts val="0"/>
              </a:spcBef>
              <a:spcAft>
                <a:spcPts val="0"/>
              </a:spcAft>
            </a:pPr>
            <a:r>
              <a:rPr sz="1771" b="0" i="0" u="none">
                <a:solidFill>
                  <a:srgbClr val="3B3535"/>
                </a:solidFill>
                <a:latin typeface="Arial"/>
              </a:rPr>
              <a:t>Only the closing band waits for the last click.</a:t>
            </a:r>
          </a:p>
        </p:txBody>
      </p:sp>
      <p:sp>
        <p:nvSpPr>
          <p:cNvPr id="21" name="Rounded Rectangle 20"/>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6"/>
          <a:stretch>
            <a:fillRect/>
          </a:stretch>
        </p:blipFill>
        <p:spPr>
          <a:xfrm>
            <a:off x="886016" y="5882735"/>
            <a:ext cx="243745" cy="243745"/>
          </a:xfrm>
          <a:prstGeom prst="rect">
            <a:avLst/>
          </a:prstGeom>
        </p:spPr>
      </p:pic>
      <p:sp>
        <p:nvSpPr>
          <p:cNvPr id="24" name="TextBox 23"/>
          <p:cNvSpPr txBox="1"/>
          <p:nvPr/>
        </p:nvSpPr>
        <p:spPr>
          <a:xfrm>
            <a:off x="1251680" y="5877496"/>
            <a:ext cx="685904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Two bands</a:t>
            </a:r>
            <a:r>
              <a:rPr sz="1402" b="0" i="0" u="none">
                <a:solidFill>
                  <a:srgbClr val="1F1E1E"/>
                </a:solidFill>
                <a:latin typeface="Arial"/>
              </a:rPr>
              <a:t>: the framing line opens the slide, the takeaway closes it — one band each.</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Closing</a:t>
            </a:r>
          </a:p>
        </p:txBody>
      </p:sp>
      <p:sp>
        <p:nvSpPr>
          <p:cNvPr id="16" name="TextBox 15"/>
          <p:cNvSpPr txBox="1"/>
          <p:nvPr/>
        </p:nvSpPr>
        <p:spPr>
          <a:xfrm>
            <a:off x="9965531" y="1956816"/>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06</a:t>
            </a:r>
          </a:p>
        </p:txBody>
      </p:sp>
      <p:sp>
        <p:nvSpPr>
          <p:cNvPr id="17" name="TextBox 16"/>
          <p:cNvSpPr txBox="1"/>
          <p:nvPr/>
        </p:nvSpPr>
        <p:spPr>
          <a:xfrm>
            <a:off x="8658416" y="3453574"/>
            <a:ext cx="2925117"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Interactive (quiz)</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a:t>
            </a:r>
          </a:p>
        </p:txBody>
      </p:sp>
      <p:sp>
        <p:nvSpPr>
          <p:cNvPr id="5" name="TextBox 4"/>
          <p:cNvSpPr txBox="1"/>
          <p:nvPr/>
        </p:nvSpPr>
        <p:spPr>
          <a:xfrm>
            <a:off x="670465" y="1776222"/>
            <a:ext cx="6281126" cy="1167860"/>
          </a:xfrm>
          <a:prstGeom prst="rect">
            <a:avLst/>
          </a:prstGeom>
          <a:noFill/>
        </p:spPr>
        <p:txBody>
          <a:bodyPr wrap="square" anchor="ctr" lIns="0" tIns="0" rIns="0" bIns="0">
            <a:noAutofit/>
          </a:bodyPr>
          <a:lstStyle/>
          <a:p>
            <a:pPr algn="l">
              <a:lnSpc>
                <a:spcPts val="2476"/>
              </a:lnSpc>
              <a:spcBef>
                <a:spcPts val="0"/>
              </a:spcBef>
              <a:spcAft>
                <a:spcPts val="0"/>
              </a:spcAft>
            </a:pPr>
            <a:r>
              <a:rPr sz="2134" b="1" i="0" u="none">
                <a:solidFill>
                  <a:srgbClr val="1F1E1E"/>
                </a:solidFill>
                <a:latin typeface="Arial"/>
              </a:rPr>
              <a:t>In a Talksmith quiz slide, when does the answer appear?</a:t>
            </a:r>
          </a:p>
        </p:txBody>
      </p:sp>
      <p:sp>
        <p:nvSpPr>
          <p:cNvPr id="6" name="Rounded Rectangle 5"/>
          <p:cNvSpPr/>
          <p:nvPr/>
        </p:nvSpPr>
        <p:spPr>
          <a:xfrm>
            <a:off x="670465" y="2610517"/>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889921" y="2691003"/>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889921" y="2691003"/>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A</a:t>
            </a:r>
          </a:p>
        </p:txBody>
      </p:sp>
      <p:sp>
        <p:nvSpPr>
          <p:cNvPr id="9" name="TextBox 8"/>
          <p:cNvSpPr txBox="1"/>
          <p:nvPr/>
        </p:nvSpPr>
        <p:spPr>
          <a:xfrm>
            <a:off x="1165955" y="2730627"/>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Immediately, with the question</a:t>
            </a:r>
          </a:p>
        </p:txBody>
      </p:sp>
      <p:sp>
        <p:nvSpPr>
          <p:cNvPr id="10" name="Rounded Rectangle 9"/>
          <p:cNvSpPr/>
          <p:nvPr/>
        </p:nvSpPr>
        <p:spPr>
          <a:xfrm>
            <a:off x="670465" y="3151251"/>
            <a:ext cx="6169533" cy="437007"/>
          </a:xfrm>
          <a:prstGeom prst="roundRect">
            <a:avLst>
              <a:gd name="adj" fmla="val 44638"/>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889921" y="3231737"/>
            <a:ext cx="276034" cy="276034"/>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889921" y="3231737"/>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FFFFFF"/>
                </a:solidFill>
                <a:latin typeface="Arial"/>
              </a:rPr>
              <a:t>B</a:t>
            </a:r>
          </a:p>
        </p:txBody>
      </p:sp>
      <p:sp>
        <p:nvSpPr>
          <p:cNvPr id="13" name="TextBox 12"/>
          <p:cNvSpPr txBox="1"/>
          <p:nvPr/>
        </p:nvSpPr>
        <p:spPr>
          <a:xfrm>
            <a:off x="1165955" y="3271361"/>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1F1E1E"/>
                </a:solidFill>
                <a:latin typeface="Arial"/>
              </a:rPr>
              <a:t>On the next navigation (Reveal fragment)</a:t>
            </a:r>
          </a:p>
        </p:txBody>
      </p:sp>
      <p:sp>
        <p:nvSpPr>
          <p:cNvPr id="14" name="TextBox 13"/>
          <p:cNvSpPr txBox="1"/>
          <p:nvPr/>
        </p:nvSpPr>
        <p:spPr>
          <a:xfrm>
            <a:off x="4476274" y="3112770"/>
            <a:ext cx="280416" cy="316992"/>
          </a:xfrm>
          <a:prstGeom prst="rect">
            <a:avLst/>
          </a:prstGeom>
          <a:noFill/>
        </p:spPr>
        <p:txBody>
          <a:bodyPr wrap="none" anchor="ctr" lIns="0" tIns="0" rIns="0" bIns="0">
            <a:noAutofit/>
          </a:bodyPr>
          <a:lstStyle/>
          <a:p>
            <a:pPr algn="ctr">
              <a:lnSpc>
                <a:spcPts val="1423"/>
              </a:lnSpc>
              <a:spcBef>
                <a:spcPts val="0"/>
              </a:spcBef>
              <a:spcAft>
                <a:spcPts val="0"/>
              </a:spcAft>
            </a:pPr>
            <a:r>
              <a:rPr sz="1423" b="1" i="0" u="none">
                <a:solidFill>
                  <a:srgbClr val="DA1B2E"/>
                </a:solidFill>
                <a:latin typeface="Arial"/>
              </a:rPr>
              <a:t>✓</a:t>
            </a:r>
          </a:p>
        </p:txBody>
      </p:sp>
      <p:sp>
        <p:nvSpPr>
          <p:cNvPr id="15" name="Rounded Rectangle 14"/>
          <p:cNvSpPr/>
          <p:nvPr/>
        </p:nvSpPr>
        <p:spPr>
          <a:xfrm>
            <a:off x="670465" y="3692080"/>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889921" y="3772567"/>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9921" y="3772567"/>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C</a:t>
            </a:r>
          </a:p>
        </p:txBody>
      </p:sp>
      <p:sp>
        <p:nvSpPr>
          <p:cNvPr id="18" name="TextBox 17"/>
          <p:cNvSpPr txBox="1"/>
          <p:nvPr/>
        </p:nvSpPr>
        <p:spPr>
          <a:xfrm>
            <a:off x="1165955" y="3812096"/>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Only in the PDF export</a:t>
            </a:r>
          </a:p>
        </p:txBody>
      </p:sp>
      <p:sp>
        <p:nvSpPr>
          <p:cNvPr id="19" name="Rounded Rectangle 18"/>
          <p:cNvSpPr/>
          <p:nvPr/>
        </p:nvSpPr>
        <p:spPr>
          <a:xfrm>
            <a:off x="670465" y="4232815"/>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889921" y="4313301"/>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889921" y="4313301"/>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D</a:t>
            </a:r>
          </a:p>
        </p:txBody>
      </p:sp>
      <p:sp>
        <p:nvSpPr>
          <p:cNvPr id="22" name="TextBox 21"/>
          <p:cNvSpPr txBox="1"/>
          <p:nvPr/>
        </p:nvSpPr>
        <p:spPr>
          <a:xfrm>
            <a:off x="1165955" y="4352925"/>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Never — it's decorative</a:t>
            </a:r>
          </a:p>
        </p:txBody>
      </p:sp>
      <p:sp>
        <p:nvSpPr>
          <p:cNvPr id="23" name="Rounded Rectangle 22"/>
          <p:cNvSpPr/>
          <p:nvPr/>
        </p:nvSpPr>
        <p:spPr>
          <a:xfrm>
            <a:off x="670465" y="4877467"/>
            <a:ext cx="6169533" cy="1370743"/>
          </a:xfrm>
          <a:prstGeom prst="roundRect">
            <a:avLst>
              <a:gd name="adj" fmla="val 17788"/>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670465" y="4877467"/>
            <a:ext cx="104775" cy="1370743"/>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5" name="Picture 24" descr="image.png"/>
          <p:cNvPicPr>
            <a:picLocks noChangeAspect="1"/>
          </p:cNvPicPr>
          <p:nvPr/>
        </p:nvPicPr>
        <p:blipFill>
          <a:blip r:embed="rId2"/>
          <a:stretch>
            <a:fillRect/>
          </a:stretch>
        </p:blipFill>
        <p:spPr>
          <a:xfrm>
            <a:off x="923830" y="5043678"/>
            <a:ext cx="179927" cy="179927"/>
          </a:xfrm>
          <a:prstGeom prst="rect">
            <a:avLst/>
          </a:prstGeom>
        </p:spPr>
      </p:pic>
      <p:sp>
        <p:nvSpPr>
          <p:cNvPr id="26" name="TextBox 25"/>
          <p:cNvSpPr txBox="1"/>
          <p:nvPr/>
        </p:nvSpPr>
        <p:spPr>
          <a:xfrm>
            <a:off x="1173004" y="5057013"/>
            <a:ext cx="701897" cy="146114"/>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27" name="TextBox 26"/>
          <p:cNvSpPr txBox="1"/>
          <p:nvPr/>
        </p:nvSpPr>
        <p:spPr>
          <a:xfrm>
            <a:off x="923830" y="5312188"/>
            <a:ext cx="5829443" cy="643509"/>
          </a:xfrm>
          <a:prstGeom prst="rect">
            <a:avLst/>
          </a:prstGeom>
          <a:noFill/>
        </p:spPr>
        <p:txBody>
          <a:bodyPr wrap="square" anchor="ctr" lIns="0" tIns="0" rIns="0" bIns="0">
            <a:noAutofit/>
          </a:bodyPr>
          <a:lstStyle/>
          <a:p>
            <a:pPr algn="l">
              <a:lnSpc>
                <a:spcPts val="1839"/>
              </a:lnSpc>
              <a:spcBef>
                <a:spcPts val="0"/>
              </a:spcBef>
              <a:spcAft>
                <a:spcPts val="0"/>
              </a:spcAft>
            </a:pPr>
            <a:r>
              <a:rPr sz="1532" b="1" i="0" u="none">
                <a:solidFill>
                  <a:srgbClr val="1F1E1E"/>
                </a:solidFill>
                <a:latin typeface="Arial"/>
              </a:rPr>
              <a:t>On next-nav — the question shows first so the audience can think, then the answer fades up.</a:t>
            </a:r>
          </a:p>
        </p:txBody>
      </p:sp>
      <p:sp>
        <p:nvSpPr>
          <p:cNvPr id="28" name="TextBox 27"/>
          <p:cNvSpPr txBox="1"/>
          <p:nvPr/>
        </p:nvSpPr>
        <p:spPr>
          <a:xfrm>
            <a:off x="923830" y="5890546"/>
            <a:ext cx="5762625" cy="167735"/>
          </a:xfrm>
          <a:prstGeom prst="rect">
            <a:avLst/>
          </a:prstGeom>
          <a:noFill/>
        </p:spPr>
        <p:txBody>
          <a:bodyPr wrap="none" anchor="ctr" lIns="0" tIns="0" rIns="0" bIns="0">
            <a:noAutofit/>
          </a:bodyPr>
          <a:lstStyle/>
          <a:p>
            <a:pPr algn="l">
              <a:lnSpc>
                <a:spcPts val="1685"/>
              </a:lnSpc>
              <a:spcBef>
                <a:spcPts val="0"/>
              </a:spcBef>
              <a:spcAft>
                <a:spcPts val="0"/>
              </a:spcAft>
            </a:pPr>
            <a:r>
              <a:rPr sz="1204" b="0" i="0" u="none">
                <a:solidFill>
                  <a:srgbClr val="1F1E1E"/>
                </a:solidFill>
                <a:latin typeface="Arial"/>
              </a:rPr>
              <a:t>The correct choice highlights in sync; space is reserved so the question never jumps.</a:t>
            </a:r>
          </a:p>
        </p:txBody>
      </p:sp>
      <p:sp>
        <p:nvSpPr>
          <p:cNvPr id="29" name="Rounded Rectangle 28"/>
          <p:cNvSpPr/>
          <p:nvPr/>
        </p:nvSpPr>
        <p:spPr>
          <a:xfrm>
            <a:off x="7266718"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0" name="Picture 29" descr="image.png"/>
          <p:cNvPicPr>
            <a:picLocks noChangeAspect="1"/>
          </p:cNvPicPr>
          <p:nvPr/>
        </p:nvPicPr>
        <p:blipFill>
          <a:blip r:embed="rId3"/>
          <a:stretch>
            <a:fillRect/>
          </a:stretch>
        </p:blipFill>
        <p:spPr>
          <a:xfrm>
            <a:off x="7723918" y="1785080"/>
            <a:ext cx="3340322" cy="4453795"/>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 with a supporting image</a:t>
            </a:r>
          </a:p>
        </p:txBody>
      </p:sp>
      <p:sp>
        <p:nvSpPr>
          <p:cNvPr id="5" name="TextBox 4"/>
          <p:cNvSpPr txBox="1"/>
          <p:nvPr/>
        </p:nvSpPr>
        <p:spPr>
          <a:xfrm>
            <a:off x="670465" y="1775555"/>
            <a:ext cx="6207633" cy="354806"/>
          </a:xfrm>
          <a:prstGeom prst="rect">
            <a:avLst/>
          </a:prstGeom>
          <a:noFill/>
        </p:spPr>
        <p:txBody>
          <a:bodyPr wrap="none" anchor="ctr" lIns="0" tIns="0" rIns="0" bIns="0">
            <a:noAutofit/>
          </a:bodyPr>
          <a:lstStyle/>
          <a:p>
            <a:pPr algn="l">
              <a:lnSpc>
                <a:spcPts val="2910"/>
              </a:lnSpc>
              <a:spcBef>
                <a:spcPts val="0"/>
              </a:spcBef>
              <a:spcAft>
                <a:spcPts val="0"/>
              </a:spcAft>
            </a:pPr>
            <a:r>
              <a:rPr sz="2508" b="1" i="0" u="none">
                <a:solidFill>
                  <a:srgbClr val="1F1E1E"/>
                </a:solidFill>
                <a:latin typeface="Arial"/>
              </a:rPr>
              <a:t>Where does a quiz slide put its image?</a:t>
            </a:r>
          </a:p>
        </p:txBody>
      </p:sp>
      <p:sp>
        <p:nvSpPr>
          <p:cNvPr id="6" name="Rounded Rectangle 5"/>
          <p:cNvSpPr/>
          <p:nvPr/>
        </p:nvSpPr>
        <p:spPr>
          <a:xfrm>
            <a:off x="670465" y="2385632"/>
            <a:ext cx="6169533" cy="511683"/>
          </a:xfrm>
          <a:prstGeom prst="roundRect">
            <a:avLst>
              <a:gd name="adj" fmla="val 38123"/>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889921" y="2461165"/>
            <a:ext cx="360807" cy="360807"/>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889921" y="2461165"/>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1F1E1E"/>
                </a:solidFill>
                <a:latin typeface="Arial"/>
              </a:rPr>
              <a:t>A</a:t>
            </a:r>
          </a:p>
        </p:txBody>
      </p:sp>
      <p:sp>
        <p:nvSpPr>
          <p:cNvPr id="9" name="TextBox 8"/>
          <p:cNvSpPr txBox="1"/>
          <p:nvPr/>
        </p:nvSpPr>
        <p:spPr>
          <a:xfrm>
            <a:off x="1250728" y="2526221"/>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3B3535"/>
                </a:solidFill>
                <a:latin typeface="Arial"/>
              </a:rPr>
              <a:t>Cropped as a full-bleed background</a:t>
            </a:r>
          </a:p>
        </p:txBody>
      </p:sp>
      <p:sp>
        <p:nvSpPr>
          <p:cNvPr id="10" name="Rounded Rectangle 9"/>
          <p:cNvSpPr/>
          <p:nvPr/>
        </p:nvSpPr>
        <p:spPr>
          <a:xfrm>
            <a:off x="670465" y="3018949"/>
            <a:ext cx="6169533" cy="511683"/>
          </a:xfrm>
          <a:prstGeom prst="roundRect">
            <a:avLst>
              <a:gd name="adj" fmla="val 38123"/>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889921" y="3094482"/>
            <a:ext cx="360807" cy="360807"/>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889921" y="3094482"/>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FFFFFF"/>
                </a:solidFill>
                <a:latin typeface="Arial"/>
              </a:rPr>
              <a:t>B</a:t>
            </a:r>
          </a:p>
        </p:txBody>
      </p:sp>
      <p:sp>
        <p:nvSpPr>
          <p:cNvPr id="13" name="TextBox 12"/>
          <p:cNvSpPr txBox="1"/>
          <p:nvPr/>
        </p:nvSpPr>
        <p:spPr>
          <a:xfrm>
            <a:off x="1250728" y="3159538"/>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1F1E1E"/>
                </a:solidFill>
                <a:latin typeface="Arial"/>
              </a:rPr>
              <a:t>Beside the quiz, never cropped</a:t>
            </a:r>
          </a:p>
        </p:txBody>
      </p:sp>
      <p:sp>
        <p:nvSpPr>
          <p:cNvPr id="14" name="TextBox 13"/>
          <p:cNvSpPr txBox="1"/>
          <p:nvPr/>
        </p:nvSpPr>
        <p:spPr>
          <a:xfrm>
            <a:off x="4271486" y="3055144"/>
            <a:ext cx="280416" cy="316992"/>
          </a:xfrm>
          <a:prstGeom prst="rect">
            <a:avLst/>
          </a:prstGeom>
          <a:noFill/>
        </p:spPr>
        <p:txBody>
          <a:bodyPr wrap="none" anchor="ctr" lIns="0" tIns="0" rIns="0" bIns="0">
            <a:noAutofit/>
          </a:bodyPr>
          <a:lstStyle/>
          <a:p>
            <a:pPr algn="ctr">
              <a:lnSpc>
                <a:spcPts val="1672"/>
              </a:lnSpc>
              <a:spcBef>
                <a:spcPts val="0"/>
              </a:spcBef>
              <a:spcAft>
                <a:spcPts val="0"/>
              </a:spcAft>
            </a:pPr>
            <a:r>
              <a:rPr sz="1672" b="1" i="0" u="none">
                <a:solidFill>
                  <a:srgbClr val="DA1B2E"/>
                </a:solidFill>
                <a:latin typeface="Arial"/>
              </a:rPr>
              <a:t>✓</a:t>
            </a:r>
          </a:p>
        </p:txBody>
      </p:sp>
      <p:sp>
        <p:nvSpPr>
          <p:cNvPr id="15" name="Rounded Rectangle 14"/>
          <p:cNvSpPr/>
          <p:nvPr/>
        </p:nvSpPr>
        <p:spPr>
          <a:xfrm>
            <a:off x="670465" y="3652266"/>
            <a:ext cx="6169533" cy="511683"/>
          </a:xfrm>
          <a:prstGeom prst="roundRect">
            <a:avLst>
              <a:gd name="adj" fmla="val 38123"/>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889921" y="3727704"/>
            <a:ext cx="360807" cy="360807"/>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9921" y="3727704"/>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1F1E1E"/>
                </a:solidFill>
                <a:latin typeface="Arial"/>
              </a:rPr>
              <a:t>C</a:t>
            </a:r>
          </a:p>
        </p:txBody>
      </p:sp>
      <p:sp>
        <p:nvSpPr>
          <p:cNvPr id="18" name="TextBox 17"/>
          <p:cNvSpPr txBox="1"/>
          <p:nvPr/>
        </p:nvSpPr>
        <p:spPr>
          <a:xfrm>
            <a:off x="1250728" y="3792855"/>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3B3535"/>
                </a:solidFill>
                <a:latin typeface="Arial"/>
              </a:rPr>
              <a:t>Only in the speaker notes</a:t>
            </a:r>
          </a:p>
        </p:txBody>
      </p:sp>
      <p:sp>
        <p:nvSpPr>
          <p:cNvPr id="19" name="Rounded Rectangle 18"/>
          <p:cNvSpPr/>
          <p:nvPr/>
        </p:nvSpPr>
        <p:spPr>
          <a:xfrm>
            <a:off x="670465" y="4407218"/>
            <a:ext cx="6169533" cy="1841182"/>
          </a:xfrm>
          <a:prstGeom prst="roundRect">
            <a:avLst>
              <a:gd name="adj" fmla="val 13243"/>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670465" y="4407218"/>
            <a:ext cx="104775" cy="1841182"/>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1" name="Picture 20" descr="image.png"/>
          <p:cNvPicPr>
            <a:picLocks noChangeAspect="1"/>
          </p:cNvPicPr>
          <p:nvPr/>
        </p:nvPicPr>
        <p:blipFill>
          <a:blip r:embed="rId2"/>
          <a:stretch>
            <a:fillRect/>
          </a:stretch>
        </p:blipFill>
        <p:spPr>
          <a:xfrm>
            <a:off x="967169" y="4601908"/>
            <a:ext cx="210788" cy="210788"/>
          </a:xfrm>
          <a:prstGeom prst="rect">
            <a:avLst/>
          </a:prstGeom>
        </p:spPr>
      </p:pic>
      <p:sp>
        <p:nvSpPr>
          <p:cNvPr id="22" name="TextBox 21"/>
          <p:cNvSpPr txBox="1"/>
          <p:nvPr/>
        </p:nvSpPr>
        <p:spPr>
          <a:xfrm>
            <a:off x="1259014" y="4617530"/>
            <a:ext cx="815435" cy="171069"/>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23" name="TextBox 22"/>
          <p:cNvSpPr txBox="1"/>
          <p:nvPr/>
        </p:nvSpPr>
        <p:spPr>
          <a:xfrm>
            <a:off x="967169" y="4916329"/>
            <a:ext cx="5752583" cy="935546"/>
          </a:xfrm>
          <a:prstGeom prst="rect">
            <a:avLst/>
          </a:prstGeom>
          <a:noFill/>
        </p:spPr>
        <p:txBody>
          <a:bodyPr wrap="square" anchor="ctr" lIns="0" tIns="0" rIns="0" bIns="0">
            <a:noAutofit/>
          </a:bodyPr>
          <a:lstStyle/>
          <a:p>
            <a:pPr algn="l">
              <a:lnSpc>
                <a:spcPts val="2161"/>
              </a:lnSpc>
              <a:spcBef>
                <a:spcPts val="0"/>
              </a:spcBef>
              <a:spcAft>
                <a:spcPts val="0"/>
              </a:spcAft>
            </a:pPr>
            <a:r>
              <a:rPr sz="1801" b="1" i="0" u="none">
                <a:solidFill>
                  <a:srgbClr val="1F1E1E"/>
                </a:solidFill>
                <a:latin typeface="Arial"/>
              </a:rPr>
              <a:t>Beside the quiz — contained, sized to its own aspect.</a:t>
            </a:r>
          </a:p>
        </p:txBody>
      </p:sp>
      <p:sp>
        <p:nvSpPr>
          <p:cNvPr id="24" name="TextBox 23"/>
          <p:cNvSpPr txBox="1"/>
          <p:nvPr/>
        </p:nvSpPr>
        <p:spPr>
          <a:xfrm>
            <a:off x="967169" y="5593652"/>
            <a:ext cx="5752583" cy="446151"/>
          </a:xfrm>
          <a:prstGeom prst="rect">
            <a:avLst/>
          </a:prstGeom>
          <a:noFill/>
        </p:spPr>
        <p:txBody>
          <a:bodyPr wrap="square" anchor="ctr" lIns="0" tIns="0" rIns="0" bIns="0">
            <a:noAutofit/>
          </a:bodyPr>
          <a:lstStyle/>
          <a:p>
            <a:pPr algn="l">
              <a:lnSpc>
                <a:spcPts val="1980"/>
              </a:lnSpc>
              <a:spcBef>
                <a:spcPts val="0"/>
              </a:spcBef>
              <a:spcAft>
                <a:spcPts val="0"/>
              </a:spcAft>
            </a:pPr>
            <a:r>
              <a:rPr sz="1415" b="0" i="0" u="none">
                <a:solidFill>
                  <a:srgbClr val="1F1E1E"/>
                </a:solidFill>
                <a:latin typeface="Arial"/>
              </a:rPr>
              <a:t>The quiz body and the image split the slide; the image is never cropped.</a:t>
            </a:r>
          </a:p>
        </p:txBody>
      </p:sp>
      <p:sp>
        <p:nvSpPr>
          <p:cNvPr id="25" name="Rounded Rectangle 24"/>
          <p:cNvSpPr/>
          <p:nvPr/>
        </p:nvSpPr>
        <p:spPr>
          <a:xfrm>
            <a:off x="7266718"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6" name="Picture 25" descr="image.png"/>
          <p:cNvPicPr>
            <a:picLocks noChangeAspect="1"/>
          </p:cNvPicPr>
          <p:nvPr/>
        </p:nvPicPr>
        <p:blipFill>
          <a:blip r:embed="rId3"/>
          <a:stretch>
            <a:fillRect/>
          </a:stretch>
        </p:blipFill>
        <p:spPr>
          <a:xfrm>
            <a:off x="7276338" y="2820734"/>
            <a:ext cx="4235386" cy="2382488"/>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 with the image on the left</a:t>
            </a:r>
          </a:p>
        </p:txBody>
      </p:sp>
      <p:sp>
        <p:nvSpPr>
          <p:cNvPr id="5" name="TextBox 4"/>
          <p:cNvSpPr txBox="1"/>
          <p:nvPr/>
        </p:nvSpPr>
        <p:spPr>
          <a:xfrm>
            <a:off x="5351907" y="1775555"/>
            <a:ext cx="6281223" cy="1318736"/>
          </a:xfrm>
          <a:prstGeom prst="rect">
            <a:avLst/>
          </a:prstGeom>
          <a:noFill/>
        </p:spPr>
        <p:txBody>
          <a:bodyPr wrap="square" anchor="ctr" lIns="0" tIns="0" rIns="0" bIns="0">
            <a:noAutofit/>
          </a:bodyPr>
          <a:lstStyle/>
          <a:p>
            <a:pPr algn="l">
              <a:lnSpc>
                <a:spcPts val="3084"/>
              </a:lnSpc>
              <a:spcBef>
                <a:spcPts val="0"/>
              </a:spcBef>
              <a:spcAft>
                <a:spcPts val="0"/>
              </a:spcAft>
            </a:pPr>
            <a:r>
              <a:rPr sz="2658" b="1" i="0" u="none">
                <a:solidFill>
                  <a:srgbClr val="1F1E1E"/>
                </a:solidFill>
                <a:latin typeface="Arial"/>
              </a:rPr>
              <a:t>Does image-left change which choice is correct?</a:t>
            </a:r>
          </a:p>
        </p:txBody>
      </p:sp>
      <p:sp>
        <p:nvSpPr>
          <p:cNvPr id="6" name="Rounded Rectangle 5"/>
          <p:cNvSpPr/>
          <p:nvPr/>
        </p:nvSpPr>
        <p:spPr>
          <a:xfrm>
            <a:off x="5351907" y="2814066"/>
            <a:ext cx="6169628" cy="543973"/>
          </a:xfrm>
          <a:prstGeom prst="roundRect">
            <a:avLst>
              <a:gd name="adj" fmla="val 35860"/>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5571363" y="2887408"/>
            <a:ext cx="397288" cy="397288"/>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5571363" y="2887408"/>
            <a:ext cx="435388" cy="397288"/>
          </a:xfrm>
          <a:prstGeom prst="rect">
            <a:avLst/>
          </a:prstGeom>
          <a:noFill/>
        </p:spPr>
        <p:txBody>
          <a:bodyPr wrap="none" anchor="ctr" lIns="0" tIns="0" rIns="0" bIns="0">
            <a:noAutofit/>
          </a:bodyPr>
          <a:lstStyle/>
          <a:p>
            <a:pPr algn="ctr">
              <a:lnSpc>
                <a:spcPts val="1619"/>
              </a:lnSpc>
              <a:spcBef>
                <a:spcPts val="0"/>
              </a:spcBef>
              <a:spcAft>
                <a:spcPts val="0"/>
              </a:spcAft>
            </a:pPr>
            <a:r>
              <a:rPr sz="1295" b="1" i="0" u="none">
                <a:solidFill>
                  <a:srgbClr val="1F1E1E"/>
                </a:solidFill>
                <a:latin typeface="Arial"/>
              </a:rPr>
              <a:t>A</a:t>
            </a:r>
          </a:p>
        </p:txBody>
      </p:sp>
      <p:sp>
        <p:nvSpPr>
          <p:cNvPr id="9" name="TextBox 8"/>
          <p:cNvSpPr txBox="1"/>
          <p:nvPr/>
        </p:nvSpPr>
        <p:spPr>
          <a:xfrm>
            <a:off x="5968651" y="2963513"/>
            <a:ext cx="5374386" cy="235744"/>
          </a:xfrm>
          <a:prstGeom prst="rect">
            <a:avLst/>
          </a:prstGeom>
          <a:noFill/>
        </p:spPr>
        <p:txBody>
          <a:bodyPr wrap="none" anchor="ctr" lIns="0" tIns="0" rIns="0" bIns="0">
            <a:noAutofit/>
          </a:bodyPr>
          <a:lstStyle/>
          <a:p>
            <a:pPr algn="l">
              <a:lnSpc>
                <a:spcPts val="2045"/>
              </a:lnSpc>
              <a:spcBef>
                <a:spcPts val="0"/>
              </a:spcBef>
              <a:spcAft>
                <a:spcPts val="0"/>
              </a:spcAft>
            </a:pPr>
            <a:r>
              <a:rPr sz="1636" b="1" i="0" u="none">
                <a:solidFill>
                  <a:srgbClr val="3B3535"/>
                </a:solidFill>
                <a:latin typeface="Arial"/>
              </a:rPr>
              <a:t>Yes — the options mirror too</a:t>
            </a:r>
          </a:p>
        </p:txBody>
      </p:sp>
      <p:sp>
        <p:nvSpPr>
          <p:cNvPr id="10" name="Rounded Rectangle 9"/>
          <p:cNvSpPr/>
          <p:nvPr/>
        </p:nvSpPr>
        <p:spPr>
          <a:xfrm>
            <a:off x="5351907" y="3487293"/>
            <a:ext cx="6169628" cy="543973"/>
          </a:xfrm>
          <a:prstGeom prst="roundRect">
            <a:avLst>
              <a:gd name="adj" fmla="val 35860"/>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5571363" y="3560636"/>
            <a:ext cx="397288" cy="397288"/>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571363" y="3560636"/>
            <a:ext cx="435388" cy="397288"/>
          </a:xfrm>
          <a:prstGeom prst="rect">
            <a:avLst/>
          </a:prstGeom>
          <a:noFill/>
        </p:spPr>
        <p:txBody>
          <a:bodyPr wrap="none" anchor="ctr" lIns="0" tIns="0" rIns="0" bIns="0">
            <a:noAutofit/>
          </a:bodyPr>
          <a:lstStyle/>
          <a:p>
            <a:pPr algn="ctr">
              <a:lnSpc>
                <a:spcPts val="1619"/>
              </a:lnSpc>
              <a:spcBef>
                <a:spcPts val="0"/>
              </a:spcBef>
              <a:spcAft>
                <a:spcPts val="0"/>
              </a:spcAft>
            </a:pPr>
            <a:r>
              <a:rPr sz="1295" b="1" i="0" u="none">
                <a:solidFill>
                  <a:srgbClr val="FFFFFF"/>
                </a:solidFill>
                <a:latin typeface="Arial"/>
              </a:rPr>
              <a:t>B</a:t>
            </a:r>
          </a:p>
        </p:txBody>
      </p:sp>
      <p:sp>
        <p:nvSpPr>
          <p:cNvPr id="13" name="TextBox 12"/>
          <p:cNvSpPr txBox="1"/>
          <p:nvPr/>
        </p:nvSpPr>
        <p:spPr>
          <a:xfrm>
            <a:off x="5968651" y="3636740"/>
            <a:ext cx="5374386" cy="235744"/>
          </a:xfrm>
          <a:prstGeom prst="rect">
            <a:avLst/>
          </a:prstGeom>
          <a:noFill/>
        </p:spPr>
        <p:txBody>
          <a:bodyPr wrap="none" anchor="ctr" lIns="0" tIns="0" rIns="0" bIns="0">
            <a:noAutofit/>
          </a:bodyPr>
          <a:lstStyle/>
          <a:p>
            <a:pPr algn="l">
              <a:lnSpc>
                <a:spcPts val="2045"/>
              </a:lnSpc>
              <a:spcBef>
                <a:spcPts val="0"/>
              </a:spcBef>
              <a:spcAft>
                <a:spcPts val="0"/>
              </a:spcAft>
            </a:pPr>
            <a:r>
              <a:rPr sz="1636" b="1" i="0" u="none">
                <a:solidFill>
                  <a:srgbClr val="1F1E1E"/>
                </a:solidFill>
                <a:latin typeface="Arial"/>
              </a:rPr>
              <a:t>No — only the two columns swap</a:t>
            </a:r>
          </a:p>
        </p:txBody>
      </p:sp>
      <p:sp>
        <p:nvSpPr>
          <p:cNvPr id="14" name="TextBox 13"/>
          <p:cNvSpPr txBox="1"/>
          <p:nvPr/>
        </p:nvSpPr>
        <p:spPr>
          <a:xfrm>
            <a:off x="8078629" y="3555778"/>
            <a:ext cx="280416" cy="316992"/>
          </a:xfrm>
          <a:prstGeom prst="rect">
            <a:avLst/>
          </a:prstGeom>
          <a:noFill/>
        </p:spPr>
        <p:txBody>
          <a:bodyPr wrap="none" anchor="ctr" lIns="0" tIns="0" rIns="0" bIns="0">
            <a:noAutofit/>
          </a:bodyPr>
          <a:lstStyle/>
          <a:p>
            <a:pPr algn="ctr">
              <a:lnSpc>
                <a:spcPts val="1772"/>
              </a:lnSpc>
              <a:spcBef>
                <a:spcPts val="0"/>
              </a:spcBef>
              <a:spcAft>
                <a:spcPts val="0"/>
              </a:spcAft>
            </a:pPr>
            <a:r>
              <a:rPr sz="1772" b="1" i="0" u="none">
                <a:solidFill>
                  <a:srgbClr val="DA1B2E"/>
                </a:solidFill>
                <a:latin typeface="Arial"/>
              </a:rPr>
              <a:t>✓</a:t>
            </a:r>
          </a:p>
        </p:txBody>
      </p:sp>
      <p:sp>
        <p:nvSpPr>
          <p:cNvPr id="15" name="Rounded Rectangle 14"/>
          <p:cNvSpPr/>
          <p:nvPr/>
        </p:nvSpPr>
        <p:spPr>
          <a:xfrm>
            <a:off x="5351907" y="4289870"/>
            <a:ext cx="6169628" cy="1958530"/>
          </a:xfrm>
          <a:prstGeom prst="roundRect">
            <a:avLst>
              <a:gd name="adj" fmla="val 12450"/>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5351907" y="4289870"/>
            <a:ext cx="104775" cy="195853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2"/>
          <a:stretch>
            <a:fillRect/>
          </a:stretch>
        </p:blipFill>
        <p:spPr>
          <a:xfrm>
            <a:off x="5667280" y="4496752"/>
            <a:ext cx="224028" cy="224028"/>
          </a:xfrm>
          <a:prstGeom prst="rect">
            <a:avLst/>
          </a:prstGeom>
        </p:spPr>
      </p:pic>
      <p:sp>
        <p:nvSpPr>
          <p:cNvPr id="18" name="TextBox 17"/>
          <p:cNvSpPr txBox="1"/>
          <p:nvPr/>
        </p:nvSpPr>
        <p:spPr>
          <a:xfrm>
            <a:off x="5977509" y="4513326"/>
            <a:ext cx="864394" cy="181832"/>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19" name="TextBox 18"/>
          <p:cNvSpPr txBox="1"/>
          <p:nvPr/>
        </p:nvSpPr>
        <p:spPr>
          <a:xfrm>
            <a:off x="5667280" y="4830985"/>
            <a:ext cx="5719132" cy="968692"/>
          </a:xfrm>
          <a:prstGeom prst="rect">
            <a:avLst/>
          </a:prstGeom>
          <a:noFill/>
        </p:spPr>
        <p:txBody>
          <a:bodyPr wrap="square" anchor="ctr" lIns="0" tIns="0" rIns="0" bIns="0">
            <a:noAutofit/>
          </a:bodyPr>
          <a:lstStyle/>
          <a:p>
            <a:pPr algn="l">
              <a:lnSpc>
                <a:spcPts val="2290"/>
              </a:lnSpc>
              <a:spcBef>
                <a:spcPts val="0"/>
              </a:spcBef>
              <a:spcAft>
                <a:spcPts val="0"/>
              </a:spcAft>
            </a:pPr>
            <a:r>
              <a:rPr sz="1907" b="1" i="0" u="none">
                <a:solidFill>
                  <a:srgbClr val="1F1E1E"/>
                </a:solidFill>
                <a:latin typeface="Arial"/>
              </a:rPr>
              <a:t>No. The options keep their order, their letters and their alignment.</a:t>
            </a:r>
          </a:p>
        </p:txBody>
      </p:sp>
      <p:sp>
        <p:nvSpPr>
          <p:cNvPr id="20" name="TextBox 19"/>
          <p:cNvSpPr txBox="1"/>
          <p:nvPr/>
        </p:nvSpPr>
        <p:spPr>
          <a:xfrm>
            <a:off x="5667280" y="5550980"/>
            <a:ext cx="5719132" cy="474154"/>
          </a:xfrm>
          <a:prstGeom prst="rect">
            <a:avLst/>
          </a:prstGeom>
          <a:noFill/>
        </p:spPr>
        <p:txBody>
          <a:bodyPr wrap="square" anchor="ctr" lIns="0" tIns="0" rIns="0" bIns="0">
            <a:noAutofit/>
          </a:bodyPr>
          <a:lstStyle/>
          <a:p>
            <a:pPr algn="l">
              <a:lnSpc>
                <a:spcPts val="2099"/>
              </a:lnSpc>
              <a:spcBef>
                <a:spcPts val="0"/>
              </a:spcBef>
              <a:spcAft>
                <a:spcPts val="0"/>
              </a:spcAft>
            </a:pPr>
            <a:r>
              <a:rPr sz="1500" b="0" i="0" u="none">
                <a:solidFill>
                  <a:srgbClr val="1F1E1E"/>
                </a:solidFill>
                <a:latin typeface="Arial"/>
              </a:rPr>
              <a:t>image-left is a composition choice; it never touches the enumeration.</a:t>
            </a:r>
          </a:p>
        </p:txBody>
      </p:sp>
      <p:sp>
        <p:nvSpPr>
          <p:cNvPr id="21" name="Rounded Rectangle 20"/>
          <p:cNvSpPr/>
          <p:nvPr/>
        </p:nvSpPr>
        <p:spPr>
          <a:xfrm>
            <a:off x="670465"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3"/>
          <a:stretch>
            <a:fillRect/>
          </a:stretch>
        </p:blipFill>
        <p:spPr>
          <a:xfrm>
            <a:off x="680180" y="2820734"/>
            <a:ext cx="4235386" cy="2382488"/>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962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01</a:t>
            </a:r>
          </a:p>
        </p:txBody>
      </p:sp>
      <p:sp>
        <p:nvSpPr>
          <p:cNvPr id="3" name="TextBox 2"/>
          <p:cNvSpPr txBox="1"/>
          <p:nvPr/>
        </p:nvSpPr>
        <p:spPr>
          <a:xfrm>
            <a:off x="1401985" y="1391507"/>
            <a:ext cx="322954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Frames &amp; openers</a:t>
            </a:r>
          </a:p>
        </p:txBody>
      </p:sp>
      <p:sp>
        <p:nvSpPr>
          <p:cNvPr id="4" name="TextBox 3"/>
          <p:cNvSpPr txBox="1"/>
          <p:nvPr/>
        </p:nvSpPr>
        <p:spPr>
          <a:xfrm>
            <a:off x="670465" y="2104549"/>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02</a:t>
            </a:r>
          </a:p>
        </p:txBody>
      </p:sp>
      <p:sp>
        <p:nvSpPr>
          <p:cNvPr id="5" name="TextBox 4"/>
          <p:cNvSpPr txBox="1"/>
          <p:nvPr/>
        </p:nvSpPr>
        <p:spPr>
          <a:xfrm>
            <a:off x="1401985" y="1999774"/>
            <a:ext cx="3961257"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Statement &amp; emphasis</a:t>
            </a:r>
          </a:p>
        </p:txBody>
      </p:sp>
      <p:sp>
        <p:nvSpPr>
          <p:cNvPr id="6" name="TextBox 5"/>
          <p:cNvSpPr txBox="1"/>
          <p:nvPr/>
        </p:nvSpPr>
        <p:spPr>
          <a:xfrm>
            <a:off x="670465" y="27128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03</a:t>
            </a:r>
          </a:p>
        </p:txBody>
      </p:sp>
      <p:sp>
        <p:nvSpPr>
          <p:cNvPr id="7" name="TextBox 6"/>
          <p:cNvSpPr txBox="1"/>
          <p:nvPr/>
        </p:nvSpPr>
        <p:spPr>
          <a:xfrm>
            <a:off x="1401985" y="2608040"/>
            <a:ext cx="2477072"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Enumerations</a:t>
            </a:r>
          </a:p>
        </p:txBody>
      </p:sp>
      <p:sp>
        <p:nvSpPr>
          <p:cNvPr id="8" name="TextBox 7"/>
          <p:cNvSpPr txBox="1"/>
          <p:nvPr/>
        </p:nvSpPr>
        <p:spPr>
          <a:xfrm>
            <a:off x="670465" y="3321082"/>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04</a:t>
            </a:r>
          </a:p>
        </p:txBody>
      </p:sp>
      <p:sp>
        <p:nvSpPr>
          <p:cNvPr id="9" name="TextBox 8"/>
          <p:cNvSpPr txBox="1"/>
          <p:nvPr/>
        </p:nvSpPr>
        <p:spPr>
          <a:xfrm>
            <a:off x="1401985" y="3216307"/>
            <a:ext cx="4001548"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Ordered &amp; comparison</a:t>
            </a:r>
          </a:p>
        </p:txBody>
      </p:sp>
      <p:sp>
        <p:nvSpPr>
          <p:cNvPr id="10" name="TextBox 9"/>
          <p:cNvSpPr txBox="1"/>
          <p:nvPr/>
        </p:nvSpPr>
        <p:spPr>
          <a:xfrm>
            <a:off x="670465" y="3929348"/>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05</a:t>
            </a:r>
          </a:p>
        </p:txBody>
      </p:sp>
      <p:sp>
        <p:nvSpPr>
          <p:cNvPr id="11" name="TextBox 10"/>
          <p:cNvSpPr txBox="1"/>
          <p:nvPr/>
        </p:nvSpPr>
        <p:spPr>
          <a:xfrm>
            <a:off x="1401985" y="3824573"/>
            <a:ext cx="2328386"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Visual &amp; data</a:t>
            </a:r>
          </a:p>
        </p:txBody>
      </p:sp>
      <p:sp>
        <p:nvSpPr>
          <p:cNvPr id="12" name="TextBox 11"/>
          <p:cNvSpPr txBox="1"/>
          <p:nvPr/>
        </p:nvSpPr>
        <p:spPr>
          <a:xfrm>
            <a:off x="670465" y="4537615"/>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6E6663"/>
                </a:solidFill>
                <a:latin typeface="Courier New"/>
              </a:rPr>
              <a:t>06</a:t>
            </a:r>
          </a:p>
        </p:txBody>
      </p:sp>
      <p:sp>
        <p:nvSpPr>
          <p:cNvPr id="13" name="TextBox 12"/>
          <p:cNvSpPr txBox="1"/>
          <p:nvPr/>
        </p:nvSpPr>
        <p:spPr>
          <a:xfrm>
            <a:off x="1401985" y="4432840"/>
            <a:ext cx="2944463"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6E6663"/>
                </a:solidFill>
                <a:latin typeface="Arial"/>
              </a:rPr>
              <a:t>Interactive (quiz)</a:t>
            </a:r>
          </a:p>
        </p:txBody>
      </p:sp>
      <p:sp>
        <p:nvSpPr>
          <p:cNvPr id="14" name="TextBox 13"/>
          <p:cNvSpPr txBox="1"/>
          <p:nvPr/>
        </p:nvSpPr>
        <p:spPr>
          <a:xfrm>
            <a:off x="670465" y="5145881"/>
            <a:ext cx="477012" cy="314325"/>
          </a:xfrm>
          <a:prstGeom prst="rect">
            <a:avLst/>
          </a:prstGeom>
          <a:noFill/>
        </p:spPr>
        <p:txBody>
          <a:bodyPr wrap="none" anchor="ctr" lIns="0" tIns="0" rIns="0" bIns="0">
            <a:noAutofit/>
          </a:bodyPr>
          <a:lstStyle/>
          <a:p>
            <a:pPr algn="l">
              <a:lnSpc>
                <a:spcPts val="2451"/>
              </a:lnSpc>
              <a:spcBef>
                <a:spcPts val="0"/>
              </a:spcBef>
              <a:spcAft>
                <a:spcPts val="0"/>
              </a:spcAft>
            </a:pPr>
            <a:r>
              <a:rPr sz="2132" b="1" i="0" u="none">
                <a:solidFill>
                  <a:srgbClr val="DA1B2E"/>
                </a:solidFill>
                <a:latin typeface="Courier New"/>
              </a:rPr>
              <a:t>07</a:t>
            </a:r>
          </a:p>
        </p:txBody>
      </p:sp>
      <p:sp>
        <p:nvSpPr>
          <p:cNvPr id="15" name="TextBox 14"/>
          <p:cNvSpPr txBox="1"/>
          <p:nvPr/>
        </p:nvSpPr>
        <p:spPr>
          <a:xfrm>
            <a:off x="1401985" y="5041106"/>
            <a:ext cx="1379220" cy="409575"/>
          </a:xfrm>
          <a:prstGeom prst="rect">
            <a:avLst/>
          </a:prstGeom>
          <a:noFill/>
        </p:spPr>
        <p:txBody>
          <a:bodyPr wrap="none" anchor="ctr" lIns="0" tIns="0" rIns="0" bIns="0">
            <a:noAutofit/>
          </a:bodyPr>
          <a:lstStyle/>
          <a:p>
            <a:pPr algn="l">
              <a:lnSpc>
                <a:spcPts val="3311"/>
              </a:lnSpc>
              <a:spcBef>
                <a:spcPts val="0"/>
              </a:spcBef>
              <a:spcAft>
                <a:spcPts val="0"/>
              </a:spcAft>
            </a:pPr>
            <a:r>
              <a:rPr sz="2880" b="1" i="0" u="none">
                <a:solidFill>
                  <a:srgbClr val="1F1E1E"/>
                </a:solidFill>
                <a:latin typeface="Arial"/>
              </a:rPr>
              <a:t>Closing</a:t>
            </a:r>
          </a:p>
        </p:txBody>
      </p:sp>
      <p:sp>
        <p:nvSpPr>
          <p:cNvPr id="16" name="TextBox 15"/>
          <p:cNvSpPr txBox="1"/>
          <p:nvPr/>
        </p:nvSpPr>
        <p:spPr>
          <a:xfrm>
            <a:off x="9965531" y="226399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07</a:t>
            </a:r>
          </a:p>
        </p:txBody>
      </p:sp>
      <p:sp>
        <p:nvSpPr>
          <p:cNvPr id="17" name="TextBox 16"/>
          <p:cNvSpPr txBox="1"/>
          <p:nvPr/>
        </p:nvSpPr>
        <p:spPr>
          <a:xfrm>
            <a:off x="9416701" y="3760756"/>
            <a:ext cx="2142934"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Closing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fallback: the last resort when nothing matches</a:t>
            </a:r>
          </a:p>
        </p:txBody>
      </p:sp>
      <p:sp>
        <p:nvSpPr>
          <p:cNvPr id="5" name="TextBox 4"/>
          <p:cNvSpPr txBox="1"/>
          <p:nvPr/>
        </p:nvSpPr>
        <p:spPr>
          <a:xfrm>
            <a:off x="670465" y="2328577"/>
            <a:ext cx="11030180" cy="1562576"/>
          </a:xfrm>
          <a:prstGeom prst="rect">
            <a:avLst/>
          </a:prstGeom>
          <a:noFill/>
        </p:spPr>
        <p:txBody>
          <a:bodyPr wrap="square" anchor="ctr" lIns="0" tIns="0" rIns="0" bIns="0">
            <a:noAutofit/>
          </a:bodyPr>
          <a:lstStyle/>
          <a:p>
            <a:pPr algn="l">
              <a:lnSpc>
                <a:spcPts val="4019"/>
              </a:lnSpc>
              <a:spcBef>
                <a:spcPts val="0"/>
              </a:spcBef>
              <a:spcAft>
                <a:spcPts val="0"/>
              </a:spcAft>
            </a:pPr>
            <a:r>
              <a:rPr sz="3494" b="1" i="0" u="none">
                <a:solidFill>
                  <a:srgbClr val="1F1E1E"/>
                </a:solidFill>
                <a:latin typeface="Arial"/>
              </a:rPr>
              <a:t>A slide reaching fallback means the catalog is missing an entry — the render now warns.</a:t>
            </a:r>
          </a:p>
        </p:txBody>
      </p:sp>
      <p:sp>
        <p:nvSpPr>
          <p:cNvPr id="6" name="Rounded Rectangle 5"/>
          <p:cNvSpPr/>
          <p:nvPr/>
        </p:nvSpPr>
        <p:spPr>
          <a:xfrm>
            <a:off x="670465" y="3634073"/>
            <a:ext cx="10848404" cy="757714"/>
          </a:xfrm>
          <a:prstGeom prst="roundRect">
            <a:avLst>
              <a:gd name="adj" fmla="val 193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634073"/>
            <a:ext cx="76200" cy="75771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1005173" y="3850481"/>
            <a:ext cx="10259187" cy="311182"/>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fallback still refuses plain bullets: its points render as accented panels.</a:t>
            </a:r>
          </a:p>
        </p:txBody>
      </p:sp>
      <p:sp>
        <p:nvSpPr>
          <p:cNvPr id="9" name="Rounded Rectangle 8"/>
          <p:cNvSpPr/>
          <p:nvPr/>
        </p:nvSpPr>
        <p:spPr>
          <a:xfrm>
            <a:off x="670465" y="4568762"/>
            <a:ext cx="10848404" cy="757809"/>
          </a:xfrm>
          <a:prstGeom prst="roundRect">
            <a:avLst>
              <a:gd name="adj" fmla="val 1930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4568762"/>
            <a:ext cx="76200" cy="757809"/>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005173" y="4785170"/>
            <a:ext cx="10259187" cy="311277"/>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big defaults to the title when the fill omits it.</a:t>
            </a:r>
          </a:p>
        </p:txBody>
      </p:sp>
      <p:sp>
        <p:nvSpPr>
          <p:cNvPr id="12" name="Rounded Rectangle 11"/>
          <p:cNvSpPr/>
          <p:nvPr/>
        </p:nvSpPr>
        <p:spPr>
          <a:xfrm>
            <a:off x="670465" y="5503545"/>
            <a:ext cx="10848404" cy="744855"/>
          </a:xfrm>
          <a:prstGeom prst="roundRect">
            <a:avLst>
              <a:gd name="adj" fmla="val 1964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503545"/>
            <a:ext cx="76200" cy="744855"/>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005173" y="5719953"/>
            <a:ext cx="10259187" cy="311277"/>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A recurring fallback is a signal to add a real template, not to style this one.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matrix: cells indexed by two named axes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quadrant is not four cards — a cell means what it means because of where it sits.</a:t>
            </a:r>
          </a:p>
        </p:txBody>
      </p:sp>
      <p:sp>
        <p:nvSpPr>
          <p:cNvPr id="6" name="TextBox 5"/>
          <p:cNvSpPr txBox="1"/>
          <p:nvPr/>
        </p:nvSpPr>
        <p:spPr>
          <a:xfrm>
            <a:off x="6261735" y="2192369"/>
            <a:ext cx="5295233" cy="230029"/>
          </a:xfrm>
          <a:prstGeom prst="rect">
            <a:avLst/>
          </a:prstGeom>
          <a:noFill/>
        </p:spPr>
        <p:txBody>
          <a:bodyPr wrap="none" anchor="ctr" lIns="0" tIns="0" rIns="0" bIns="0">
            <a:noAutofit/>
          </a:bodyPr>
          <a:lstStyle/>
          <a:p>
            <a:pPr algn="ctr">
              <a:lnSpc>
                <a:spcPts val="1769"/>
              </a:lnSpc>
              <a:spcBef>
                <a:spcPts val="0"/>
              </a:spcBef>
              <a:spcAft>
                <a:spcPts val="0"/>
              </a:spcAft>
            </a:pPr>
            <a:r>
              <a:rPr sz="1769" b="1" i="0" u="none" spc="212">
                <a:solidFill>
                  <a:srgbClr val="3B3535"/>
                </a:solidFill>
                <a:latin typeface="Arial"/>
              </a:rPr>
              <a:t>PREDICTED</a:t>
            </a:r>
          </a:p>
        </p:txBody>
      </p:sp>
      <p:sp>
        <p:nvSpPr>
          <p:cNvPr id="7" name="TextBox 6"/>
          <p:cNvSpPr txBox="1"/>
          <p:nvPr/>
        </p:nvSpPr>
        <p:spPr>
          <a:xfrm>
            <a:off x="4246150" y="2562416"/>
            <a:ext cx="2738628"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Positive</a:t>
            </a:r>
          </a:p>
        </p:txBody>
      </p:sp>
      <p:sp>
        <p:nvSpPr>
          <p:cNvPr id="8" name="TextBox 7"/>
          <p:cNvSpPr txBox="1"/>
          <p:nvPr/>
        </p:nvSpPr>
        <p:spPr>
          <a:xfrm>
            <a:off x="8775097" y="2562416"/>
            <a:ext cx="2781872"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Negative</a:t>
            </a:r>
          </a:p>
        </p:txBody>
      </p:sp>
      <p:sp>
        <p:nvSpPr>
          <p:cNvPr id="9" name="TextBox 8"/>
          <p:cNvSpPr txBox="1"/>
          <p:nvPr/>
        </p:nvSpPr>
        <p:spPr>
          <a:xfrm>
            <a:off x="670465" y="4092416"/>
            <a:ext cx="268129" cy="1080992"/>
          </a:xfrm>
          <a:prstGeom prst="rect">
            <a:avLst/>
          </a:prstGeom>
          <a:noFill/>
        </p:spPr>
        <p:txBody>
          <a:bodyPr wrap="none" anchor="ctr" lIns="0" tIns="0" rIns="0" bIns="0" vert="vert270">
            <a:noAutofit/>
          </a:bodyPr>
          <a:lstStyle/>
          <a:p>
            <a:pPr algn="ctr">
              <a:lnSpc>
                <a:spcPts val="1769"/>
              </a:lnSpc>
              <a:spcBef>
                <a:spcPts val="0"/>
              </a:spcBef>
              <a:spcAft>
                <a:spcPts val="0"/>
              </a:spcAft>
            </a:pPr>
            <a:r>
              <a:rPr sz="1769" b="1" i="0" u="none" spc="212">
                <a:solidFill>
                  <a:srgbClr val="3B3535"/>
                </a:solidFill>
                <a:latin typeface="Arial"/>
              </a:rPr>
              <a:t>ACTUAL</a:t>
            </a:r>
          </a:p>
        </p:txBody>
      </p:sp>
      <p:sp>
        <p:nvSpPr>
          <p:cNvPr id="10" name="TextBox 9"/>
          <p:cNvSpPr txBox="1"/>
          <p:nvPr/>
        </p:nvSpPr>
        <p:spPr>
          <a:xfrm>
            <a:off x="1219772" y="3629596"/>
            <a:ext cx="1070896"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Positive</a:t>
            </a:r>
          </a:p>
        </p:txBody>
      </p:sp>
      <p:sp>
        <p:nvSpPr>
          <p:cNvPr id="11" name="TextBox 10"/>
          <p:cNvSpPr txBox="1"/>
          <p:nvPr/>
        </p:nvSpPr>
        <p:spPr>
          <a:xfrm>
            <a:off x="1176718" y="5340286"/>
            <a:ext cx="1118235"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Negative</a:t>
            </a:r>
          </a:p>
        </p:txBody>
      </p:sp>
      <p:sp>
        <p:nvSpPr>
          <p:cNvPr id="12" name="Rounded Rectangle 11"/>
          <p:cNvSpPr/>
          <p:nvPr/>
        </p:nvSpPr>
        <p:spPr>
          <a:xfrm>
            <a:off x="2539270" y="3004661"/>
            <a:ext cx="4407313" cy="1545908"/>
          </a:xfrm>
          <a:prstGeom prst="roundRect">
            <a:avLst>
              <a:gd name="adj" fmla="val 12618"/>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798350" y="3276981"/>
            <a:ext cx="3927348" cy="331280"/>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True positive</a:t>
            </a:r>
          </a:p>
        </p:txBody>
      </p:sp>
      <p:sp>
        <p:nvSpPr>
          <p:cNvPr id="14" name="TextBox 13"/>
          <p:cNvSpPr txBox="1"/>
          <p:nvPr/>
        </p:nvSpPr>
        <p:spPr>
          <a:xfrm>
            <a:off x="2798350" y="3690556"/>
            <a:ext cx="3927348" cy="276034"/>
          </a:xfrm>
          <a:prstGeom prst="rect">
            <a:avLst/>
          </a:prstGeom>
          <a:noFill/>
        </p:spPr>
        <p:txBody>
          <a:bodyPr wrap="none" anchor="ctr" lIns="0" tIns="0" rIns="0" bIns="0">
            <a:noAutofit/>
          </a:bodyPr>
          <a:lstStyle/>
          <a:p>
            <a:pPr algn="l">
              <a:lnSpc>
                <a:spcPts val="2542"/>
              </a:lnSpc>
              <a:spcBef>
                <a:spcPts val="0"/>
              </a:spcBef>
              <a:spcAft>
                <a:spcPts val="0"/>
              </a:spcAft>
            </a:pPr>
            <a:r>
              <a:rPr sz="1955" b="0" i="0" u="none">
                <a:solidFill>
                  <a:srgbClr val="3B3535"/>
                </a:solidFill>
                <a:latin typeface="Arial"/>
              </a:rPr>
              <a:t>Called it, and it was there.</a:t>
            </a:r>
          </a:p>
        </p:txBody>
      </p:sp>
      <p:sp>
        <p:nvSpPr>
          <p:cNvPr id="15" name="Rounded Rectangle 14"/>
          <p:cNvSpPr/>
          <p:nvPr/>
        </p:nvSpPr>
        <p:spPr>
          <a:xfrm>
            <a:off x="7111460" y="3004661"/>
            <a:ext cx="4407503" cy="1545908"/>
          </a:xfrm>
          <a:prstGeom prst="roundRect">
            <a:avLst>
              <a:gd name="adj" fmla="val 12618"/>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370445" y="3276981"/>
            <a:ext cx="3927443" cy="331280"/>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False negative</a:t>
            </a:r>
          </a:p>
        </p:txBody>
      </p:sp>
      <p:sp>
        <p:nvSpPr>
          <p:cNvPr id="17" name="TextBox 16"/>
          <p:cNvSpPr txBox="1"/>
          <p:nvPr/>
        </p:nvSpPr>
        <p:spPr>
          <a:xfrm>
            <a:off x="7370445" y="3690556"/>
            <a:ext cx="3966733" cy="616172"/>
          </a:xfrm>
          <a:prstGeom prst="rect">
            <a:avLst/>
          </a:prstGeom>
          <a:noFill/>
        </p:spPr>
        <p:txBody>
          <a:bodyPr wrap="square" anchor="ctr" lIns="0" tIns="0" rIns="0" bIns="0">
            <a:noAutofit/>
          </a:bodyPr>
          <a:lstStyle/>
          <a:p>
            <a:pPr algn="l">
              <a:lnSpc>
                <a:spcPts val="2542"/>
              </a:lnSpc>
              <a:spcBef>
                <a:spcPts val="0"/>
              </a:spcBef>
              <a:spcAft>
                <a:spcPts val="0"/>
              </a:spcAft>
            </a:pPr>
            <a:r>
              <a:rPr sz="1955" b="0" i="0" u="none">
                <a:solidFill>
                  <a:srgbClr val="3B3535"/>
                </a:solidFill>
                <a:latin typeface="Arial"/>
              </a:rPr>
              <a:t>Missed it. The expensive one in medicine.</a:t>
            </a:r>
          </a:p>
        </p:txBody>
      </p:sp>
      <p:sp>
        <p:nvSpPr>
          <p:cNvPr id="18" name="Rounded Rectangle 17"/>
          <p:cNvSpPr/>
          <p:nvPr/>
        </p:nvSpPr>
        <p:spPr>
          <a:xfrm>
            <a:off x="2539270" y="4715351"/>
            <a:ext cx="4407313" cy="1533049"/>
          </a:xfrm>
          <a:prstGeom prst="roundRect">
            <a:avLst>
              <a:gd name="adj" fmla="val 12724"/>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2798350" y="4987671"/>
            <a:ext cx="3927348" cy="331184"/>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False positive</a:t>
            </a:r>
          </a:p>
        </p:txBody>
      </p:sp>
      <p:sp>
        <p:nvSpPr>
          <p:cNvPr id="20" name="TextBox 19"/>
          <p:cNvSpPr txBox="1"/>
          <p:nvPr/>
        </p:nvSpPr>
        <p:spPr>
          <a:xfrm>
            <a:off x="2798350" y="5401246"/>
            <a:ext cx="3966637" cy="616172"/>
          </a:xfrm>
          <a:prstGeom prst="rect">
            <a:avLst/>
          </a:prstGeom>
          <a:noFill/>
        </p:spPr>
        <p:txBody>
          <a:bodyPr wrap="square" anchor="ctr" lIns="0" tIns="0" rIns="0" bIns="0">
            <a:noAutofit/>
          </a:bodyPr>
          <a:lstStyle/>
          <a:p>
            <a:pPr algn="l">
              <a:lnSpc>
                <a:spcPts val="2542"/>
              </a:lnSpc>
              <a:spcBef>
                <a:spcPts val="0"/>
              </a:spcBef>
              <a:spcAft>
                <a:spcPts val="0"/>
              </a:spcAft>
            </a:pPr>
            <a:r>
              <a:rPr sz="1955" b="0" i="0" u="none">
                <a:solidFill>
                  <a:srgbClr val="3B3535"/>
                </a:solidFill>
                <a:latin typeface="Arial"/>
              </a:rPr>
              <a:t>False alarm. The expensive one in spam.</a:t>
            </a:r>
          </a:p>
        </p:txBody>
      </p:sp>
      <p:sp>
        <p:nvSpPr>
          <p:cNvPr id="21" name="Rounded Rectangle 20"/>
          <p:cNvSpPr/>
          <p:nvPr/>
        </p:nvSpPr>
        <p:spPr>
          <a:xfrm>
            <a:off x="7111460" y="4715351"/>
            <a:ext cx="4407503" cy="1533049"/>
          </a:xfrm>
          <a:prstGeom prst="roundRect">
            <a:avLst>
              <a:gd name="adj" fmla="val 12724"/>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7370445" y="4987671"/>
            <a:ext cx="3927443" cy="331184"/>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True negative</a:t>
            </a:r>
          </a:p>
        </p:txBody>
      </p:sp>
      <p:sp>
        <p:nvSpPr>
          <p:cNvPr id="23" name="TextBox 22"/>
          <p:cNvSpPr txBox="1"/>
          <p:nvPr/>
        </p:nvSpPr>
        <p:spPr>
          <a:xfrm>
            <a:off x="7370445" y="5401246"/>
            <a:ext cx="3927443" cy="276034"/>
          </a:xfrm>
          <a:prstGeom prst="rect">
            <a:avLst/>
          </a:prstGeom>
          <a:noFill/>
        </p:spPr>
        <p:txBody>
          <a:bodyPr wrap="none" anchor="ctr" lIns="0" tIns="0" rIns="0" bIns="0">
            <a:noAutofit/>
          </a:bodyPr>
          <a:lstStyle/>
          <a:p>
            <a:pPr algn="l">
              <a:lnSpc>
                <a:spcPts val="2542"/>
              </a:lnSpc>
              <a:spcBef>
                <a:spcPts val="0"/>
              </a:spcBef>
              <a:spcAft>
                <a:spcPts val="0"/>
              </a:spcAft>
            </a:pPr>
            <a:r>
              <a:rPr sz="1955" b="0" i="0" u="none">
                <a:solidFill>
                  <a:srgbClr val="3B3535"/>
                </a:solidFill>
                <a:latin typeface="Arial"/>
              </a:rPr>
              <a:t>Correctly left alone.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media as a code panel — cards keep their cards</a:t>
            </a:r>
          </a:p>
        </p:txBody>
      </p:sp>
      <p:sp>
        <p:nvSpPr>
          <p:cNvPr id="5" name="Rounded Rectangle 4"/>
          <p:cNvSpPr/>
          <p:nvPr/>
        </p:nvSpPr>
        <p:spPr>
          <a:xfrm>
            <a:off x="670465" y="2397919"/>
            <a:ext cx="2512695" cy="2274380"/>
          </a:xfrm>
          <a:prstGeom prst="roundRect">
            <a:avLst>
              <a:gd name="adj" fmla="val 1072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871919" y="2632805"/>
            <a:ext cx="486823" cy="486918"/>
          </a:xfrm>
          <a:prstGeom prst="rect">
            <a:avLst/>
          </a:prstGeom>
        </p:spPr>
      </p:pic>
      <p:sp>
        <p:nvSpPr>
          <p:cNvPr id="7" name="TextBox 6"/>
          <p:cNvSpPr txBox="1"/>
          <p:nvPr/>
        </p:nvSpPr>
        <p:spPr>
          <a:xfrm>
            <a:off x="1501426" y="2626328"/>
            <a:ext cx="1521631" cy="932116"/>
          </a:xfrm>
          <a:prstGeom prst="rect">
            <a:avLst/>
          </a:prstGeom>
          <a:noFill/>
        </p:spPr>
        <p:txBody>
          <a:bodyPr wrap="square" anchor="ctr" lIns="0" tIns="0" rIns="0" bIns="0">
            <a:noAutofit/>
          </a:bodyPr>
          <a:lstStyle/>
          <a:p>
            <a:pPr algn="l">
              <a:lnSpc>
                <a:spcPts val="2113"/>
              </a:lnSpc>
              <a:spcBef>
                <a:spcPts val="0"/>
              </a:spcBef>
              <a:spcAft>
                <a:spcPts val="0"/>
              </a:spcAft>
            </a:pPr>
            <a:r>
              <a:rPr sz="1921" b="1" i="0" u="none">
                <a:solidFill>
                  <a:srgbClr val="1F1E1E"/>
                </a:solidFill>
                <a:latin typeface="Arial"/>
              </a:rPr>
              <a:t>Learned from train</a:t>
            </a:r>
          </a:p>
        </p:txBody>
      </p:sp>
      <p:sp>
        <p:nvSpPr>
          <p:cNvPr id="8" name="TextBox 7"/>
          <p:cNvSpPr txBox="1"/>
          <p:nvPr/>
        </p:nvSpPr>
        <p:spPr>
          <a:xfrm>
            <a:off x="1501426" y="3223355"/>
            <a:ext cx="1521631" cy="1107567"/>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The statistics come from one split and one split only.</a:t>
            </a:r>
          </a:p>
        </p:txBody>
      </p:sp>
      <p:sp>
        <p:nvSpPr>
          <p:cNvPr id="9" name="Rounded Rectangle 8"/>
          <p:cNvSpPr/>
          <p:nvPr/>
        </p:nvSpPr>
        <p:spPr>
          <a:xfrm>
            <a:off x="3367850" y="2397919"/>
            <a:ext cx="2512790" cy="2274380"/>
          </a:xfrm>
          <a:prstGeom prst="roundRect">
            <a:avLst>
              <a:gd name="adj" fmla="val 1072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3569303" y="2632805"/>
            <a:ext cx="486823" cy="486918"/>
          </a:xfrm>
          <a:prstGeom prst="rect">
            <a:avLst/>
          </a:prstGeom>
        </p:spPr>
      </p:pic>
      <p:sp>
        <p:nvSpPr>
          <p:cNvPr id="11" name="TextBox 10"/>
          <p:cNvSpPr txBox="1"/>
          <p:nvPr/>
        </p:nvSpPr>
        <p:spPr>
          <a:xfrm>
            <a:off x="4198715" y="2626328"/>
            <a:ext cx="1521728" cy="932116"/>
          </a:xfrm>
          <a:prstGeom prst="rect">
            <a:avLst/>
          </a:prstGeom>
          <a:noFill/>
        </p:spPr>
        <p:txBody>
          <a:bodyPr wrap="square" anchor="ctr" lIns="0" tIns="0" rIns="0" bIns="0">
            <a:noAutofit/>
          </a:bodyPr>
          <a:lstStyle/>
          <a:p>
            <a:pPr algn="l">
              <a:lnSpc>
                <a:spcPts val="2113"/>
              </a:lnSpc>
              <a:spcBef>
                <a:spcPts val="0"/>
              </a:spcBef>
              <a:spcAft>
                <a:spcPts val="0"/>
              </a:spcAft>
            </a:pPr>
            <a:r>
              <a:rPr sz="1921" b="1" i="0" u="none">
                <a:solidFill>
                  <a:srgbClr val="1F1E1E"/>
                </a:solidFill>
                <a:latin typeface="Arial"/>
              </a:rPr>
              <a:t>Applied to all three</a:t>
            </a:r>
          </a:p>
        </p:txBody>
      </p:sp>
      <p:sp>
        <p:nvSpPr>
          <p:cNvPr id="12" name="TextBox 11"/>
          <p:cNvSpPr txBox="1"/>
          <p:nvPr/>
        </p:nvSpPr>
        <p:spPr>
          <a:xfrm>
            <a:off x="4198715" y="3223355"/>
            <a:ext cx="1521728" cy="1191482"/>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Same parameters, every time — that is what makes it a transform.</a:t>
            </a:r>
          </a:p>
        </p:txBody>
      </p:sp>
      <p:sp>
        <p:nvSpPr>
          <p:cNvPr id="13" name="Rounded Rectangle 12"/>
          <p:cNvSpPr/>
          <p:nvPr/>
        </p:nvSpPr>
        <p:spPr>
          <a:xfrm>
            <a:off x="670465" y="4856893"/>
            <a:ext cx="5210175" cy="1270444"/>
          </a:xfrm>
          <a:prstGeom prst="roundRect">
            <a:avLst>
              <a:gd name="adj" fmla="val 191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871919" y="5091970"/>
            <a:ext cx="486823" cy="486823"/>
          </a:xfrm>
          <a:prstGeom prst="rect">
            <a:avLst/>
          </a:prstGeom>
        </p:spPr>
      </p:pic>
      <p:sp>
        <p:nvSpPr>
          <p:cNvPr id="15" name="TextBox 14"/>
          <p:cNvSpPr txBox="1"/>
          <p:nvPr/>
        </p:nvSpPr>
        <p:spPr>
          <a:xfrm>
            <a:off x="1501426" y="5085398"/>
            <a:ext cx="4215956" cy="275368"/>
          </a:xfrm>
          <a:prstGeom prst="rect">
            <a:avLst/>
          </a:prstGeom>
          <a:noFill/>
        </p:spPr>
        <p:txBody>
          <a:bodyPr wrap="none" anchor="ctr" lIns="0" tIns="0" rIns="0" bIns="0">
            <a:noAutofit/>
          </a:bodyPr>
          <a:lstStyle/>
          <a:p>
            <a:pPr algn="l">
              <a:lnSpc>
                <a:spcPts val="2113"/>
              </a:lnSpc>
              <a:spcBef>
                <a:spcPts val="0"/>
              </a:spcBef>
              <a:spcAft>
                <a:spcPts val="0"/>
              </a:spcAft>
            </a:pPr>
            <a:r>
              <a:rPr sz="1921" b="1" i="0" u="none">
                <a:solidFill>
                  <a:srgbClr val="1F1E1E"/>
                </a:solidFill>
                <a:latin typeface="Arial"/>
              </a:rPr>
              <a:t>Silent when wrong</a:t>
            </a:r>
          </a:p>
        </p:txBody>
      </p:sp>
      <p:sp>
        <p:nvSpPr>
          <p:cNvPr id="16" name="TextBox 15"/>
          <p:cNvSpPr txBox="1"/>
          <p:nvPr/>
        </p:nvSpPr>
        <p:spPr>
          <a:xfrm>
            <a:off x="1501426" y="5414677"/>
            <a:ext cx="4259573" cy="455295"/>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Leak the test set in and nothing raises; the score just flatters you.</a:t>
            </a:r>
          </a:p>
        </p:txBody>
      </p:sp>
      <p:sp>
        <p:nvSpPr>
          <p:cNvPr id="17" name="Rounded Rectangle 16"/>
          <p:cNvSpPr/>
          <p:nvPr/>
        </p:nvSpPr>
        <p:spPr>
          <a:xfrm>
            <a:off x="6309265" y="2328577"/>
            <a:ext cx="5212270" cy="2523554"/>
          </a:xfrm>
          <a:prstGeom prst="roundRect">
            <a:avLst>
              <a:gd name="adj" fmla="val 7730"/>
            </a:avLst>
          </a:prstGeom>
          <a:solidFill>
            <a:srgbClr val="FFFFFF"/>
          </a:solidFill>
          <a:ln w="9525">
            <a:solidFill>
              <a:srgbClr val="D8D8D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318790" y="2338102"/>
            <a:ext cx="5193220" cy="37357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6318790" y="2702147"/>
            <a:ext cx="5193220" cy="9525"/>
          </a:xfrm>
          <a:prstGeom prst="rect">
            <a:avLst/>
          </a:prstGeom>
          <a:solidFill>
            <a:srgbClr val="D8D8D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6489382" y="2478119"/>
            <a:ext cx="83820" cy="8382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Oval 20"/>
          <p:cNvSpPr/>
          <p:nvPr/>
        </p:nvSpPr>
        <p:spPr>
          <a:xfrm>
            <a:off x="6654260" y="2478119"/>
            <a:ext cx="83820" cy="8382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Oval 21"/>
          <p:cNvSpPr/>
          <p:nvPr/>
        </p:nvSpPr>
        <p:spPr>
          <a:xfrm>
            <a:off x="6819138" y="2478119"/>
            <a:ext cx="83820" cy="8382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0595229" y="2448211"/>
            <a:ext cx="561118" cy="142875"/>
          </a:xfrm>
          <a:prstGeom prst="rect">
            <a:avLst/>
          </a:prstGeom>
          <a:noFill/>
        </p:spPr>
        <p:txBody>
          <a:bodyPr wrap="none" anchor="ctr" lIns="0" tIns="0" rIns="0" bIns="0">
            <a:noAutofit/>
          </a:bodyPr>
          <a:lstStyle/>
          <a:p>
            <a:pPr algn="l">
              <a:lnSpc>
                <a:spcPts val="980"/>
              </a:lnSpc>
              <a:spcBef>
                <a:spcPts val="0"/>
              </a:spcBef>
              <a:spcAft>
                <a:spcPts val="0"/>
              </a:spcAft>
            </a:pPr>
            <a:r>
              <a:rPr sz="980" b="0" i="0" u="none" spc="98">
                <a:solidFill>
                  <a:srgbClr val="6E6E78"/>
                </a:solidFill>
                <a:latin typeface="Courier New"/>
              </a:rPr>
              <a:t>PYTHON</a:t>
            </a:r>
          </a:p>
        </p:txBody>
      </p:sp>
      <p:sp>
        <p:nvSpPr>
          <p:cNvPr id="24" name="TextBox 23"/>
          <p:cNvSpPr txBox="1"/>
          <p:nvPr/>
        </p:nvSpPr>
        <p:spPr>
          <a:xfrm>
            <a:off x="6562534" y="2969133"/>
            <a:ext cx="4795270" cy="1654016"/>
          </a:xfrm>
          <a:prstGeom prst="rect">
            <a:avLst/>
          </a:prstGeom>
          <a:noFill/>
        </p:spPr>
        <p:txBody>
          <a:bodyPr wrap="square" anchor="ctr" lIns="0" tIns="0" rIns="0" bIns="0">
            <a:noAutofit/>
          </a:bodyPr>
          <a:lstStyle/>
          <a:p>
            <a:pPr algn="l">
              <a:lnSpc>
                <a:spcPts val="2664"/>
              </a:lnSpc>
              <a:spcBef>
                <a:spcPts val="0"/>
              </a:spcBef>
              <a:spcAft>
                <a:spcPts val="0"/>
              </a:spcAft>
            </a:pPr>
            <a:r>
              <a:rPr sz="1776" b="0" i="0" u="none">
                <a:solidFill>
                  <a:srgbClr val="1F1F1F"/>
                </a:solidFill>
                <a:latin typeface="Courier New"/>
              </a:rPr>
              <a:t>scaler = StandardScaler()</a:t>
            </a:r>
          </a:p>
          <a:p>
            <a:pPr algn="l">
              <a:lnSpc>
                <a:spcPts val="2664"/>
              </a:lnSpc>
              <a:spcBef>
                <a:spcPts val="0"/>
              </a:spcBef>
              <a:spcAft>
                <a:spcPts val="0"/>
              </a:spcAft>
            </a:pPr>
            <a:r>
              <a:rPr sz="1776" b="0" i="0" u="none">
                <a:solidFill>
                  <a:srgbClr val="1F1F1F"/>
                </a:solidFill>
                <a:latin typeface="Courier New"/>
              </a:rPr>
              <a:t>scaler.fit(X_train)            </a:t>
            </a:r>
            <a:r>
              <a:rPr sz="1776" b="0" i="1" u="none">
                <a:solidFill>
                  <a:srgbClr val="008000"/>
                </a:solidFill>
                <a:latin typeface="Courier New"/>
              </a:rPr>
              <a:t># train only</a:t>
            </a:r>
          </a:p>
          <a:p>
            <a:pPr algn="l">
              <a:lnSpc>
                <a:spcPts val="2664"/>
              </a:lnSpc>
              <a:spcBef>
                <a:spcPts val="0"/>
              </a:spcBef>
              <a:spcAft>
                <a:spcPts val="0"/>
              </a:spcAft>
            </a:pPr>
            <a:r>
              <a:rPr sz="1776" b="0" i="0" u="none">
                <a:solidFill>
                  <a:srgbClr val="1F1F1F"/>
                </a:solidFill>
                <a:latin typeface="Courier New"/>
              </a:rPr>
              <a:t>X_val  = scaler.transform(X_val)</a:t>
            </a:r>
          </a:p>
          <a:p>
            <a:pPr algn="l">
              <a:lnSpc>
                <a:spcPts val="2664"/>
              </a:lnSpc>
              <a:spcBef>
                <a:spcPts val="0"/>
              </a:spcBef>
              <a:spcAft>
                <a:spcPts val="0"/>
              </a:spcAft>
            </a:pPr>
            <a:r>
              <a:rPr sz="1776" b="0" i="0" u="none">
                <a:solidFill>
                  <a:srgbClr val="1F1F1F"/>
                </a:solidFill>
                <a:latin typeface="Courier New"/>
              </a:rPr>
              <a:t>X_test = scaler.transform(X_test)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media as a small aligned grid</a:t>
            </a:r>
          </a:p>
        </p:txBody>
      </p:sp>
      <p:sp>
        <p:nvSpPr>
          <p:cNvPr id="5" name="Rounded Rectangle 4"/>
          <p:cNvSpPr/>
          <p:nvPr/>
        </p:nvSpPr>
        <p:spPr>
          <a:xfrm>
            <a:off x="670465" y="1813179"/>
            <a:ext cx="2991898" cy="4372737"/>
          </a:xfrm>
          <a:prstGeom prst="roundRect">
            <a:avLst>
              <a:gd name="adj" fmla="val 815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154460"/>
            <a:ext cx="707041" cy="707041"/>
          </a:xfrm>
          <a:prstGeom prst="rect">
            <a:avLst/>
          </a:prstGeom>
        </p:spPr>
      </p:pic>
      <p:sp>
        <p:nvSpPr>
          <p:cNvPr id="7" name="TextBox 6"/>
          <p:cNvSpPr txBox="1"/>
          <p:nvPr/>
        </p:nvSpPr>
        <p:spPr>
          <a:xfrm>
            <a:off x="1877282" y="2144935"/>
            <a:ext cx="1534006"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Early stopping</a:t>
            </a:r>
          </a:p>
        </p:txBody>
      </p:sp>
      <p:sp>
        <p:nvSpPr>
          <p:cNvPr id="8" name="TextBox 7"/>
          <p:cNvSpPr txBox="1"/>
          <p:nvPr/>
        </p:nvSpPr>
        <p:spPr>
          <a:xfrm>
            <a:off x="1877282" y="3012091"/>
            <a:ext cx="1533909"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Cheapest of the lot: stop when validation turns.</a:t>
            </a:r>
          </a:p>
        </p:txBody>
      </p:sp>
      <p:sp>
        <p:nvSpPr>
          <p:cNvPr id="9" name="Rounded Rectangle 8"/>
          <p:cNvSpPr/>
          <p:nvPr/>
        </p:nvSpPr>
        <p:spPr>
          <a:xfrm>
            <a:off x="3930587" y="1813179"/>
            <a:ext cx="2631853" cy="4372737"/>
          </a:xfrm>
          <a:prstGeom prst="roundRect">
            <a:avLst>
              <a:gd name="adj" fmla="val 926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4223194" y="2154460"/>
            <a:ext cx="707041" cy="707041"/>
          </a:xfrm>
          <a:prstGeom prst="rect">
            <a:avLst/>
          </a:prstGeom>
        </p:spPr>
      </p:pic>
      <p:sp>
        <p:nvSpPr>
          <p:cNvPr id="11" name="TextBox 10"/>
          <p:cNvSpPr txBox="1"/>
          <p:nvPr/>
        </p:nvSpPr>
        <p:spPr>
          <a:xfrm>
            <a:off x="5137404" y="2144935"/>
            <a:ext cx="1172524"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More data</a:t>
            </a:r>
          </a:p>
        </p:txBody>
      </p:sp>
      <p:sp>
        <p:nvSpPr>
          <p:cNvPr id="12" name="TextBox 11"/>
          <p:cNvSpPr txBox="1"/>
          <p:nvPr/>
        </p:nvSpPr>
        <p:spPr>
          <a:xfrm>
            <a:off x="5137404" y="3012091"/>
            <a:ext cx="1172524"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one that always works, and the one nobody has.</a:t>
            </a:r>
          </a:p>
        </p:txBody>
      </p:sp>
      <p:sp>
        <p:nvSpPr>
          <p:cNvPr id="13" name="Rectangle 12"/>
          <p:cNvSpPr/>
          <p:nvPr/>
        </p:nvSpPr>
        <p:spPr>
          <a:xfrm>
            <a:off x="6989159" y="1775555"/>
            <a:ext cx="4532281" cy="3706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989159" y="2108073"/>
            <a:ext cx="4532281"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989159" y="1775555"/>
            <a:ext cx="2218468"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Situation</a:t>
            </a:r>
          </a:p>
        </p:txBody>
      </p:sp>
      <p:sp>
        <p:nvSpPr>
          <p:cNvPr id="16" name="TextBox 15"/>
          <p:cNvSpPr txBox="1"/>
          <p:nvPr/>
        </p:nvSpPr>
        <p:spPr>
          <a:xfrm>
            <a:off x="9341072" y="1775555"/>
            <a:ext cx="2218468"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Reach for</a:t>
            </a:r>
          </a:p>
        </p:txBody>
      </p:sp>
      <p:sp>
        <p:nvSpPr>
          <p:cNvPr id="17" name="TextBox 16"/>
          <p:cNvSpPr txBox="1"/>
          <p:nvPr/>
        </p:nvSpPr>
        <p:spPr>
          <a:xfrm>
            <a:off x="6989159" y="2406301"/>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Small tabular net</a:t>
            </a:r>
          </a:p>
        </p:txBody>
      </p:sp>
      <p:sp>
        <p:nvSpPr>
          <p:cNvPr id="18" name="Rounded Rectangle 17"/>
          <p:cNvSpPr/>
          <p:nvPr/>
        </p:nvSpPr>
        <p:spPr>
          <a:xfrm>
            <a:off x="9334214" y="2274856"/>
            <a:ext cx="2187226"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9526619" y="2406301"/>
            <a:ext cx="184032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L2</a:t>
            </a:r>
          </a:p>
        </p:txBody>
      </p:sp>
      <p:sp>
        <p:nvSpPr>
          <p:cNvPr id="20" name="TextBox 19"/>
          <p:cNvSpPr txBox="1"/>
          <p:nvPr/>
        </p:nvSpPr>
        <p:spPr>
          <a:xfrm>
            <a:off x="6989159" y="3082671"/>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Deep net</a:t>
            </a:r>
          </a:p>
        </p:txBody>
      </p:sp>
      <p:sp>
        <p:nvSpPr>
          <p:cNvPr id="21" name="Rounded Rectangle 20"/>
          <p:cNvSpPr/>
          <p:nvPr/>
        </p:nvSpPr>
        <p:spPr>
          <a:xfrm>
            <a:off x="9334214" y="2951226"/>
            <a:ext cx="2187226"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9526619" y="3082671"/>
            <a:ext cx="184032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Dropout</a:t>
            </a:r>
          </a:p>
        </p:txBody>
      </p:sp>
      <p:sp>
        <p:nvSpPr>
          <p:cNvPr id="23" name="TextBox 22"/>
          <p:cNvSpPr txBox="1"/>
          <p:nvPr/>
        </p:nvSpPr>
        <p:spPr>
          <a:xfrm>
            <a:off x="6989159" y="3882485"/>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Vision</a:t>
            </a:r>
          </a:p>
        </p:txBody>
      </p:sp>
      <p:sp>
        <p:nvSpPr>
          <p:cNvPr id="24" name="Rounded Rectangle 23"/>
          <p:cNvSpPr/>
          <p:nvPr/>
        </p:nvSpPr>
        <p:spPr>
          <a:xfrm>
            <a:off x="9334214" y="3627692"/>
            <a:ext cx="2187226"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9526619" y="3759137"/>
            <a:ext cx="1848309"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Augmentation first</a:t>
            </a:r>
          </a:p>
        </p:txBody>
      </p:sp>
      <p:sp>
        <p:nvSpPr>
          <p:cNvPr id="26" name="TextBox 25"/>
          <p:cNvSpPr txBox="1"/>
          <p:nvPr/>
        </p:nvSpPr>
        <p:spPr>
          <a:xfrm>
            <a:off x="6989159" y="4805648"/>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Transformers</a:t>
            </a:r>
          </a:p>
        </p:txBody>
      </p:sp>
      <p:sp>
        <p:nvSpPr>
          <p:cNvPr id="27" name="Rounded Rectangle 26"/>
          <p:cNvSpPr/>
          <p:nvPr/>
        </p:nvSpPr>
        <p:spPr>
          <a:xfrm>
            <a:off x="9334214" y="4550854"/>
            <a:ext cx="2187226"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526619" y="4682300"/>
            <a:ext cx="1848309"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Both, plus warmup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stat band under the body</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Two figures that comment on the body — without making the whole slide a stat.</a:t>
            </a:r>
          </a:p>
        </p:txBody>
      </p:sp>
      <p:sp>
        <p:nvSpPr>
          <p:cNvPr id="6" name="Oval 5"/>
          <p:cNvSpPr/>
          <p:nvPr/>
        </p:nvSpPr>
        <p:spPr>
          <a:xfrm>
            <a:off x="670465" y="2604421"/>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513743"/>
            <a:ext cx="5010381" cy="116948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The hook is a contrast</a:t>
            </a:r>
            <a:r>
              <a:rPr sz="2400" b="0" i="0" u="none">
                <a:solidFill>
                  <a:srgbClr val="3B3535"/>
                </a:solidFill>
                <a:latin typeface="Arial"/>
              </a:rPr>
              <a:t>: A pair of numbers can carry a slide's opening without being its structure.</a:t>
            </a:r>
          </a:p>
        </p:txBody>
      </p:sp>
      <p:sp>
        <p:nvSpPr>
          <p:cNvPr id="8" name="Rounded Rectangle 7"/>
          <p:cNvSpPr/>
          <p:nvPr/>
        </p:nvSpPr>
        <p:spPr>
          <a:xfrm>
            <a:off x="670465" y="4048887"/>
            <a:ext cx="2458784" cy="1749171"/>
          </a:xfrm>
          <a:prstGeom prst="roundRect">
            <a:avLst>
              <a:gd name="adj" fmla="val 1394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89826" y="4254532"/>
            <a:ext cx="2058162" cy="685800"/>
          </a:xfrm>
          <a:prstGeom prst="rect">
            <a:avLst/>
          </a:prstGeom>
          <a:noFill/>
        </p:spPr>
        <p:txBody>
          <a:bodyPr wrap="none" anchor="ctr" lIns="0" tIns="0" rIns="0" bIns="0">
            <a:noAutofit/>
          </a:bodyPr>
          <a:lstStyle/>
          <a:p>
            <a:pPr algn="l">
              <a:lnSpc>
                <a:spcPts val="4800"/>
              </a:lnSpc>
              <a:spcBef>
                <a:spcPts val="0"/>
              </a:spcBef>
              <a:spcAft>
                <a:spcPts val="0"/>
              </a:spcAft>
            </a:pPr>
            <a:r>
              <a:rPr sz="4800" b="1" i="0" u="none" spc="-96">
                <a:solidFill>
                  <a:srgbClr val="DA1B2E"/>
                </a:solidFill>
                <a:latin typeface="Arial"/>
              </a:rPr>
              <a:t>99%</a:t>
            </a:r>
          </a:p>
        </p:txBody>
      </p:sp>
      <p:sp>
        <p:nvSpPr>
          <p:cNvPr id="10" name="TextBox 9"/>
          <p:cNvSpPr txBox="1"/>
          <p:nvPr/>
        </p:nvSpPr>
        <p:spPr>
          <a:xfrm>
            <a:off x="889826" y="4984814"/>
            <a:ext cx="2069413" cy="569309"/>
          </a:xfrm>
          <a:prstGeom prst="rect">
            <a:avLst/>
          </a:prstGeom>
          <a:noFill/>
        </p:spPr>
        <p:txBody>
          <a:bodyPr wrap="square" anchor="ctr" lIns="0" tIns="0" rIns="0" bIns="0">
            <a:noAutofit/>
          </a:bodyPr>
          <a:lstStyle/>
          <a:p>
            <a:pPr algn="l">
              <a:lnSpc>
                <a:spcPts val="2280"/>
              </a:lnSpc>
              <a:spcBef>
                <a:spcPts val="0"/>
              </a:spcBef>
              <a:spcAft>
                <a:spcPts val="0"/>
              </a:spcAft>
            </a:pPr>
            <a:r>
              <a:rPr sz="1823" b="0" i="0" u="none">
                <a:solidFill>
                  <a:srgbClr val="3B3535"/>
                </a:solidFill>
                <a:latin typeface="Arial"/>
              </a:rPr>
              <a:t>accuracy on the imbalanced set</a:t>
            </a:r>
          </a:p>
        </p:txBody>
      </p:sp>
      <p:sp>
        <p:nvSpPr>
          <p:cNvPr id="11" name="Rounded Rectangle 10"/>
          <p:cNvSpPr/>
          <p:nvPr/>
        </p:nvSpPr>
        <p:spPr>
          <a:xfrm>
            <a:off x="3421856" y="4048887"/>
            <a:ext cx="2458784" cy="1749171"/>
          </a:xfrm>
          <a:prstGeom prst="roundRect">
            <a:avLst>
              <a:gd name="adj" fmla="val 1394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3641217" y="4254532"/>
            <a:ext cx="2058162" cy="685800"/>
          </a:xfrm>
          <a:prstGeom prst="rect">
            <a:avLst/>
          </a:prstGeom>
          <a:noFill/>
        </p:spPr>
        <p:txBody>
          <a:bodyPr wrap="none" anchor="ctr" lIns="0" tIns="0" rIns="0" bIns="0">
            <a:noAutofit/>
          </a:bodyPr>
          <a:lstStyle/>
          <a:p>
            <a:pPr algn="l">
              <a:lnSpc>
                <a:spcPts val="4800"/>
              </a:lnSpc>
              <a:spcBef>
                <a:spcPts val="0"/>
              </a:spcBef>
              <a:spcAft>
                <a:spcPts val="0"/>
              </a:spcAft>
            </a:pPr>
            <a:r>
              <a:rPr sz="4800" b="1" i="0" u="none" spc="-96">
                <a:solidFill>
                  <a:srgbClr val="DA1B2E"/>
                </a:solidFill>
                <a:latin typeface="Arial"/>
              </a:rPr>
              <a:t>0 / 100</a:t>
            </a:r>
          </a:p>
        </p:txBody>
      </p:sp>
      <p:sp>
        <p:nvSpPr>
          <p:cNvPr id="13" name="TextBox 12"/>
          <p:cNvSpPr txBox="1"/>
          <p:nvPr/>
        </p:nvSpPr>
        <p:spPr>
          <a:xfrm>
            <a:off x="3641217" y="4984814"/>
            <a:ext cx="2069413" cy="569309"/>
          </a:xfrm>
          <a:prstGeom prst="rect">
            <a:avLst/>
          </a:prstGeom>
          <a:noFill/>
        </p:spPr>
        <p:txBody>
          <a:bodyPr wrap="square" anchor="ctr" lIns="0" tIns="0" rIns="0" bIns="0">
            <a:noAutofit/>
          </a:bodyPr>
          <a:lstStyle/>
          <a:p>
            <a:pPr algn="l">
              <a:lnSpc>
                <a:spcPts val="2280"/>
              </a:lnSpc>
              <a:spcBef>
                <a:spcPts val="0"/>
              </a:spcBef>
              <a:spcAft>
                <a:spcPts val="0"/>
              </a:spcAft>
            </a:pPr>
            <a:r>
              <a:rPr sz="1823" b="0" i="0" u="none">
                <a:solidFill>
                  <a:srgbClr val="3B3535"/>
                </a:solidFill>
                <a:latin typeface="Arial"/>
              </a:rPr>
              <a:t>frauds actually caught</a:t>
            </a:r>
          </a:p>
        </p:txBody>
      </p:sp>
      <p:sp>
        <p:nvSpPr>
          <p:cNvPr id="14" name="Rounded Rectangle 13"/>
          <p:cNvSpPr/>
          <p:nvPr/>
        </p:nvSpPr>
        <p:spPr>
          <a:xfrm>
            <a:off x="6309265" y="2192369"/>
            <a:ext cx="5882735" cy="4056031"/>
          </a:xfrm>
          <a:prstGeom prst="roundRect">
            <a:avLst>
              <a:gd name="adj" fmla="val 4208"/>
            </a:avLst>
          </a:prstGeom>
          <a:no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080468" y="4085463"/>
            <a:ext cx="1706308" cy="257175"/>
          </a:xfrm>
          <a:prstGeom prst="rect">
            <a:avLst/>
          </a:prstGeom>
          <a:noFill/>
        </p:spPr>
        <p:txBody>
          <a:bodyPr wrap="none" anchor="ctr" lIns="0" tIns="0" rIns="0" bIns="0">
            <a:noAutofit/>
          </a:bodyPr>
          <a:lstStyle/>
          <a:p>
            <a:pPr algn="l">
              <a:lnSpc>
                <a:spcPts val="1823"/>
              </a:lnSpc>
              <a:spcBef>
                <a:spcPts val="0"/>
              </a:spcBef>
              <a:spcAft>
                <a:spcPts val="0"/>
              </a:spcAft>
            </a:pPr>
            <a:r>
              <a:rPr sz="1823" b="0" i="0" u="none">
                <a:solidFill>
                  <a:srgbClr val="999999"/>
                </a:solidFill>
                <a:latin typeface="Courier New"/>
              </a:rPr>
              <a:t>The pipeline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430083" y="2001869"/>
            <a:ext cx="9369933"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CLOSING</a:t>
            </a:r>
          </a:p>
        </p:txBody>
      </p:sp>
      <p:sp>
        <p:nvSpPr>
          <p:cNvPr id="3" name="TextBox 2"/>
          <p:cNvSpPr txBox="1"/>
          <p:nvPr/>
        </p:nvSpPr>
        <p:spPr>
          <a:xfrm>
            <a:off x="1430083" y="2795397"/>
            <a:ext cx="9369933" cy="1219200"/>
          </a:xfrm>
          <a:prstGeom prst="rect">
            <a:avLst/>
          </a:prstGeom>
          <a:noFill/>
        </p:spPr>
        <p:txBody>
          <a:bodyPr wrap="none" anchor="ctr" lIns="0" tIns="0" rIns="0" bIns="0">
            <a:noAutofit/>
          </a:bodyPr>
          <a:lstStyle/>
          <a:p>
            <a:pPr algn="l">
              <a:lnSpc>
                <a:spcPts val="8640"/>
              </a:lnSpc>
              <a:spcBef>
                <a:spcPts val="0"/>
              </a:spcBef>
              <a:spcAft>
                <a:spcPts val="0"/>
              </a:spcAft>
            </a:pPr>
            <a:r>
              <a:rPr sz="8640" b="1" i="0" u="none" spc="-172">
                <a:solidFill>
                  <a:srgbClr val="1F1E1E"/>
                </a:solidFill>
                <a:latin typeface="Arial"/>
              </a:rPr>
              <a:t>Questions?</a:t>
            </a:r>
          </a:p>
        </p:txBody>
      </p:sp>
      <p:sp>
        <p:nvSpPr>
          <p:cNvPr id="4" name="TextBox 3"/>
          <p:cNvSpPr txBox="1"/>
          <p:nvPr/>
        </p:nvSpPr>
        <p:spPr>
          <a:xfrm>
            <a:off x="1430083" y="4223480"/>
            <a:ext cx="9490860" cy="625983"/>
          </a:xfrm>
          <a:prstGeom prst="rect">
            <a:avLst/>
          </a:prstGeom>
          <a:noFill/>
        </p:spPr>
        <p:txBody>
          <a:bodyPr wrap="square" anchor="ctr" lIns="0" tIns="0" rIns="0" bIns="0">
            <a:noAutofit/>
          </a:bodyPr>
          <a:lstStyle/>
          <a:p>
            <a:pPr algn="l">
              <a:lnSpc>
                <a:spcPts val="2304"/>
              </a:lnSpc>
              <a:spcBef>
                <a:spcPts val="0"/>
              </a:spcBef>
              <a:spcAft>
                <a:spcPts val="0"/>
              </a:spcAft>
            </a:pPr>
            <a:r>
              <a:rPr sz="2304" b="0" i="0" u="none">
                <a:solidFill>
                  <a:srgbClr val="3B3535"/>
                </a:solidFill>
                <a:latin typeface="Courier New"/>
              </a:rPr>
              <a:t>Thanks for flipping through the Talksmith template catalog.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12680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82372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CLOSING</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Where to go next</a:t>
            </a:r>
          </a:p>
        </p:txBody>
      </p:sp>
      <p:sp>
        <p:nvSpPr>
          <p:cNvPr id="5" name="Rounded Rectangle 4"/>
          <p:cNvSpPr/>
          <p:nvPr/>
        </p:nvSpPr>
        <p:spPr>
          <a:xfrm>
            <a:off x="670465" y="1813179"/>
            <a:ext cx="5290376" cy="2182082"/>
          </a:xfrm>
          <a:prstGeom prst="roundRect">
            <a:avLst>
              <a:gd name="adj" fmla="val 1117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105787"/>
            <a:ext cx="560832" cy="560832"/>
          </a:xfrm>
          <a:prstGeom prst="rect">
            <a:avLst/>
          </a:prstGeom>
        </p:spPr>
      </p:pic>
      <p:sp>
        <p:nvSpPr>
          <p:cNvPr id="7" name="TextBox 6"/>
          <p:cNvSpPr txBox="1"/>
          <p:nvPr/>
        </p:nvSpPr>
        <p:spPr>
          <a:xfrm>
            <a:off x="963073" y="2745010"/>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Schema</a:t>
            </a:r>
          </a:p>
        </p:txBody>
      </p:sp>
      <p:sp>
        <p:nvSpPr>
          <p:cNvPr id="8" name="TextBox 7"/>
          <p:cNvSpPr txBox="1"/>
          <p:nvPr/>
        </p:nvSpPr>
        <p:spPr>
          <a:xfrm>
            <a:off x="963073" y="3171634"/>
            <a:ext cx="4743260" cy="285750"/>
          </a:xfrm>
          <a:prstGeom prst="rect">
            <a:avLst/>
          </a:prstGeom>
          <a:noFill/>
        </p:spPr>
        <p:txBody>
          <a:bodyPr wrap="none" anchor="ctr" lIns="0" tIns="0" rIns="0" bIns="0">
            <a:noAutofit/>
          </a:bodyPr>
          <a:lstStyle/>
          <a:p>
            <a:pPr algn="l">
              <a:lnSpc>
                <a:spcPts val="2016"/>
              </a:lnSpc>
              <a:spcBef>
                <a:spcPts val="0"/>
              </a:spcBef>
              <a:spcAft>
                <a:spcPts val="0"/>
              </a:spcAft>
            </a:pPr>
            <a:r>
              <a:rPr sz="2016" b="0" i="0" u="none">
                <a:solidFill>
                  <a:srgbClr val="DA1B2E"/>
                </a:solidFill>
                <a:latin typeface="Courier New"/>
              </a:rPr>
              <a:t>schemas/slide-model.md</a:t>
            </a:r>
          </a:p>
        </p:txBody>
      </p:sp>
      <p:sp>
        <p:nvSpPr>
          <p:cNvPr id="9" name="Rounded Rectangle 8"/>
          <p:cNvSpPr/>
          <p:nvPr/>
        </p:nvSpPr>
        <p:spPr>
          <a:xfrm>
            <a:off x="6229064" y="1813179"/>
            <a:ext cx="5290376" cy="2182082"/>
          </a:xfrm>
          <a:prstGeom prst="roundRect">
            <a:avLst>
              <a:gd name="adj" fmla="val 1117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2105787"/>
            <a:ext cx="560832" cy="560832"/>
          </a:xfrm>
          <a:prstGeom prst="rect">
            <a:avLst/>
          </a:prstGeom>
        </p:spPr>
      </p:pic>
      <p:sp>
        <p:nvSpPr>
          <p:cNvPr id="11" name="TextBox 10"/>
          <p:cNvSpPr txBox="1"/>
          <p:nvPr/>
        </p:nvSpPr>
        <p:spPr>
          <a:xfrm>
            <a:off x="6521672" y="2745010"/>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Catalog</a:t>
            </a:r>
          </a:p>
        </p:txBody>
      </p:sp>
      <p:sp>
        <p:nvSpPr>
          <p:cNvPr id="12" name="TextBox 11"/>
          <p:cNvSpPr txBox="1"/>
          <p:nvPr/>
        </p:nvSpPr>
        <p:spPr>
          <a:xfrm>
            <a:off x="6521672" y="3171634"/>
            <a:ext cx="4794787" cy="541782"/>
          </a:xfrm>
          <a:prstGeom prst="rect">
            <a:avLst/>
          </a:prstGeom>
          <a:noFill/>
        </p:spPr>
        <p:txBody>
          <a:bodyPr wrap="square" anchor="ctr" lIns="0" tIns="0" rIns="0" bIns="0">
            <a:noAutofit/>
          </a:bodyPr>
          <a:lstStyle/>
          <a:p>
            <a:pPr algn="l">
              <a:lnSpc>
                <a:spcPts val="2016"/>
              </a:lnSpc>
              <a:spcBef>
                <a:spcPts val="0"/>
              </a:spcBef>
              <a:spcAft>
                <a:spcPts val="0"/>
              </a:spcAft>
            </a:pPr>
            <a:r>
              <a:rPr sz="2016" b="0" i="0" u="none">
                <a:solidFill>
                  <a:srgbClr val="DA1B2E"/>
                </a:solidFill>
                <a:latin typeface="Courier New"/>
              </a:rPr>
              <a:t>config/pptx-styles/slide-templates.md</a:t>
            </a:r>
          </a:p>
        </p:txBody>
      </p:sp>
      <p:sp>
        <p:nvSpPr>
          <p:cNvPr id="13" name="Rounded Rectangle 12"/>
          <p:cNvSpPr/>
          <p:nvPr/>
        </p:nvSpPr>
        <p:spPr>
          <a:xfrm>
            <a:off x="670465" y="4263485"/>
            <a:ext cx="5290376" cy="1926146"/>
          </a:xfrm>
          <a:prstGeom prst="roundRect">
            <a:avLst>
              <a:gd name="adj" fmla="val 1265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63073" y="4556093"/>
            <a:ext cx="560832" cy="560832"/>
          </a:xfrm>
          <a:prstGeom prst="rect">
            <a:avLst/>
          </a:prstGeom>
        </p:spPr>
      </p:pic>
      <p:sp>
        <p:nvSpPr>
          <p:cNvPr id="15" name="TextBox 14"/>
          <p:cNvSpPr txBox="1"/>
          <p:nvPr/>
        </p:nvSpPr>
        <p:spPr>
          <a:xfrm>
            <a:off x="963073" y="5195316"/>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Repo</a:t>
            </a:r>
          </a:p>
        </p:txBody>
      </p:sp>
      <p:sp>
        <p:nvSpPr>
          <p:cNvPr id="16" name="TextBox 15"/>
          <p:cNvSpPr txBox="1"/>
          <p:nvPr/>
        </p:nvSpPr>
        <p:spPr>
          <a:xfrm>
            <a:off x="963073" y="5621941"/>
            <a:ext cx="474326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sng">
                <a:solidFill>
                  <a:srgbClr val="DA1B2E"/>
                </a:solidFill>
                <a:latin typeface="Courier New"/>
                <a:hlinkClick r:id="rId5"/>
              </a:rPr>
              <a:t>github.com/austral/talksmith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