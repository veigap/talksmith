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1695" cy="6858000"/>
  <p:notesSz cx="6858000" cy="12191695"/>
  <p:embeddedFontLst>
    <p:embeddedFont>
      <p:font typeface="Roboto"/>
      <p:regular r:id="rId201314"/>
    </p:embeddedFont>
    <p:embeddedFont>
      <p:font typeface="Roboto Medium"/>
      <p:regular r:id="rId201315"/>
    </p:embeddedFont>
    <p:embeddedFont>
      <p:font typeface="Roboto Bold"/>
      <p:regular r:id="rId201316"/>
    </p:embeddedFont>
    <p:embeddedFont>
      <p:font typeface="Roboto Mono"/>
      <p:regular r:id="rId201317"/>
    </p:embeddedFont>
    <p:embeddedFont>
      <p:font typeface="Roboto Mono Medium"/>
      <p:regular r:id="rId201318"/>
    </p:embeddedFont>
    <p:embeddedFont>
      <p:font typeface="Roboto Mono Bold"/>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Discurso Sugerido: "Bienvenidos. Hoy vamos a desmitificar la Inteligencia Artificial. Intuitivamente, solemos pensar en la IA como 'máquinas haciendo cosas que requerirían inteligencia si las hiciera un humano'. Pero si queremos ser rigurosos, como proponen Russell y Norvig, la IA es el diseño de agentes racionales: sistemas que perciben su entorno y toman acciones para maximizar sus posibilidades de éxito en un objetivo dado. No se trata de crear humanos sintéticos, sino de resolver problemas complejos con matemáticas a gran escala."
Contexto Técnico Profundo: La definición de agente racional evita el debate filosófico sobre la "conciencia" y se centra en la función matemática que mapea secuencias de percepciones a acciones (arquitectura de agentes).
Enlace Recomendado: Sitio oficial del libro "Artificial Intelligence: A Modern Approach" (Russell &amp; Norvig)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Primera vez que dictamos esta materia (contar brevemente la historia de la materia).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tienes una oportunidad de oro para lucirte mencionando a AlphaFold (de Google DeepMind). Antes, descubrir cómo se plegaba una proteína en 3D tomaba años de ensayos en laboratorio y millones de dólares; la IA resolvió este problema biológico en minutos, cambiando la ciencia para siempre. Por otro lado, es fundamental que le hables a la clase sobre los riesgos: la IA a veces 'alucina' (inventa información confiable). Por eso, en medicina se utiliza el concepto de 'Human-in-the-loop' (el humano en el circuito). La frase de cabecera que puedes usar con tus alumnos es: 'La inteligencia artificial no reemplazará a los médicos, pero los médicos que usan inteligencia artificial reemplazarán a los que no lo hacen'.
Our analysis finds that generative AI could have a significant impact on the pharmaceutical and medical-product industries—from 2.6 to 4.5 percent of annual revenues across the pharmaceutical and medical-product industries, or $60 billion to $110 billion annually. This big potential reflects the resource-intensive process of discovering new drug compounds. Pharma companies typically spend approximately 20 percent of revenues on R&amp;D,1 and the development of a new drug takes an average of ten to 15 years. With this level of spending and timeline, improving the speed and quality of R&amp;D can generate substantial value. For example, lead identification—a step in the drug discovery process in which researchers identify a molecule that would best address the target for a potential new drug—can take several months even with “traditional” deep learning techniques. Foundation models and generative AI can enable organizations to complete this step in a matter of weeks.
Generative AI at work in pharmaceuticals and medical products
Drug discovery involves narrowing the universe of possible compounds to those that could effectively treat specific conditions. Generative AI’s ability to process massive amounts of data and model options can accelerate output across several use cases:
Improve automation of preliminary screening
In the lead identification stage of drug development, scientists can use foundation models to automate the preliminary screening of chemicals in the search for those that will produce specific effects on drug targets. To start, thousands of cell cultures are tested and paired with images of the corresponding experiment. Using an off-the-shelf foundation model, researchers can cluster similar images more precisely than they can with traditional models, enabling them to select the most promising chemicals for further analysis during lead optimization.
Enhance indication finding
An important phase of drug discovery involves the identification and prioritization of new indications—that is, diseases, symptoms, or circumstances that justify the use of a specific medication or other treatment, such as a test, procedure, or surgery. Possible indications for a given drug are based on a patient group’s clinical history and medical records, and they are then prioritized based on their similarities to established and evidence-backed indications.
Researchers start by mapping the patient cohort’s clinical events and medical histories—including potential diagnoses, prescribed medications, and performed procedures—from real-world data. Using foundation models, researchers can quantify clinical events, establish relationships, and measure the similarity between the patient cohort and evidence-backed indications. The result is a short list of indications that have a better probability of success in clinical trials because they can be more accurately matched to appropriate patient groups.
Pharma companies that have used this approach have reported high success rates in clinical trials for the top five indications recommended by a foundation model for a tested drug. This success has allowed these drugs to progress smoothly into Phase 3 trials, significantly accelerating the drug development process.
Factors for pharmaceuticals and medical products organizations to consider
Before integrating generative AI into operations, pharma executives should be aware of some factors that could limit their ability to capture its benefits:
The need for a human in the loop. Companies may need to implement new quality checks on processes that shift from humans to generative AI, such as representative-generated emails, or more detailed quality checks on AI-assisted processes, such as drug discovery. The increasing need to verify whether generated content is based on fact or inference elevates the need for a new level of quality control.
Explainability. A lack of transparency into the origins of generated content and traceability of root data could make it difficult to update models and scan them for potential risks; for instance, a generative AI solution for synthesizing scientific literature may not be able to point to the specific articles or quotes that led it to infer that a new treatment is very popular among physicians. The technology can also “hallucinate,” or generate responses that are obviously incorrect or inappropriate for the context. Systems need to be designed to point to specific articles or data sources, and then do human-in-the-loop checking.
Privacy considerations. Generative AI’s use of clinical images and medical records could increase the risk that protected health information will leak, potentially violating regulations that require pharma companies to protect patient privacy.
“will be more
important to doctors than the stethoscope in the past” (20). Several LMMs have passed the
US medical licensing examination; however, passing a written medical test by regurgitating
medical knowledge is not the same as providing safe, effective clinical services (21), and LMMs
have failed tests with material not previously published online or that could be easily solved
by children (22). One study of the clinical knowledge of a large language model concluded that
“transitioning from a large language model that is used for answering medical questions to
a tool that can be used by healthcare providers, administrators, and consumers will require
considerable additional research to ensure the safety, reliability, efficacy and privacy of the
technology”
-
Inaccurate, incomplete, biased or false responses: One concern with respect to LMMs
. LMMs trained on health
data often encode such biases, as most data are collected in high-income settings.
For example, genetic data tend to be collected disproportionately on people of
European descent (1). LMMs are also often trained on electronic health records, which
are full of errors and inaccurate information (24) or rely on information obtained
from physical examinations that may be inaccurate, thus affecting the output of an
LMM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CÓMO PRESENTAR ESTE SLIDE
Apertura: "Vimos todo lo que la IA puede hacer en medicina. Ahora veamos el otro lado — lo que la OMS identifica como los problemas actuales."
---
1. ALUCINACIONES Y RESPUESTAS FALSAS
Explicación: Los LMMs no generan hechos, generan texto que estadísticamente "parece" un hecho. No tienen noción de verdad ni de mentira — simplemente predicen la siguiente palabra más probable.
Ejemplo (OMS): Un estudio citado por la OMS encontró que al pedirle a un LMM resumir hechos médicos simples, alucinó al menos el 3% del tiempo y hasta el 27% en casos complejos. Otro caso real: abogados en EE.UU. presentaron ante un tribunal citas de jurisprudencia inventadas por ChatGPT — el juez los sancionó. En medicina, el riesgo es aún mayor: una referencia bibliográfica inventada puede llevar a un tratamiento incorrecto.
Pregunta para la clase: "¿Confiarían en un médico que se equivoca 1 de cada 4 veces?"
---
2. SESGOS EN LOS DATOS
Explicación: Los modelos aprenden de los datos con los que fueron entrenados. Si esos datos son sesgados, las respuestas también lo serán — y el modelo no lo sabe ni lo advierte.
Ejemplo (OMS): Los datos genéticos usados para entrenar modelos provienen desproporcionadamente de personas de ascendencia europea. Si un médico en Argentina o Nigeria consulta a una IA sobre riesgo genético de su paciente, la respuesta puede ser incorrecta para esa población. Además, los historiales clínicos electrónicos están llenos de errores de transcripción y sesgos de género — las mujeres históricamente han sido subdiagnosticadas en enfermedades cardíacas, y esos sesgos se replican en la IA.
---
3. PRIVACIDAD Y PROTECCIÓN DE DATOS
Explicación: Cuando un médico escribe un caso clínico en ChatGPT para pedir consejo, esos datos pueden ser retenidos por la empresa, usados para reentrenar el modelo, o expuestos a terceros.
Ejemplo (OMS): Varios LMMs están bajo investigación en Europa por violar el GDPR. Italia bloqueó temporalmente ChatGPT en 2023. En EE.UU., médicos que ingresan datos de pacientes en chatbots pueden estar violando la ley HIPAA sin saberlo. Samsung tuvo un incidente donde empleados filtraron código propietario al usar ChatGPT — en salud, el equivalente sería filtrar datos de pacientes oncológicos o psiquiátricos.
Punto clave: "La IA no tiene secreto profesional."
---
4. SESGO DE AUTOMATIZACIÓN
Explicación: Es la tendencia humana a confiar excesivamente en sistemas automatizados, incluso cuando están equivocados. Cuanto más "inteligente" parece el sistema, más difícil es cuestionarlo.
Ejemplo (OMS): La OMS advierte que los médicos que usan IA para diagnóstico pueden dejar de ejercer su juicio crítico. Un experimento mostró que ChatGPT puede influir en el juicio moral de las personas incluso cuando saben que hablan con una IA. En radiología: si un algoritmo dice "normal" y el médico confía sin revisar, una lesión pequeña puede pasar desapercebida. La OMS también señala que los LMMs pueden ser "muy inconsistentes como asesores morales", lo que es especialmente peligroso en decisiones clínicas difíciles.
Concepto clave: "Human-in-the-loop" — el humano siempre debe estar en el circuito de decisión.
---
5. ACCESO DESIGUAL
Explicación: La IA más poderosa está detrás de muros de pago y requiere infraestructura digital que no existe en muchos países, profundizando la brecha en salud global.
Ejemplo (OMS): ChatGPT cuesta aproximadamente USD 700.000 por día para operar. La OMS proyecta un déficit de 10 millones de trabajadores de salud para 2030, principalmente en países de bajos ingresos — donde la IA podría ser una solución, pero si no es accesible, el problema se agrava. Además, la mayoría de los LMMs funcionan principalmente en inglés, generando respuestas menos precisas en otros idiomas. Paradoja: los pobres podrían quedar limitados a usar IA gratuita de menor calidad, mientras los ricos acceden a atención médica real.
Reflexión: "¿La IA democratiza la salud o la privatiza aún más?"
---
6. IMPACTO AMBIENTAL
Explicación: Entrenar y operar modelos de IA a gran escala consume cantidades masivas de energía y agua — recursos escasos en muchas regiones.
Ejemplo (OMS): Entrenar un LMM de gran escala consumió 700.000 litros de agua fresca. Una conversación de 20-50 preguntas consume el equivalente a una botella de 500ml de agua. Un centro de datos de una gran empresa tecnológica usó más del 25% del agua de una ciudad entera en Oregon, EE.UU. Otro caso: una empresa planificó construir un data center en un país en sequía severa donde los residentes ya bebían agua salada. La OMS señala que el cambio climático causará ~250.000 muertes adicionales por año entre 2030-2050 — y la IA contribuye a ese problema.
Conexión: "Cuando usamos IA para descubrir fármacos, también estamos tomando una decisión ambiental."
---
7. DEGRADACIÓN DE HABILIDADES CLÍNICAS
Explicación (OMS, sección 2.1): Existe un riesgo a largo plazo de que el uso creciente de IA en la práctica médica degrade o erosione la competencia de los clínicos como profesionales, a medida que transfieren responsabilidades rutinarias a las computadoras.
Ejemplo concreto: Si un médico lleva años confiando en que la IA lee sus radiografías, ¿qué pasa cuando el sistema falla por un ciberataque o corte de red? La OMS advierte que la pérdida de habilidades podría resultar en que los médicos sean incapaces de contradecir o cuestionar con confianza la decisión de un algoritmo. Analogía: los pilotos de avión que dependen demasiado del piloto automático pierden habilidades de vuelo manual — con consecuencias potencialmente fatales en emergencias. En medicina, el equivalente podría ser un médico que ya no sabe interpretar una radiografía sin asistencia de IA.
Punto clave: La IA debe usarse para amplificar las habilidades del médico, no para reemplazarlas. La formación médica debe adaptarse para mantener las competencias clínicas fundamentales.
---
 CIERRE PARA DEBATE:
"¿Cómo equilibramos la velocidad de adopción de la IA con la necesidad de regulación y seguridad? ¿Quién debería ser responsable cuando la IA se equivoca en un diagnóstico — el médico, la empresa que desarrolló el modelo, o el hospital que lo implementó?"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Technology improved slowly enough that humans could adapt. Intelligence, the ability to analyze, decide, create, persuade, and coordinate, was the thing that could not be replicated at scale.
Human intelligence derived its inherent premium from its scarcity. Every institution in our economy, from the labor market to the mortgage market to the tax code, was designed for a world in which that assumption held.
We are now experiencing the unwind of that premium. Machine intelligence is now a competent and rapidly improving substitute for human intelligence across a growing range of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Discurso Sugerido: "Bienvenidos. Hoy vamos a desmitificar la Inteligencia Artificial. Intuitivamente, solemos pensar en la IA como 'máquinas haciendo cosas que requerirían inteligencia si las hiciera un humano'. Pero si queremos ser rigurosos, como proponen Russell y Norvig, la IA es el diseño de agentes racionales: sistemas que perciben su entorno y toman acciones para maximizar sus posibilidades de éxito en un objetivo dado. No se trata de crear humanos sintéticos, sino de resolver problemas complejos con matemáticas a gran escala."
Contexto Técnico Profundo: La definición de agente racional evita el debate filosófico sobre la "conciencia" y se centra en la función matemática que mapea secuencias de percepciones a acciones (arquitectura de agentes).
Enlace Recomendado: Sitio oficial del libro "Artificial Intelligence: A Modern Approach" (Russell &amp; Norvig)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1: ¿Qué es la Inteligencia Artificial? (De la teoría a la intuición)
Discurso Sugerido: "Bienvenidos. Hoy vamos a desmitificar la Inteligencia Artificial. Intuitivamente, solemos pensar en la IA como 'máquinas haciendo cosas que requerirían inteligencia si las hiciera un humano'. Pero si queremos ser rigurosos, como proponen Russell y Norvig, la IA es el diseño de agentes racionales: sistemas que perciben su entorno y toman acciones para maximizar sus posibilidades de éxito en un objetivo dado. No se trata de crear humanos sintéticos, sino de resolver problemas complejos con matemáticas a gran escala."
Contexto Técnico Profundo: La definición de agente racional evita el debate filosófico sobre la "conciencia" y se centra en la función matemática que mapea secuencias de percepciones a acciones (arquitectura de agentes).
Enlace Recomendado: Sitio oficial del libro "Artificial Intelligence: A Modern Approach" (Russell &amp; Norvig)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2: Una Breve Historia (De Turing a la Generación)
Discurso Sugerido: "La IA no nació con ChatGPT. Sus bases matemáticas tienen más de 70 años. Desde el Test de Turing en 1950 y la Conferencia de Dartmouth en 1956, pasamos por 'inviernos de la IA' por falta de cómputo. El punto de inflexión llegó en 2012 con las redes neuronales profundas (AlexNet) y en 2017 con una arquitectura llamada 'Transformer', creada por Google, que cambió las reglas del juego y nos trajo a la era generativa en la que estamos hoy."
Contexto Técnico Profundo: El artículo "Attention Is All You Need" (2017) introdujo el mecanismo de autoatención (self-attention), eliminando la necesidad de procesamiento secuencial (RNNs) y permitiendo la paralelizabilidad masiva en GPUs, lo que habilitó el entrenamiento de los LLMs modernos.
Enlace Recomendado: Paper original: "Attention Is All You Need" (arXiv:1706.03762)
--
Excelente elección! Vamos a sumergirnos El Juego de la Imitación .
Para entender por qué Alan Turing propuso este experimento, primero debemos notar que en 1950 era casi imposible definir qué es "pensar" de una forma que todos aceptaran. Turing decidió que, si una máquina podía actuar de manera indistinguible a un ser humano, entonces debíamos tratarla como si tuviera inteligencia.
¿Cómo funciona el juego?
El experimento original involucra a tres participantes en habitaciones separadas:
Un interrogador humano.
Un hombre (o una máquina, en la versión de IA).
Una mujer (o un humano, que sirve de control).
-
Máquina de Turing/Universal no es un objeto físico con engranajes o cables, sino un modelo matemático que Alan Turing ideó en 1936. Su objetivo era definir, de una vez por todas, qué significa que algo sea "calculable".
-&gt; Aunque suena extremadamente simple, Turing demostró que este modelo puede resolver cualquier problema matemático que tenga una solución lógica. Es el "plano" original de cómo funciona cualquier procesador moderno.
--
El Problema de la Parada
Turing demostró que existen límites fundamentales en lo que una máquina puede calcular, sin importar cuánta memoria o velocidad tenga. El ejemplo más famoso es el Problema de la Parada (Halting Problem) .
Imagina que quieres crear un programa maestro que pueda analizar cualquier otro programa y decirte, antes de ejecutarlo, si ese programa eventualmente terminará su tarea o si se quedará "colgado" en un bucle infinito para siempre.
Turing demostró mediante la lógica que es imposible construir tal programa.
Para probarlo, utilizó una técnica llamada "reducción al absurdo":
Supongamos que existe un programa llamado CALCULADOR_DE_PARADA.
Creamos un segundo programa "rebelde" que consulta al primero.
Si el CALCULADOR dice que el programa parará, el rebelde entra en un bucle infinito. Si el CALCULADOR dice que no parará, el rebelde se detiene inmediatamente.
Esto crea una paradoja lógica (como decir "esta oración es falsa"). Si el programa intenta analizarse a sí mismo, la lógica se rompe.
Un sistema experto es un programa que intenta imitar el razonamiento de un experto humano en un dominio específico.
Deap blue - IA = búsqueda + poder de cómputo + heurísticas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AlexNet
Más de 14 millones de imágenes
Más de 20.000 categorías
2017
Eliminar las redes recurrentes (RNN/LSTM) y usar solo mecanismos de atención.
¿Por qué fue tan revolucionario?
1. Paralelización total
Las RNN procesaban secuencialmente.
Los Transformers pueden procesar todo en paralelo.
 Mucho más rápidos en GPUs.
2. Mejor manejo de contexto largo
Las RNN olvidaban información lejana.
La atención permite conectar cualquier palabra con cualquier otra directamente.
3. Escalabilidad
La arquitectura escala muy bien con:
Más datos
Más parámetros
Más cómputo
Y eso abrió la puerta a modelos gigantes.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3: La Taxonomía de Problemas: ¿Qué resolvemos?
Discurso Sugerido: "Para entender la IA, hay que verla como una caja de herramientas. ¿Qué problemas resuelve? Principalmente, podemos categorizarlos en siete áreas clave. Por ejemplo, en Predicción, la IA puede predecir categorías o valores continuos, como si una planta tiene una plaga o estimar el rendimiento de una cosecha. En Percepción, la IA extrae significado de imágenes o audio. La Generación nos permite crear nuevo contenido. Los sistemas de Decisión Secuencial aprenden a tomar series de acciones para lograr objetivos, como en los juegos. Y el Razonamiento Simbólico permite a la IA usar reglas lógicas."
Contexto Técnico Profundo: La Predicción mapea entradas $X$ a salidas $Y$ (discretas o continuas). La Percepción extrae características de datos crudos. La Representación busca estructuras subyacentes (embeddings). La Generación modela distribuciones de probabilidad. La Decisión Secuencial optimiza acciones a lo largo del tiempo (Reinforcement Learning). La Búsqueda y Planificación encuentran secuencias óptimas de acciones. El Razonamiento Simbólico se basa en sistemas expertos y lógica.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5: El Salto Cuantitativo: IA Tradicional vs. Foundation Models
Discurso Sugerido: "Hasta hace pocos años, la IA era 'artesanal'. Si una empresa en el Parque Industrial de Pilar quería un modelo para detectar fallas en autopartes, entrenaba una IA solo para eso. Hoy entramos en la era de los Foundation Models (Modelos Fundacionales). Son modelos gigantescos, entrenados con datos a gran escala, que no saben hacer una sola cosa, sino que tienen una comprensión general del mundo y pueden adaptarse a múltiples tareas: desde traducir texto hasta escribir código o analizar un contrato legal."
Contexto Técnico Profundo: El término fue acuñado por el Stanford Institute for Human-Centered AI (HAI) en 2021 para describir modelos entrenados con datos amplios a gran escala que pueden adaptarse (fine-tuning o in-context learning) a una amplia gama de tareas downstream.
Enlace Recomendado: On the Opportunities and Risks of Foundation Models (Stanford HAI, arXiv:2108.07258)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qué tantos datos?
Self-supervised learning no requiere etiquetas humanas:
el texto mismo genera sus propios objetivos (por ejemplo, predecir la próxima palabra), lo que permite entrenar con volúmenes masivos de datos crudos sin costo de etiquetado explícito.
 Evolución histórica de la escala
En 2018-2020, cientos de miles de millones de tokens eran “enorme”.
Para 2024-2025, los modelos de vanguardia usan decenas de trillones de tokens, con algunos conjuntos de datos incluso públicos superando 100 trillones de tokens.
 Implicaciones
Más datos → mejor comprensión y generalización del lenguaje.
Escala de datos y tamaño del modelo (parámetros) suelen crecer juntos.
Necesita infraestructura enorme (clusters de GPUs / TPUs).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6: La Anatomía de un Foundation Model (Escala y Datos)
Discurso Sugerido: "La magia de estos modelos no radica en un algoritmo místico, sino en la fuerza bruta y la escala. Estamos hablando de modelos entrenados con billones de palabras (prácticamente todo el internet público). Sus 'cerebros' tienen cientos o miles de millones de 'parámetros', que son las conexiones neuronales artificiales. Entrenar uno de estos modelos requiere miles de tarjetas gráficas (GPUs) funcionando durante meses y millones de dólares en electricidad."
Contexto Técnico Profundo: La relación entre el volumen de datos (tokens), el tamaño del modelo (parámetros) y el cómputo (FLOPs) se rige por las "Scaling Laws" (Leyes de Escalamiento). Modelos actuales como GPT-4 o Gemini manejan arquitecturas Mixture-of-Experts (MoE) con billones de parámetros dispersos.
Enlace Recomendado: Scaling Laws for Neural Language Models (OpenAI, arXiv:2001.08361)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7: El Ecosistema Actual: Actores y Competencia
Discurso Sugerido: "¿Quiénes están construyendo estos gigantes? El ecosistema está dominado por unos pocos actores con el capital para costear este nivel de cómputo. Por un lado, modelos cerrados y comerciales como los de OpenAI (ChatGPT), Google DeepMind (Gemini) y Anthropic (Claude). Por otro lado, un ecosistema de código abierto liderado por Meta (Llama) y Mistral, que permite a universidades y startups descargar los pesos de los modelos y ejecutarlos localmente, democratizando el acceso a la tecnología."
Contexto Técnico Profundo: La distinción entre pesos abiertos (open weights) y modelos propietarios es el debate central en la seguridad y monopolización de la IA. Modelos como Llama democratizan el fine-tuning local (ej. QLoRA) sin depender de APIs en la nube.
Enlace Recomendado: State of AI Report (Análisis anual de la industria)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9: El Futuro: Agentes Autónomos e IA Multimodal (Tema Crítico Sugerido 2)
Discurso Sugerido: "¿Hacia dónde vamos? La IA ya no solo es un 'chatbot' al que le haces preguntas. Estamos entrando en la era de los Agentes Autónomos e IA Multimodal. Pronto veremos sistemas que no solo generan texto, sino que 'ven' tu pantalla, 'escuchan' tu voz y ejecutan tareas complejas de forma independiente, como gestionar toda la logística de una exportación para una PyME en Pilar interactuando con otros softwares, sin intervención humana constante."
Contexto Técnico Profundo: La multimodalidad nativa permite procesar diferentes tensores de entrada (audio, visión, texto) en un mismo espacio latente. La "Agentic AI" implica el uso de LLMs como motores de razonamiento que utilizan herramientas externas (Tool Calling/Function Calling) y memoria a largo plazo.
Enlace Recomendado: Gartner: Top Strategic Technology Trends (Agentic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darle dinamismo a tu clase, podés usar esta tabla para mostrar que el gran salto de la IA en los últimos años fue salir de la columna del "Entorno Simple" (donde triunfaba en los años 90) para empezar a dominar la columna del "Entorno Complejo".
Con las bases de "Qué es un agente" y "Dónde opera" ya resueltas de forma muy visual, el siguiente bloque lógico en el enfoque de Russell y Norvig es cómo la IA toma acción.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hyperlink" Target="mailto:pveiga@austral.edu.ar" TargetMode="External"/><Relationship Id="rId4" Type="http://schemas.openxmlformats.org/officeDocument/2006/relationships/hyperlink" Target="mailto:MSanchezSorondo@austral.edu.ar" TargetMode="External"/><Relationship Id="rId1" Type="http://schemas.openxmlformats.org/officeDocument/2006/relationships/image" Target="../media/image-4-1.jpeg"/><Relationship Id="rId3" Type="http://schemas.openxmlformats.org/officeDocument/2006/relationships/image" Target="../media/image-4-2.jpe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slideLayout" Target="../slideLayouts/slideLayout2.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9" Type="http://schemas.openxmlformats.org/officeDocument/2006/relationships/hyperlink" Target="https://www.mckinsey.com/capabilities/mckinsey-digital/our-insights/the-economic-potential-of-generative-ai-the-next-productivity-frontier" TargetMode="External"/><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10" Type="http://schemas.openxmlformats.org/officeDocument/2006/relationships/slideLayout" Target="../slideLayouts/slideLayout2.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9" Type="http://schemas.openxmlformats.org/officeDocument/2006/relationships/hyperlink" Target="https://iris.who.int/server/api/core/bitstreams/e9e62c65-6045-481e-bd04-20e206bc5039/content" TargetMode="External"/><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10" Type="http://schemas.openxmlformats.org/officeDocument/2006/relationships/slideLayout" Target="../slideLayouts/slideLayout2.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image" Target="../media/image-9-9.png"/><Relationship Id="rId10" Type="http://schemas.openxmlformats.org/officeDocument/2006/relationships/image" Target="../media/image-9-10.svg"/><Relationship Id="rId11" Type="http://schemas.openxmlformats.org/officeDocument/2006/relationships/image" Target="../media/image-9-11.png"/><Relationship Id="rId12" Type="http://schemas.openxmlformats.org/officeDocument/2006/relationships/image" Target="../media/image-9-12.svg"/><Relationship Id="rId13" Type="http://schemas.openxmlformats.org/officeDocument/2006/relationships/image" Target="../media/image-9-13.png"/><Relationship Id="rId14" Type="http://schemas.openxmlformats.org/officeDocument/2006/relationships/image" Target="../media/image-9-14.svg"/><Relationship Id="rId15" Type="http://schemas.openxmlformats.org/officeDocument/2006/relationships/slideLayout" Target="../slideLayouts/slideLayout2.xml"/><Relationship Id="rId1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slideLayout" Target="../slideLayouts/slideLayout2.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image" Target="../media/image-11-5.png"/><Relationship Id="rId6" Type="http://schemas.openxmlformats.org/officeDocument/2006/relationships/image" Target="../media/image-11-6.svg"/><Relationship Id="rId7" Type="http://schemas.openxmlformats.org/officeDocument/2006/relationships/image" Target="../media/image-11-7.png"/><Relationship Id="rId8" Type="http://schemas.openxmlformats.org/officeDocument/2006/relationships/image" Target="../media/image-11-8.svg"/><Relationship Id="rId9" Type="http://schemas.openxmlformats.org/officeDocument/2006/relationships/image" Target="../media/image-11-9.png"/><Relationship Id="rId10" Type="http://schemas.openxmlformats.org/officeDocument/2006/relationships/image" Target="../media/image-11-10.svg"/><Relationship Id="rId11" Type="http://schemas.openxmlformats.org/officeDocument/2006/relationships/slideLayout" Target="../slideLayouts/slideLayout2.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image" Target="../media/image-12-5.png"/><Relationship Id="rId6" Type="http://schemas.openxmlformats.org/officeDocument/2006/relationships/image" Target="../media/image-12-6.sv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aitutorial.dev/" TargetMode="Externa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svg"/><Relationship Id="rId3" Type="http://schemas.openxmlformats.org/officeDocument/2006/relationships/image" Target="../media/image-23-3.png"/><Relationship Id="rId4" Type="http://schemas.openxmlformats.org/officeDocument/2006/relationships/image" Target="../media/image-23-4.svg"/><Relationship Id="rId5" Type="http://schemas.openxmlformats.org/officeDocument/2006/relationships/image" Target="../media/image-23-5.png"/><Relationship Id="rId6" Type="http://schemas.openxmlformats.org/officeDocument/2006/relationships/image" Target="../media/image-23-6.svg"/><Relationship Id="rId7" Type="http://schemas.openxmlformats.org/officeDocument/2006/relationships/image" Target="../media/image-23-7.png"/><Relationship Id="rId8" Type="http://schemas.openxmlformats.org/officeDocument/2006/relationships/image" Target="../media/image-23-8.svg"/><Relationship Id="rId9" Type="http://schemas.openxmlformats.org/officeDocument/2006/relationships/image" Target="../media/image-23-9.png"/><Relationship Id="rId10" Type="http://schemas.openxmlformats.org/officeDocument/2006/relationships/image" Target="../media/image-23-10.svg"/><Relationship Id="rId11" Type="http://schemas.openxmlformats.org/officeDocument/2006/relationships/image" Target="../media/image-23-11.png"/><Relationship Id="rId12" Type="http://schemas.openxmlformats.org/officeDocument/2006/relationships/image" Target="../media/image-23-12.svg"/><Relationship Id="rId13" Type="http://schemas.openxmlformats.org/officeDocument/2006/relationships/image" Target="../media/image-23-13.png"/><Relationship Id="rId14" Type="http://schemas.openxmlformats.org/officeDocument/2006/relationships/image" Target="../media/image-23-14.svg"/><Relationship Id="rId15" Type="http://schemas.openxmlformats.org/officeDocument/2006/relationships/image" Target="../media/image-23-15.png"/><Relationship Id="rId16" Type="http://schemas.openxmlformats.org/officeDocument/2006/relationships/slideLayout" Target="../slideLayouts/slideLayout2.xml"/><Relationship Id="rId1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svg"/><Relationship Id="rId3" Type="http://schemas.openxmlformats.org/officeDocument/2006/relationships/image" Target="../media/image-24-3.png"/><Relationship Id="rId4" Type="http://schemas.openxmlformats.org/officeDocument/2006/relationships/image" Target="../media/image-24-4.svg"/><Relationship Id="rId5" Type="http://schemas.openxmlformats.org/officeDocument/2006/relationships/image" Target="../media/image-24-5.png"/><Relationship Id="rId6" Type="http://schemas.openxmlformats.org/officeDocument/2006/relationships/image" Target="../media/image-24-6.svg"/><Relationship Id="rId7" Type="http://schemas.openxmlformats.org/officeDocument/2006/relationships/image" Target="../media/image-24-7.png"/><Relationship Id="rId8" Type="http://schemas.openxmlformats.org/officeDocument/2006/relationships/image" Target="../media/image-24-8.svg"/><Relationship Id="rId9" Type="http://schemas.openxmlformats.org/officeDocument/2006/relationships/image" Target="../media/image-24-9.png"/><Relationship Id="rId10" Type="http://schemas.openxmlformats.org/officeDocument/2006/relationships/image" Target="../media/image-24-9.png"/><Relationship Id="rId11" Type="http://schemas.openxmlformats.org/officeDocument/2006/relationships/slideLayout" Target="../slideLayouts/slideLayout2.xml"/><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sv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svg"/><Relationship Id="rId6" Type="http://schemas.openxmlformats.org/officeDocument/2006/relationships/image" Target="../media/image-25-6.png"/><Relationship Id="rId7" Type="http://schemas.openxmlformats.org/officeDocument/2006/relationships/image" Target="../media/image-25-7.svg"/><Relationship Id="rId8" Type="http://schemas.openxmlformats.org/officeDocument/2006/relationships/image" Target="../media/image-25-8.png"/><Relationship Id="rId9" Type="http://schemas.openxmlformats.org/officeDocument/2006/relationships/image" Target="../media/image-25-9.svg"/><Relationship Id="rId10" Type="http://schemas.openxmlformats.org/officeDocument/2006/relationships/image" Target="../media/image-24-9.png"/><Relationship Id="rId11" Type="http://schemas.openxmlformats.org/officeDocument/2006/relationships/image" Target="../media/image-24-9.png"/><Relationship Id="rId12" Type="http://schemas.openxmlformats.org/officeDocument/2006/relationships/slideLayout" Target="../slideLayouts/slideLayout2.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image" Target="../media/image-26-3.png"/><Relationship Id="rId4" Type="http://schemas.openxmlformats.org/officeDocument/2006/relationships/image" Target="../media/image-26-4.sv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sv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slideLayout" Target="../slideLayouts/slideLayout2.xml"/><Relationship Id="rId11"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3-7.png"/><Relationship Id="rId2" Type="http://schemas.openxmlformats.org/officeDocument/2006/relationships/image" Target="../media/image-23-8.svg"/><Relationship Id="rId3" Type="http://schemas.openxmlformats.org/officeDocument/2006/relationships/image" Target="../media/image-27-3.png"/><Relationship Id="rId4" Type="http://schemas.openxmlformats.org/officeDocument/2006/relationships/image" Target="../media/image-27-4.svg"/><Relationship Id="rId5" Type="http://schemas.openxmlformats.org/officeDocument/2006/relationships/image" Target="../media/image-27-5.png"/><Relationship Id="rId6" Type="http://schemas.openxmlformats.org/officeDocument/2006/relationships/image" Target="../media/image-27-6.svg"/><Relationship Id="rId7" Type="http://schemas.openxmlformats.org/officeDocument/2006/relationships/image" Target="../media/image-27-7.png"/><Relationship Id="rId8" Type="http://schemas.openxmlformats.org/officeDocument/2006/relationships/image" Target="../media/image-27-8.svg"/><Relationship Id="rId9" Type="http://schemas.openxmlformats.org/officeDocument/2006/relationships/image" Target="../media/image-27-9.png"/><Relationship Id="rId10" Type="http://schemas.openxmlformats.org/officeDocument/2006/relationships/image" Target="../media/image-27-10.svg"/><Relationship Id="rId11" Type="http://schemas.openxmlformats.org/officeDocument/2006/relationships/image" Target="../media/image-23-15.png"/><Relationship Id="rId12" Type="http://schemas.openxmlformats.org/officeDocument/2006/relationships/image" Target="../media/image-23-15.png"/><Relationship Id="rId13" Type="http://schemas.openxmlformats.org/officeDocument/2006/relationships/slideLayout" Target="../slideLayouts/slideLayout2.xml"/><Relationship Id="rId1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svg"/><Relationship Id="rId3" Type="http://schemas.openxmlformats.org/officeDocument/2006/relationships/image" Target="../media/image-28-3.png"/><Relationship Id="rId4" Type="http://schemas.openxmlformats.org/officeDocument/2006/relationships/image" Target="../media/image-28-4.svg"/><Relationship Id="rId5" Type="http://schemas.openxmlformats.org/officeDocument/2006/relationships/image" Target="../media/image-28-5.png"/><Relationship Id="rId6" Type="http://schemas.openxmlformats.org/officeDocument/2006/relationships/image" Target="../media/image-28-6.svg"/><Relationship Id="rId7" Type="http://schemas.openxmlformats.org/officeDocument/2006/relationships/image" Target="../media/image-28-7.png"/><Relationship Id="rId8" Type="http://schemas.openxmlformats.org/officeDocument/2006/relationships/image" Target="../media/image-28-8.svg"/><Relationship Id="rId9" Type="http://schemas.openxmlformats.org/officeDocument/2006/relationships/image" Target="../media/image-28-9.png"/><Relationship Id="rId10" Type="http://schemas.openxmlformats.org/officeDocument/2006/relationships/image" Target="../media/image-28-10.svg"/><Relationship Id="rId11" Type="http://schemas.openxmlformats.org/officeDocument/2006/relationships/image" Target="../media/image-28-11.png"/><Relationship Id="rId12" Type="http://schemas.openxmlformats.org/officeDocument/2006/relationships/image" Target="../media/image-28-11.png"/><Relationship Id="rId13" Type="http://schemas.openxmlformats.org/officeDocument/2006/relationships/slideLayout" Target="../slideLayouts/slideLayout2.xml"/><Relationship Id="rId1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svg"/><Relationship Id="rId3" Type="http://schemas.openxmlformats.org/officeDocument/2006/relationships/image" Target="../media/image-29-3.png"/><Relationship Id="rId4" Type="http://schemas.openxmlformats.org/officeDocument/2006/relationships/image" Target="../media/image-29-4.svg"/><Relationship Id="rId5" Type="http://schemas.openxmlformats.org/officeDocument/2006/relationships/image" Target="../media/image-29-5.png"/><Relationship Id="rId6" Type="http://schemas.openxmlformats.org/officeDocument/2006/relationships/image" Target="../media/image-29-6.svg"/><Relationship Id="rId7" Type="http://schemas.openxmlformats.org/officeDocument/2006/relationships/image" Target="../media/image-27-7.png"/><Relationship Id="rId8" Type="http://schemas.openxmlformats.org/officeDocument/2006/relationships/image" Target="../media/image-27-8.svg"/><Relationship Id="rId9" Type="http://schemas.openxmlformats.org/officeDocument/2006/relationships/image" Target="../media/image-29-9.png"/><Relationship Id="rId10" Type="http://schemas.openxmlformats.org/officeDocument/2006/relationships/image" Target="../media/image-29-10.svg"/><Relationship Id="rId11" Type="http://schemas.openxmlformats.org/officeDocument/2006/relationships/image" Target="../media/image-23-15.png"/><Relationship Id="rId12" Type="http://schemas.openxmlformats.org/officeDocument/2006/relationships/slideLayout" Target="../slideLayouts/slideLayout2.xml"/><Relationship Id="rId1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svg"/><Relationship Id="rId3" Type="http://schemas.openxmlformats.org/officeDocument/2006/relationships/image" Target="../media/image-30-3.png"/><Relationship Id="rId4" Type="http://schemas.openxmlformats.org/officeDocument/2006/relationships/image" Target="../media/image-30-4.svg"/><Relationship Id="rId5" Type="http://schemas.openxmlformats.org/officeDocument/2006/relationships/image" Target="../media/image-30-5.png"/><Relationship Id="rId6" Type="http://schemas.openxmlformats.org/officeDocument/2006/relationships/image" Target="../media/image-30-6.svg"/><Relationship Id="rId7" Type="http://schemas.openxmlformats.org/officeDocument/2006/relationships/image" Target="../media/image-30-7.png"/><Relationship Id="rId8" Type="http://schemas.openxmlformats.org/officeDocument/2006/relationships/image" Target="../media/image-30-8.svg"/><Relationship Id="rId9" Type="http://schemas.openxmlformats.org/officeDocument/2006/relationships/image" Target="../media/image-30-9.png"/><Relationship Id="rId10" Type="http://schemas.openxmlformats.org/officeDocument/2006/relationships/image" Target="../media/image-30-10.svg"/><Relationship Id="rId11" Type="http://schemas.openxmlformats.org/officeDocument/2006/relationships/image" Target="../media/image-23-15.png"/><Relationship Id="rId12" Type="http://schemas.openxmlformats.org/officeDocument/2006/relationships/image" Target="../media/image-23-15.png"/><Relationship Id="rId13" Type="http://schemas.openxmlformats.org/officeDocument/2006/relationships/slideLayout" Target="../slideLayouts/slideLayout2.xml"/><Relationship Id="rId1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2" Type="http://schemas.openxmlformats.org/officeDocument/2006/relationships/hyperlink" Target="https://arxiv.org/abs/2108.07258" TargetMode="External"/><Relationship Id="rId1" Type="http://schemas.openxmlformats.org/officeDocument/2006/relationships/image" Target="../media/image-28-11.png"/><Relationship Id="rId3" Type="http://schemas.openxmlformats.org/officeDocument/2006/relationships/slideLayout" Target="../slideLayouts/slideLayout2.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svg"/><Relationship Id="rId3" Type="http://schemas.openxmlformats.org/officeDocument/2006/relationships/image" Target="../media/image-33-3.png"/><Relationship Id="rId4" Type="http://schemas.openxmlformats.org/officeDocument/2006/relationships/image" Target="../media/image-33-4.svg"/><Relationship Id="rId5" Type="http://schemas.openxmlformats.org/officeDocument/2006/relationships/image" Target="../media/image-33-5.png"/><Relationship Id="rId6" Type="http://schemas.openxmlformats.org/officeDocument/2006/relationships/image" Target="../media/image-33-6.svg"/><Relationship Id="rId7" Type="http://schemas.openxmlformats.org/officeDocument/2006/relationships/image" Target="../media/image-33-7.png"/><Relationship Id="rId8" Type="http://schemas.openxmlformats.org/officeDocument/2006/relationships/image" Target="../media/image-33-8.svg"/><Relationship Id="rId9" Type="http://schemas.openxmlformats.org/officeDocument/2006/relationships/image" Target="../media/image-33-9.png"/><Relationship Id="rId10" Type="http://schemas.openxmlformats.org/officeDocument/2006/relationships/image" Target="../media/image-33-10.svg"/><Relationship Id="rId11" Type="http://schemas.openxmlformats.org/officeDocument/2006/relationships/image" Target="../media/image-33-11.png"/><Relationship Id="rId12" Type="http://schemas.openxmlformats.org/officeDocument/2006/relationships/image" Target="../media/image-33-12.svg"/><Relationship Id="rId13" Type="http://schemas.openxmlformats.org/officeDocument/2006/relationships/image" Target="../media/image-33-13.png"/><Relationship Id="rId14" Type="http://schemas.openxmlformats.org/officeDocument/2006/relationships/slideLayout" Target="../slideLayouts/slideLayout2.xml"/><Relationship Id="rId1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svg"/><Relationship Id="rId3" Type="http://schemas.openxmlformats.org/officeDocument/2006/relationships/image" Target="../media/image-35-3.png"/><Relationship Id="rId4" Type="http://schemas.openxmlformats.org/officeDocument/2006/relationships/image" Target="../media/image-35-4.sv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image" Target="../media/image-35-7.svg"/><Relationship Id="rId8" Type="http://schemas.openxmlformats.org/officeDocument/2006/relationships/image" Target="../media/image-35-8.png"/><Relationship Id="rId9" Type="http://schemas.openxmlformats.org/officeDocument/2006/relationships/image" Target="../media/image-35-9.svg"/><Relationship Id="rId10" Type="http://schemas.openxmlformats.org/officeDocument/2006/relationships/image" Target="../media/image-35-10.png"/><Relationship Id="rId11" Type="http://schemas.openxmlformats.org/officeDocument/2006/relationships/image" Target="../media/image-35-11.svg"/><Relationship Id="rId12" Type="http://schemas.openxmlformats.org/officeDocument/2006/relationships/image" Target="../media/image-35-12.png"/><Relationship Id="rId13" Type="http://schemas.openxmlformats.org/officeDocument/2006/relationships/image" Target="../media/image-35-13.svg"/><Relationship Id="rId14" Type="http://schemas.openxmlformats.org/officeDocument/2006/relationships/image" Target="../media/image-35-14.png"/><Relationship Id="rId15" Type="http://schemas.openxmlformats.org/officeDocument/2006/relationships/image" Target="../media/image-35-15.svg"/><Relationship Id="rId16" Type="http://schemas.openxmlformats.org/officeDocument/2006/relationships/slideLayout" Target="../slideLayouts/slideLayout2.xml"/><Relationship Id="rId17"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slideLayout" Target="../slideLayouts/slideLayout2.xml"/><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26-9.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23-15.png"/><Relationship Id="rId3" Type="http://schemas.openxmlformats.org/officeDocument/2006/relationships/slideLayout" Target="../slideLayouts/slideLayout2.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26-9.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e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757436"/>
            <a:ext cx="10868745" cy="677565"/>
          </a:xfrm>
          <a:prstGeom prst="rect">
            <a:avLst/>
          </a:prstGeom>
          <a:noFill/>
          <a:ln/>
        </p:spPr>
        <p:txBody>
          <a:bodyPr wrap="square" lIns="0" tIns="0" rIns="0" bIns="0" rtlCol="0" anchor="t"/>
          <a:lstStyle/>
          <a:p>
            <a:pPr algn="l" indent="0" marL="0">
              <a:lnSpc>
                <a:spcPct val="105000"/>
              </a:lnSpc>
              <a:spcAft>
                <a:spcPts val="650"/>
              </a:spcAft>
              <a:buNone/>
            </a:pPr>
            <a:endParaRPr lang="en-US" sz="1050" dirty="0"/>
          </a:p>
          <a:p>
            <a:pPr algn="l" indent="0" marL="0">
              <a:lnSpc>
                <a:spcPct val="105000"/>
              </a:lnSpc>
              <a:spcAft>
                <a:spcPts val="650"/>
              </a:spcAft>
              <a:buNone/>
            </a:pPr>
            <a:endParaRPr lang="en-US" sz="1050" dirty="0"/>
          </a:p>
        </p:txBody>
      </p:sp>
      <p:sp>
        <p:nvSpPr>
          <p:cNvPr id="3" name="Text 1"/>
          <p:cNvSpPr/>
          <p:nvPr/>
        </p:nvSpPr>
        <p:spPr>
          <a:xfrm>
            <a:off x="661475" y="1549598"/>
            <a:ext cx="10868745" cy="1159073"/>
          </a:xfrm>
          <a:prstGeom prst="rect">
            <a:avLst/>
          </a:prstGeom>
          <a:noFill/>
          <a:ln/>
        </p:spPr>
        <p:txBody>
          <a:bodyPr wrap="square" lIns="0" tIns="0" rIns="0" bIns="0" rtlCol="0" anchor="t">
            <a:normAutofit/>
          </a:bodyPr>
          <a:lstStyle/>
          <a:p>
            <a:pPr algn="l" indent="0" marL="0">
              <a:lnSpc>
                <a:spcPct val="104000"/>
              </a:lnSpc>
              <a:buNone/>
            </a:pPr>
            <a:r>
              <a:rPr lang="en-US" sz="3650" dirty="0">
                <a:solidFill>
                  <a:srgbClr val="1F1E1E"/>
                </a:solidFill>
                <a:latin typeface="Roboto Mono Medium" pitchFamily="34" charset="0"/>
                <a:ea typeface="Roboto Mono Medium" pitchFamily="34" charset="-122"/>
                <a:cs typeface="Roboto Mono Medium" pitchFamily="34" charset="-120"/>
              </a:rPr>
              <a:t>Inteligencia Artificial Generativa Aplicada en Biomedicina</a:t>
            </a:r>
            <a:endParaRPr lang="en-US" sz="3650" dirty="0"/>
          </a:p>
        </p:txBody>
      </p:sp>
      <p:sp>
        <p:nvSpPr>
          <p:cNvPr id="4" name="Text 2"/>
          <p:cNvSpPr/>
          <p:nvPr/>
        </p:nvSpPr>
        <p:spPr>
          <a:xfrm>
            <a:off x="661475" y="2823270"/>
            <a:ext cx="11478330" cy="168573"/>
          </a:xfrm>
          <a:prstGeom prst="rect">
            <a:avLst/>
          </a:prstGeom>
          <a:noFill/>
          <a:ln/>
        </p:spPr>
        <p:txBody>
          <a:bodyPr wrap="none" lIns="0" tIns="0" rIns="0" bIns="0" rtlCol="0" anchor="t"/>
          <a:lstStyle/>
          <a:p>
            <a:pPr algn="l" indent="0" marL="0">
              <a:lnSpc>
                <a:spcPct val="105000"/>
              </a:lnSpc>
              <a:buNone/>
            </a:pPr>
            <a:endParaRPr lang="en-US" sz="1050" dirty="0"/>
          </a:p>
        </p:txBody>
      </p:sp>
      <p:sp>
        <p:nvSpPr>
          <p:cNvPr id="5" name="Text 3"/>
          <p:cNvSpPr/>
          <p:nvPr/>
        </p:nvSpPr>
        <p:spPr>
          <a:xfrm>
            <a:off x="661475" y="3106440"/>
            <a:ext cx="10868745" cy="252016"/>
          </a:xfrm>
          <a:prstGeom prst="rect">
            <a:avLst/>
          </a:prstGeom>
          <a:noFill/>
          <a:ln/>
        </p:spPr>
        <p:txBody>
          <a:bodyPr wrap="none" lIns="0" tIns="0" rIns="0" bIns="0" rtlCol="0" anchor="t"/>
          <a:lstStyle/>
          <a:p>
            <a:pPr algn="l" indent="0" marL="0">
              <a:lnSpc>
                <a:spcPct val="104000"/>
              </a:lnSpc>
              <a:buNone/>
            </a:pPr>
            <a:r>
              <a:rPr lang="en-US" sz="1550" dirty="0">
                <a:solidFill>
                  <a:srgbClr val="1F1E1E"/>
                </a:solidFill>
                <a:latin typeface="Roboto Mono Medium" pitchFamily="34" charset="0"/>
                <a:ea typeface="Roboto Mono Medium" pitchFamily="34" charset="-122"/>
                <a:cs typeface="Roboto Mono Medium" pitchFamily="34" charset="-120"/>
              </a:rPr>
              <a:t>Clase 1: Bienvenida y Logistica</a:t>
            </a:r>
            <a:endParaRPr lang="en-US" sz="1550" dirty="0"/>
          </a:p>
        </p:txBody>
      </p:sp>
      <p:sp>
        <p:nvSpPr>
          <p:cNvPr id="6" name="Text 4"/>
          <p:cNvSpPr/>
          <p:nvPr/>
        </p:nvSpPr>
        <p:spPr>
          <a:xfrm>
            <a:off x="661475" y="3541812"/>
            <a:ext cx="4486659" cy="1829891"/>
          </a:xfrm>
          <a:prstGeom prst="rect">
            <a:avLst/>
          </a:prstGeom>
          <a:noFill/>
          <a:ln/>
        </p:spPr>
        <p:txBody>
          <a:bodyPr wrap="square" lIns="0" tIns="0" rIns="0" bIns="0" rtlCol="0" anchor="t"/>
          <a:lstStyle/>
          <a:p>
            <a:pPr algn="l" indent="0" marL="0">
              <a:lnSpc>
                <a:spcPct val="105000"/>
              </a:lnSpc>
              <a:spcAft>
                <a:spcPts val="500"/>
              </a:spcAft>
              <a:buNone/>
            </a:pPr>
            <a:endParaRPr lang="en-US" sz="1050" dirty="0"/>
          </a:p>
          <a:p>
            <a:pPr algn="l" indent="0" marL="0">
              <a:lnSpc>
                <a:spcPct val="105000"/>
              </a:lnSpc>
              <a:spcAft>
                <a:spcPts val="500"/>
              </a:spcAft>
              <a:buNone/>
            </a:pPr>
            <a:endParaRPr lang="en-US" sz="1050" dirty="0"/>
          </a:p>
          <a:p>
            <a:pPr algn="l" indent="0" marL="0">
              <a:lnSpc>
                <a:spcPct val="105000"/>
              </a:lnSpc>
              <a:spcAft>
                <a:spcPts val="500"/>
              </a:spcAft>
              <a:buNone/>
            </a:pPr>
            <a:endParaRPr lang="en-US" sz="1050" dirty="0"/>
          </a:p>
          <a:p>
            <a:pPr algn="l" indent="0" marL="0">
              <a:lnSpc>
                <a:spcPct val="105000"/>
              </a:lnSpc>
              <a:spcAft>
                <a:spcPts val="500"/>
              </a:spcAft>
              <a:buNone/>
            </a:pPr>
            <a:endParaRPr lang="en-US" sz="1050" dirty="0"/>
          </a:p>
          <a:p>
            <a:pPr algn="l" indent="0" marL="0">
              <a:lnSpc>
                <a:spcPct val="105000"/>
              </a:lnSpc>
              <a:spcAft>
                <a:spcPts val="500"/>
              </a:spcAft>
              <a:buNone/>
            </a:pPr>
            <a:endParaRPr lang="en-US" sz="1050" dirty="0"/>
          </a:p>
          <a:p>
            <a:pPr algn="l" indent="0" marL="0">
              <a:lnSpc>
                <a:spcPct val="105000"/>
              </a:lnSpc>
              <a:spcAft>
                <a:spcPts val="500"/>
              </a:spcAft>
              <a:buNone/>
            </a:pPr>
            <a:endParaRPr lang="en-US" sz="1050" dirty="0"/>
          </a:p>
          <a:p>
            <a:pPr algn="l" indent="0" marL="0">
              <a:lnSpc>
                <a:spcPct val="105000"/>
              </a:lnSpc>
              <a:spcAft>
                <a:spcPts val="500"/>
              </a:spcAft>
              <a:buNone/>
            </a:pPr>
            <a:r>
              <a:rPr lang="en-US" sz="1050" dirty="0">
                <a:solidFill>
                  <a:srgbClr val="3B3535"/>
                </a:solidFill>
                <a:latin typeface="Roboto" pitchFamily="34" charset="0"/>
                <a:ea typeface="Roboto" pitchFamily="34" charset="-122"/>
                <a:cs typeface="Roboto" pitchFamily="34" charset="-120"/>
              </a:rPr>
              <a:t>Autor: Paulo Gustavo Veiga</a:t>
            </a:r>
            <a:endParaRPr lang="en-US" sz="1050" dirty="0"/>
          </a:p>
          <a:p>
            <a:pPr algn="l" indent="0" marL="0">
              <a:lnSpc>
                <a:spcPct val="105000"/>
              </a:lnSpc>
              <a:buNone/>
            </a:pPr>
            <a:r>
              <a:rPr lang="en-US" sz="1050" dirty="0">
                <a:solidFill>
                  <a:srgbClr val="3B3535"/>
                </a:solidFill>
                <a:latin typeface="Roboto" pitchFamily="34" charset="0"/>
                <a:ea typeface="Roboto" pitchFamily="34" charset="-122"/>
                <a:cs typeface="Roboto" pitchFamily="34" charset="-120"/>
              </a:rPr>
              <a:t>Ultima Modification: Marzo, 2026</a:t>
            </a:r>
            <a:endParaRPr lang="en-US" sz="1050" dirty="0"/>
          </a:p>
        </p:txBody>
      </p:sp>
      <p:sp>
        <p:nvSpPr>
          <p:cNvPr id="7" name="Text 5"/>
          <p:cNvSpPr/>
          <p:nvPr/>
        </p:nvSpPr>
        <p:spPr>
          <a:xfrm>
            <a:off x="5482294" y="3541812"/>
            <a:ext cx="6054177" cy="1117898"/>
          </a:xfrm>
          <a:prstGeom prst="rect">
            <a:avLst/>
          </a:prstGeom>
          <a:noFill/>
          <a:ln/>
        </p:spPr>
        <p:txBody>
          <a:bodyPr wrap="square" lIns="0" tIns="0" rIns="0" bIns="0" rtlCol="0" anchor="t"/>
          <a:lstStyle/>
          <a:p>
            <a:pPr algn="l" indent="0" marL="0">
              <a:lnSpc>
                <a:spcPct val="105000"/>
              </a:lnSpc>
              <a:spcAft>
                <a:spcPts val="500"/>
              </a:spcAft>
              <a:buNone/>
            </a:pPr>
            <a:endParaRPr lang="en-US" sz="1050" dirty="0"/>
          </a:p>
          <a:p>
            <a:pPr algn="l" indent="0" marL="0">
              <a:lnSpc>
                <a:spcPct val="105000"/>
              </a:lnSpc>
              <a:spcAft>
                <a:spcPts val="500"/>
              </a:spcAft>
              <a:buNone/>
            </a:pPr>
            <a:endParaRPr lang="en-US" sz="1050" dirty="0"/>
          </a:p>
          <a:p>
            <a:pPr algn="l" indent="0" marL="0">
              <a:lnSpc>
                <a:spcPct val="105000"/>
              </a:lnSpc>
              <a:spcAft>
                <a:spcPts val="500"/>
              </a:spcAft>
              <a:buNone/>
            </a:pPr>
            <a:endParaRPr lang="en-US" sz="1050" dirty="0"/>
          </a:p>
          <a:p>
            <a:pPr algn="l" indent="0" marL="0">
              <a:lnSpc>
                <a:spcPct val="105000"/>
              </a:lnSpc>
              <a:spcAft>
                <a:spcPts val="500"/>
              </a:spcAft>
              <a:buNone/>
            </a:pPr>
            <a:endParaRPr lang="en-US" sz="1050" dirty="0"/>
          </a:p>
        </p:txBody>
      </p:sp>
      <p:pic>
        <p:nvPicPr>
          <p:cNvPr id="8" name="Image 0" descr="preencoded.png">    </p:cNvPr>
          <p:cNvPicPr>
            <a:picLocks noChangeAspect="1"/>
          </p:cNvPicPr>
          <p:nvPr/>
        </p:nvPicPr>
        <p:blipFill>
          <a:blip r:embed="rId1"/>
          <a:stretch>
            <a:fillRect/>
          </a:stretch>
        </p:blipFill>
        <p:spPr>
          <a:xfrm>
            <a:off x="10225923" y="4745633"/>
            <a:ext cx="1310548" cy="1083171"/>
          </a:xfrm>
          <a:prstGeom prst="rect">
            <a:avLst/>
          </a:prstGeom>
        </p:spPr>
      </p:pic>
      <p:sp>
        <p:nvSpPr>
          <p:cNvPr id="9" name="Text 6"/>
          <p:cNvSpPr/>
          <p:nvPr/>
        </p:nvSpPr>
        <p:spPr>
          <a:xfrm>
            <a:off x="661475" y="6000651"/>
            <a:ext cx="11478330" cy="168573"/>
          </a:xfrm>
          <a:prstGeom prst="rect">
            <a:avLst/>
          </a:prstGeom>
          <a:noFill/>
          <a:ln/>
        </p:spPr>
        <p:txBody>
          <a:bodyPr wrap="none" lIns="0" tIns="0" rIns="0" bIns="0" rtlCol="0" anchor="t"/>
          <a:lstStyle/>
          <a:p>
            <a:pPr algn="l" indent="0" marL="0">
              <a:lnSpc>
                <a:spcPct val="105000"/>
              </a:lnSpc>
              <a:buNone/>
            </a:pP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277269"/>
            <a:ext cx="6296860" cy="738287"/>
          </a:xfrm>
          <a:prstGeom prst="rect">
            <a:avLst/>
          </a:prstGeom>
          <a:noFill/>
          <a:ln/>
        </p:spPr>
        <p:txBody>
          <a:bodyPr wrap="none" lIns="0" tIns="0" rIns="0" bIns="0" rtlCol="0" anchor="t"/>
          <a:lstStyle/>
          <a:p>
            <a:pPr algn="l" indent="0" marL="0">
              <a:lnSpc>
                <a:spcPct val="104000"/>
              </a:lnSpc>
              <a:buNone/>
            </a:pPr>
            <a:r>
              <a:rPr lang="en-US" sz="4650" dirty="0">
                <a:solidFill>
                  <a:srgbClr val="1F1E1E"/>
                </a:solidFill>
                <a:latin typeface="Roboto Mono Medium" pitchFamily="34" charset="0"/>
                <a:ea typeface="Roboto Mono Medium" pitchFamily="34" charset="-122"/>
                <a:cs typeface="Roboto Mono Medium" pitchFamily="34" charset="-120"/>
              </a:rPr>
              <a:t>Bienvenidos!</a:t>
            </a:r>
            <a:endParaRPr lang="en-US" sz="4650" dirty="0"/>
          </a:p>
        </p:txBody>
      </p:sp>
      <p:sp>
        <p:nvSpPr>
          <p:cNvPr id="4" name="Text 1"/>
          <p:cNvSpPr/>
          <p:nvPr/>
        </p:nvSpPr>
        <p:spPr>
          <a:xfrm>
            <a:off x="661475" y="3110012"/>
            <a:ext cx="6296860" cy="738386"/>
          </a:xfrm>
          <a:prstGeom prst="rect">
            <a:avLst/>
          </a:prstGeom>
          <a:noFill/>
          <a:ln/>
        </p:spPr>
        <p:txBody>
          <a:bodyPr wrap="square" lIns="0" tIns="0" rIns="0" bIns="0" rtlCol="0" anchor="t">
            <a:normAutofit/>
          </a:bodyPr>
          <a:lstStyle/>
          <a:p>
            <a:pPr algn="l" indent="0" marL="0">
              <a:lnSpc>
                <a:spcPct val="104000"/>
              </a:lnSpc>
              <a:buNone/>
            </a:pPr>
            <a:r>
              <a:rPr lang="en-US" sz="2300" dirty="0">
                <a:solidFill>
                  <a:srgbClr val="1F1E1E"/>
                </a:solidFill>
                <a:latin typeface="Roboto Mono Medium" pitchFamily="34" charset="0"/>
                <a:ea typeface="Roboto Mono Medium" pitchFamily="34" charset="-122"/>
                <a:cs typeface="Roboto Mono Medium" pitchFamily="34" charset="-120"/>
              </a:rPr>
              <a:t>Inteligencia Artificial </a:t>
            </a:r>
            <a:pPr algn="l" indent="0" marL="0">
              <a:lnSpc>
                <a:spcPct val="104000"/>
              </a:lnSpc>
              <a:buNone/>
            </a:pPr>
            <a:r>
              <a:rPr lang="en-US" sz="2300" u="sng" dirty="0">
                <a:solidFill>
                  <a:srgbClr val="1F1E1E"/>
                </a:solidFill>
                <a:latin typeface="Roboto Mono Medium" pitchFamily="34" charset="0"/>
                <a:ea typeface="Roboto Mono Medium" pitchFamily="34" charset="-122"/>
                <a:cs typeface="Roboto Mono Medium" pitchFamily="34" charset="-120"/>
              </a:rPr>
              <a:t>Generativa</a:t>
            </a:r>
            <a:pPr algn="l" indent="0" marL="0">
              <a:lnSpc>
                <a:spcPct val="104000"/>
              </a:lnSpc>
              <a:buNone/>
            </a:pPr>
            <a:r>
              <a:rPr lang="en-US" sz="2300" dirty="0">
                <a:solidFill>
                  <a:srgbClr val="1F1E1E"/>
                </a:solidFill>
                <a:latin typeface="Roboto Mono Medium" pitchFamily="34" charset="0"/>
                <a:ea typeface="Roboto Mono Medium" pitchFamily="34" charset="-122"/>
                <a:cs typeface="Roboto Mono Medium" pitchFamily="34" charset="-120"/>
              </a:rPr>
              <a:t> Aplicada en Biomedicina</a:t>
            </a:r>
            <a:endParaRPr lang="en-US" sz="2300" dirty="0"/>
          </a:p>
        </p:txBody>
      </p:sp>
      <p:sp>
        <p:nvSpPr>
          <p:cNvPr id="5" name="Text 2"/>
          <p:cNvSpPr/>
          <p:nvPr/>
        </p:nvSpPr>
        <p:spPr>
          <a:xfrm>
            <a:off x="661475" y="4202807"/>
            <a:ext cx="6906444" cy="377924"/>
          </a:xfrm>
          <a:prstGeom prst="rect">
            <a:avLst/>
          </a:prstGeom>
          <a:noFill/>
          <a:ln/>
        </p:spPr>
        <p:txBody>
          <a:bodyPr wrap="none" lIns="0" tIns="0" rIns="0" bIns="0" rtlCol="0" anchor="t"/>
          <a:lstStyle/>
          <a:p>
            <a:pPr algn="l" indent="0" marL="0">
              <a:lnSpc>
                <a:spcPct val="133000"/>
              </a:lnSpc>
              <a:buNone/>
            </a:pP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888504"/>
            <a:ext cx="6296860" cy="1993404"/>
          </a:xfrm>
          <a:prstGeom prst="rect">
            <a:avLst/>
          </a:prstGeom>
          <a:noFill/>
          <a:ln/>
        </p:spPr>
        <p:txBody>
          <a:bodyPr wrap="square" lIns="0" tIns="0" rIns="0" bIns="0" rtlCol="0" anchor="t">
            <a:normAutofit/>
          </a:bodyPr>
          <a:lstStyle/>
          <a:p>
            <a:pPr algn="l" indent="0" marL="0">
              <a:lnSpc>
                <a:spcPct val="104000"/>
              </a:lnSpc>
              <a:buNone/>
            </a:pPr>
            <a:r>
              <a:rPr lang="en-US" sz="4150" dirty="0">
                <a:solidFill>
                  <a:srgbClr val="1F1E1E"/>
                </a:solidFill>
                <a:latin typeface="Roboto Mono Medium" pitchFamily="34" charset="0"/>
                <a:ea typeface="Roboto Mono Medium" pitchFamily="34" charset="-122"/>
                <a:cs typeface="Roboto Mono Medium" pitchFamily="34" charset="-120"/>
              </a:rPr>
              <a:t>Que es Inteligencia Artificial Generativa ?</a:t>
            </a:r>
            <a:endParaRPr lang="en-US" sz="4150" dirty="0"/>
          </a:p>
        </p:txBody>
      </p:sp>
      <p:sp>
        <p:nvSpPr>
          <p:cNvPr id="4" name="Text 1"/>
          <p:cNvSpPr/>
          <p:nvPr/>
        </p:nvSpPr>
        <p:spPr>
          <a:xfrm>
            <a:off x="661475" y="3168948"/>
            <a:ext cx="6296860" cy="2800548"/>
          </a:xfrm>
          <a:prstGeom prst="rect">
            <a:avLst/>
          </a:prstGeom>
          <a:noFill/>
          <a:ln/>
        </p:spPr>
        <p:txBody>
          <a:bodyPr wrap="square" lIns="0" tIns="0" rIns="0" bIns="0" rtlCol="0" anchor="t">
            <a:normAutofit/>
          </a:bodyPr>
          <a:lstStyle/>
          <a:p>
            <a:pPr algn="l" indent="0" marL="0">
              <a:lnSpc>
                <a:spcPct val="127000"/>
              </a:lnSpc>
              <a:spcAft>
                <a:spcPts val="1650"/>
              </a:spcAft>
              <a:buNone/>
            </a:pPr>
            <a:r>
              <a:rPr lang="en-US" sz="1650" dirty="0">
                <a:solidFill>
                  <a:srgbClr val="3B3535"/>
                </a:solidFill>
                <a:latin typeface="Roboto" pitchFamily="34" charset="0"/>
                <a:ea typeface="Roboto" pitchFamily="34" charset="-122"/>
                <a:cs typeface="Roboto" pitchFamily="34" charset="-120"/>
              </a:rPr>
              <a:t> Bienvenidos! Este curso explorará los fundamentos, aplicaciones y desafíos de la Inteligencia Artificial </a:t>
            </a:r>
            <a:pPr algn="l" indent="0" marL="0">
              <a:lnSpc>
                <a:spcPct val="127000"/>
              </a:lnSpc>
              <a:spcAft>
                <a:spcPts val="1650"/>
              </a:spcAft>
              <a:buNone/>
            </a:pPr>
            <a:r>
              <a:rPr lang="en-US" sz="1650" u="sng" dirty="0">
                <a:solidFill>
                  <a:srgbClr val="3B3535"/>
                </a:solidFill>
                <a:latin typeface="Roboto" pitchFamily="34" charset="0"/>
                <a:ea typeface="Roboto" pitchFamily="34" charset="-122"/>
                <a:cs typeface="Roboto" pitchFamily="34" charset="-120"/>
              </a:rPr>
              <a:t>Generativa</a:t>
            </a:r>
            <a:pPr algn="l" indent="0" marL="0">
              <a:lnSpc>
                <a:spcPct val="127000"/>
              </a:lnSpc>
              <a:spcAft>
                <a:spcPts val="1650"/>
              </a:spcAft>
              <a:buNone/>
            </a:pPr>
            <a:r>
              <a:rPr lang="en-US" sz="1650" dirty="0">
                <a:solidFill>
                  <a:srgbClr val="3B3535"/>
                </a:solidFill>
                <a:latin typeface="Roboto" pitchFamily="34" charset="0"/>
                <a:ea typeface="Roboto" pitchFamily="34" charset="-122"/>
                <a:cs typeface="Roboto" pitchFamily="34" charset="-120"/>
              </a:rPr>
              <a:t>, un campo revolucionario que está transformando nuestra interacción con la tecnología.​</a:t>
            </a:r>
            <a:endParaRPr lang="en-US" sz="1650" dirty="0"/>
          </a:p>
          <a:p>
            <a:pPr algn="l" indent="0" marL="0">
              <a:lnSpc>
                <a:spcPct val="127000"/>
              </a:lnSpc>
              <a:buNone/>
            </a:pPr>
            <a:r>
              <a:rPr lang="en-US" sz="1650" dirty="0">
                <a:solidFill>
                  <a:srgbClr val="3B3535"/>
                </a:solidFill>
                <a:latin typeface="Roboto" pitchFamily="34" charset="0"/>
                <a:ea typeface="Roboto" pitchFamily="34" charset="-122"/>
                <a:cs typeface="Roboto" pitchFamily="34" charset="-120"/>
              </a:rPr>
              <a:t>A lo largo de este cuatrimestre, analizaremos los conceptos básicos de la GenAI, los modelos de lenguaje generativos, la visión artificial, y los aspectos éticos relacionados con esta tecnología emergente.​ </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744736"/>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Antes que nada…</a:t>
            </a:r>
            <a:endParaRPr lang="en-US" sz="3250" dirty="0"/>
          </a:p>
        </p:txBody>
      </p:sp>
      <p:pic>
        <p:nvPicPr>
          <p:cNvPr id="3" name="Image 0" descr="preencoded.png">    </p:cNvPr>
          <p:cNvPicPr>
            <a:picLocks noChangeAspect="1"/>
          </p:cNvPicPr>
          <p:nvPr/>
        </p:nvPicPr>
        <p:blipFill>
          <a:blip r:embed="rId1"/>
          <a:stretch>
            <a:fillRect/>
          </a:stretch>
        </p:blipFill>
        <p:spPr>
          <a:xfrm>
            <a:off x="1994346" y="1565275"/>
            <a:ext cx="2566824" cy="2139950"/>
          </a:xfrm>
          <a:prstGeom prst="rect">
            <a:avLst/>
          </a:prstGeom>
        </p:spPr>
      </p:pic>
      <p:sp>
        <p:nvSpPr>
          <p:cNvPr id="4" name="Text 1"/>
          <p:cNvSpPr/>
          <p:nvPr/>
        </p:nvSpPr>
        <p:spPr>
          <a:xfrm>
            <a:off x="661475" y="3835400"/>
            <a:ext cx="5232666" cy="310059"/>
          </a:xfrm>
          <a:prstGeom prst="rect">
            <a:avLst/>
          </a:prstGeom>
          <a:noFill/>
          <a:ln/>
        </p:spPr>
        <p:txBody>
          <a:bodyPr wrap="none" lIns="0" tIns="0" rIns="0" bIns="0" rtlCol="0" anchor="t"/>
          <a:lstStyle/>
          <a:p>
            <a:pPr algn="ctr" indent="0" marL="0">
              <a:lnSpc>
                <a:spcPct val="104000"/>
              </a:lnSpc>
              <a:buNone/>
            </a:pPr>
            <a:r>
              <a:rPr lang="en-US" sz="1950" dirty="0">
                <a:solidFill>
                  <a:srgbClr val="1F1E1E"/>
                </a:solidFill>
                <a:latin typeface="Roboto Mono Medium" pitchFamily="34" charset="0"/>
                <a:ea typeface="Roboto Mono Medium" pitchFamily="34" charset="-122"/>
                <a:cs typeface="Roboto Mono Medium" pitchFamily="34" charset="-120"/>
              </a:rPr>
              <a:t>Paulo Veiga</a:t>
            </a:r>
            <a:endParaRPr lang="en-US" sz="1950" dirty="0"/>
          </a:p>
        </p:txBody>
      </p:sp>
      <p:sp>
        <p:nvSpPr>
          <p:cNvPr id="5" name="Text 2"/>
          <p:cNvSpPr/>
          <p:nvPr/>
        </p:nvSpPr>
        <p:spPr>
          <a:xfrm>
            <a:off x="356682" y="4261148"/>
            <a:ext cx="5842251" cy="224929"/>
          </a:xfrm>
          <a:prstGeom prst="rect">
            <a:avLst/>
          </a:prstGeom>
          <a:noFill/>
          <a:ln/>
        </p:spPr>
        <p:txBody>
          <a:bodyPr wrap="none" lIns="0" tIns="0" rIns="0" bIns="0" rtlCol="0" anchor="t"/>
          <a:lstStyle/>
          <a:p>
            <a:pPr algn="ctr" indent="0" marL="0">
              <a:lnSpc>
                <a:spcPct val="113000"/>
              </a:lnSpc>
              <a:buNone/>
            </a:pPr>
            <a:r>
              <a:rPr lang="en-US" sz="1300" dirty="0">
                <a:solidFill>
                  <a:srgbClr val="3B3535"/>
                </a:solidFill>
                <a:latin typeface="Roboto" pitchFamily="34" charset="0"/>
                <a:ea typeface="Roboto" pitchFamily="34" charset="-122"/>
                <a:cs typeface="Roboto" pitchFamily="34" charset="-120"/>
              </a:rPr>
              <a:t>Email: </a:t>
            </a:r>
            <a:pPr algn="ctr" indent="0" marL="0">
              <a:lnSpc>
                <a:spcPct val="113000"/>
              </a:lnSpc>
              <a:buNone/>
            </a:pPr>
            <a:r>
              <a:rPr lang="en-US" sz="1300" b="1" u="sng" dirty="0">
                <a:solidFill>
                  <a:srgbClr val="DA1B2E"/>
                </a:solidFill>
                <a:latin typeface="Roboto Bold" pitchFamily="34" charset="0"/>
                <a:ea typeface="Roboto Bold" pitchFamily="34" charset="-122"/>
                <a:cs typeface="Roboto Bold" pitchFamily="34" charset="-120"/>
                <a:hlinkClick r:id="rId2" invalidUrl="" action="" tgtFrame="" tooltip="" history="1" highlightClick="0" endSnd="0">
                  <a:extLst>
                    <a:ext uri="{A12FA001-AC4F-418D-AE19-62706E023703}">
                      <ahyp:hlinkClr xmlns:ahyp="http://schemas.microsoft.com/office/drawing/2018/hyperlinkcolor" val="tx"/>
                    </a:ext>
                  </a:extLst>
                </a:hlinkClick>
              </a:rPr>
              <a:t>pveiga@austral.edu.ar</a:t>
            </a:r>
            <a:endParaRPr lang="en-US" sz="1300" dirty="0"/>
          </a:p>
        </p:txBody>
      </p:sp>
      <p:pic>
        <p:nvPicPr>
          <p:cNvPr id="6" name="Image 1" descr="preencoded.png">    </p:cNvPr>
          <p:cNvPicPr>
            <a:picLocks noChangeAspect="1"/>
          </p:cNvPicPr>
          <p:nvPr/>
        </p:nvPicPr>
        <p:blipFill>
          <a:blip r:embed="rId3"/>
          <a:stretch>
            <a:fillRect/>
          </a:stretch>
        </p:blipFill>
        <p:spPr>
          <a:xfrm>
            <a:off x="7088804" y="1565275"/>
            <a:ext cx="3662866" cy="3662958"/>
          </a:xfrm>
          <a:prstGeom prst="rect">
            <a:avLst/>
          </a:prstGeom>
        </p:spPr>
      </p:pic>
      <p:sp>
        <p:nvSpPr>
          <p:cNvPr id="7" name="Text 3"/>
          <p:cNvSpPr/>
          <p:nvPr/>
        </p:nvSpPr>
        <p:spPr>
          <a:xfrm>
            <a:off x="6303904" y="5358408"/>
            <a:ext cx="5232666" cy="310059"/>
          </a:xfrm>
          <a:prstGeom prst="rect">
            <a:avLst/>
          </a:prstGeom>
          <a:noFill/>
          <a:ln/>
        </p:spPr>
        <p:txBody>
          <a:bodyPr wrap="none" lIns="0" tIns="0" rIns="0" bIns="0" rtlCol="0" anchor="t"/>
          <a:lstStyle/>
          <a:p>
            <a:pPr algn="ctr" indent="0" marL="0">
              <a:lnSpc>
                <a:spcPct val="104000"/>
              </a:lnSpc>
              <a:buNone/>
            </a:pPr>
            <a:r>
              <a:rPr lang="en-US" sz="1950" dirty="0">
                <a:solidFill>
                  <a:srgbClr val="1F1E1E"/>
                </a:solidFill>
                <a:latin typeface="Roboto Mono Medium" pitchFamily="34" charset="0"/>
                <a:ea typeface="Roboto Mono Medium" pitchFamily="34" charset="-122"/>
                <a:cs typeface="Roboto Mono Medium" pitchFamily="34" charset="-120"/>
              </a:rPr>
              <a:t>Marco Sanchez Sorondo</a:t>
            </a:r>
            <a:endParaRPr lang="en-US" sz="1950" dirty="0"/>
          </a:p>
        </p:txBody>
      </p:sp>
      <p:sp>
        <p:nvSpPr>
          <p:cNvPr id="8" name="Text 4"/>
          <p:cNvSpPr/>
          <p:nvPr/>
        </p:nvSpPr>
        <p:spPr>
          <a:xfrm>
            <a:off x="5999112" y="5784155"/>
            <a:ext cx="5842251" cy="224929"/>
          </a:xfrm>
          <a:prstGeom prst="rect">
            <a:avLst/>
          </a:prstGeom>
          <a:noFill/>
          <a:ln/>
        </p:spPr>
        <p:txBody>
          <a:bodyPr wrap="none" lIns="0" tIns="0" rIns="0" bIns="0" rtlCol="0" anchor="t"/>
          <a:lstStyle/>
          <a:p>
            <a:pPr algn="ctr" indent="0" marL="0">
              <a:lnSpc>
                <a:spcPct val="113000"/>
              </a:lnSpc>
              <a:buNone/>
            </a:pPr>
            <a:r>
              <a:rPr lang="en-US" sz="1300" dirty="0">
                <a:solidFill>
                  <a:srgbClr val="3B3535"/>
                </a:solidFill>
                <a:latin typeface="Roboto" pitchFamily="34" charset="0"/>
                <a:ea typeface="Roboto" pitchFamily="34" charset="-122"/>
                <a:cs typeface="Roboto" pitchFamily="34" charset="-120"/>
              </a:rPr>
              <a:t>Email: </a:t>
            </a:r>
            <a:pPr algn="ctr" indent="0" marL="0">
              <a:lnSpc>
                <a:spcPct val="113000"/>
              </a:lnSpc>
              <a:buNone/>
            </a:pPr>
            <a:r>
              <a:rPr lang="en-US" sz="1300" b="1" u="sng" dirty="0">
                <a:solidFill>
                  <a:srgbClr val="DA1B2E"/>
                </a:solidFill>
                <a:latin typeface="Roboto Bold" pitchFamily="34" charset="0"/>
                <a:ea typeface="Roboto Bold" pitchFamily="34" charset="-122"/>
                <a:cs typeface="Roboto Bold" pitchFamily="34" charset="-120"/>
                <a:hlinkClick r:id="rId4" invalidUrl="" action="" tgtFrame="" tooltip="" history="1" highlightClick="0" endSnd="0">
                  <a:extLst>
                    <a:ext uri="{A12FA001-AC4F-418D-AE19-62706E023703}">
                      <ahyp:hlinkClr xmlns:ahyp="http://schemas.microsoft.com/office/drawing/2018/hyperlinkcolor" val="tx"/>
                    </a:ext>
                  </a:extLst>
                </a:hlinkClick>
              </a:rPr>
              <a:t>msanchezSorondo@austral.edu.ar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872034"/>
            <a:ext cx="2049014" cy="287139"/>
          </a:xfrm>
          <a:prstGeom prst="roundRect">
            <a:avLst>
              <a:gd name="adj" fmla="val 2654"/>
            </a:avLst>
          </a:prstGeom>
          <a:solidFill>
            <a:srgbClr val="F9D2D6"/>
          </a:solidFill>
          <a:ln/>
        </p:spPr>
      </p:sp>
      <p:sp>
        <p:nvSpPr>
          <p:cNvPr id="3" name="Text 1"/>
          <p:cNvSpPr/>
          <p:nvPr/>
        </p:nvSpPr>
        <p:spPr>
          <a:xfrm>
            <a:off x="774879" y="928687"/>
            <a:ext cx="2431791" cy="173831"/>
          </a:xfrm>
          <a:prstGeom prst="rect">
            <a:avLst/>
          </a:prstGeom>
          <a:noFill/>
          <a:ln/>
        </p:spPr>
        <p:txBody>
          <a:bodyPr wrap="none" lIns="0" tIns="0" rIns="0" bIns="0" rtlCol="0" anchor="t"/>
          <a:lstStyle/>
          <a:p>
            <a:pPr algn="l" indent="0" marL="0">
              <a:lnSpc>
                <a:spcPct val="96000"/>
              </a:lnSpc>
              <a:buNone/>
            </a:pPr>
            <a:r>
              <a:rPr lang="en-US" sz="1150" dirty="0">
                <a:solidFill>
                  <a:srgbClr val="3B3535"/>
                </a:solidFill>
                <a:latin typeface="Roboto" pitchFamily="34" charset="0"/>
                <a:ea typeface="Roboto" pitchFamily="34" charset="-122"/>
                <a:cs typeface="Roboto" pitchFamily="34" charset="-120"/>
              </a:rPr>
              <a:t>¿POR QUÉ ESTA MATERIA?</a:t>
            </a:r>
            <a:endParaRPr lang="en-US" sz="1150" dirty="0"/>
          </a:p>
        </p:txBody>
      </p:sp>
      <p:sp>
        <p:nvSpPr>
          <p:cNvPr id="4" name="Text 2"/>
          <p:cNvSpPr/>
          <p:nvPr/>
        </p:nvSpPr>
        <p:spPr>
          <a:xfrm>
            <a:off x="661475" y="1219597"/>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dirty="0">
                <a:solidFill>
                  <a:srgbClr val="1F1E1E"/>
                </a:solidFill>
                <a:latin typeface="Roboto Mono Medium" pitchFamily="34" charset="0"/>
                <a:ea typeface="Roboto Mono Medium" pitchFamily="34" charset="-122"/>
                <a:cs typeface="Roboto Mono Medium" pitchFamily="34" charset="-120"/>
              </a:rPr>
              <a:t>¿Por qué esto es relevante para tu carrera?</a:t>
            </a:r>
            <a:endParaRPr lang="en-US" sz="3700" dirty="0"/>
          </a:p>
        </p:txBody>
      </p:sp>
      <p:sp>
        <p:nvSpPr>
          <p:cNvPr id="5" name="Text 3"/>
          <p:cNvSpPr/>
          <p:nvPr/>
        </p:nvSpPr>
        <p:spPr>
          <a:xfrm>
            <a:off x="661475" y="2461320"/>
            <a:ext cx="10868745" cy="295275"/>
          </a:xfrm>
          <a:prstGeom prst="rect">
            <a:avLst/>
          </a:prstGeom>
          <a:noFill/>
          <a:ln/>
        </p:spPr>
        <p:txBody>
          <a:bodyPr wrap="none" lIns="0" tIns="0" rIns="0" bIns="0" rtlCol="0" anchor="t"/>
          <a:lstStyle/>
          <a:p>
            <a:pPr algn="l" indent="0" marL="0">
              <a:lnSpc>
                <a:spcPct val="104000"/>
              </a:lnSpc>
              <a:buNone/>
            </a:pPr>
            <a:r>
              <a:rPr lang="en-US" sz="1850" dirty="0">
                <a:solidFill>
                  <a:srgbClr val="1F1E1E"/>
                </a:solidFill>
                <a:latin typeface="Roboto Mono Medium" pitchFamily="34" charset="0"/>
                <a:ea typeface="Roboto Mono Medium" pitchFamily="34" charset="-122"/>
                <a:cs typeface="Roboto Mono Medium" pitchFamily="34" charset="-120"/>
              </a:rPr>
              <a:t>La IA generativa no es una herramienta más — es una ventaja competitiva</a:t>
            </a:r>
            <a:endParaRPr lang="en-US" sz="18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983409"/>
            <a:ext cx="472468" cy="472480"/>
          </a:xfrm>
          <a:prstGeom prst="rect">
            <a:avLst/>
          </a:prstGeom>
        </p:spPr>
      </p:pic>
      <p:sp>
        <p:nvSpPr>
          <p:cNvPr id="7" name="Text 4"/>
          <p:cNvSpPr/>
          <p:nvPr/>
        </p:nvSpPr>
        <p:spPr>
          <a:xfrm>
            <a:off x="1322950" y="2983409"/>
            <a:ext cx="4678345" cy="295275"/>
          </a:xfrm>
          <a:prstGeom prst="rect">
            <a:avLst/>
          </a:prstGeom>
          <a:noFill/>
          <a:ln/>
        </p:spPr>
        <p:txBody>
          <a:bodyPr wrap="none" lIns="0" tIns="0" rIns="0" bIns="0" rtlCol="0" anchor="t"/>
          <a:lstStyle/>
          <a:p>
            <a:pPr algn="l" indent="0" marL="0">
              <a:lnSpc>
                <a:spcPct val="104000"/>
              </a:lnSpc>
              <a:buNone/>
            </a:pPr>
            <a:r>
              <a:rPr lang="en-US" sz="1850" dirty="0">
                <a:solidFill>
                  <a:srgbClr val="3B3535"/>
                </a:solidFill>
                <a:latin typeface="Roboto Mono Medium" pitchFamily="34" charset="0"/>
                <a:ea typeface="Roboto Mono Medium" pitchFamily="34" charset="-122"/>
                <a:cs typeface="Roboto Mono Medium" pitchFamily="34" charset="-120"/>
              </a:rPr>
              <a:t>El mercado ya lo exige</a:t>
            </a:r>
            <a:endParaRPr lang="en-US" sz="1850" dirty="0"/>
          </a:p>
        </p:txBody>
      </p:sp>
      <p:sp>
        <p:nvSpPr>
          <p:cNvPr id="8" name="Text 5"/>
          <p:cNvSpPr/>
          <p:nvPr/>
        </p:nvSpPr>
        <p:spPr>
          <a:xfrm>
            <a:off x="1322950" y="3369370"/>
            <a:ext cx="4678345" cy="816471"/>
          </a:xfrm>
          <a:prstGeom prst="rect">
            <a:avLst/>
          </a:prstGeom>
          <a:noFill/>
          <a:ln/>
        </p:spPr>
        <p:txBody>
          <a:bodyPr wrap="square" lIns="0" tIns="0" rIns="0" bIns="0" rtlCol="0" anchor="t">
            <a:normAutofit/>
          </a:bodyPr>
          <a:lstStyle/>
          <a:p>
            <a:pPr algn="l" indent="0" marL="0">
              <a:lnSpc>
                <a:spcPct val="120000"/>
              </a:lnSpc>
              <a:buNone/>
            </a:pPr>
            <a:r>
              <a:rPr lang="en-US" sz="1450" dirty="0">
                <a:solidFill>
                  <a:srgbClr val="3B3535"/>
                </a:solidFill>
                <a:latin typeface="Roboto" pitchFamily="34" charset="0"/>
                <a:ea typeface="Roboto" pitchFamily="34" charset="-122"/>
                <a:cs typeface="Roboto" pitchFamily="34" charset="-120"/>
              </a:rPr>
              <a:t>El 75% de las empresas de salud planea incorporar IA en sus procesos clínicos antes de 2027. Quienes entiendan cómo funciona tendrán ventaja inmediata.</a:t>
            </a:r>
            <a:endParaRPr lang="en-US" sz="145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0301" y="2983409"/>
            <a:ext cx="472468" cy="472480"/>
          </a:xfrm>
          <a:prstGeom prst="rect">
            <a:avLst/>
          </a:prstGeom>
        </p:spPr>
      </p:pic>
      <p:sp>
        <p:nvSpPr>
          <p:cNvPr id="10" name="Text 6"/>
          <p:cNvSpPr/>
          <p:nvPr/>
        </p:nvSpPr>
        <p:spPr>
          <a:xfrm>
            <a:off x="6851776" y="2983409"/>
            <a:ext cx="4678444" cy="590550"/>
          </a:xfrm>
          <a:prstGeom prst="rect">
            <a:avLst/>
          </a:prstGeom>
          <a:noFill/>
          <a:ln/>
        </p:spPr>
        <p:txBody>
          <a:bodyPr wrap="square" lIns="0" tIns="0" rIns="0" bIns="0" rtlCol="0" anchor="t">
            <a:normAutofit/>
          </a:bodyPr>
          <a:lstStyle/>
          <a:p>
            <a:pPr algn="l" indent="0" marL="0">
              <a:lnSpc>
                <a:spcPct val="104000"/>
              </a:lnSpc>
              <a:buNone/>
            </a:pPr>
            <a:r>
              <a:rPr lang="en-US" sz="1850" dirty="0">
                <a:solidFill>
                  <a:srgbClr val="3B3535"/>
                </a:solidFill>
                <a:latin typeface="Roboto Mono Medium" pitchFamily="34" charset="0"/>
                <a:ea typeface="Roboto Mono Medium" pitchFamily="34" charset="-122"/>
                <a:cs typeface="Roboto Mono Medium" pitchFamily="34" charset="-120"/>
              </a:rPr>
              <a:t>Biomedicina es el sector de mayor impacto</a:t>
            </a:r>
            <a:endParaRPr lang="en-US" sz="1850" dirty="0"/>
          </a:p>
        </p:txBody>
      </p:sp>
      <p:sp>
        <p:nvSpPr>
          <p:cNvPr id="11" name="Text 7"/>
          <p:cNvSpPr/>
          <p:nvPr/>
        </p:nvSpPr>
        <p:spPr>
          <a:xfrm>
            <a:off x="6851776" y="3664645"/>
            <a:ext cx="4678444" cy="816471"/>
          </a:xfrm>
          <a:prstGeom prst="rect">
            <a:avLst/>
          </a:prstGeom>
          <a:noFill/>
          <a:ln/>
        </p:spPr>
        <p:txBody>
          <a:bodyPr wrap="square" lIns="0" tIns="0" rIns="0" bIns="0" rtlCol="0" anchor="t">
            <a:normAutofit/>
          </a:bodyPr>
          <a:lstStyle/>
          <a:p>
            <a:pPr algn="l" indent="0" marL="0">
              <a:lnSpc>
                <a:spcPct val="120000"/>
              </a:lnSpc>
              <a:buNone/>
            </a:pPr>
            <a:r>
              <a:rPr lang="en-US" sz="1450" dirty="0">
                <a:solidFill>
                  <a:srgbClr val="3B3535"/>
                </a:solidFill>
                <a:latin typeface="Roboto" pitchFamily="34" charset="0"/>
                <a:ea typeface="Roboto" pitchFamily="34" charset="-122"/>
                <a:cs typeface="Roboto" pitchFamily="34" charset="-120"/>
              </a:rPr>
              <a:t>Diagnóstico asistido, descubrimiento de fármacos, análisis genómico y gestión clínica son áreas donde la IA ya está transformando resultados reales.</a:t>
            </a:r>
            <a:endParaRPr lang="en-US" sz="145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783534"/>
            <a:ext cx="472468" cy="472480"/>
          </a:xfrm>
          <a:prstGeom prst="rect">
            <a:avLst/>
          </a:prstGeom>
        </p:spPr>
      </p:pic>
      <p:sp>
        <p:nvSpPr>
          <p:cNvPr id="13" name="Text 8"/>
          <p:cNvSpPr/>
          <p:nvPr/>
        </p:nvSpPr>
        <p:spPr>
          <a:xfrm>
            <a:off x="1322950" y="4783534"/>
            <a:ext cx="4678345" cy="295275"/>
          </a:xfrm>
          <a:prstGeom prst="rect">
            <a:avLst/>
          </a:prstGeom>
          <a:noFill/>
          <a:ln/>
        </p:spPr>
        <p:txBody>
          <a:bodyPr wrap="none" lIns="0" tIns="0" rIns="0" bIns="0" rtlCol="0" anchor="t"/>
          <a:lstStyle/>
          <a:p>
            <a:pPr algn="l" indent="0" marL="0">
              <a:lnSpc>
                <a:spcPct val="104000"/>
              </a:lnSpc>
              <a:buNone/>
            </a:pPr>
            <a:r>
              <a:rPr lang="en-US" sz="1850" dirty="0">
                <a:solidFill>
                  <a:srgbClr val="3B3535"/>
                </a:solidFill>
                <a:latin typeface="Roboto Mono Medium" pitchFamily="34" charset="0"/>
                <a:ea typeface="Roboto Mono Medium" pitchFamily="34" charset="-122"/>
                <a:cs typeface="Roboto Mono Medium" pitchFamily="34" charset="-120"/>
              </a:rPr>
              <a:t>Diferenciación profesional</a:t>
            </a:r>
            <a:endParaRPr lang="en-US" sz="1850" dirty="0"/>
          </a:p>
        </p:txBody>
      </p:sp>
      <p:sp>
        <p:nvSpPr>
          <p:cNvPr id="14" name="Text 9"/>
          <p:cNvSpPr/>
          <p:nvPr/>
        </p:nvSpPr>
        <p:spPr>
          <a:xfrm>
            <a:off x="1322950" y="5169495"/>
            <a:ext cx="4678345" cy="816471"/>
          </a:xfrm>
          <a:prstGeom prst="rect">
            <a:avLst/>
          </a:prstGeom>
          <a:noFill/>
          <a:ln/>
        </p:spPr>
        <p:txBody>
          <a:bodyPr wrap="square" lIns="0" tIns="0" rIns="0" bIns="0" rtlCol="0" anchor="t">
            <a:normAutofit/>
          </a:bodyPr>
          <a:lstStyle/>
          <a:p>
            <a:pPr algn="l" indent="0" marL="0">
              <a:lnSpc>
                <a:spcPct val="120000"/>
              </a:lnSpc>
              <a:buNone/>
            </a:pPr>
            <a:r>
              <a:rPr lang="en-US" sz="1450" dirty="0">
                <a:solidFill>
                  <a:srgbClr val="3B3535"/>
                </a:solidFill>
                <a:latin typeface="Roboto" pitchFamily="34" charset="0"/>
                <a:ea typeface="Roboto" pitchFamily="34" charset="-122"/>
                <a:cs typeface="Roboto" pitchFamily="34" charset="-120"/>
              </a:rPr>
              <a:t>Un profesional de salud que entiende IA puede liderar proyectos, tomar mejores decisiones clínicas y comunicarse con equipos técnicos.</a:t>
            </a:r>
            <a:endParaRPr lang="en-US" sz="145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0301" y="4783534"/>
            <a:ext cx="472468" cy="472480"/>
          </a:xfrm>
          <a:prstGeom prst="rect">
            <a:avLst/>
          </a:prstGeom>
        </p:spPr>
      </p:pic>
      <p:sp>
        <p:nvSpPr>
          <p:cNvPr id="16" name="Text 10"/>
          <p:cNvSpPr/>
          <p:nvPr/>
        </p:nvSpPr>
        <p:spPr>
          <a:xfrm>
            <a:off x="6851776" y="4783534"/>
            <a:ext cx="4678444" cy="295275"/>
          </a:xfrm>
          <a:prstGeom prst="rect">
            <a:avLst/>
          </a:prstGeom>
          <a:noFill/>
          <a:ln/>
        </p:spPr>
        <p:txBody>
          <a:bodyPr wrap="none" lIns="0" tIns="0" rIns="0" bIns="0" rtlCol="0" anchor="t"/>
          <a:lstStyle/>
          <a:p>
            <a:pPr algn="l" indent="0" marL="0">
              <a:lnSpc>
                <a:spcPct val="104000"/>
              </a:lnSpc>
              <a:buNone/>
            </a:pPr>
            <a:r>
              <a:rPr lang="en-US" sz="1850" dirty="0">
                <a:solidFill>
                  <a:srgbClr val="3B3535"/>
                </a:solidFill>
                <a:latin typeface="Roboto Mono Medium" pitchFamily="34" charset="0"/>
                <a:ea typeface="Roboto Mono Medium" pitchFamily="34" charset="-122"/>
                <a:cs typeface="Roboto Mono Medium" pitchFamily="34" charset="-120"/>
              </a:rPr>
              <a:t>El futuro ya llegó</a:t>
            </a:r>
            <a:endParaRPr lang="en-US" sz="1850" dirty="0"/>
          </a:p>
        </p:txBody>
      </p:sp>
      <p:sp>
        <p:nvSpPr>
          <p:cNvPr id="17" name="Text 11"/>
          <p:cNvSpPr/>
          <p:nvPr/>
        </p:nvSpPr>
        <p:spPr>
          <a:xfrm>
            <a:off x="6851776" y="5169495"/>
            <a:ext cx="4678444" cy="816471"/>
          </a:xfrm>
          <a:prstGeom prst="rect">
            <a:avLst/>
          </a:prstGeom>
          <a:noFill/>
          <a:ln/>
        </p:spPr>
        <p:txBody>
          <a:bodyPr wrap="square" lIns="0" tIns="0" rIns="0" bIns="0" rtlCol="0" anchor="t">
            <a:normAutofit/>
          </a:bodyPr>
          <a:lstStyle/>
          <a:p>
            <a:pPr algn="l" indent="0" marL="0">
              <a:lnSpc>
                <a:spcPct val="120000"/>
              </a:lnSpc>
              <a:buNone/>
            </a:pPr>
            <a:r>
              <a:rPr lang="en-US" sz="1450" dirty="0">
                <a:solidFill>
                  <a:srgbClr val="3B3535"/>
                </a:solidFill>
                <a:latin typeface="Roboto" pitchFamily="34" charset="0"/>
                <a:ea typeface="Roboto" pitchFamily="34" charset="-122"/>
                <a:cs typeface="Roboto" pitchFamily="34" charset="-120"/>
              </a:rPr>
              <a:t>ChatGPT, AlphaFold, Med-PaLM 2. Las herramientas existen. La pregunta es si vas a usarlas o que otros las usen por vos.</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923032"/>
            <a:ext cx="11478330" cy="297160"/>
          </a:xfrm>
          <a:prstGeom prst="rect">
            <a:avLst/>
          </a:prstGeom>
          <a:noFill/>
          <a:ln/>
        </p:spPr>
        <p:txBody>
          <a:bodyPr wrap="none" lIns="0" tIns="0" rIns="0" bIns="0" rtlCol="0" anchor="t"/>
          <a:lstStyle/>
          <a:p>
            <a:pPr algn="l" indent="0" marL="0">
              <a:lnSpc>
                <a:spcPct val="123000"/>
              </a:lnSpc>
              <a:buNone/>
            </a:pPr>
            <a:endParaRPr lang="en-US" sz="1550" dirty="0"/>
          </a:p>
        </p:txBody>
      </p:sp>
      <p:sp>
        <p:nvSpPr>
          <p:cNvPr id="3" name="Shape 1"/>
          <p:cNvSpPr/>
          <p:nvPr/>
        </p:nvSpPr>
        <p:spPr>
          <a:xfrm>
            <a:off x="661475" y="1412180"/>
            <a:ext cx="2177896" cy="305098"/>
          </a:xfrm>
          <a:prstGeom prst="roundRect">
            <a:avLst>
              <a:gd name="adj" fmla="val 2497"/>
            </a:avLst>
          </a:prstGeom>
          <a:solidFill>
            <a:srgbClr val="F9D2D6"/>
          </a:solidFill>
          <a:ln/>
        </p:spPr>
      </p:sp>
      <p:sp>
        <p:nvSpPr>
          <p:cNvPr id="4" name="Text 2"/>
          <p:cNvSpPr/>
          <p:nvPr/>
        </p:nvSpPr>
        <p:spPr>
          <a:xfrm>
            <a:off x="781923" y="1472406"/>
            <a:ext cx="2546584" cy="184646"/>
          </a:xfrm>
          <a:prstGeom prst="rect">
            <a:avLst/>
          </a:prstGeom>
          <a:noFill/>
          <a:ln/>
        </p:spPr>
        <p:txBody>
          <a:bodyPr wrap="none" lIns="0" tIns="0" rIns="0" bIns="0" rtlCol="0" anchor="t"/>
          <a:lstStyle/>
          <a:p>
            <a:pPr algn="l" indent="0" marL="0">
              <a:lnSpc>
                <a:spcPct val="96000"/>
              </a:lnSpc>
              <a:buNone/>
            </a:pPr>
            <a:r>
              <a:rPr lang="en-US" sz="1250" dirty="0">
                <a:solidFill>
                  <a:srgbClr val="3B3535"/>
                </a:solidFill>
                <a:latin typeface="Roboto" pitchFamily="34" charset="0"/>
                <a:ea typeface="Roboto" pitchFamily="34" charset="-122"/>
                <a:cs typeface="Roboto" pitchFamily="34" charset="-120"/>
              </a:rPr>
              <a:t>¿POR QUÉ ESTA MATERIA?</a:t>
            </a:r>
            <a:endParaRPr lang="en-US" sz="1250" dirty="0"/>
          </a:p>
        </p:txBody>
      </p:sp>
      <p:sp>
        <p:nvSpPr>
          <p:cNvPr id="5" name="Text 3"/>
          <p:cNvSpPr/>
          <p:nvPr/>
        </p:nvSpPr>
        <p:spPr>
          <a:xfrm>
            <a:off x="661475" y="1785541"/>
            <a:ext cx="10868745" cy="627559"/>
          </a:xfrm>
          <a:prstGeom prst="rect">
            <a:avLst/>
          </a:prstGeom>
          <a:noFill/>
          <a:ln/>
        </p:spPr>
        <p:txBody>
          <a:bodyPr wrap="none" lIns="0" tIns="0" rIns="0" bIns="0" rtlCol="0" anchor="t"/>
          <a:lstStyle/>
          <a:p>
            <a:pPr algn="l" indent="0" marL="0">
              <a:lnSpc>
                <a:spcPct val="104000"/>
              </a:lnSpc>
              <a:buNone/>
            </a:pPr>
            <a:r>
              <a:rPr lang="en-US" sz="3950" dirty="0">
                <a:solidFill>
                  <a:srgbClr val="1F1E1E"/>
                </a:solidFill>
                <a:latin typeface="Roboto Mono Medium" pitchFamily="34" charset="0"/>
                <a:ea typeface="Roboto Mono Medium" pitchFamily="34" charset="-122"/>
                <a:cs typeface="Roboto Mono Medium" pitchFamily="34" charset="-120"/>
              </a:rPr>
              <a:t>El Impacto de GenAI en la Economía</a:t>
            </a:r>
            <a:endParaRPr lang="en-US" sz="39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669084"/>
            <a:ext cx="502034" cy="502047"/>
          </a:xfrm>
          <a:prstGeom prst="rect">
            <a:avLst/>
          </a:prstGeom>
        </p:spPr>
      </p:pic>
      <p:sp>
        <p:nvSpPr>
          <p:cNvPr id="7" name="Text 4"/>
          <p:cNvSpPr/>
          <p:nvPr/>
        </p:nvSpPr>
        <p:spPr>
          <a:xfrm>
            <a:off x="1376824" y="2669084"/>
            <a:ext cx="4612366" cy="627459"/>
          </a:xfrm>
          <a:prstGeom prst="rect">
            <a:avLst/>
          </a:prstGeom>
          <a:noFill/>
          <a:ln/>
        </p:spPr>
        <p:txBody>
          <a:bodyPr wrap="square" lIns="0" tIns="0" rIns="0" bIns="0" rtlCol="0" anchor="t">
            <a:normAutofit/>
          </a:bodyPr>
          <a:lstStyle/>
          <a:p>
            <a:pPr algn="l" indent="0" marL="0">
              <a:lnSpc>
                <a:spcPct val="104000"/>
              </a:lnSpc>
              <a:buNone/>
            </a:pPr>
            <a:r>
              <a:rPr lang="en-US" sz="1950" dirty="0">
                <a:solidFill>
                  <a:srgbClr val="3B3535"/>
                </a:solidFill>
                <a:latin typeface="Roboto Mono Medium" pitchFamily="34" charset="0"/>
                <a:ea typeface="Roboto Mono Medium" pitchFamily="34" charset="-122"/>
                <a:cs typeface="Roboto Mono Medium" pitchFamily="34" charset="-120"/>
              </a:rPr>
              <a:t>Impulso histórico a la productividad</a:t>
            </a:r>
            <a:endParaRPr lang="en-US" sz="1950" dirty="0"/>
          </a:p>
        </p:txBody>
      </p:sp>
      <p:sp>
        <p:nvSpPr>
          <p:cNvPr id="8" name="Text 5"/>
          <p:cNvSpPr/>
          <p:nvPr/>
        </p:nvSpPr>
        <p:spPr>
          <a:xfrm>
            <a:off x="1376824" y="3398937"/>
            <a:ext cx="4612366" cy="594320"/>
          </a:xfrm>
          <a:prstGeom prst="rect">
            <a:avLst/>
          </a:prstGeom>
          <a:noFill/>
          <a:ln/>
        </p:spPr>
        <p:txBody>
          <a:bodyPr wrap="square" lIns="0" tIns="0" rIns="0" bIns="0" rtlCol="0" anchor="t">
            <a:normAutofit/>
          </a:bodyPr>
          <a:lstStyle/>
          <a:p>
            <a:pPr algn="l" indent="0" marL="0">
              <a:lnSpc>
                <a:spcPct val="123000"/>
              </a:lnSpc>
              <a:buNone/>
            </a:pPr>
            <a:r>
              <a:rPr lang="en-US" sz="1550" dirty="0">
                <a:solidFill>
                  <a:srgbClr val="3B3535"/>
                </a:solidFill>
                <a:latin typeface="Roboto" pitchFamily="34" charset="0"/>
                <a:ea typeface="Roboto" pitchFamily="34" charset="-122"/>
                <a:cs typeface="Roboto" pitchFamily="34" charset="-120"/>
              </a:rPr>
              <a:t>Automatización de tareas cognitivas y repetitivas, actuando como un "copiloto" para los trabajadores.</a:t>
            </a:r>
            <a:endParaRPr lang="en-US" sz="155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02505" y="2669084"/>
            <a:ext cx="502034" cy="502047"/>
          </a:xfrm>
          <a:prstGeom prst="rect">
            <a:avLst/>
          </a:prstGeom>
        </p:spPr>
      </p:pic>
      <p:sp>
        <p:nvSpPr>
          <p:cNvPr id="10" name="Text 6"/>
          <p:cNvSpPr/>
          <p:nvPr/>
        </p:nvSpPr>
        <p:spPr>
          <a:xfrm>
            <a:off x="6917854" y="2669084"/>
            <a:ext cx="4612366" cy="313730"/>
          </a:xfrm>
          <a:prstGeom prst="rect">
            <a:avLst/>
          </a:prstGeom>
          <a:noFill/>
          <a:ln/>
        </p:spPr>
        <p:txBody>
          <a:bodyPr wrap="none" lIns="0" tIns="0" rIns="0" bIns="0" rtlCol="0" anchor="t"/>
          <a:lstStyle/>
          <a:p>
            <a:pPr algn="l" indent="0" marL="0">
              <a:lnSpc>
                <a:spcPct val="104000"/>
              </a:lnSpc>
              <a:buNone/>
            </a:pPr>
            <a:r>
              <a:rPr lang="en-US" sz="1950" dirty="0">
                <a:solidFill>
                  <a:srgbClr val="3B3535"/>
                </a:solidFill>
                <a:latin typeface="Roboto Mono Medium" pitchFamily="34" charset="0"/>
                <a:ea typeface="Roboto Mono Medium" pitchFamily="34" charset="-122"/>
                <a:cs typeface="Roboto Mono Medium" pitchFamily="34" charset="-120"/>
              </a:rPr>
              <a:t>Creación de valor masivo</a:t>
            </a:r>
            <a:endParaRPr lang="en-US" sz="1950" dirty="0"/>
          </a:p>
        </p:txBody>
      </p:sp>
      <p:sp>
        <p:nvSpPr>
          <p:cNvPr id="11" name="Text 7"/>
          <p:cNvSpPr/>
          <p:nvPr/>
        </p:nvSpPr>
        <p:spPr>
          <a:xfrm>
            <a:off x="6917854" y="3085207"/>
            <a:ext cx="4612366" cy="891480"/>
          </a:xfrm>
          <a:prstGeom prst="rect">
            <a:avLst/>
          </a:prstGeom>
          <a:noFill/>
          <a:ln/>
        </p:spPr>
        <p:txBody>
          <a:bodyPr wrap="square" lIns="0" tIns="0" rIns="0" bIns="0" rtlCol="0" anchor="t">
            <a:normAutofit/>
          </a:bodyPr>
          <a:lstStyle/>
          <a:p>
            <a:pPr algn="l" indent="0" marL="0">
              <a:lnSpc>
                <a:spcPct val="123000"/>
              </a:lnSpc>
              <a:buNone/>
            </a:pPr>
            <a:r>
              <a:rPr lang="en-US" sz="1550" dirty="0">
                <a:solidFill>
                  <a:srgbClr val="3B3535"/>
                </a:solidFill>
                <a:latin typeface="Roboto" pitchFamily="34" charset="0"/>
                <a:ea typeface="Roboto" pitchFamily="34" charset="-122"/>
                <a:cs typeface="Roboto" pitchFamily="34" charset="-120"/>
              </a:rPr>
              <a:t>Se estima que la GenAI podría añadir entre 2,6 y 4,4 billones de dólares anuales a la economía global (equivalente al PIB de un país como Reino Unido).</a:t>
            </a:r>
            <a:endParaRPr lang="en-US" sz="155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334669"/>
            <a:ext cx="502034" cy="502047"/>
          </a:xfrm>
          <a:prstGeom prst="rect">
            <a:avLst/>
          </a:prstGeom>
        </p:spPr>
      </p:pic>
      <p:sp>
        <p:nvSpPr>
          <p:cNvPr id="13" name="Text 8"/>
          <p:cNvSpPr/>
          <p:nvPr/>
        </p:nvSpPr>
        <p:spPr>
          <a:xfrm>
            <a:off x="1376824" y="4334669"/>
            <a:ext cx="4612366" cy="627459"/>
          </a:xfrm>
          <a:prstGeom prst="rect">
            <a:avLst/>
          </a:prstGeom>
          <a:noFill/>
          <a:ln/>
        </p:spPr>
        <p:txBody>
          <a:bodyPr wrap="square" lIns="0" tIns="0" rIns="0" bIns="0" rtlCol="0" anchor="t">
            <a:normAutofit/>
          </a:bodyPr>
          <a:lstStyle/>
          <a:p>
            <a:pPr algn="l" indent="0" marL="0">
              <a:lnSpc>
                <a:spcPct val="104000"/>
              </a:lnSpc>
              <a:buNone/>
            </a:pPr>
            <a:r>
              <a:rPr lang="en-US" sz="1950" dirty="0">
                <a:solidFill>
                  <a:srgbClr val="3B3535"/>
                </a:solidFill>
                <a:latin typeface="Roboto Mono Medium" pitchFamily="34" charset="0"/>
                <a:ea typeface="Roboto Mono Medium" pitchFamily="34" charset="-122"/>
                <a:cs typeface="Roboto Mono Medium" pitchFamily="34" charset="-120"/>
              </a:rPr>
              <a:t>Transformación de funciones corporativas</a:t>
            </a:r>
            <a:endParaRPr lang="en-US" sz="1950" dirty="0"/>
          </a:p>
        </p:txBody>
      </p:sp>
      <p:sp>
        <p:nvSpPr>
          <p:cNvPr id="14" name="Text 9"/>
          <p:cNvSpPr/>
          <p:nvPr/>
        </p:nvSpPr>
        <p:spPr>
          <a:xfrm>
            <a:off x="1376824" y="5064522"/>
            <a:ext cx="4612366" cy="594320"/>
          </a:xfrm>
          <a:prstGeom prst="rect">
            <a:avLst/>
          </a:prstGeom>
          <a:noFill/>
          <a:ln/>
        </p:spPr>
        <p:txBody>
          <a:bodyPr wrap="square" lIns="0" tIns="0" rIns="0" bIns="0" rtlCol="0" anchor="t">
            <a:normAutofit/>
          </a:bodyPr>
          <a:lstStyle/>
          <a:p>
            <a:pPr algn="l" indent="0" marL="0">
              <a:lnSpc>
                <a:spcPct val="123000"/>
              </a:lnSpc>
              <a:buNone/>
            </a:pPr>
            <a:r>
              <a:rPr lang="en-US" sz="1550" dirty="0">
                <a:solidFill>
                  <a:srgbClr val="3B3535"/>
                </a:solidFill>
                <a:latin typeface="Roboto" pitchFamily="34" charset="0"/>
                <a:ea typeface="Roboto" pitchFamily="34" charset="-122"/>
                <a:cs typeface="Roboto" pitchFamily="34" charset="-120"/>
              </a:rPr>
              <a:t>Impacto directo en operaciones, marketing, ventas, atención al cliente y desarrollo de software.</a:t>
            </a:r>
            <a:endParaRPr lang="en-US" sz="155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02505" y="4334669"/>
            <a:ext cx="502034" cy="502047"/>
          </a:xfrm>
          <a:prstGeom prst="rect">
            <a:avLst/>
          </a:prstGeom>
        </p:spPr>
      </p:pic>
      <p:sp>
        <p:nvSpPr>
          <p:cNvPr id="16" name="Text 10"/>
          <p:cNvSpPr/>
          <p:nvPr/>
        </p:nvSpPr>
        <p:spPr>
          <a:xfrm>
            <a:off x="6917854" y="4334669"/>
            <a:ext cx="4612366" cy="313730"/>
          </a:xfrm>
          <a:prstGeom prst="rect">
            <a:avLst/>
          </a:prstGeom>
          <a:noFill/>
          <a:ln/>
        </p:spPr>
        <p:txBody>
          <a:bodyPr wrap="none" lIns="0" tIns="0" rIns="0" bIns="0" rtlCol="0" anchor="t"/>
          <a:lstStyle/>
          <a:p>
            <a:pPr algn="l" indent="0" marL="0">
              <a:lnSpc>
                <a:spcPct val="104000"/>
              </a:lnSpc>
              <a:buNone/>
            </a:pPr>
            <a:r>
              <a:rPr lang="en-US" sz="1950" dirty="0">
                <a:solidFill>
                  <a:srgbClr val="3B3535"/>
                </a:solidFill>
                <a:latin typeface="Roboto Mono Medium" pitchFamily="34" charset="0"/>
                <a:ea typeface="Roboto Mono Medium" pitchFamily="34" charset="-122"/>
                <a:cs typeface="Roboto Mono Medium" pitchFamily="34" charset="-120"/>
              </a:rPr>
              <a:t>Nuevas industrias</a:t>
            </a:r>
            <a:endParaRPr lang="en-US" sz="1950" dirty="0"/>
          </a:p>
        </p:txBody>
      </p:sp>
      <p:sp>
        <p:nvSpPr>
          <p:cNvPr id="17" name="Text 11"/>
          <p:cNvSpPr/>
          <p:nvPr/>
        </p:nvSpPr>
        <p:spPr>
          <a:xfrm>
            <a:off x="6917854" y="4750792"/>
            <a:ext cx="4612366" cy="891480"/>
          </a:xfrm>
          <a:prstGeom prst="rect">
            <a:avLst/>
          </a:prstGeom>
          <a:noFill/>
          <a:ln/>
        </p:spPr>
        <p:txBody>
          <a:bodyPr wrap="square" lIns="0" tIns="0" rIns="0" bIns="0" rtlCol="0" anchor="t">
            <a:normAutofit/>
          </a:bodyPr>
          <a:lstStyle/>
          <a:p>
            <a:pPr algn="l" indent="0" marL="0">
              <a:lnSpc>
                <a:spcPct val="123000"/>
              </a:lnSpc>
              <a:buNone/>
            </a:pPr>
            <a:r>
              <a:rPr lang="en-US" sz="1550" dirty="0">
                <a:solidFill>
                  <a:srgbClr val="3B3535"/>
                </a:solidFill>
                <a:latin typeface="Roboto" pitchFamily="34" charset="0"/>
                <a:ea typeface="Roboto" pitchFamily="34" charset="-122"/>
                <a:cs typeface="Roboto" pitchFamily="34" charset="-120"/>
              </a:rPr>
              <a:t>Aparición de modelos de negocio inéditos y roles especializados (ej. ingeniería de prompts, auditoría algorítmica).</a:t>
            </a:r>
            <a:endParaRPr lang="en-US" sz="1550" dirty="0"/>
          </a:p>
        </p:txBody>
      </p:sp>
      <p:sp>
        <p:nvSpPr>
          <p:cNvPr id="18" name="Text 12"/>
          <p:cNvSpPr/>
          <p:nvPr/>
        </p:nvSpPr>
        <p:spPr>
          <a:xfrm>
            <a:off x="661475" y="5850830"/>
            <a:ext cx="11478330" cy="237728"/>
          </a:xfrm>
          <a:prstGeom prst="rect">
            <a:avLst/>
          </a:prstGeom>
          <a:noFill/>
          <a:ln/>
        </p:spPr>
        <p:txBody>
          <a:bodyPr wrap="none" lIns="0" tIns="0" rIns="0" bIns="0" rtlCol="0" anchor="t"/>
          <a:lstStyle/>
          <a:p>
            <a:pPr algn="l" indent="0" marL="0">
              <a:lnSpc>
                <a:spcPct val="123000"/>
              </a:lnSpc>
              <a:buNone/>
            </a:pPr>
            <a:r>
              <a:rPr lang="en-US" sz="1250" dirty="0">
                <a:solidFill>
                  <a:srgbClr val="3B3535"/>
                </a:solidFill>
                <a:latin typeface="Roboto" pitchFamily="34" charset="0"/>
                <a:ea typeface="Roboto" pitchFamily="34" charset="-122"/>
                <a:cs typeface="Roboto" pitchFamily="34" charset="-120"/>
              </a:rPr>
              <a:t>Fuente: McKinsey &amp; Company — </a:t>
            </a:r>
            <a:pPr algn="l" indent="0" marL="0">
              <a:lnSpc>
                <a:spcPct val="123000"/>
              </a:lnSpc>
              <a:buNone/>
            </a:pPr>
            <a:r>
              <a:rPr lang="en-US" sz="1250" b="1" u="sng" dirty="0">
                <a:solidFill>
                  <a:srgbClr val="DA1B2E"/>
                </a:solidFill>
                <a:latin typeface="Roboto Bold" pitchFamily="34" charset="0"/>
                <a:ea typeface="Roboto Bold" pitchFamily="34" charset="-122"/>
                <a:cs typeface="Roboto Bold" pitchFamily="34" charset="-120"/>
                <a:hlinkClick r:id="rId9" invalidUrl="" action="" tgtFrame="" tooltip="" history="1" highlightClick="0" endSnd="0">
                  <a:extLst>
                    <a:ext uri="{A12FA001-AC4F-418D-AE19-62706E023703}">
                      <ahyp:hlinkClr xmlns:ahyp="http://schemas.microsoft.com/office/drawing/2018/hyperlinkcolor" val="tx"/>
                    </a:ext>
                  </a:extLst>
                </a:hlinkClick>
              </a:rPr>
              <a:t>The economic potential of generative AI</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61475" y="803672"/>
            <a:ext cx="1921025" cy="269180"/>
          </a:xfrm>
          <a:prstGeom prst="roundRect">
            <a:avLst>
              <a:gd name="adj" fmla="val 2831"/>
            </a:avLst>
          </a:prstGeom>
          <a:solidFill>
            <a:srgbClr val="F9D2D6"/>
          </a:solidFill>
          <a:ln/>
        </p:spPr>
      </p:sp>
      <p:sp>
        <p:nvSpPr>
          <p:cNvPr id="3" name="Text 1"/>
          <p:cNvSpPr/>
          <p:nvPr/>
        </p:nvSpPr>
        <p:spPr>
          <a:xfrm>
            <a:off x="767735" y="856754"/>
            <a:ext cx="2318089" cy="163016"/>
          </a:xfrm>
          <a:prstGeom prst="rect">
            <a:avLst/>
          </a:prstGeom>
          <a:noFill/>
          <a:ln/>
        </p:spPr>
        <p:txBody>
          <a:bodyPr wrap="none" lIns="0" tIns="0" rIns="0" bIns="0" rtlCol="0" anchor="t"/>
          <a:lstStyle/>
          <a:p>
            <a:pPr algn="l" indent="0" marL="0">
              <a:lnSpc>
                <a:spcPct val="96000"/>
              </a:lnSpc>
              <a:buNone/>
            </a:pPr>
            <a:r>
              <a:rPr lang="en-US" sz="1100" dirty="0">
                <a:solidFill>
                  <a:srgbClr val="3B3535"/>
                </a:solidFill>
                <a:latin typeface="Roboto" pitchFamily="34" charset="0"/>
                <a:ea typeface="Roboto" pitchFamily="34" charset="-122"/>
                <a:cs typeface="Roboto" pitchFamily="34" charset="-120"/>
              </a:rPr>
              <a:t>¿POR QUÉ ESTA MATERIA?</a:t>
            </a:r>
            <a:endParaRPr lang="en-US" sz="1100" dirty="0"/>
          </a:p>
        </p:txBody>
      </p:sp>
      <p:sp>
        <p:nvSpPr>
          <p:cNvPr id="4" name="Text 2"/>
          <p:cNvSpPr/>
          <p:nvPr/>
        </p:nvSpPr>
        <p:spPr>
          <a:xfrm>
            <a:off x="661475" y="1125934"/>
            <a:ext cx="10868745" cy="553740"/>
          </a:xfrm>
          <a:prstGeom prst="rect">
            <a:avLst/>
          </a:prstGeom>
          <a:noFill/>
          <a:ln/>
        </p:spPr>
        <p:txBody>
          <a:bodyPr wrap="none" lIns="0" tIns="0" rIns="0" bIns="0" rtlCol="0" anchor="t"/>
          <a:lstStyle/>
          <a:p>
            <a:pPr algn="l" indent="0" marL="0">
              <a:lnSpc>
                <a:spcPct val="104000"/>
              </a:lnSpc>
              <a:buNone/>
            </a:pPr>
            <a:r>
              <a:rPr lang="en-US" sz="3450" dirty="0">
                <a:solidFill>
                  <a:srgbClr val="1F1E1E"/>
                </a:solidFill>
                <a:latin typeface="Roboto Mono Medium" pitchFamily="34" charset="0"/>
                <a:ea typeface="Roboto Mono Medium" pitchFamily="34" charset="-122"/>
                <a:cs typeface="Roboto Mono Medium" pitchFamily="34" charset="-120"/>
              </a:rPr>
              <a:t>Impacto Por Industria y Funcionalistas</a:t>
            </a:r>
            <a:endParaRPr lang="en-US" sz="3450" dirty="0"/>
          </a:p>
        </p:txBody>
      </p:sp>
      <p:sp>
        <p:nvSpPr>
          <p:cNvPr id="5" name="Text 3"/>
          <p:cNvSpPr/>
          <p:nvPr/>
        </p:nvSpPr>
        <p:spPr>
          <a:xfrm>
            <a:off x="661475" y="1998563"/>
            <a:ext cx="2154977" cy="248047"/>
          </a:xfrm>
          <a:prstGeom prst="rect">
            <a:avLst/>
          </a:prstGeom>
          <a:noFill/>
          <a:ln/>
        </p:spPr>
        <p:txBody>
          <a:bodyPr wrap="none" lIns="0" tIns="0" rIns="0" bIns="0" rtlCol="0" anchor="t"/>
          <a:lstStyle/>
          <a:p>
            <a:pPr algn="l" indent="0" marL="0">
              <a:lnSpc>
                <a:spcPct val="117000"/>
              </a:lnSpc>
              <a:buNone/>
            </a:pPr>
            <a:endParaRPr lang="en-US" sz="1350" dirty="0"/>
          </a:p>
        </p:txBody>
      </p:sp>
      <p:pic>
        <p:nvPicPr>
          <p:cNvPr id="6" name="Image 0" descr="preencoded.png">    </p:cNvPr>
          <p:cNvPicPr>
            <a:picLocks noChangeAspect="1"/>
          </p:cNvPicPr>
          <p:nvPr/>
        </p:nvPicPr>
        <p:blipFill>
          <a:blip r:embed="rId1"/>
          <a:stretch>
            <a:fillRect/>
          </a:stretch>
        </p:blipFill>
        <p:spPr>
          <a:xfrm>
            <a:off x="3509577" y="2028428"/>
            <a:ext cx="5185042" cy="3876377"/>
          </a:xfrm>
          <a:prstGeom prst="rect">
            <a:avLst/>
          </a:prstGeom>
        </p:spPr>
      </p:pic>
      <p:sp>
        <p:nvSpPr>
          <p:cNvPr id="7" name="Text 4"/>
          <p:cNvSpPr/>
          <p:nvPr/>
        </p:nvSpPr>
        <p:spPr>
          <a:xfrm>
            <a:off x="9997329" y="1998563"/>
            <a:ext cx="2154977" cy="248047"/>
          </a:xfrm>
          <a:prstGeom prst="rect">
            <a:avLst/>
          </a:prstGeom>
          <a:noFill/>
          <a:ln/>
        </p:spPr>
        <p:txBody>
          <a:bodyPr wrap="none" lIns="0" tIns="0" rIns="0" bIns="0" rtlCol="0" anchor="t"/>
          <a:lstStyle/>
          <a:p>
            <a:pPr algn="l" indent="0" marL="0">
              <a:lnSpc>
                <a:spcPct val="117000"/>
              </a:lnSpc>
              <a:buNone/>
            </a:pP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61475" y="793651"/>
            <a:ext cx="2177896" cy="305098"/>
          </a:xfrm>
          <a:prstGeom prst="roundRect">
            <a:avLst>
              <a:gd name="adj" fmla="val 2497"/>
            </a:avLst>
          </a:prstGeom>
          <a:solidFill>
            <a:srgbClr val="F9D2D6"/>
          </a:solidFill>
          <a:ln/>
        </p:spPr>
      </p:sp>
      <p:sp>
        <p:nvSpPr>
          <p:cNvPr id="3" name="Text 1"/>
          <p:cNvSpPr/>
          <p:nvPr/>
        </p:nvSpPr>
        <p:spPr>
          <a:xfrm>
            <a:off x="781923" y="853877"/>
            <a:ext cx="2546584" cy="184646"/>
          </a:xfrm>
          <a:prstGeom prst="rect">
            <a:avLst/>
          </a:prstGeom>
          <a:noFill/>
          <a:ln/>
        </p:spPr>
        <p:txBody>
          <a:bodyPr wrap="none" lIns="0" tIns="0" rIns="0" bIns="0" rtlCol="0" anchor="t"/>
          <a:lstStyle/>
          <a:p>
            <a:pPr algn="l" indent="0" marL="0">
              <a:lnSpc>
                <a:spcPct val="96000"/>
              </a:lnSpc>
              <a:buNone/>
            </a:pPr>
            <a:r>
              <a:rPr lang="en-US" sz="1250" dirty="0">
                <a:solidFill>
                  <a:srgbClr val="3B3535"/>
                </a:solidFill>
                <a:latin typeface="Roboto" pitchFamily="34" charset="0"/>
                <a:ea typeface="Roboto" pitchFamily="34" charset="-122"/>
                <a:cs typeface="Roboto" pitchFamily="34" charset="-120"/>
              </a:rPr>
              <a:t>¿POR QUÉ ESTA MATERIA?</a:t>
            </a:r>
            <a:endParaRPr lang="en-US" sz="1250" dirty="0"/>
          </a:p>
        </p:txBody>
      </p:sp>
      <p:sp>
        <p:nvSpPr>
          <p:cNvPr id="4" name="Text 2"/>
          <p:cNvSpPr/>
          <p:nvPr/>
        </p:nvSpPr>
        <p:spPr>
          <a:xfrm>
            <a:off x="661475" y="1167011"/>
            <a:ext cx="10868745" cy="627559"/>
          </a:xfrm>
          <a:prstGeom prst="rect">
            <a:avLst/>
          </a:prstGeom>
          <a:noFill/>
          <a:ln/>
        </p:spPr>
        <p:txBody>
          <a:bodyPr wrap="none" lIns="0" tIns="0" rIns="0" bIns="0" rtlCol="0" anchor="t"/>
          <a:lstStyle/>
          <a:p>
            <a:pPr algn="l" indent="0" marL="0">
              <a:lnSpc>
                <a:spcPct val="104000"/>
              </a:lnSpc>
              <a:buNone/>
            </a:pPr>
            <a:r>
              <a:rPr lang="en-US" sz="3950" dirty="0">
                <a:solidFill>
                  <a:srgbClr val="1F1E1E"/>
                </a:solidFill>
                <a:latin typeface="Roboto Mono Medium" pitchFamily="34" charset="0"/>
                <a:ea typeface="Roboto Mono Medium" pitchFamily="34" charset="-122"/>
                <a:cs typeface="Roboto Mono Medium" pitchFamily="34" charset="-120"/>
              </a:rPr>
              <a:t>Revolución en Medicina y Biomedicina</a:t>
            </a:r>
            <a:endParaRPr lang="en-US" sz="39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050554"/>
            <a:ext cx="502034" cy="502047"/>
          </a:xfrm>
          <a:prstGeom prst="rect">
            <a:avLst/>
          </a:prstGeom>
        </p:spPr>
      </p:pic>
      <p:sp>
        <p:nvSpPr>
          <p:cNvPr id="6" name="Text 3"/>
          <p:cNvSpPr/>
          <p:nvPr/>
        </p:nvSpPr>
        <p:spPr>
          <a:xfrm>
            <a:off x="1376824" y="2050554"/>
            <a:ext cx="4612366" cy="627459"/>
          </a:xfrm>
          <a:prstGeom prst="rect">
            <a:avLst/>
          </a:prstGeom>
          <a:noFill/>
          <a:ln/>
        </p:spPr>
        <p:txBody>
          <a:bodyPr wrap="square" lIns="0" tIns="0" rIns="0" bIns="0" rtlCol="0" anchor="t">
            <a:normAutofit/>
          </a:bodyPr>
          <a:lstStyle/>
          <a:p>
            <a:pPr algn="l" indent="0" marL="0">
              <a:lnSpc>
                <a:spcPct val="104000"/>
              </a:lnSpc>
              <a:buNone/>
            </a:pPr>
            <a:r>
              <a:rPr lang="en-US" sz="1950" dirty="0">
                <a:solidFill>
                  <a:srgbClr val="3B3535"/>
                </a:solidFill>
                <a:latin typeface="Roboto Mono Medium" pitchFamily="34" charset="0"/>
                <a:ea typeface="Roboto Mono Medium" pitchFamily="34" charset="-122"/>
                <a:cs typeface="Roboto Mono Medium" pitchFamily="34" charset="-120"/>
              </a:rPr>
              <a:t>Aceleración en el descubrimiento de fármacos</a:t>
            </a:r>
            <a:endParaRPr lang="en-US" sz="1950" dirty="0"/>
          </a:p>
        </p:txBody>
      </p:sp>
      <p:sp>
        <p:nvSpPr>
          <p:cNvPr id="7" name="Text 4"/>
          <p:cNvSpPr/>
          <p:nvPr/>
        </p:nvSpPr>
        <p:spPr>
          <a:xfrm>
            <a:off x="1376824" y="2780407"/>
            <a:ext cx="4612366" cy="891480"/>
          </a:xfrm>
          <a:prstGeom prst="rect">
            <a:avLst/>
          </a:prstGeom>
          <a:noFill/>
          <a:ln/>
        </p:spPr>
        <p:txBody>
          <a:bodyPr wrap="square" lIns="0" tIns="0" rIns="0" bIns="0" rtlCol="0" anchor="t">
            <a:normAutofit/>
          </a:bodyPr>
          <a:lstStyle/>
          <a:p>
            <a:pPr algn="l" indent="0" marL="0">
              <a:lnSpc>
                <a:spcPct val="123000"/>
              </a:lnSpc>
              <a:buNone/>
            </a:pPr>
            <a:r>
              <a:rPr lang="en-US" sz="1550" dirty="0">
                <a:solidFill>
                  <a:srgbClr val="3B3535"/>
                </a:solidFill>
                <a:latin typeface="Roboto" pitchFamily="34" charset="0"/>
                <a:ea typeface="Roboto" pitchFamily="34" charset="-122"/>
                <a:cs typeface="Roboto" pitchFamily="34" charset="-120"/>
              </a:rPr>
              <a:t>Reducción de años a meses en el diseño de nuevas moléculas y predicción de estructuras proteicas (ej. AlphaFold).</a:t>
            </a:r>
            <a:endParaRPr lang="en-US" sz="155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02505" y="2050554"/>
            <a:ext cx="502034" cy="502047"/>
          </a:xfrm>
          <a:prstGeom prst="rect">
            <a:avLst/>
          </a:prstGeom>
        </p:spPr>
      </p:pic>
      <p:sp>
        <p:nvSpPr>
          <p:cNvPr id="9" name="Text 5"/>
          <p:cNvSpPr/>
          <p:nvPr/>
        </p:nvSpPr>
        <p:spPr>
          <a:xfrm>
            <a:off x="6917854" y="2050554"/>
            <a:ext cx="4612366" cy="313730"/>
          </a:xfrm>
          <a:prstGeom prst="rect">
            <a:avLst/>
          </a:prstGeom>
          <a:noFill/>
          <a:ln/>
        </p:spPr>
        <p:txBody>
          <a:bodyPr wrap="none" lIns="0" tIns="0" rIns="0" bIns="0" rtlCol="0" anchor="t"/>
          <a:lstStyle/>
          <a:p>
            <a:pPr algn="l" indent="0" marL="0">
              <a:lnSpc>
                <a:spcPct val="104000"/>
              </a:lnSpc>
              <a:buNone/>
            </a:pPr>
            <a:r>
              <a:rPr lang="en-US" sz="1950" dirty="0">
                <a:solidFill>
                  <a:srgbClr val="3B3535"/>
                </a:solidFill>
                <a:latin typeface="Roboto Mono Medium" pitchFamily="34" charset="0"/>
                <a:ea typeface="Roboto Mono Medium" pitchFamily="34" charset="-122"/>
                <a:cs typeface="Roboto Mono Medium" pitchFamily="34" charset="-120"/>
              </a:rPr>
              <a:t>Medicina hiperpersonalizada</a:t>
            </a:r>
            <a:endParaRPr lang="en-US" sz="1950" dirty="0"/>
          </a:p>
        </p:txBody>
      </p:sp>
      <p:sp>
        <p:nvSpPr>
          <p:cNvPr id="10" name="Text 6"/>
          <p:cNvSpPr/>
          <p:nvPr/>
        </p:nvSpPr>
        <p:spPr>
          <a:xfrm>
            <a:off x="6917854" y="2466677"/>
            <a:ext cx="4612366" cy="891480"/>
          </a:xfrm>
          <a:prstGeom prst="rect">
            <a:avLst/>
          </a:prstGeom>
          <a:noFill/>
          <a:ln/>
        </p:spPr>
        <p:txBody>
          <a:bodyPr wrap="square" lIns="0" tIns="0" rIns="0" bIns="0" rtlCol="0" anchor="t">
            <a:normAutofit/>
          </a:bodyPr>
          <a:lstStyle/>
          <a:p>
            <a:pPr algn="l" indent="0" marL="0">
              <a:lnSpc>
                <a:spcPct val="123000"/>
              </a:lnSpc>
              <a:buNone/>
            </a:pPr>
            <a:r>
              <a:rPr lang="en-US" sz="1550" dirty="0">
                <a:solidFill>
                  <a:srgbClr val="3B3535"/>
                </a:solidFill>
                <a:latin typeface="Roboto" pitchFamily="34" charset="0"/>
                <a:ea typeface="Roboto" pitchFamily="34" charset="-122"/>
                <a:cs typeface="Roboto" pitchFamily="34" charset="-120"/>
              </a:rPr>
              <a:t>Análisis de historiales clínicos y datos genómicos a escala para adaptar tratamientos específicos a cada paciente.</a:t>
            </a:r>
            <a:endParaRPr lang="en-US" sz="15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013299"/>
            <a:ext cx="502034" cy="502047"/>
          </a:xfrm>
          <a:prstGeom prst="rect">
            <a:avLst/>
          </a:prstGeom>
        </p:spPr>
      </p:pic>
      <p:sp>
        <p:nvSpPr>
          <p:cNvPr id="12" name="Text 7"/>
          <p:cNvSpPr/>
          <p:nvPr/>
        </p:nvSpPr>
        <p:spPr>
          <a:xfrm>
            <a:off x="1376824" y="4013299"/>
            <a:ext cx="4612366" cy="627459"/>
          </a:xfrm>
          <a:prstGeom prst="rect">
            <a:avLst/>
          </a:prstGeom>
          <a:noFill/>
          <a:ln/>
        </p:spPr>
        <p:txBody>
          <a:bodyPr wrap="square" lIns="0" tIns="0" rIns="0" bIns="0" rtlCol="0" anchor="t">
            <a:normAutofit/>
          </a:bodyPr>
          <a:lstStyle/>
          <a:p>
            <a:pPr algn="l" indent="0" marL="0">
              <a:lnSpc>
                <a:spcPct val="104000"/>
              </a:lnSpc>
              <a:buNone/>
            </a:pPr>
            <a:r>
              <a:rPr lang="en-US" sz="1950" dirty="0">
                <a:solidFill>
                  <a:srgbClr val="3B3535"/>
                </a:solidFill>
                <a:latin typeface="Roboto Mono Medium" pitchFamily="34" charset="0"/>
                <a:ea typeface="Roboto Mono Medium" pitchFamily="34" charset="-122"/>
                <a:cs typeface="Roboto Mono Medium" pitchFamily="34" charset="-120"/>
              </a:rPr>
              <a:t>Mejora en el diagnóstico por imágenes</a:t>
            </a:r>
            <a:endParaRPr lang="en-US" sz="1950" dirty="0"/>
          </a:p>
        </p:txBody>
      </p:sp>
      <p:sp>
        <p:nvSpPr>
          <p:cNvPr id="13" name="Text 8"/>
          <p:cNvSpPr/>
          <p:nvPr/>
        </p:nvSpPr>
        <p:spPr>
          <a:xfrm>
            <a:off x="1376824" y="4743152"/>
            <a:ext cx="4612366" cy="891480"/>
          </a:xfrm>
          <a:prstGeom prst="rect">
            <a:avLst/>
          </a:prstGeom>
          <a:noFill/>
          <a:ln/>
        </p:spPr>
        <p:txBody>
          <a:bodyPr wrap="square" lIns="0" tIns="0" rIns="0" bIns="0" rtlCol="0" anchor="t">
            <a:normAutofit/>
          </a:bodyPr>
          <a:lstStyle/>
          <a:p>
            <a:pPr algn="l" indent="0" marL="0">
              <a:lnSpc>
                <a:spcPct val="123000"/>
              </a:lnSpc>
              <a:buNone/>
            </a:pPr>
            <a:r>
              <a:rPr lang="en-US" sz="1550" dirty="0">
                <a:solidFill>
                  <a:srgbClr val="3B3535"/>
                </a:solidFill>
                <a:latin typeface="Roboto" pitchFamily="34" charset="0"/>
                <a:ea typeface="Roboto" pitchFamily="34" charset="-122"/>
                <a:cs typeface="Roboto" pitchFamily="34" charset="-120"/>
              </a:rPr>
              <a:t>Detección más temprana, precisa y rápida de anomalías en radiografías, resonancias y tomografías.</a:t>
            </a:r>
            <a:endParaRPr lang="en-US" sz="1550" dirty="0"/>
          </a:p>
        </p:txBody>
      </p:sp>
      <p:pic>
        <p:nvPicPr>
          <p:cNvPr id="1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02505" y="4013299"/>
            <a:ext cx="502034" cy="502047"/>
          </a:xfrm>
          <a:prstGeom prst="rect">
            <a:avLst/>
          </a:prstGeom>
        </p:spPr>
      </p:pic>
      <p:sp>
        <p:nvSpPr>
          <p:cNvPr id="15" name="Text 9"/>
          <p:cNvSpPr/>
          <p:nvPr/>
        </p:nvSpPr>
        <p:spPr>
          <a:xfrm>
            <a:off x="6917854" y="4013299"/>
            <a:ext cx="4612366" cy="313730"/>
          </a:xfrm>
          <a:prstGeom prst="rect">
            <a:avLst/>
          </a:prstGeom>
          <a:noFill/>
          <a:ln/>
        </p:spPr>
        <p:txBody>
          <a:bodyPr wrap="none" lIns="0" tIns="0" rIns="0" bIns="0" rtlCol="0" anchor="t"/>
          <a:lstStyle/>
          <a:p>
            <a:pPr algn="l" indent="0" marL="0">
              <a:lnSpc>
                <a:spcPct val="104000"/>
              </a:lnSpc>
              <a:buNone/>
            </a:pPr>
            <a:r>
              <a:rPr lang="en-US" sz="1950" dirty="0">
                <a:solidFill>
                  <a:srgbClr val="3B3535"/>
                </a:solidFill>
                <a:latin typeface="Roboto Mono Medium" pitchFamily="34" charset="0"/>
                <a:ea typeface="Roboto Mono Medium" pitchFamily="34" charset="-122"/>
                <a:cs typeface="Roboto Mono Medium" pitchFamily="34" charset="-120"/>
              </a:rPr>
              <a:t>Eficiencia hospitalaria</a:t>
            </a:r>
            <a:endParaRPr lang="en-US" sz="1950" dirty="0"/>
          </a:p>
        </p:txBody>
      </p:sp>
      <p:sp>
        <p:nvSpPr>
          <p:cNvPr id="16" name="Text 10"/>
          <p:cNvSpPr/>
          <p:nvPr/>
        </p:nvSpPr>
        <p:spPr>
          <a:xfrm>
            <a:off x="6917854" y="4429423"/>
            <a:ext cx="4612366" cy="891480"/>
          </a:xfrm>
          <a:prstGeom prst="rect">
            <a:avLst/>
          </a:prstGeom>
          <a:noFill/>
          <a:ln/>
        </p:spPr>
        <p:txBody>
          <a:bodyPr wrap="square" lIns="0" tIns="0" rIns="0" bIns="0" rtlCol="0" anchor="t">
            <a:normAutofit/>
          </a:bodyPr>
          <a:lstStyle/>
          <a:p>
            <a:pPr algn="l" indent="0" marL="0">
              <a:lnSpc>
                <a:spcPct val="123000"/>
              </a:lnSpc>
              <a:buNone/>
            </a:pPr>
            <a:r>
              <a:rPr lang="en-US" sz="1550" dirty="0">
                <a:solidFill>
                  <a:srgbClr val="3B3535"/>
                </a:solidFill>
                <a:latin typeface="Roboto" pitchFamily="34" charset="0"/>
                <a:ea typeface="Roboto" pitchFamily="34" charset="-122"/>
                <a:cs typeface="Roboto" pitchFamily="34" charset="-120"/>
              </a:rPr>
              <a:t>Redacción automática de historias clínicas y triaje inteligente, devolviéndole al médico tiempo valioso con el paciente.</a:t>
            </a:r>
            <a:endParaRPr lang="en-US" sz="1550" dirty="0"/>
          </a:p>
        </p:txBody>
      </p:sp>
      <p:sp>
        <p:nvSpPr>
          <p:cNvPr id="17" name="Text 11"/>
          <p:cNvSpPr/>
          <p:nvPr/>
        </p:nvSpPr>
        <p:spPr>
          <a:xfrm>
            <a:off x="661475" y="5826621"/>
            <a:ext cx="11478330" cy="237728"/>
          </a:xfrm>
          <a:prstGeom prst="rect">
            <a:avLst/>
          </a:prstGeom>
          <a:noFill/>
          <a:ln/>
        </p:spPr>
        <p:txBody>
          <a:bodyPr wrap="none" lIns="0" tIns="0" rIns="0" bIns="0" rtlCol="0" anchor="t"/>
          <a:lstStyle/>
          <a:p>
            <a:pPr algn="l" indent="0" marL="0">
              <a:lnSpc>
                <a:spcPct val="123000"/>
              </a:lnSpc>
              <a:buNone/>
            </a:pPr>
            <a:r>
              <a:rPr lang="en-US" sz="1250" dirty="0">
                <a:solidFill>
                  <a:srgbClr val="3B3535"/>
                </a:solidFill>
                <a:latin typeface="Roboto" pitchFamily="34" charset="0"/>
                <a:ea typeface="Roboto" pitchFamily="34" charset="-122"/>
                <a:cs typeface="Roboto" pitchFamily="34" charset="-120"/>
              </a:rPr>
              <a:t>Fuente: WHO — </a:t>
            </a:r>
            <a:pPr algn="l" indent="0" marL="0">
              <a:lnSpc>
                <a:spcPct val="123000"/>
              </a:lnSpc>
              <a:buNone/>
            </a:pPr>
            <a:r>
              <a:rPr lang="en-US" sz="1250" b="1" u="sng" dirty="0">
                <a:solidFill>
                  <a:srgbClr val="DA1B2E"/>
                </a:solidFill>
                <a:latin typeface="Roboto Bold" pitchFamily="34" charset="0"/>
                <a:ea typeface="Roboto Bold" pitchFamily="34" charset="-122"/>
                <a:cs typeface="Roboto Bold" pitchFamily="34" charset="-120"/>
                <a:hlinkClick r:id="rId9" invalidUrl="" action="" tgtFrame="" tooltip="" history="1" highlightClick="0" endSnd="0">
                  <a:extLst>
                    <a:ext uri="{A12FA001-AC4F-418D-AE19-62706E023703}">
                      <ahyp:hlinkClr xmlns:ahyp="http://schemas.microsoft.com/office/drawing/2018/hyperlinkcolor" val="tx"/>
                    </a:ext>
                  </a:extLst>
                </a:hlinkClick>
              </a:rPr>
              <a:t>Ethics and governance of artificial intelligence for health</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61475" y="654050"/>
            <a:ext cx="1638656" cy="229691"/>
          </a:xfrm>
          <a:prstGeom prst="roundRect">
            <a:avLst>
              <a:gd name="adj" fmla="val 3317"/>
            </a:avLst>
          </a:prstGeom>
          <a:solidFill>
            <a:srgbClr val="F9D2D6"/>
          </a:solidFill>
          <a:ln/>
        </p:spPr>
      </p:sp>
      <p:sp>
        <p:nvSpPr>
          <p:cNvPr id="3" name="Text 1"/>
          <p:cNvSpPr/>
          <p:nvPr/>
        </p:nvSpPr>
        <p:spPr>
          <a:xfrm>
            <a:off x="752159" y="699393"/>
            <a:ext cx="2066873" cy="139005"/>
          </a:xfrm>
          <a:prstGeom prst="rect">
            <a:avLst/>
          </a:prstGeom>
          <a:noFill/>
          <a:ln/>
        </p:spPr>
        <p:txBody>
          <a:bodyPr wrap="none" lIns="0" tIns="0" rIns="0" bIns="0" rtlCol="0" anchor="t"/>
          <a:lstStyle/>
          <a:p>
            <a:pPr algn="l" indent="0" marL="0">
              <a:lnSpc>
                <a:spcPct val="96000"/>
              </a:lnSpc>
              <a:buNone/>
            </a:pPr>
            <a:r>
              <a:rPr lang="en-US" sz="950" dirty="0">
                <a:solidFill>
                  <a:srgbClr val="3B3535"/>
                </a:solidFill>
                <a:latin typeface="Roboto" pitchFamily="34" charset="0"/>
                <a:ea typeface="Roboto" pitchFamily="34" charset="-122"/>
                <a:cs typeface="Roboto" pitchFamily="34" charset="-120"/>
              </a:rPr>
              <a:t>¿POR QUÉ ESTA MATERIA?</a:t>
            </a:r>
            <a:endParaRPr lang="en-US" sz="950" dirty="0"/>
          </a:p>
        </p:txBody>
      </p:sp>
      <p:sp>
        <p:nvSpPr>
          <p:cNvPr id="4" name="Text 2"/>
          <p:cNvSpPr/>
          <p:nvPr/>
        </p:nvSpPr>
        <p:spPr>
          <a:xfrm>
            <a:off x="661475" y="922338"/>
            <a:ext cx="10868745" cy="472380"/>
          </a:xfrm>
          <a:prstGeom prst="rect">
            <a:avLst/>
          </a:prstGeom>
          <a:noFill/>
          <a:ln/>
        </p:spPr>
        <p:txBody>
          <a:bodyPr wrap="none" lIns="0" tIns="0" rIns="0" bIns="0" rtlCol="0" anchor="t"/>
          <a:lstStyle/>
          <a:p>
            <a:pPr algn="l" indent="0" marL="0">
              <a:lnSpc>
                <a:spcPct val="104000"/>
              </a:lnSpc>
              <a:buNone/>
            </a:pPr>
            <a:r>
              <a:rPr lang="en-US" sz="2950" dirty="0">
                <a:solidFill>
                  <a:srgbClr val="1F1E1E"/>
                </a:solidFill>
                <a:latin typeface="Roboto Mono Medium" pitchFamily="34" charset="0"/>
                <a:ea typeface="Roboto Mono Medium" pitchFamily="34" charset="-122"/>
                <a:cs typeface="Roboto Mono Medium" pitchFamily="34" charset="-120"/>
              </a:rPr>
              <a:t>Problemas Actuales de la IA en Salud</a:t>
            </a:r>
            <a:endParaRPr lang="en-US" sz="2950" dirty="0"/>
          </a:p>
        </p:txBody>
      </p:sp>
      <p:sp>
        <p:nvSpPr>
          <p:cNvPr id="5" name="Text 3"/>
          <p:cNvSpPr/>
          <p:nvPr/>
        </p:nvSpPr>
        <p:spPr>
          <a:xfrm>
            <a:off x="661475" y="1433314"/>
            <a:ext cx="10868745" cy="236240"/>
          </a:xfrm>
          <a:prstGeom prst="rect">
            <a:avLst/>
          </a:prstGeom>
          <a:noFill/>
          <a:ln/>
        </p:spPr>
        <p:txBody>
          <a:bodyPr wrap="none" lIns="0" tIns="0" rIns="0" bIns="0" rtlCol="0" anchor="t"/>
          <a:lstStyle/>
          <a:p>
            <a:pPr algn="l" indent="0" marL="0">
              <a:lnSpc>
                <a:spcPct val="104000"/>
              </a:lnSpc>
              <a:buNone/>
            </a:pPr>
            <a:r>
              <a:rPr lang="en-US" sz="1450" dirty="0">
                <a:solidFill>
                  <a:srgbClr val="1F1E1E"/>
                </a:solidFill>
                <a:latin typeface="Roboto Mono Medium" pitchFamily="34" charset="0"/>
                <a:ea typeface="Roboto Mono Medium" pitchFamily="34" charset="-122"/>
                <a:cs typeface="Roboto Mono Medium" pitchFamily="34" charset="-120"/>
              </a:rPr>
              <a:t>Según la OMS — Ethics and Governance of AI for Health (2024)</a:t>
            </a:r>
            <a:endParaRPr lang="en-US" sz="14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814612"/>
            <a:ext cx="377915" cy="377924"/>
          </a:xfrm>
          <a:prstGeom prst="rect">
            <a:avLst/>
          </a:prstGeom>
        </p:spPr>
      </p:pic>
      <p:sp>
        <p:nvSpPr>
          <p:cNvPr id="7" name="Text 4"/>
          <p:cNvSpPr/>
          <p:nvPr/>
        </p:nvSpPr>
        <p:spPr>
          <a:xfrm>
            <a:off x="1160235" y="1814612"/>
            <a:ext cx="3043558" cy="472480"/>
          </a:xfrm>
          <a:prstGeom prst="rect">
            <a:avLst/>
          </a:prstGeom>
          <a:noFill/>
          <a:ln/>
        </p:spPr>
        <p:txBody>
          <a:bodyPr wrap="square" lIns="0" tIns="0" rIns="0" bIns="0" rtlCol="0" anchor="t">
            <a:normAutofit/>
          </a:bodyPr>
          <a:lstStyle/>
          <a:p>
            <a:pPr algn="l" indent="0" marL="0">
              <a:lnSpc>
                <a:spcPct val="104000"/>
              </a:lnSpc>
              <a:buNone/>
            </a:pPr>
            <a:r>
              <a:rPr lang="en-US" sz="1450" dirty="0">
                <a:solidFill>
                  <a:srgbClr val="3B3535"/>
                </a:solidFill>
                <a:latin typeface="Roboto Mono Medium" pitchFamily="34" charset="0"/>
                <a:ea typeface="Roboto Mono Medium" pitchFamily="34" charset="-122"/>
                <a:cs typeface="Roboto Mono Medium" pitchFamily="34" charset="-120"/>
              </a:rPr>
              <a:t>Alucinaciones y respuestas falsas</a:t>
            </a:r>
            <a:endParaRPr lang="en-US" sz="1450" dirty="0"/>
          </a:p>
        </p:txBody>
      </p:sp>
      <p:sp>
        <p:nvSpPr>
          <p:cNvPr id="8" name="Text 5"/>
          <p:cNvSpPr/>
          <p:nvPr/>
        </p:nvSpPr>
        <p:spPr>
          <a:xfrm>
            <a:off x="1160235" y="2345035"/>
            <a:ext cx="3043558" cy="793353"/>
          </a:xfrm>
          <a:prstGeom prst="rect">
            <a:avLst/>
          </a:prstGeom>
          <a:noFill/>
          <a:ln/>
        </p:spPr>
        <p:txBody>
          <a:bodyPr wrap="square" lIns="0" tIns="0" rIns="0" bIns="0" rtlCol="0" anchor="t">
            <a:normAutofit/>
          </a:bodyPr>
          <a:lstStyle/>
          <a:p>
            <a:pPr algn="l" indent="0" marL="0">
              <a:lnSpc>
                <a:spcPct val="109000"/>
              </a:lnSpc>
              <a:buNone/>
            </a:pPr>
            <a:r>
              <a:rPr lang="en-US" sz="1150" dirty="0">
                <a:solidFill>
                  <a:srgbClr val="3B3535"/>
                </a:solidFill>
                <a:latin typeface="Roboto" pitchFamily="34" charset="0"/>
                <a:ea typeface="Roboto" pitchFamily="34" charset="-122"/>
                <a:cs typeface="Roboto" pitchFamily="34" charset="-120"/>
              </a:rPr>
              <a:t>Los modelos generan información incorrecta que parece confiable. Hasta el 27% de las respuestas pueden contener errores o datos inventados.</a:t>
            </a:r>
            <a:endParaRPr lang="en-US" sz="115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24639" y="1814612"/>
            <a:ext cx="377915" cy="377924"/>
          </a:xfrm>
          <a:prstGeom prst="rect">
            <a:avLst/>
          </a:prstGeom>
        </p:spPr>
      </p:pic>
      <p:sp>
        <p:nvSpPr>
          <p:cNvPr id="10" name="Text 6"/>
          <p:cNvSpPr/>
          <p:nvPr/>
        </p:nvSpPr>
        <p:spPr>
          <a:xfrm>
            <a:off x="4823399" y="1814612"/>
            <a:ext cx="3043558" cy="236240"/>
          </a:xfrm>
          <a:prstGeom prst="rect">
            <a:avLst/>
          </a:prstGeom>
          <a:noFill/>
          <a:ln/>
        </p:spPr>
        <p:txBody>
          <a:bodyPr wrap="none" lIns="0" tIns="0" rIns="0" bIns="0" rtlCol="0" anchor="t"/>
          <a:lstStyle/>
          <a:p>
            <a:pPr algn="l" indent="0" marL="0">
              <a:lnSpc>
                <a:spcPct val="104000"/>
              </a:lnSpc>
              <a:buNone/>
            </a:pPr>
            <a:r>
              <a:rPr lang="en-US" sz="1450" dirty="0">
                <a:solidFill>
                  <a:srgbClr val="3B3535"/>
                </a:solidFill>
                <a:latin typeface="Roboto Mono Medium" pitchFamily="34" charset="0"/>
                <a:ea typeface="Roboto Mono Medium" pitchFamily="34" charset="-122"/>
                <a:cs typeface="Roboto Mono Medium" pitchFamily="34" charset="-120"/>
              </a:rPr>
              <a:t>Sesgos en los datos</a:t>
            </a:r>
            <a:endParaRPr lang="en-US" sz="1450" dirty="0"/>
          </a:p>
        </p:txBody>
      </p:sp>
      <p:sp>
        <p:nvSpPr>
          <p:cNvPr id="11" name="Text 7"/>
          <p:cNvSpPr/>
          <p:nvPr/>
        </p:nvSpPr>
        <p:spPr>
          <a:xfrm>
            <a:off x="4823399" y="2108795"/>
            <a:ext cx="3043558" cy="793353"/>
          </a:xfrm>
          <a:prstGeom prst="rect">
            <a:avLst/>
          </a:prstGeom>
          <a:noFill/>
          <a:ln/>
        </p:spPr>
        <p:txBody>
          <a:bodyPr wrap="square" lIns="0" tIns="0" rIns="0" bIns="0" rtlCol="0" anchor="t">
            <a:normAutofit/>
          </a:bodyPr>
          <a:lstStyle/>
          <a:p>
            <a:pPr algn="l" indent="0" marL="0">
              <a:lnSpc>
                <a:spcPct val="109000"/>
              </a:lnSpc>
              <a:buNone/>
            </a:pPr>
            <a:r>
              <a:rPr lang="en-US" sz="1150" dirty="0">
                <a:solidFill>
                  <a:srgbClr val="3B3535"/>
                </a:solidFill>
                <a:latin typeface="Roboto" pitchFamily="34" charset="0"/>
                <a:ea typeface="Roboto" pitchFamily="34" charset="-122"/>
                <a:cs typeface="Roboto" pitchFamily="34" charset="-120"/>
              </a:rPr>
              <a:t>Los datos de entrenamiento sobrerepresentan países de altos ingresos y grupos mayoritarios, generando respuestas inequitativas para poblaciones vulnerables.</a:t>
            </a:r>
            <a:endParaRPr lang="en-US" sz="115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87803" y="1814612"/>
            <a:ext cx="377915" cy="377924"/>
          </a:xfrm>
          <a:prstGeom prst="rect">
            <a:avLst/>
          </a:prstGeom>
        </p:spPr>
      </p:pic>
      <p:sp>
        <p:nvSpPr>
          <p:cNvPr id="13" name="Text 8"/>
          <p:cNvSpPr/>
          <p:nvPr/>
        </p:nvSpPr>
        <p:spPr>
          <a:xfrm>
            <a:off x="8486563" y="1814612"/>
            <a:ext cx="3043657" cy="472480"/>
          </a:xfrm>
          <a:prstGeom prst="rect">
            <a:avLst/>
          </a:prstGeom>
          <a:noFill/>
          <a:ln/>
        </p:spPr>
        <p:txBody>
          <a:bodyPr wrap="square" lIns="0" tIns="0" rIns="0" bIns="0" rtlCol="0" anchor="t">
            <a:normAutofit/>
          </a:bodyPr>
          <a:lstStyle/>
          <a:p>
            <a:pPr algn="l" indent="0" marL="0">
              <a:lnSpc>
                <a:spcPct val="104000"/>
              </a:lnSpc>
              <a:buNone/>
            </a:pPr>
            <a:r>
              <a:rPr lang="en-US" sz="1450" dirty="0">
                <a:solidFill>
                  <a:srgbClr val="3B3535"/>
                </a:solidFill>
                <a:latin typeface="Roboto Mono Medium" pitchFamily="34" charset="0"/>
                <a:ea typeface="Roboto Mono Medium" pitchFamily="34" charset="-122"/>
                <a:cs typeface="Roboto Mono Medium" pitchFamily="34" charset="-120"/>
              </a:rPr>
              <a:t>Privacidad y protección de datos</a:t>
            </a:r>
            <a:endParaRPr lang="en-US" sz="1450" dirty="0"/>
          </a:p>
        </p:txBody>
      </p:sp>
      <p:sp>
        <p:nvSpPr>
          <p:cNvPr id="14" name="Text 9"/>
          <p:cNvSpPr/>
          <p:nvPr/>
        </p:nvSpPr>
        <p:spPr>
          <a:xfrm>
            <a:off x="8486563" y="2345035"/>
            <a:ext cx="3043657" cy="793353"/>
          </a:xfrm>
          <a:prstGeom prst="rect">
            <a:avLst/>
          </a:prstGeom>
          <a:noFill/>
          <a:ln/>
        </p:spPr>
        <p:txBody>
          <a:bodyPr wrap="square" lIns="0" tIns="0" rIns="0" bIns="0" rtlCol="0" anchor="t">
            <a:normAutofit/>
          </a:bodyPr>
          <a:lstStyle/>
          <a:p>
            <a:pPr algn="l" indent="0" marL="0">
              <a:lnSpc>
                <a:spcPct val="109000"/>
              </a:lnSpc>
              <a:buNone/>
            </a:pPr>
            <a:r>
              <a:rPr lang="en-US" sz="1150" dirty="0">
                <a:solidFill>
                  <a:srgbClr val="3B3535"/>
                </a:solidFill>
                <a:latin typeface="Roboto" pitchFamily="34" charset="0"/>
                <a:ea typeface="Roboto" pitchFamily="34" charset="-122"/>
                <a:cs typeface="Roboto" pitchFamily="34" charset="-120"/>
              </a:rPr>
              <a:t>Los LMMs pueden violar leyes de protección de datos (ej. GDPR). Los datos ingresados por usuarios pueden ser retenidos o expuestos a terceros.</a:t>
            </a:r>
            <a:endParaRPr lang="en-US" sz="115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3331766"/>
            <a:ext cx="377915" cy="377924"/>
          </a:xfrm>
          <a:prstGeom prst="rect">
            <a:avLst/>
          </a:prstGeom>
        </p:spPr>
      </p:pic>
      <p:sp>
        <p:nvSpPr>
          <p:cNvPr id="16" name="Text 10"/>
          <p:cNvSpPr/>
          <p:nvPr/>
        </p:nvSpPr>
        <p:spPr>
          <a:xfrm>
            <a:off x="1160235" y="3331766"/>
            <a:ext cx="3043558" cy="236240"/>
          </a:xfrm>
          <a:prstGeom prst="rect">
            <a:avLst/>
          </a:prstGeom>
          <a:noFill/>
          <a:ln/>
        </p:spPr>
        <p:txBody>
          <a:bodyPr wrap="none" lIns="0" tIns="0" rIns="0" bIns="0" rtlCol="0" anchor="t"/>
          <a:lstStyle/>
          <a:p>
            <a:pPr algn="l" indent="0" marL="0">
              <a:lnSpc>
                <a:spcPct val="104000"/>
              </a:lnSpc>
              <a:buNone/>
            </a:pPr>
            <a:r>
              <a:rPr lang="en-US" sz="1450" dirty="0">
                <a:solidFill>
                  <a:srgbClr val="3B3535"/>
                </a:solidFill>
                <a:latin typeface="Roboto Mono Medium" pitchFamily="34" charset="0"/>
                <a:ea typeface="Roboto Mono Medium" pitchFamily="34" charset="-122"/>
                <a:cs typeface="Roboto Mono Medium" pitchFamily="34" charset="-120"/>
              </a:rPr>
              <a:t>Sesgo de automatización</a:t>
            </a:r>
            <a:endParaRPr lang="en-US" sz="1450" dirty="0"/>
          </a:p>
        </p:txBody>
      </p:sp>
      <p:sp>
        <p:nvSpPr>
          <p:cNvPr id="17" name="Text 11"/>
          <p:cNvSpPr/>
          <p:nvPr/>
        </p:nvSpPr>
        <p:spPr>
          <a:xfrm>
            <a:off x="1160235" y="3625949"/>
            <a:ext cx="3043558" cy="595015"/>
          </a:xfrm>
          <a:prstGeom prst="rect">
            <a:avLst/>
          </a:prstGeom>
          <a:noFill/>
          <a:ln/>
        </p:spPr>
        <p:txBody>
          <a:bodyPr wrap="square" lIns="0" tIns="0" rIns="0" bIns="0" rtlCol="0" anchor="t">
            <a:normAutofit/>
          </a:bodyPr>
          <a:lstStyle/>
          <a:p>
            <a:pPr algn="l" indent="0" marL="0">
              <a:lnSpc>
                <a:spcPct val="109000"/>
              </a:lnSpc>
              <a:buNone/>
            </a:pPr>
            <a:r>
              <a:rPr lang="en-US" sz="1150" dirty="0">
                <a:solidFill>
                  <a:srgbClr val="3B3535"/>
                </a:solidFill>
                <a:latin typeface="Roboto" pitchFamily="34" charset="0"/>
                <a:ea typeface="Roboto" pitchFamily="34" charset="-122"/>
                <a:cs typeface="Roboto" pitchFamily="34" charset="-120"/>
              </a:rPr>
              <a:t>Los profesionales de salud pueden confiar ciegamente en la IA, perdiendo capacidad crítica y habilidades clínicas propias.</a:t>
            </a:r>
            <a:endParaRPr lang="en-US" sz="1150" dirty="0"/>
          </a:p>
        </p:txBody>
      </p:sp>
      <p:pic>
        <p:nvPicPr>
          <p:cNvPr id="18"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24639" y="3331766"/>
            <a:ext cx="377915" cy="377924"/>
          </a:xfrm>
          <a:prstGeom prst="rect">
            <a:avLst/>
          </a:prstGeom>
        </p:spPr>
      </p:pic>
      <p:sp>
        <p:nvSpPr>
          <p:cNvPr id="19" name="Text 12"/>
          <p:cNvSpPr/>
          <p:nvPr/>
        </p:nvSpPr>
        <p:spPr>
          <a:xfrm>
            <a:off x="4823399" y="3331766"/>
            <a:ext cx="3043558" cy="236240"/>
          </a:xfrm>
          <a:prstGeom prst="rect">
            <a:avLst/>
          </a:prstGeom>
          <a:noFill/>
          <a:ln/>
        </p:spPr>
        <p:txBody>
          <a:bodyPr wrap="none" lIns="0" tIns="0" rIns="0" bIns="0" rtlCol="0" anchor="t"/>
          <a:lstStyle/>
          <a:p>
            <a:pPr algn="l" indent="0" marL="0">
              <a:lnSpc>
                <a:spcPct val="104000"/>
              </a:lnSpc>
              <a:buNone/>
            </a:pPr>
            <a:r>
              <a:rPr lang="en-US" sz="1450" dirty="0">
                <a:solidFill>
                  <a:srgbClr val="3B3535"/>
                </a:solidFill>
                <a:latin typeface="Roboto Mono Medium" pitchFamily="34" charset="0"/>
                <a:ea typeface="Roboto Mono Medium" pitchFamily="34" charset="-122"/>
                <a:cs typeface="Roboto Mono Medium" pitchFamily="34" charset="-120"/>
              </a:rPr>
              <a:t>Acceso desigual</a:t>
            </a:r>
            <a:endParaRPr lang="en-US" sz="1450" dirty="0"/>
          </a:p>
        </p:txBody>
      </p:sp>
      <p:sp>
        <p:nvSpPr>
          <p:cNvPr id="20" name="Text 13"/>
          <p:cNvSpPr/>
          <p:nvPr/>
        </p:nvSpPr>
        <p:spPr>
          <a:xfrm>
            <a:off x="4823399" y="3625949"/>
            <a:ext cx="3043558" cy="793353"/>
          </a:xfrm>
          <a:prstGeom prst="rect">
            <a:avLst/>
          </a:prstGeom>
          <a:noFill/>
          <a:ln/>
        </p:spPr>
        <p:txBody>
          <a:bodyPr wrap="square" lIns="0" tIns="0" rIns="0" bIns="0" rtlCol="0" anchor="t">
            <a:normAutofit/>
          </a:bodyPr>
          <a:lstStyle/>
          <a:p>
            <a:pPr algn="l" indent="0" marL="0">
              <a:lnSpc>
                <a:spcPct val="109000"/>
              </a:lnSpc>
              <a:buNone/>
            </a:pPr>
            <a:r>
              <a:rPr lang="en-US" sz="1150" dirty="0">
                <a:solidFill>
                  <a:srgbClr val="3B3535"/>
                </a:solidFill>
                <a:latin typeface="Roboto" pitchFamily="34" charset="0"/>
                <a:ea typeface="Roboto" pitchFamily="34" charset="-122"/>
                <a:cs typeface="Roboto" pitchFamily="34" charset="-120"/>
              </a:rPr>
              <a:t>La brecha digital y los costos de suscripción limitan el acceso en países de bajos ingresos, profundizando inequidades en salud.</a:t>
            </a:r>
            <a:endParaRPr lang="en-US" sz="1150" dirty="0"/>
          </a:p>
        </p:txBody>
      </p:sp>
      <p:pic>
        <p:nvPicPr>
          <p:cNvPr id="21"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987803" y="3331766"/>
            <a:ext cx="377915" cy="377924"/>
          </a:xfrm>
          <a:prstGeom prst="rect">
            <a:avLst/>
          </a:prstGeom>
        </p:spPr>
      </p:pic>
      <p:sp>
        <p:nvSpPr>
          <p:cNvPr id="22" name="Text 14"/>
          <p:cNvSpPr/>
          <p:nvPr/>
        </p:nvSpPr>
        <p:spPr>
          <a:xfrm>
            <a:off x="8486563" y="3331766"/>
            <a:ext cx="3043657" cy="236240"/>
          </a:xfrm>
          <a:prstGeom prst="rect">
            <a:avLst/>
          </a:prstGeom>
          <a:noFill/>
          <a:ln/>
        </p:spPr>
        <p:txBody>
          <a:bodyPr wrap="none" lIns="0" tIns="0" rIns="0" bIns="0" rtlCol="0" anchor="t"/>
          <a:lstStyle/>
          <a:p>
            <a:pPr algn="l" indent="0" marL="0">
              <a:lnSpc>
                <a:spcPct val="104000"/>
              </a:lnSpc>
              <a:buNone/>
            </a:pPr>
            <a:r>
              <a:rPr lang="en-US" sz="1450" dirty="0">
                <a:solidFill>
                  <a:srgbClr val="3B3535"/>
                </a:solidFill>
                <a:latin typeface="Roboto Mono Medium" pitchFamily="34" charset="0"/>
                <a:ea typeface="Roboto Mono Medium" pitchFamily="34" charset="-122"/>
                <a:cs typeface="Roboto Mono Medium" pitchFamily="34" charset="-120"/>
              </a:rPr>
              <a:t>Impacto ambiental</a:t>
            </a:r>
            <a:endParaRPr lang="en-US" sz="1450" dirty="0"/>
          </a:p>
        </p:txBody>
      </p:sp>
      <p:sp>
        <p:nvSpPr>
          <p:cNvPr id="23" name="Text 15"/>
          <p:cNvSpPr/>
          <p:nvPr/>
        </p:nvSpPr>
        <p:spPr>
          <a:xfrm>
            <a:off x="8486563" y="3625949"/>
            <a:ext cx="3043657" cy="595015"/>
          </a:xfrm>
          <a:prstGeom prst="rect">
            <a:avLst/>
          </a:prstGeom>
          <a:noFill/>
          <a:ln/>
        </p:spPr>
        <p:txBody>
          <a:bodyPr wrap="square" lIns="0" tIns="0" rIns="0" bIns="0" rtlCol="0" anchor="t">
            <a:normAutofit/>
          </a:bodyPr>
          <a:lstStyle/>
          <a:p>
            <a:pPr algn="l" indent="0" marL="0">
              <a:lnSpc>
                <a:spcPct val="109000"/>
              </a:lnSpc>
              <a:buNone/>
            </a:pPr>
            <a:r>
              <a:rPr lang="en-US" sz="1150" dirty="0">
                <a:solidFill>
                  <a:srgbClr val="3B3535"/>
                </a:solidFill>
                <a:latin typeface="Roboto" pitchFamily="34" charset="0"/>
                <a:ea typeface="Roboto" pitchFamily="34" charset="-122"/>
                <a:cs typeface="Roboto" pitchFamily="34" charset="-120"/>
              </a:rPr>
              <a:t>Entrenar un LMM puede consumir 700.000 litros de agua y miles de GWh de energía, con huella de carbono significativa.</a:t>
            </a:r>
            <a:endParaRPr lang="en-US" sz="1150" dirty="0"/>
          </a:p>
        </p:txBody>
      </p:sp>
      <p:pic>
        <p:nvPicPr>
          <p:cNvPr id="24"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61475" y="4612680"/>
            <a:ext cx="377915" cy="377924"/>
          </a:xfrm>
          <a:prstGeom prst="rect">
            <a:avLst/>
          </a:prstGeom>
        </p:spPr>
      </p:pic>
      <p:sp>
        <p:nvSpPr>
          <p:cNvPr id="25" name="Text 16"/>
          <p:cNvSpPr/>
          <p:nvPr/>
        </p:nvSpPr>
        <p:spPr>
          <a:xfrm>
            <a:off x="1160235" y="4612680"/>
            <a:ext cx="3043558" cy="472480"/>
          </a:xfrm>
          <a:prstGeom prst="rect">
            <a:avLst/>
          </a:prstGeom>
          <a:noFill/>
          <a:ln/>
        </p:spPr>
        <p:txBody>
          <a:bodyPr wrap="square" lIns="0" tIns="0" rIns="0" bIns="0" rtlCol="0" anchor="t">
            <a:normAutofit/>
          </a:bodyPr>
          <a:lstStyle/>
          <a:p>
            <a:pPr algn="l" indent="0" marL="0">
              <a:lnSpc>
                <a:spcPct val="104000"/>
              </a:lnSpc>
              <a:buNone/>
            </a:pPr>
            <a:r>
              <a:rPr lang="en-US" sz="1450" dirty="0">
                <a:solidFill>
                  <a:srgbClr val="3B3535"/>
                </a:solidFill>
                <a:latin typeface="Roboto Mono Medium" pitchFamily="34" charset="0"/>
                <a:ea typeface="Roboto Mono Medium" pitchFamily="34" charset="-122"/>
                <a:cs typeface="Roboto Mono Medium" pitchFamily="34" charset="-120"/>
              </a:rPr>
              <a:t>Degradación de habilidades clínicas</a:t>
            </a:r>
            <a:endParaRPr lang="en-US" sz="1450" dirty="0"/>
          </a:p>
        </p:txBody>
      </p:sp>
      <p:sp>
        <p:nvSpPr>
          <p:cNvPr id="26" name="Text 17"/>
          <p:cNvSpPr/>
          <p:nvPr/>
        </p:nvSpPr>
        <p:spPr>
          <a:xfrm>
            <a:off x="1160235" y="5143103"/>
            <a:ext cx="3043558" cy="793353"/>
          </a:xfrm>
          <a:prstGeom prst="rect">
            <a:avLst/>
          </a:prstGeom>
          <a:noFill/>
          <a:ln/>
        </p:spPr>
        <p:txBody>
          <a:bodyPr wrap="square" lIns="0" tIns="0" rIns="0" bIns="0" rtlCol="0" anchor="t">
            <a:normAutofit/>
          </a:bodyPr>
          <a:lstStyle/>
          <a:p>
            <a:pPr algn="l" indent="0" marL="0">
              <a:lnSpc>
                <a:spcPct val="109000"/>
              </a:lnSpc>
              <a:buNone/>
            </a:pPr>
            <a:r>
              <a:rPr lang="en-US" sz="1150" dirty="0">
                <a:solidFill>
                  <a:srgbClr val="3B3535"/>
                </a:solidFill>
                <a:latin typeface="Roboto" pitchFamily="34" charset="0"/>
                <a:ea typeface="Roboto" pitchFamily="34" charset="-122"/>
                <a:cs typeface="Roboto" pitchFamily="34" charset="-120"/>
              </a:rPr>
              <a:t>El uso creciente de IA puede erosionar la competencia de los médicos. Si la red falla o el sistema es hackeado, el profesional podría no poder actuar sin la máquina.</a:t>
            </a:r>
            <a:endParaRPr lang="en-US" sz="1150" dirty="0"/>
          </a:p>
        </p:txBody>
      </p:sp>
      <p:sp>
        <p:nvSpPr>
          <p:cNvPr id="27" name="Text 18"/>
          <p:cNvSpPr/>
          <p:nvPr/>
        </p:nvSpPr>
        <p:spPr>
          <a:xfrm>
            <a:off x="661475" y="6045200"/>
            <a:ext cx="11478330" cy="158651"/>
          </a:xfrm>
          <a:prstGeom prst="rect">
            <a:avLst/>
          </a:prstGeom>
          <a:noFill/>
          <a:ln/>
        </p:spPr>
        <p:txBody>
          <a:bodyPr wrap="none" lIns="0" tIns="0" rIns="0" bIns="0" rtlCol="0" anchor="t"/>
          <a:lstStyle/>
          <a:p>
            <a:pPr algn="l" indent="0" marL="0">
              <a:lnSpc>
                <a:spcPct val="109000"/>
              </a:lnSpc>
              <a:buNone/>
            </a:pPr>
            <a:r>
              <a:rPr lang="en-US" sz="950" dirty="0">
                <a:solidFill>
                  <a:srgbClr val="3B3535"/>
                </a:solidFill>
                <a:latin typeface="Roboto" pitchFamily="34" charset="0"/>
                <a:ea typeface="Roboto" pitchFamily="34" charset="-122"/>
                <a:cs typeface="Roboto" pitchFamily="34" charset="-120"/>
              </a:rPr>
              <a:t>Fuente: OMS — Ethics and governance of artificial intelligence for health: Guidance on large multi-modal models (2024)</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61475" y="993676"/>
            <a:ext cx="1921025" cy="269180"/>
          </a:xfrm>
          <a:prstGeom prst="roundRect">
            <a:avLst>
              <a:gd name="adj" fmla="val 2831"/>
            </a:avLst>
          </a:prstGeom>
          <a:solidFill>
            <a:srgbClr val="F9D2D6"/>
          </a:solidFill>
          <a:ln/>
        </p:spPr>
      </p:sp>
      <p:sp>
        <p:nvSpPr>
          <p:cNvPr id="3" name="Text 1"/>
          <p:cNvSpPr/>
          <p:nvPr/>
        </p:nvSpPr>
        <p:spPr>
          <a:xfrm>
            <a:off x="767735" y="1046758"/>
            <a:ext cx="2318089" cy="163016"/>
          </a:xfrm>
          <a:prstGeom prst="rect">
            <a:avLst/>
          </a:prstGeom>
          <a:noFill/>
          <a:ln/>
        </p:spPr>
        <p:txBody>
          <a:bodyPr wrap="none" lIns="0" tIns="0" rIns="0" bIns="0" rtlCol="0" anchor="t"/>
          <a:lstStyle/>
          <a:p>
            <a:pPr algn="l" indent="0" marL="0">
              <a:lnSpc>
                <a:spcPct val="96000"/>
              </a:lnSpc>
              <a:buNone/>
            </a:pPr>
            <a:r>
              <a:rPr lang="en-US" sz="1100" dirty="0">
                <a:solidFill>
                  <a:srgbClr val="3B3535"/>
                </a:solidFill>
                <a:latin typeface="Roboto" pitchFamily="34" charset="0"/>
                <a:ea typeface="Roboto" pitchFamily="34" charset="-122"/>
                <a:cs typeface="Roboto" pitchFamily="34" charset="-120"/>
              </a:rPr>
              <a:t>¿POR QUÉ ESTA MATERIA?</a:t>
            </a:r>
            <a:endParaRPr lang="en-US" sz="1100" dirty="0"/>
          </a:p>
        </p:txBody>
      </p:sp>
      <p:sp>
        <p:nvSpPr>
          <p:cNvPr id="4" name="Text 2"/>
          <p:cNvSpPr/>
          <p:nvPr/>
        </p:nvSpPr>
        <p:spPr>
          <a:xfrm>
            <a:off x="661475" y="1315938"/>
            <a:ext cx="10868745" cy="1107480"/>
          </a:xfrm>
          <a:prstGeom prst="rect">
            <a:avLst/>
          </a:prstGeom>
          <a:noFill/>
          <a:ln/>
        </p:spPr>
        <p:txBody>
          <a:bodyPr wrap="square" lIns="0" tIns="0" rIns="0" bIns="0" rtlCol="0" anchor="t">
            <a:normAutofit/>
          </a:bodyPr>
          <a:lstStyle/>
          <a:p>
            <a:pPr algn="l" indent="0" marL="0">
              <a:lnSpc>
                <a:spcPct val="104000"/>
              </a:lnSpc>
              <a:buNone/>
            </a:pPr>
            <a:r>
              <a:rPr lang="en-US" sz="3450" dirty="0">
                <a:solidFill>
                  <a:srgbClr val="1F1E1E"/>
                </a:solidFill>
                <a:latin typeface="Roboto Mono Medium" pitchFamily="34" charset="0"/>
                <a:ea typeface="Roboto Mono Medium" pitchFamily="34" charset="-122"/>
                <a:cs typeface="Roboto Mono Medium" pitchFamily="34" charset="-120"/>
              </a:rPr>
              <a:t>El Riesgo Macroeconómico y el Colapso del Consumo</a:t>
            </a:r>
            <a:endParaRPr lang="en-US" sz="3450" dirty="0"/>
          </a:p>
        </p:txBody>
      </p:sp>
      <p:sp>
        <p:nvSpPr>
          <p:cNvPr id="5" name="Text 3"/>
          <p:cNvSpPr/>
          <p:nvPr/>
        </p:nvSpPr>
        <p:spPr>
          <a:xfrm>
            <a:off x="661475" y="2622748"/>
            <a:ext cx="11478330" cy="248047"/>
          </a:xfrm>
          <a:prstGeom prst="rect">
            <a:avLst/>
          </a:prstGeom>
          <a:noFill/>
          <a:ln/>
        </p:spPr>
        <p:txBody>
          <a:bodyPr wrap="none" lIns="0" tIns="0" rIns="0" bIns="0" rtlCol="0" anchor="t"/>
          <a:lstStyle/>
          <a:p>
            <a:pPr algn="l" indent="0" marL="0">
              <a:lnSpc>
                <a:spcPct val="117000"/>
              </a:lnSpc>
              <a:buNone/>
            </a:pPr>
            <a:r>
              <a:rPr lang="en-US" sz="1350" dirty="0">
                <a:solidFill>
                  <a:srgbClr val="3B3535"/>
                </a:solidFill>
                <a:latin typeface="Roboto" pitchFamily="34" charset="0"/>
                <a:ea typeface="Roboto" pitchFamily="34" charset="-122"/>
                <a:cs typeface="Roboto" pitchFamily="34" charset="-120"/>
              </a:rPr>
              <a:t>¿Cómo va? Vos que ya viste varias corridas y pánico en el mundo:</a:t>
            </a:r>
            <a:endParaRPr lang="en-US" sz="13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3020219"/>
            <a:ext cx="443001" cy="443012"/>
          </a:xfrm>
          <a:prstGeom prst="rect">
            <a:avLst/>
          </a:prstGeom>
        </p:spPr>
      </p:pic>
      <p:sp>
        <p:nvSpPr>
          <p:cNvPr id="7" name="Text 4"/>
          <p:cNvSpPr/>
          <p:nvPr/>
        </p:nvSpPr>
        <p:spPr>
          <a:xfrm>
            <a:off x="1270564" y="3020219"/>
            <a:ext cx="4742240" cy="553839"/>
          </a:xfrm>
          <a:prstGeom prst="rect">
            <a:avLst/>
          </a:prstGeom>
          <a:noFill/>
          <a:ln/>
        </p:spPr>
        <p:txBody>
          <a:bodyPr wrap="square" lIns="0" tIns="0" rIns="0" bIns="0" rtlCol="0" anchor="t">
            <a:normAutofit/>
          </a:bodyPr>
          <a:lstStyle/>
          <a:p>
            <a:pPr algn="l" indent="0" marL="0">
              <a:lnSpc>
                <a:spcPct val="104000"/>
              </a:lnSpc>
              <a:buNone/>
            </a:pPr>
            <a:r>
              <a:rPr lang="en-US" sz="1700" dirty="0">
                <a:solidFill>
                  <a:srgbClr val="3B3535"/>
                </a:solidFill>
                <a:latin typeface="Roboto Mono Medium" pitchFamily="34" charset="0"/>
                <a:ea typeface="Roboto Mono Medium" pitchFamily="34" charset="-122"/>
                <a:cs typeface="Roboto Mono Medium" pitchFamily="34" charset="-120"/>
              </a:rPr>
              <a:t>La Crisis Global de Inteligencia 2028</a:t>
            </a:r>
            <a:endParaRPr lang="en-US" sz="1700" dirty="0"/>
          </a:p>
        </p:txBody>
      </p:sp>
      <p:sp>
        <p:nvSpPr>
          <p:cNvPr id="8" name="Text 5"/>
          <p:cNvSpPr/>
          <p:nvPr/>
        </p:nvSpPr>
        <p:spPr>
          <a:xfrm>
            <a:off x="1270564" y="3653730"/>
            <a:ext cx="4742240" cy="496094"/>
          </a:xfrm>
          <a:prstGeom prst="rect">
            <a:avLst/>
          </a:prstGeom>
          <a:noFill/>
          <a:ln/>
        </p:spPr>
        <p:txBody>
          <a:bodyPr wrap="square" lIns="0" tIns="0" rIns="0" bIns="0" rtlCol="0" anchor="t">
            <a:normAutofit/>
          </a:bodyPr>
          <a:lstStyle/>
          <a:p>
            <a:pPr algn="l" indent="0" marL="0">
              <a:lnSpc>
                <a:spcPct val="117000"/>
              </a:lnSpc>
              <a:buNone/>
            </a:pPr>
            <a:r>
              <a:rPr lang="en-US" sz="1350" dirty="0">
                <a:solidFill>
                  <a:srgbClr val="3B3535"/>
                </a:solidFill>
                <a:latin typeface="Roboto" pitchFamily="34" charset="0"/>
                <a:ea typeface="Roboto" pitchFamily="34" charset="-122"/>
                <a:cs typeface="Roboto" pitchFamily="34" charset="-120"/>
              </a:rPr>
              <a:t>Un escenario hipotético sobre los peligros de una transición demasiado abrupta hacia la IA.</a:t>
            </a:r>
            <a:endParaRPr lang="en-US" sz="135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78892" y="3020219"/>
            <a:ext cx="443001" cy="443012"/>
          </a:xfrm>
          <a:prstGeom prst="rect">
            <a:avLst/>
          </a:prstGeom>
        </p:spPr>
      </p:pic>
      <p:sp>
        <p:nvSpPr>
          <p:cNvPr id="10" name="Text 6"/>
          <p:cNvSpPr/>
          <p:nvPr/>
        </p:nvSpPr>
        <p:spPr>
          <a:xfrm>
            <a:off x="6787980" y="3020219"/>
            <a:ext cx="4742240" cy="276920"/>
          </a:xfrm>
          <a:prstGeom prst="rect">
            <a:avLst/>
          </a:prstGeom>
          <a:noFill/>
          <a:ln/>
        </p:spPr>
        <p:txBody>
          <a:bodyPr wrap="none" lIns="0" tIns="0" rIns="0" bIns="0" rtlCol="0" anchor="t"/>
          <a:lstStyle/>
          <a:p>
            <a:pPr algn="l" indent="0" marL="0">
              <a:lnSpc>
                <a:spcPct val="104000"/>
              </a:lnSpc>
              <a:buNone/>
            </a:pPr>
            <a:r>
              <a:rPr lang="en-US" sz="1700" dirty="0">
                <a:solidFill>
                  <a:srgbClr val="3B3535"/>
                </a:solidFill>
                <a:latin typeface="Roboto Mono Medium" pitchFamily="34" charset="0"/>
                <a:ea typeface="Roboto Mono Medium" pitchFamily="34" charset="-122"/>
                <a:cs typeface="Roboto Mono Medium" pitchFamily="34" charset="-120"/>
              </a:rPr>
              <a:t>El 'PIB Fantasma'</a:t>
            </a:r>
            <a:endParaRPr lang="en-US" sz="1700" dirty="0"/>
          </a:p>
        </p:txBody>
      </p:sp>
      <p:sp>
        <p:nvSpPr>
          <p:cNvPr id="11" name="Text 7"/>
          <p:cNvSpPr/>
          <p:nvPr/>
        </p:nvSpPr>
        <p:spPr>
          <a:xfrm>
            <a:off x="6787980" y="3376811"/>
            <a:ext cx="4742240" cy="744141"/>
          </a:xfrm>
          <a:prstGeom prst="rect">
            <a:avLst/>
          </a:prstGeom>
          <a:noFill/>
          <a:ln/>
        </p:spPr>
        <p:txBody>
          <a:bodyPr wrap="square" lIns="0" tIns="0" rIns="0" bIns="0" rtlCol="0" anchor="t">
            <a:normAutofit/>
          </a:bodyPr>
          <a:lstStyle/>
          <a:p>
            <a:pPr algn="l" indent="0" marL="0">
              <a:lnSpc>
                <a:spcPct val="117000"/>
              </a:lnSpc>
              <a:buNone/>
            </a:pPr>
            <a:r>
              <a:rPr lang="en-US" sz="1350" dirty="0">
                <a:solidFill>
                  <a:srgbClr val="3B3535"/>
                </a:solidFill>
                <a:latin typeface="Roboto" pitchFamily="34" charset="0"/>
                <a:ea typeface="Roboto" pitchFamily="34" charset="-122"/>
                <a:cs typeface="Roboto" pitchFamily="34" charset="-120"/>
              </a:rPr>
              <a:t>Récord de productividad y ganancias corporativas impulsadas por IA, pero que no circulan en la economía real porque las máquinas no consumen.</a:t>
            </a:r>
            <a:endParaRPr lang="en-US" sz="135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415631"/>
            <a:ext cx="443001" cy="443012"/>
          </a:xfrm>
          <a:prstGeom prst="rect">
            <a:avLst/>
          </a:prstGeom>
        </p:spPr>
      </p:pic>
      <p:sp>
        <p:nvSpPr>
          <p:cNvPr id="13" name="Text 8"/>
          <p:cNvSpPr/>
          <p:nvPr/>
        </p:nvSpPr>
        <p:spPr>
          <a:xfrm>
            <a:off x="1270564" y="4415631"/>
            <a:ext cx="4742240" cy="276920"/>
          </a:xfrm>
          <a:prstGeom prst="rect">
            <a:avLst/>
          </a:prstGeom>
          <a:noFill/>
          <a:ln/>
        </p:spPr>
        <p:txBody>
          <a:bodyPr wrap="none" lIns="0" tIns="0" rIns="0" bIns="0" rtlCol="0" anchor="t"/>
          <a:lstStyle/>
          <a:p>
            <a:pPr algn="l" indent="0" marL="0">
              <a:lnSpc>
                <a:spcPct val="104000"/>
              </a:lnSpc>
              <a:buNone/>
            </a:pPr>
            <a:r>
              <a:rPr lang="en-US" sz="1700" dirty="0">
                <a:solidFill>
                  <a:srgbClr val="3B3535"/>
                </a:solidFill>
                <a:latin typeface="Roboto Mono Medium" pitchFamily="34" charset="0"/>
                <a:ea typeface="Roboto Mono Medium" pitchFamily="34" charset="-122"/>
                <a:cs typeface="Roboto Mono Medium" pitchFamily="34" charset="-120"/>
              </a:rPr>
              <a:t>Desplazamiento del 'Cuello Blanco'</a:t>
            </a:r>
            <a:endParaRPr lang="en-US" sz="1700" dirty="0"/>
          </a:p>
        </p:txBody>
      </p:sp>
      <p:sp>
        <p:nvSpPr>
          <p:cNvPr id="14" name="Text 9"/>
          <p:cNvSpPr/>
          <p:nvPr/>
        </p:nvSpPr>
        <p:spPr>
          <a:xfrm>
            <a:off x="1270564" y="4772223"/>
            <a:ext cx="4742240" cy="744141"/>
          </a:xfrm>
          <a:prstGeom prst="rect">
            <a:avLst/>
          </a:prstGeom>
          <a:noFill/>
          <a:ln/>
        </p:spPr>
        <p:txBody>
          <a:bodyPr wrap="square" lIns="0" tIns="0" rIns="0" bIns="0" rtlCol="0" anchor="t">
            <a:normAutofit/>
          </a:bodyPr>
          <a:lstStyle/>
          <a:p>
            <a:pPr algn="l" indent="0" marL="0">
              <a:lnSpc>
                <a:spcPct val="117000"/>
              </a:lnSpc>
              <a:buNone/>
            </a:pPr>
            <a:r>
              <a:rPr lang="en-US" sz="1350" dirty="0">
                <a:solidFill>
                  <a:srgbClr val="3B3535"/>
                </a:solidFill>
                <a:latin typeface="Roboto" pitchFamily="34" charset="0"/>
                <a:ea typeface="Roboto" pitchFamily="34" charset="-122"/>
                <a:cs typeface="Roboto" pitchFamily="34" charset="-120"/>
              </a:rPr>
              <a:t>La IA reemplaza a los trabajadores del conocimiento, quienes representan el 50% del empleo pero el 70% del gasto discrecional.</a:t>
            </a:r>
            <a:endParaRPr lang="en-US" sz="135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78892" y="4415631"/>
            <a:ext cx="443001" cy="443012"/>
          </a:xfrm>
          <a:prstGeom prst="rect">
            <a:avLst/>
          </a:prstGeom>
        </p:spPr>
      </p:pic>
      <p:sp>
        <p:nvSpPr>
          <p:cNvPr id="16" name="Text 10"/>
          <p:cNvSpPr/>
          <p:nvPr/>
        </p:nvSpPr>
        <p:spPr>
          <a:xfrm>
            <a:off x="6787980" y="4415631"/>
            <a:ext cx="4742240" cy="276920"/>
          </a:xfrm>
          <a:prstGeom prst="rect">
            <a:avLst/>
          </a:prstGeom>
          <a:noFill/>
          <a:ln/>
        </p:spPr>
        <p:txBody>
          <a:bodyPr wrap="none" lIns="0" tIns="0" rIns="0" bIns="0" rtlCol="0" anchor="t"/>
          <a:lstStyle/>
          <a:p>
            <a:pPr algn="l" indent="0" marL="0">
              <a:lnSpc>
                <a:spcPct val="104000"/>
              </a:lnSpc>
              <a:buNone/>
            </a:pPr>
            <a:r>
              <a:rPr lang="en-US" sz="1700" dirty="0">
                <a:solidFill>
                  <a:srgbClr val="3B3535"/>
                </a:solidFill>
                <a:latin typeface="Roboto Mono Medium" pitchFamily="34" charset="0"/>
                <a:ea typeface="Roboto Mono Medium" pitchFamily="34" charset="-122"/>
                <a:cs typeface="Roboto Mono Medium" pitchFamily="34" charset="-120"/>
              </a:rPr>
              <a:t>La Espiral Deflacionaria</a:t>
            </a:r>
            <a:endParaRPr lang="en-US" sz="1700" dirty="0"/>
          </a:p>
        </p:txBody>
      </p:sp>
      <p:sp>
        <p:nvSpPr>
          <p:cNvPr id="17" name="Text 11"/>
          <p:cNvSpPr/>
          <p:nvPr/>
        </p:nvSpPr>
        <p:spPr>
          <a:xfrm>
            <a:off x="6787980" y="4772223"/>
            <a:ext cx="4742240" cy="744141"/>
          </a:xfrm>
          <a:prstGeom prst="rect">
            <a:avLst/>
          </a:prstGeom>
          <a:noFill/>
          <a:ln/>
        </p:spPr>
        <p:txBody>
          <a:bodyPr wrap="square" lIns="0" tIns="0" rIns="0" bIns="0" rtlCol="0" anchor="t">
            <a:normAutofit/>
          </a:bodyPr>
          <a:lstStyle/>
          <a:p>
            <a:pPr algn="l" indent="0" marL="0">
              <a:lnSpc>
                <a:spcPct val="117000"/>
              </a:lnSpc>
              <a:buNone/>
            </a:pPr>
            <a:r>
              <a:rPr lang="en-US" sz="1350" dirty="0">
                <a:solidFill>
                  <a:srgbClr val="3B3535"/>
                </a:solidFill>
                <a:latin typeface="Roboto" pitchFamily="34" charset="0"/>
                <a:ea typeface="Roboto" pitchFamily="34" charset="-122"/>
                <a:cs typeface="Roboto" pitchFamily="34" charset="-120"/>
              </a:rPr>
              <a:t>Las empresas despiden → cae el poder adquisitivo → el consumo colapsa → las empresas invierten más en IA para bajar costos → el ciclo empeora.</a:t>
            </a:r>
            <a:endParaRPr lang="en-US" sz="1350" dirty="0"/>
          </a:p>
        </p:txBody>
      </p:sp>
      <p:sp>
        <p:nvSpPr>
          <p:cNvPr id="18" name="Text 12"/>
          <p:cNvSpPr/>
          <p:nvPr/>
        </p:nvSpPr>
        <p:spPr>
          <a:xfrm>
            <a:off x="661475" y="5665788"/>
            <a:ext cx="11478330" cy="198438"/>
          </a:xfrm>
          <a:prstGeom prst="rect">
            <a:avLst/>
          </a:prstGeom>
          <a:noFill/>
          <a:ln/>
        </p:spPr>
        <p:txBody>
          <a:bodyPr wrap="none" lIns="0" tIns="0" rIns="0" bIns="0" rtlCol="0" anchor="t"/>
          <a:lstStyle/>
          <a:p>
            <a:pPr algn="l" indent="0" marL="0">
              <a:lnSpc>
                <a:spcPct val="117000"/>
              </a:lnSpc>
              <a:buNone/>
            </a:pPr>
            <a:r>
              <a:rPr lang="en-US" sz="1100" dirty="0">
                <a:solidFill>
                  <a:srgbClr val="3B3535"/>
                </a:solidFill>
                <a:latin typeface="Roboto" pitchFamily="34" charset="0"/>
                <a:ea typeface="Roboto" pitchFamily="34" charset="-122"/>
                <a:cs typeface="Roboto" pitchFamily="34" charset="-120"/>
              </a:rPr>
              <a:t>Fuente: Citrini Research — The 2028 Global Intelligence Crisis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817166"/>
            <a:ext cx="10868745" cy="553740"/>
          </a:xfrm>
          <a:prstGeom prst="rect">
            <a:avLst/>
          </a:prstGeom>
          <a:noFill/>
          <a:ln/>
        </p:spPr>
        <p:txBody>
          <a:bodyPr wrap="none" lIns="0" tIns="0" rIns="0" bIns="0" rtlCol="0" anchor="t"/>
          <a:lstStyle/>
          <a:p>
            <a:pPr algn="l" indent="0" marL="0">
              <a:lnSpc>
                <a:spcPct val="104000"/>
              </a:lnSpc>
              <a:buNone/>
            </a:pPr>
            <a:r>
              <a:rPr lang="en-US" sz="3450" dirty="0">
                <a:solidFill>
                  <a:srgbClr val="1F1E1E"/>
                </a:solidFill>
                <a:latin typeface="Roboto Mono Medium" pitchFamily="34" charset="0"/>
                <a:ea typeface="Roboto Mono Medium" pitchFamily="34" charset="-122"/>
                <a:cs typeface="Roboto Mono Medium" pitchFamily="34" charset="-120"/>
              </a:rPr>
              <a:t>Que queremos que se lleven ?</a:t>
            </a:r>
            <a:endParaRPr lang="en-US" sz="3450" dirty="0"/>
          </a:p>
        </p:txBody>
      </p:sp>
      <p:sp>
        <p:nvSpPr>
          <p:cNvPr id="3" name="Text 1"/>
          <p:cNvSpPr/>
          <p:nvPr/>
        </p:nvSpPr>
        <p:spPr>
          <a:xfrm>
            <a:off x="661475" y="1636713"/>
            <a:ext cx="11478330" cy="248047"/>
          </a:xfrm>
          <a:prstGeom prst="rect">
            <a:avLst/>
          </a:prstGeom>
          <a:noFill/>
          <a:ln/>
        </p:spPr>
        <p:txBody>
          <a:bodyPr wrap="none" lIns="0" tIns="0" rIns="0" bIns="0" rtlCol="0" anchor="t"/>
          <a:lstStyle/>
          <a:p>
            <a:pPr algn="l" indent="0" marL="0">
              <a:lnSpc>
                <a:spcPct val="117000"/>
              </a:lnSpc>
              <a:buNone/>
            </a:pPr>
            <a:endParaRPr lang="en-US" sz="1350" dirty="0"/>
          </a:p>
        </p:txBody>
      </p:sp>
      <p:sp>
        <p:nvSpPr>
          <p:cNvPr id="4" name="Text 2"/>
          <p:cNvSpPr/>
          <p:nvPr/>
        </p:nvSpPr>
        <p:spPr>
          <a:xfrm>
            <a:off x="661475" y="2084090"/>
            <a:ext cx="10868745" cy="664369"/>
          </a:xfrm>
          <a:prstGeom prst="rect">
            <a:avLst/>
          </a:prstGeom>
          <a:noFill/>
          <a:ln/>
        </p:spPr>
        <p:txBody>
          <a:bodyPr wrap="square" lIns="0" tIns="0" rIns="0" bIns="0" rtlCol="0" anchor="t">
            <a:normAutofit/>
          </a:bodyPr>
          <a:lstStyle/>
          <a:p>
            <a:pPr algn="l" indent="0" marL="0">
              <a:lnSpc>
                <a:spcPct val="104000"/>
              </a:lnSpc>
              <a:buNone/>
            </a:pPr>
            <a:r>
              <a:rPr lang="en-US" sz="2050" b="1" dirty="0">
                <a:solidFill>
                  <a:srgbClr val="1F1E1E"/>
                </a:solidFill>
                <a:latin typeface="Roboto Mono Bold" pitchFamily="34" charset="0"/>
                <a:ea typeface="Roboto Mono Bold" pitchFamily="34" charset="-122"/>
                <a:cs typeface="Roboto Mono Bold" pitchFamily="34" charset="-120"/>
              </a:rPr>
              <a:t>Tener la capacidad valuar críticamente una solución de IA en salud, entender sus limitaciones y proponer aplicaciones concretas en tu </a:t>
            </a:r>
            <a:endParaRPr lang="en-US" sz="2050" dirty="0"/>
          </a:p>
        </p:txBody>
      </p:sp>
      <p:sp>
        <p:nvSpPr>
          <p:cNvPr id="5" name="Text 3"/>
          <p:cNvSpPr/>
          <p:nvPr/>
        </p:nvSpPr>
        <p:spPr>
          <a:xfrm>
            <a:off x="661475" y="2801541"/>
            <a:ext cx="10868745" cy="332184"/>
          </a:xfrm>
          <a:prstGeom prst="rect">
            <a:avLst/>
          </a:prstGeom>
          <a:noFill/>
          <a:ln/>
        </p:spPr>
        <p:txBody>
          <a:bodyPr wrap="none" lIns="0" tIns="0" rIns="0" bIns="0" rtlCol="0" anchor="t"/>
          <a:lstStyle/>
          <a:p>
            <a:pPr algn="l" indent="0" marL="0">
              <a:lnSpc>
                <a:spcPct val="104000"/>
              </a:lnSpc>
              <a:buNone/>
            </a:pPr>
            <a:r>
              <a:rPr lang="en-US" sz="2050" b="1" dirty="0">
                <a:solidFill>
                  <a:srgbClr val="1F1E1E"/>
                </a:solidFill>
                <a:latin typeface="Roboto Mono Bold" pitchFamily="34" charset="0"/>
                <a:ea typeface="Roboto Mono Bold" pitchFamily="34" charset="-122"/>
                <a:cs typeface="Roboto Mono Bold" pitchFamily="34" charset="-120"/>
              </a:rPr>
              <a:t>área.</a:t>
            </a:r>
            <a:endParaRPr lang="en-US" sz="2050" dirty="0"/>
          </a:p>
        </p:txBody>
      </p:sp>
      <p:sp>
        <p:nvSpPr>
          <p:cNvPr id="6" name="Text 4"/>
          <p:cNvSpPr/>
          <p:nvPr/>
        </p:nvSpPr>
        <p:spPr>
          <a:xfrm>
            <a:off x="661475" y="3333055"/>
            <a:ext cx="11478330" cy="310158"/>
          </a:xfrm>
          <a:prstGeom prst="rect">
            <a:avLst/>
          </a:prstGeom>
          <a:noFill/>
          <a:ln/>
        </p:spPr>
        <p:txBody>
          <a:bodyPr wrap="none" lIns="0" tIns="0" rIns="0" bIns="0" rtlCol="0" anchor="t"/>
          <a:lstStyle/>
          <a:p>
            <a:pPr algn="l" indent="0" marL="0">
              <a:lnSpc>
                <a:spcPct val="117000"/>
              </a:lnSpc>
              <a:buNone/>
            </a:pPr>
            <a:endParaRPr lang="en-US" sz="17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3792637"/>
            <a:ext cx="443001" cy="443012"/>
          </a:xfrm>
          <a:prstGeom prst="rect">
            <a:avLst/>
          </a:prstGeom>
        </p:spPr>
      </p:pic>
      <p:sp>
        <p:nvSpPr>
          <p:cNvPr id="8" name="Text 5"/>
          <p:cNvSpPr/>
          <p:nvPr/>
        </p:nvSpPr>
        <p:spPr>
          <a:xfrm>
            <a:off x="1270564" y="3792637"/>
            <a:ext cx="2903068" cy="553839"/>
          </a:xfrm>
          <a:prstGeom prst="rect">
            <a:avLst/>
          </a:prstGeom>
          <a:noFill/>
          <a:ln/>
        </p:spPr>
        <p:txBody>
          <a:bodyPr wrap="square" lIns="0" tIns="0" rIns="0" bIns="0" rtlCol="0" anchor="t">
            <a:normAutofit/>
          </a:bodyPr>
          <a:lstStyle/>
          <a:p>
            <a:pPr algn="l" indent="0" marL="0">
              <a:lnSpc>
                <a:spcPct val="104000"/>
              </a:lnSpc>
              <a:buNone/>
            </a:pPr>
            <a:r>
              <a:rPr lang="en-US" sz="1700" dirty="0">
                <a:solidFill>
                  <a:srgbClr val="3B3535"/>
                </a:solidFill>
                <a:latin typeface="Roboto Mono Medium" pitchFamily="34" charset="0"/>
                <a:ea typeface="Roboto Mono Medium" pitchFamily="34" charset="-122"/>
                <a:cs typeface="Roboto Mono Medium" pitchFamily="34" charset="-120"/>
              </a:rPr>
              <a:t>Fundamentos del futuro</a:t>
            </a:r>
            <a:endParaRPr lang="en-US" sz="1700" dirty="0"/>
          </a:p>
        </p:txBody>
      </p:sp>
      <p:sp>
        <p:nvSpPr>
          <p:cNvPr id="9" name="Text 6"/>
          <p:cNvSpPr/>
          <p:nvPr/>
        </p:nvSpPr>
        <p:spPr>
          <a:xfrm>
            <a:off x="1270564" y="4426148"/>
            <a:ext cx="2903068" cy="496094"/>
          </a:xfrm>
          <a:prstGeom prst="rect">
            <a:avLst/>
          </a:prstGeom>
          <a:noFill/>
          <a:ln/>
        </p:spPr>
        <p:txBody>
          <a:bodyPr wrap="square" lIns="0" tIns="0" rIns="0" bIns="0" rtlCol="0" anchor="t">
            <a:normAutofit/>
          </a:bodyPr>
          <a:lstStyle/>
          <a:p>
            <a:pPr algn="l" indent="0" marL="0">
              <a:lnSpc>
                <a:spcPct val="117000"/>
              </a:lnSpc>
              <a:buNone/>
            </a:pPr>
            <a:r>
              <a:rPr lang="en-US" sz="1350" dirty="0">
                <a:solidFill>
                  <a:srgbClr val="3B3535"/>
                </a:solidFill>
                <a:latin typeface="Roboto" pitchFamily="34" charset="0"/>
                <a:ea typeface="Roboto" pitchFamily="34" charset="-122"/>
                <a:cs typeface="Roboto" pitchFamily="34" charset="-120"/>
              </a:rPr>
              <a:t>Llevarse los fundamentos de IA que están definiendo el futuro.</a:t>
            </a:r>
            <a:endParaRPr lang="en-US" sz="135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39720" y="3792637"/>
            <a:ext cx="443001" cy="443012"/>
          </a:xfrm>
          <a:prstGeom prst="rect">
            <a:avLst/>
          </a:prstGeom>
        </p:spPr>
      </p:pic>
      <p:sp>
        <p:nvSpPr>
          <p:cNvPr id="11" name="Text 7"/>
          <p:cNvSpPr/>
          <p:nvPr/>
        </p:nvSpPr>
        <p:spPr>
          <a:xfrm>
            <a:off x="4948808" y="3792637"/>
            <a:ext cx="2903068" cy="276920"/>
          </a:xfrm>
          <a:prstGeom prst="rect">
            <a:avLst/>
          </a:prstGeom>
          <a:noFill/>
          <a:ln/>
        </p:spPr>
        <p:txBody>
          <a:bodyPr wrap="none" lIns="0" tIns="0" rIns="0" bIns="0" rtlCol="0" anchor="t"/>
          <a:lstStyle/>
          <a:p>
            <a:pPr algn="l" indent="0" marL="0">
              <a:lnSpc>
                <a:spcPct val="104000"/>
              </a:lnSpc>
              <a:buNone/>
            </a:pPr>
            <a:r>
              <a:rPr lang="en-US" sz="1700" dirty="0">
                <a:solidFill>
                  <a:srgbClr val="3B3535"/>
                </a:solidFill>
                <a:latin typeface="Roboto Mono Medium" pitchFamily="34" charset="0"/>
                <a:ea typeface="Roboto Mono Medium" pitchFamily="34" charset="-122"/>
                <a:cs typeface="Roboto Mono Medium" pitchFamily="34" charset="-120"/>
              </a:rPr>
              <a:t>Enfoque práctico</a:t>
            </a:r>
            <a:endParaRPr lang="en-US" sz="1700" dirty="0"/>
          </a:p>
        </p:txBody>
      </p:sp>
      <p:sp>
        <p:nvSpPr>
          <p:cNvPr id="12" name="Text 8"/>
          <p:cNvSpPr/>
          <p:nvPr/>
        </p:nvSpPr>
        <p:spPr>
          <a:xfrm>
            <a:off x="4948808" y="4149229"/>
            <a:ext cx="2903068" cy="496094"/>
          </a:xfrm>
          <a:prstGeom prst="rect">
            <a:avLst/>
          </a:prstGeom>
          <a:noFill/>
          <a:ln/>
        </p:spPr>
        <p:txBody>
          <a:bodyPr wrap="square" lIns="0" tIns="0" rIns="0" bIns="0" rtlCol="0" anchor="t">
            <a:normAutofit/>
          </a:bodyPr>
          <a:lstStyle/>
          <a:p>
            <a:pPr algn="l" indent="0" marL="0">
              <a:lnSpc>
                <a:spcPct val="117000"/>
              </a:lnSpc>
              <a:buNone/>
            </a:pPr>
            <a:r>
              <a:rPr lang="en-US" sz="1350" dirty="0">
                <a:solidFill>
                  <a:srgbClr val="3B3535"/>
                </a:solidFill>
                <a:latin typeface="Roboto" pitchFamily="34" charset="0"/>
                <a:ea typeface="Roboto" pitchFamily="34" charset="-122"/>
                <a:cs typeface="Roboto" pitchFamily="34" charset="-120"/>
              </a:rPr>
              <a:t>Cada clase aplicaremos lo visto: conocimiento activo, no pasivo.</a:t>
            </a:r>
            <a:endParaRPr lang="en-US" sz="135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17964" y="3792637"/>
            <a:ext cx="443001" cy="443012"/>
          </a:xfrm>
          <a:prstGeom prst="rect">
            <a:avLst/>
          </a:prstGeom>
        </p:spPr>
      </p:pic>
      <p:sp>
        <p:nvSpPr>
          <p:cNvPr id="14" name="Text 9"/>
          <p:cNvSpPr/>
          <p:nvPr/>
        </p:nvSpPr>
        <p:spPr>
          <a:xfrm>
            <a:off x="8627053" y="3792637"/>
            <a:ext cx="2903068" cy="276920"/>
          </a:xfrm>
          <a:prstGeom prst="rect">
            <a:avLst/>
          </a:prstGeom>
          <a:noFill/>
          <a:ln/>
        </p:spPr>
        <p:txBody>
          <a:bodyPr wrap="none" lIns="0" tIns="0" rIns="0" bIns="0" rtlCol="0" anchor="t"/>
          <a:lstStyle/>
          <a:p>
            <a:pPr algn="l" indent="0" marL="0">
              <a:lnSpc>
                <a:spcPct val="104000"/>
              </a:lnSpc>
              <a:buNone/>
            </a:pPr>
            <a:r>
              <a:rPr lang="en-US" sz="1700" dirty="0">
                <a:solidFill>
                  <a:srgbClr val="3B3535"/>
                </a:solidFill>
                <a:latin typeface="Roboto Mono Medium" pitchFamily="34" charset="0"/>
                <a:ea typeface="Roboto Mono Medium" pitchFamily="34" charset="-122"/>
                <a:cs typeface="Roboto Mono Medium" pitchFamily="34" charset="-120"/>
              </a:rPr>
              <a:t>Modelos aplicados</a:t>
            </a:r>
            <a:endParaRPr lang="en-US" sz="1700" dirty="0"/>
          </a:p>
        </p:txBody>
      </p:sp>
      <p:sp>
        <p:nvSpPr>
          <p:cNvPr id="15" name="Text 10"/>
          <p:cNvSpPr/>
          <p:nvPr/>
        </p:nvSpPr>
        <p:spPr>
          <a:xfrm>
            <a:off x="8627053" y="4149229"/>
            <a:ext cx="2903068" cy="744141"/>
          </a:xfrm>
          <a:prstGeom prst="rect">
            <a:avLst/>
          </a:prstGeom>
          <a:noFill/>
          <a:ln/>
        </p:spPr>
        <p:txBody>
          <a:bodyPr wrap="square" lIns="0" tIns="0" rIns="0" bIns="0" rtlCol="0" anchor="t">
            <a:normAutofit/>
          </a:bodyPr>
          <a:lstStyle/>
          <a:p>
            <a:pPr algn="l" indent="0" marL="0">
              <a:lnSpc>
                <a:spcPct val="117000"/>
              </a:lnSpc>
              <a:buNone/>
            </a:pPr>
            <a:r>
              <a:rPr lang="en-US" sz="1350" dirty="0">
                <a:solidFill>
                  <a:srgbClr val="3B3535"/>
                </a:solidFill>
                <a:latin typeface="Roboto" pitchFamily="34" charset="0"/>
                <a:ea typeface="Roboto" pitchFamily="34" charset="-122"/>
                <a:cs typeface="Roboto" pitchFamily="34" charset="-120"/>
              </a:rPr>
              <a:t>Al final del cuatrimestre podrán entender distintos modelos de IA y cómo aplicarlos.</a:t>
            </a:r>
            <a:endParaRPr lang="en-US" sz="1350" dirty="0"/>
          </a:p>
        </p:txBody>
      </p:sp>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5188049"/>
            <a:ext cx="443001" cy="443012"/>
          </a:xfrm>
          <a:prstGeom prst="rect">
            <a:avLst/>
          </a:prstGeom>
        </p:spPr>
      </p:pic>
      <p:sp>
        <p:nvSpPr>
          <p:cNvPr id="17" name="Text 11"/>
          <p:cNvSpPr/>
          <p:nvPr/>
        </p:nvSpPr>
        <p:spPr>
          <a:xfrm>
            <a:off x="1270564" y="5188049"/>
            <a:ext cx="2903068" cy="276920"/>
          </a:xfrm>
          <a:prstGeom prst="rect">
            <a:avLst/>
          </a:prstGeom>
          <a:noFill/>
          <a:ln/>
        </p:spPr>
        <p:txBody>
          <a:bodyPr wrap="none" lIns="0" tIns="0" rIns="0" bIns="0" rtlCol="0" anchor="t"/>
          <a:lstStyle/>
          <a:p>
            <a:pPr algn="l" indent="0" marL="0">
              <a:lnSpc>
                <a:spcPct val="104000"/>
              </a:lnSpc>
              <a:buNone/>
            </a:pPr>
            <a:r>
              <a:rPr lang="en-US" sz="1700" dirty="0">
                <a:solidFill>
                  <a:srgbClr val="3B3535"/>
                </a:solidFill>
                <a:latin typeface="Roboto Mono Medium" pitchFamily="34" charset="0"/>
                <a:ea typeface="Roboto Mono Medium" pitchFamily="34" charset="-122"/>
                <a:cs typeface="Roboto Mono Medium" pitchFamily="34" charset="-120"/>
              </a:rPr>
              <a:t>Contenidos flexibles</a:t>
            </a:r>
            <a:endParaRPr lang="en-US" sz="1700" dirty="0"/>
          </a:p>
        </p:txBody>
      </p:sp>
      <p:sp>
        <p:nvSpPr>
          <p:cNvPr id="18" name="Text 12"/>
          <p:cNvSpPr/>
          <p:nvPr/>
        </p:nvSpPr>
        <p:spPr>
          <a:xfrm>
            <a:off x="1270564" y="5544641"/>
            <a:ext cx="2903068" cy="496094"/>
          </a:xfrm>
          <a:prstGeom prst="rect">
            <a:avLst/>
          </a:prstGeom>
          <a:noFill/>
          <a:ln/>
        </p:spPr>
        <p:txBody>
          <a:bodyPr wrap="square" lIns="0" tIns="0" rIns="0" bIns="0" rtlCol="0" anchor="t">
            <a:normAutofit/>
          </a:bodyPr>
          <a:lstStyle/>
          <a:p>
            <a:pPr algn="l" indent="0" marL="0">
              <a:lnSpc>
                <a:spcPct val="117000"/>
              </a:lnSpc>
              <a:buNone/>
            </a:pPr>
            <a:r>
              <a:rPr lang="en-US" sz="1350" dirty="0">
                <a:solidFill>
                  <a:srgbClr val="3B3535"/>
                </a:solidFill>
                <a:latin typeface="Roboto" pitchFamily="34" charset="0"/>
                <a:ea typeface="Roboto" pitchFamily="34" charset="-122"/>
                <a:cs typeface="Roboto" pitchFamily="34" charset="-120"/>
              </a:rPr>
              <a:t>Ajustaremos la hoja de ruta según evolucionen las clases.</a:t>
            </a:r>
            <a:endParaRPr lang="en-US" sz="1350" dirty="0"/>
          </a:p>
        </p:txBody>
      </p:sp>
      <p:pic>
        <p:nvPicPr>
          <p:cNvPr id="1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39720" y="5188049"/>
            <a:ext cx="443001" cy="443012"/>
          </a:xfrm>
          <a:prstGeom prst="rect">
            <a:avLst/>
          </a:prstGeom>
        </p:spPr>
      </p:pic>
      <p:sp>
        <p:nvSpPr>
          <p:cNvPr id="20" name="Text 13"/>
          <p:cNvSpPr/>
          <p:nvPr/>
        </p:nvSpPr>
        <p:spPr>
          <a:xfrm>
            <a:off x="4948808" y="5188049"/>
            <a:ext cx="2903068" cy="276920"/>
          </a:xfrm>
          <a:prstGeom prst="rect">
            <a:avLst/>
          </a:prstGeom>
          <a:noFill/>
          <a:ln/>
        </p:spPr>
        <p:txBody>
          <a:bodyPr wrap="none" lIns="0" tIns="0" rIns="0" bIns="0" rtlCol="0" anchor="t"/>
          <a:lstStyle/>
          <a:p>
            <a:pPr algn="l" indent="0" marL="0">
              <a:lnSpc>
                <a:spcPct val="104000"/>
              </a:lnSpc>
              <a:buNone/>
            </a:pPr>
            <a:r>
              <a:rPr lang="en-US" sz="1700" dirty="0">
                <a:solidFill>
                  <a:srgbClr val="3B3535"/>
                </a:solidFill>
                <a:latin typeface="Roboto Mono Medium" pitchFamily="34" charset="0"/>
                <a:ea typeface="Roboto Mono Medium" pitchFamily="34" charset="-122"/>
                <a:cs typeface="Roboto Mono Medium" pitchFamily="34" charset="-120"/>
              </a:rPr>
              <a:t>IA Generativa</a:t>
            </a:r>
            <a:endParaRPr lang="en-US" sz="1700" dirty="0"/>
          </a:p>
        </p:txBody>
      </p:sp>
      <p:sp>
        <p:nvSpPr>
          <p:cNvPr id="21" name="Text 14"/>
          <p:cNvSpPr/>
          <p:nvPr/>
        </p:nvSpPr>
        <p:spPr>
          <a:xfrm>
            <a:off x="4948808" y="5544641"/>
            <a:ext cx="2903068" cy="496094"/>
          </a:xfrm>
          <a:prstGeom prst="rect">
            <a:avLst/>
          </a:prstGeom>
          <a:noFill/>
          <a:ln/>
        </p:spPr>
        <p:txBody>
          <a:bodyPr wrap="square" lIns="0" tIns="0" rIns="0" bIns="0" rtlCol="0" anchor="t">
            <a:normAutofit/>
          </a:bodyPr>
          <a:lstStyle/>
          <a:p>
            <a:pPr algn="l" indent="0" marL="0">
              <a:lnSpc>
                <a:spcPct val="117000"/>
              </a:lnSpc>
              <a:buNone/>
            </a:pPr>
            <a:r>
              <a:rPr lang="en-US" sz="1350" dirty="0">
                <a:solidFill>
                  <a:srgbClr val="3B3535"/>
                </a:solidFill>
                <a:latin typeface="Roboto" pitchFamily="34" charset="0"/>
                <a:ea typeface="Roboto" pitchFamily="34" charset="-122"/>
                <a:cs typeface="Roboto" pitchFamily="34" charset="-120"/>
              </a:rPr>
              <a:t>Foco principal: el área de mayor inversión actual.</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1884561"/>
            <a:ext cx="10868745" cy="738287"/>
          </a:xfrm>
          <a:prstGeom prst="rect">
            <a:avLst/>
          </a:prstGeom>
          <a:noFill/>
          <a:ln/>
        </p:spPr>
        <p:txBody>
          <a:bodyPr wrap="none" lIns="0" tIns="0" rIns="0" bIns="0" rtlCol="0" anchor="t"/>
          <a:lstStyle/>
          <a:p>
            <a:pPr algn="l" indent="0" marL="0">
              <a:lnSpc>
                <a:spcPct val="104000"/>
              </a:lnSpc>
              <a:buNone/>
            </a:pPr>
            <a:r>
              <a:rPr lang="en-US" sz="4650" dirty="0">
                <a:solidFill>
                  <a:srgbClr val="1F1E1E"/>
                </a:solidFill>
                <a:latin typeface="Roboto Mono Medium" pitchFamily="34" charset="0"/>
                <a:ea typeface="Roboto Mono Medium" pitchFamily="34" charset="-122"/>
                <a:cs typeface="Roboto Mono Medium" pitchFamily="34" charset="-120"/>
              </a:rPr>
              <a:t>Logística de la Materia</a:t>
            </a:r>
            <a:endParaRPr lang="en-US" sz="4650" dirty="0"/>
          </a:p>
        </p:txBody>
      </p:sp>
      <p:sp>
        <p:nvSpPr>
          <p:cNvPr id="3" name="Text 1"/>
          <p:cNvSpPr/>
          <p:nvPr/>
        </p:nvSpPr>
        <p:spPr>
          <a:xfrm>
            <a:off x="661475" y="2717304"/>
            <a:ext cx="10868745" cy="369193"/>
          </a:xfrm>
          <a:prstGeom prst="rect">
            <a:avLst/>
          </a:prstGeom>
          <a:noFill/>
          <a:ln/>
        </p:spPr>
        <p:txBody>
          <a:bodyPr wrap="none" lIns="0" tIns="0" rIns="0" bIns="0" rtlCol="0" anchor="t"/>
          <a:lstStyle/>
          <a:p>
            <a:pPr algn="l" indent="0" marL="0">
              <a:lnSpc>
                <a:spcPct val="104000"/>
              </a:lnSpc>
              <a:buNone/>
            </a:pPr>
            <a:r>
              <a:rPr lang="en-US" sz="2300" dirty="0">
                <a:solidFill>
                  <a:srgbClr val="1F1E1E"/>
                </a:solidFill>
                <a:latin typeface="Roboto Mono Medium" pitchFamily="34" charset="0"/>
                <a:ea typeface="Roboto Mono Medium" pitchFamily="34" charset="-122"/>
                <a:cs typeface="Roboto Mono Medium" pitchFamily="34" charset="-120"/>
              </a:rPr>
              <a:t>Todo lo que necesitás saber para arrancar</a:t>
            </a:r>
            <a:endParaRPr lang="en-US" sz="2300" dirty="0"/>
          </a:p>
        </p:txBody>
      </p:sp>
      <p:sp>
        <p:nvSpPr>
          <p:cNvPr id="4" name="Text 2"/>
          <p:cNvSpPr/>
          <p:nvPr/>
        </p:nvSpPr>
        <p:spPr>
          <a:xfrm>
            <a:off x="661475" y="3440906"/>
            <a:ext cx="11478330" cy="377924"/>
          </a:xfrm>
          <a:prstGeom prst="rect">
            <a:avLst/>
          </a:prstGeom>
          <a:noFill/>
          <a:ln/>
        </p:spPr>
        <p:txBody>
          <a:bodyPr wrap="none" lIns="0" tIns="0" rIns="0" bIns="0" rtlCol="0" anchor="t"/>
          <a:lstStyle/>
          <a:p>
            <a:pPr algn="l" indent="0" marL="0">
              <a:lnSpc>
                <a:spcPct val="133000"/>
              </a:lnSpc>
              <a:buNone/>
            </a:pPr>
            <a:endParaRPr lang="en-US" sz="18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4084638"/>
            <a:ext cx="590634" cy="590649"/>
          </a:xfrm>
          <a:prstGeom prst="rect">
            <a:avLst/>
          </a:prstGeom>
        </p:spPr>
      </p:pic>
      <p:sp>
        <p:nvSpPr>
          <p:cNvPr id="6" name="Text 3"/>
          <p:cNvSpPr/>
          <p:nvPr/>
        </p:nvSpPr>
        <p:spPr>
          <a:xfrm>
            <a:off x="1547377" y="4084638"/>
            <a:ext cx="2540135" cy="369193"/>
          </a:xfrm>
          <a:prstGeom prst="rect">
            <a:avLst/>
          </a:prstGeom>
          <a:noFill/>
          <a:ln/>
        </p:spPr>
        <p:txBody>
          <a:bodyPr wrap="none" lIns="0" tIns="0" rIns="0" bIns="0" rtlCol="0" anchor="t"/>
          <a:lstStyle/>
          <a:p>
            <a:pPr algn="l" indent="0" marL="0">
              <a:lnSpc>
                <a:spcPct val="104000"/>
              </a:lnSpc>
              <a:buNone/>
            </a:pPr>
            <a:r>
              <a:rPr lang="en-US" sz="2300" dirty="0">
                <a:solidFill>
                  <a:srgbClr val="3B3535"/>
                </a:solidFill>
                <a:latin typeface="Roboto Mono Medium" pitchFamily="34" charset="0"/>
                <a:ea typeface="Roboto Mono Medium" pitchFamily="34" charset="-122"/>
                <a:cs typeface="Roboto Mono Medium" pitchFamily="34" charset="-120"/>
              </a:rPr>
              <a:t>Estructura</a:t>
            </a:r>
            <a:endParaRPr lang="en-US" sz="2300" dirty="0"/>
          </a:p>
        </p:txBody>
      </p:sp>
      <p:sp>
        <p:nvSpPr>
          <p:cNvPr id="7" name="Text 4"/>
          <p:cNvSpPr/>
          <p:nvPr/>
        </p:nvSpPr>
        <p:spPr>
          <a:xfrm>
            <a:off x="1547377" y="4595515"/>
            <a:ext cx="2540135" cy="377924"/>
          </a:xfrm>
          <a:prstGeom prst="rect">
            <a:avLst/>
          </a:prstGeom>
          <a:noFill/>
          <a:ln/>
        </p:spPr>
        <p:txBody>
          <a:bodyPr wrap="none" lIns="0" tIns="0" rIns="0" bIns="0" rtlCol="0" anchor="t"/>
          <a:lstStyle/>
          <a:p>
            <a:pPr algn="l" indent="0" marL="0">
              <a:lnSpc>
                <a:spcPct val="133000"/>
              </a:lnSpc>
              <a:buNone/>
            </a:pPr>
            <a:endParaRPr lang="en-US" sz="185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82779" y="4084638"/>
            <a:ext cx="590634" cy="590649"/>
          </a:xfrm>
          <a:prstGeom prst="rect">
            <a:avLst/>
          </a:prstGeom>
        </p:spPr>
      </p:pic>
      <p:sp>
        <p:nvSpPr>
          <p:cNvPr id="9" name="Text 5"/>
          <p:cNvSpPr/>
          <p:nvPr/>
        </p:nvSpPr>
        <p:spPr>
          <a:xfrm>
            <a:off x="5268681" y="4084638"/>
            <a:ext cx="2540135" cy="369193"/>
          </a:xfrm>
          <a:prstGeom prst="rect">
            <a:avLst/>
          </a:prstGeom>
          <a:noFill/>
          <a:ln/>
        </p:spPr>
        <p:txBody>
          <a:bodyPr wrap="none" lIns="0" tIns="0" rIns="0" bIns="0" rtlCol="0" anchor="t"/>
          <a:lstStyle/>
          <a:p>
            <a:pPr algn="l" indent="0" marL="0">
              <a:lnSpc>
                <a:spcPct val="104000"/>
              </a:lnSpc>
              <a:buNone/>
            </a:pPr>
            <a:r>
              <a:rPr lang="en-US" sz="2300" dirty="0">
                <a:solidFill>
                  <a:srgbClr val="3B3535"/>
                </a:solidFill>
                <a:latin typeface="Roboto Mono Medium" pitchFamily="34" charset="0"/>
                <a:ea typeface="Roboto Mono Medium" pitchFamily="34" charset="-122"/>
                <a:cs typeface="Roboto Mono Medium" pitchFamily="34" charset="-120"/>
              </a:rPr>
              <a:t>Entregables</a:t>
            </a:r>
            <a:endParaRPr lang="en-US" sz="2300" dirty="0"/>
          </a:p>
        </p:txBody>
      </p:sp>
      <p:sp>
        <p:nvSpPr>
          <p:cNvPr id="10" name="Text 6"/>
          <p:cNvSpPr/>
          <p:nvPr/>
        </p:nvSpPr>
        <p:spPr>
          <a:xfrm>
            <a:off x="5268681" y="4595515"/>
            <a:ext cx="2540135" cy="377924"/>
          </a:xfrm>
          <a:prstGeom prst="rect">
            <a:avLst/>
          </a:prstGeom>
          <a:noFill/>
          <a:ln/>
        </p:spPr>
        <p:txBody>
          <a:bodyPr wrap="none" lIns="0" tIns="0" rIns="0" bIns="0" rtlCol="0" anchor="t"/>
          <a:lstStyle/>
          <a:p>
            <a:pPr algn="l" indent="0" marL="0">
              <a:lnSpc>
                <a:spcPct val="133000"/>
              </a:lnSpc>
              <a:buNone/>
            </a:pPr>
            <a:endParaRPr lang="en-US" sz="18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04084" y="4084638"/>
            <a:ext cx="590634" cy="590649"/>
          </a:xfrm>
          <a:prstGeom prst="rect">
            <a:avLst/>
          </a:prstGeom>
        </p:spPr>
      </p:pic>
      <p:sp>
        <p:nvSpPr>
          <p:cNvPr id="12" name="Text 7"/>
          <p:cNvSpPr/>
          <p:nvPr/>
        </p:nvSpPr>
        <p:spPr>
          <a:xfrm>
            <a:off x="8989986" y="4084638"/>
            <a:ext cx="2540135" cy="369193"/>
          </a:xfrm>
          <a:prstGeom prst="rect">
            <a:avLst/>
          </a:prstGeom>
          <a:noFill/>
          <a:ln/>
        </p:spPr>
        <p:txBody>
          <a:bodyPr wrap="none" lIns="0" tIns="0" rIns="0" bIns="0" rtlCol="0" anchor="t"/>
          <a:lstStyle/>
          <a:p>
            <a:pPr algn="l" indent="0" marL="0">
              <a:lnSpc>
                <a:spcPct val="104000"/>
              </a:lnSpc>
              <a:buNone/>
            </a:pPr>
            <a:r>
              <a:rPr lang="en-US" sz="2300" dirty="0">
                <a:solidFill>
                  <a:srgbClr val="3B3535"/>
                </a:solidFill>
                <a:latin typeface="Roboto Mono Medium" pitchFamily="34" charset="0"/>
                <a:ea typeface="Roboto Mono Medium" pitchFamily="34" charset="-122"/>
                <a:cs typeface="Roboto Mono Medium" pitchFamily="34" charset="-120"/>
              </a:rPr>
              <a:t>Trabajo Final</a:t>
            </a:r>
            <a:endParaRPr lang="en-US" sz="2300" dirty="0"/>
          </a:p>
        </p:txBody>
      </p:sp>
      <p:sp>
        <p:nvSpPr>
          <p:cNvPr id="13" name="Text 8"/>
          <p:cNvSpPr/>
          <p:nvPr/>
        </p:nvSpPr>
        <p:spPr>
          <a:xfrm>
            <a:off x="8989986" y="4595515"/>
            <a:ext cx="2540135" cy="377924"/>
          </a:xfrm>
          <a:prstGeom prst="rect">
            <a:avLst/>
          </a:prstGeom>
          <a:noFill/>
          <a:ln/>
        </p:spPr>
        <p:txBody>
          <a:bodyPr wrap="none" lIns="0" tIns="0" rIns="0" bIns="0" rtlCol="0" anchor="t"/>
          <a:lstStyle/>
          <a:p>
            <a:pPr algn="l" indent="0" marL="0">
              <a:lnSpc>
                <a:spcPct val="133000"/>
              </a:lnSpc>
              <a:buNone/>
            </a:pPr>
            <a:endParaRPr lang="en-US" sz="1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661475" y="854968"/>
            <a:ext cx="2600954" cy="358973"/>
          </a:xfrm>
          <a:prstGeom prst="roundRect">
            <a:avLst>
              <a:gd name="adj" fmla="val 2123"/>
            </a:avLst>
          </a:prstGeom>
          <a:solidFill>
            <a:srgbClr val="F9D2D6"/>
          </a:solidFill>
          <a:ln/>
        </p:spPr>
      </p:sp>
      <p:sp>
        <p:nvSpPr>
          <p:cNvPr id="3" name="Text 1"/>
          <p:cNvSpPr/>
          <p:nvPr/>
        </p:nvSpPr>
        <p:spPr>
          <a:xfrm>
            <a:off x="803156" y="925810"/>
            <a:ext cx="2927178" cy="217289"/>
          </a:xfrm>
          <a:prstGeom prst="rect">
            <a:avLst/>
          </a:prstGeom>
          <a:noFill/>
          <a:ln/>
        </p:spPr>
        <p:txBody>
          <a:bodyPr wrap="none" lIns="0" tIns="0" rIns="0" bIns="0" rtlCol="0" anchor="t"/>
          <a:lstStyle/>
          <a:p>
            <a:pPr algn="l" indent="0" marL="0">
              <a:lnSpc>
                <a:spcPct val="96000"/>
              </a:lnSpc>
              <a:buNone/>
            </a:pPr>
            <a:r>
              <a:rPr lang="en-US" sz="1450" dirty="0">
                <a:solidFill>
                  <a:srgbClr val="3B3535"/>
                </a:solidFill>
                <a:latin typeface="Roboto" pitchFamily="34" charset="0"/>
                <a:ea typeface="Roboto" pitchFamily="34" charset="-122"/>
                <a:cs typeface="Roboto" pitchFamily="34" charset="-120"/>
              </a:rPr>
              <a:t>LOGÍSTICA DE LA MATERIA</a:t>
            </a:r>
            <a:endParaRPr lang="en-US" sz="1450" dirty="0"/>
          </a:p>
        </p:txBody>
      </p:sp>
      <p:sp>
        <p:nvSpPr>
          <p:cNvPr id="4" name="Text 2"/>
          <p:cNvSpPr/>
          <p:nvPr/>
        </p:nvSpPr>
        <p:spPr>
          <a:xfrm>
            <a:off x="661475" y="1308398"/>
            <a:ext cx="10868745" cy="738287"/>
          </a:xfrm>
          <a:prstGeom prst="rect">
            <a:avLst/>
          </a:prstGeom>
          <a:noFill/>
          <a:ln/>
        </p:spPr>
        <p:txBody>
          <a:bodyPr wrap="none" lIns="0" tIns="0" rIns="0" bIns="0" rtlCol="0" anchor="t"/>
          <a:lstStyle/>
          <a:p>
            <a:pPr algn="l" indent="0" marL="0">
              <a:lnSpc>
                <a:spcPct val="104000"/>
              </a:lnSpc>
              <a:buNone/>
            </a:pPr>
            <a:r>
              <a:rPr lang="en-US" sz="4650" dirty="0">
                <a:solidFill>
                  <a:srgbClr val="1F1E1E"/>
                </a:solidFill>
                <a:latin typeface="Roboto Mono Medium" pitchFamily="34" charset="0"/>
                <a:ea typeface="Roboto Mono Medium" pitchFamily="34" charset="-122"/>
                <a:cs typeface="Roboto Mono Medium" pitchFamily="34" charset="-120"/>
              </a:rPr>
              <a:t>Estructura de Clases</a:t>
            </a:r>
            <a:endParaRPr lang="en-US" sz="4650" dirty="0"/>
          </a:p>
        </p:txBody>
      </p:sp>
      <p:sp>
        <p:nvSpPr>
          <p:cNvPr id="5" name="Text 3"/>
          <p:cNvSpPr/>
          <p:nvPr/>
        </p:nvSpPr>
        <p:spPr>
          <a:xfrm>
            <a:off x="661475" y="2401094"/>
            <a:ext cx="10868745" cy="3601938"/>
          </a:xfrm>
          <a:prstGeom prst="rect">
            <a:avLst/>
          </a:prstGeom>
          <a:noFill/>
          <a:ln/>
        </p:spPr>
        <p:txBody>
          <a:bodyPr wrap="square" lIns="0" tIns="0" rIns="0" bIns="0" rtlCol="0" anchor="t">
            <a:normAutofit/>
          </a:bodyPr>
          <a:lstStyle/>
          <a:p>
            <a:pPr algn="l" marL="375920" indent="-375920">
              <a:lnSpc>
                <a:spcPct val="133000"/>
              </a:lnSpc>
              <a:buSzPct val="100000"/>
              <a:buChar char="•"/>
            </a:pPr>
            <a:r>
              <a:rPr lang="en-US" sz="1850" dirty="0">
                <a:solidFill>
                  <a:srgbClr val="3B3535"/>
                </a:solidFill>
                <a:latin typeface="Roboto" pitchFamily="34" charset="0"/>
                <a:ea typeface="Roboto" pitchFamily="34" charset="-122"/>
                <a:cs typeface="Roboto" pitchFamily="34" charset="-120"/>
              </a:rPr>
              <a:t>14 clases, los días miercoles de 16:00 a 18:30 en el aula A11</a:t>
            </a:r>
            <a:endParaRPr lang="en-US" sz="1850" dirty="0"/>
          </a:p>
          <a:p>
            <a:pPr algn="l" marL="375920" indent="-375920">
              <a:lnSpc>
                <a:spcPct val="133000"/>
              </a:lnSpc>
              <a:buSzPct val="100000"/>
              <a:buChar char="•"/>
            </a:pPr>
            <a:r>
              <a:rPr lang="en-US" sz="1850" dirty="0">
                <a:solidFill>
                  <a:srgbClr val="3B3535"/>
                </a:solidFill>
                <a:latin typeface="Roboto" pitchFamily="34" charset="0"/>
                <a:ea typeface="Roboto" pitchFamily="34" charset="-122"/>
                <a:cs typeface="Roboto" pitchFamily="34" charset="-120"/>
              </a:rPr>
              <a:t>Cada clase tiene dos partes:</a:t>
            </a:r>
            <a:endParaRPr lang="en-US" sz="1850" dirty="0"/>
          </a:p>
          <a:p>
            <a:pPr algn="l" lvl="1" marL="751840" indent="-375920">
              <a:lnSpc>
                <a:spcPct val="133000"/>
              </a:lnSpc>
              <a:buSzPct val="100000"/>
              <a:buChar char="◦"/>
            </a:pPr>
            <a:r>
              <a:rPr lang="en-US" sz="1850" dirty="0">
                <a:solidFill>
                  <a:srgbClr val="3B3535"/>
                </a:solidFill>
                <a:latin typeface="Roboto" pitchFamily="34" charset="0"/>
                <a:ea typeface="Roboto" pitchFamily="34" charset="-122"/>
                <a:cs typeface="Roboto" pitchFamily="34" charset="-120"/>
              </a:rPr>
              <a:t>Teoría: conceptos clave.</a:t>
            </a:r>
            <a:endParaRPr lang="en-US" sz="1850" dirty="0"/>
          </a:p>
          <a:p>
            <a:pPr algn="l" lvl="1" marL="751840" indent="-375920">
              <a:lnSpc>
                <a:spcPct val="133000"/>
              </a:lnSpc>
              <a:buSzPct val="100000"/>
              <a:buChar char="◦"/>
            </a:pPr>
            <a:r>
              <a:rPr lang="en-US" sz="1850" dirty="0">
                <a:solidFill>
                  <a:srgbClr val="3B3535"/>
                </a:solidFill>
                <a:latin typeface="Roboto" pitchFamily="34" charset="0"/>
                <a:ea typeface="Roboto" pitchFamily="34" charset="-122"/>
                <a:cs typeface="Roboto" pitchFamily="34" charset="-120"/>
              </a:rPr>
              <a:t>Práctica (hands-on): traigan sus laptops. Usaremos </a:t>
            </a:r>
            <a:pPr algn="l" lvl="1" marL="751840" indent="-375920">
              <a:lnSpc>
                <a:spcPct val="133000"/>
              </a:lnSpc>
              <a:buSzPct val="100000"/>
              <a:buChar char="◦"/>
            </a:pPr>
            <a:r>
              <a:rPr lang="en-US" sz="1850" b="1" u="sng" dirty="0">
                <a:solidFill>
                  <a:srgbClr val="DA1B2E"/>
                </a:solidFill>
                <a:latin typeface="Roboto Bold" pitchFamily="34" charset="0"/>
                <a:ea typeface="Roboto Bold" pitchFamily="34" charset="-122"/>
                <a:cs typeface="Roboto Bold"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https://aitutorial.dev/</a:t>
            </a:r>
            <a:endParaRPr lang="en-US" sz="1850" dirty="0"/>
          </a:p>
          <a:p>
            <a:pPr algn="l" marL="375920" indent="-375920">
              <a:lnSpc>
                <a:spcPct val="133000"/>
              </a:lnSpc>
              <a:buSzPct val="100000"/>
              <a:buChar char="•"/>
            </a:pPr>
            <a:r>
              <a:rPr lang="en-US" sz="1850" dirty="0">
                <a:solidFill>
                  <a:srgbClr val="3B3535"/>
                </a:solidFill>
                <a:latin typeface="Roboto" pitchFamily="34" charset="0"/>
                <a:ea typeface="Roboto" pitchFamily="34" charset="-122"/>
                <a:cs typeface="Roboto" pitchFamily="34" charset="-120"/>
              </a:rPr>
              <a:t>Clases participativas: queremos diálogo, no monólogo.</a:t>
            </a:r>
            <a:endParaRPr lang="en-US" sz="1850" dirty="0"/>
          </a:p>
          <a:p>
            <a:pPr algn="l" marL="375920" indent="-375920">
              <a:lnSpc>
                <a:spcPct val="133000"/>
              </a:lnSpc>
              <a:buSzPct val="100000"/>
              <a:buChar char="•"/>
            </a:pPr>
            <a:r>
              <a:rPr lang="en-US" sz="1850" u="sng" dirty="0">
                <a:solidFill>
                  <a:srgbClr val="3B3535"/>
                </a:solidFill>
                <a:latin typeface="Roboto" pitchFamily="34" charset="0"/>
                <a:ea typeface="Roboto" pitchFamily="34" charset="-122"/>
                <a:cs typeface="Roboto" pitchFamily="34" charset="-120"/>
              </a:rPr>
              <a:t>Cada dos clases habrá un entregable práctico.</a:t>
            </a:r>
            <a:endParaRPr lang="en-US" sz="1850" dirty="0"/>
          </a:p>
          <a:p>
            <a:pPr algn="l" marL="375920" indent="-375920">
              <a:lnSpc>
                <a:spcPct val="133000"/>
              </a:lnSpc>
              <a:buSzPct val="100000"/>
              <a:buChar char="•"/>
            </a:pPr>
            <a:r>
              <a:rPr lang="en-US" sz="1850" dirty="0">
                <a:solidFill>
                  <a:srgbClr val="3B3535"/>
                </a:solidFill>
                <a:latin typeface="Roboto" pitchFamily="34" charset="0"/>
                <a:ea typeface="Roboto" pitchFamily="34" charset="-122"/>
                <a:cs typeface="Roboto" pitchFamily="34" charset="-120"/>
              </a:rPr>
              <a:t>Presencia activa requerida. Computadoras cerradas salvo excepciones.</a:t>
            </a:r>
            <a:endParaRPr lang="en-US" sz="1850" dirty="0"/>
          </a:p>
          <a:p>
            <a:pPr algn="l" marL="375920" indent="-375920">
              <a:lnSpc>
                <a:spcPct val="133000"/>
              </a:lnSpc>
              <a:buSzPct val="100000"/>
              <a:buChar char="•"/>
            </a:pPr>
            <a:r>
              <a:rPr lang="en-US" sz="1850" dirty="0">
                <a:solidFill>
                  <a:srgbClr val="3B3535"/>
                </a:solidFill>
                <a:latin typeface="Roboto" pitchFamily="34" charset="0"/>
                <a:ea typeface="Roboto" pitchFamily="34" charset="-122"/>
                <a:cs typeface="Roboto" pitchFamily="34" charset="-120"/>
              </a:rPr>
              <a:t>Nota final: </a:t>
            </a:r>
            <a:pPr algn="l" marL="375920" indent="-375920">
              <a:lnSpc>
                <a:spcPct val="133000"/>
              </a:lnSpc>
              <a:buSzPct val="100000"/>
              <a:buChar char="•"/>
            </a:pPr>
            <a:r>
              <a:rPr lang="en-US" sz="1850" i="1" dirty="0">
                <a:solidFill>
                  <a:srgbClr val="3B3535"/>
                </a:solidFill>
                <a:latin typeface="Roboto" pitchFamily="34" charset="0"/>
                <a:ea typeface="Roboto" pitchFamily="34" charset="-122"/>
                <a:cs typeface="Roboto" pitchFamily="34" charset="-120"/>
              </a:rPr>
              <a:t>40% entregables de clase + 60% trabajo final.</a:t>
            </a:r>
            <a:endParaRPr lang="en-US" sz="1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661475" y="1085255"/>
            <a:ext cx="2600954" cy="358973"/>
          </a:xfrm>
          <a:prstGeom prst="roundRect">
            <a:avLst>
              <a:gd name="adj" fmla="val 2123"/>
            </a:avLst>
          </a:prstGeom>
          <a:solidFill>
            <a:srgbClr val="F9D2D6"/>
          </a:solidFill>
          <a:ln/>
        </p:spPr>
      </p:sp>
      <p:sp>
        <p:nvSpPr>
          <p:cNvPr id="3" name="Text 1"/>
          <p:cNvSpPr/>
          <p:nvPr/>
        </p:nvSpPr>
        <p:spPr>
          <a:xfrm>
            <a:off x="803156" y="1156097"/>
            <a:ext cx="2927178" cy="217289"/>
          </a:xfrm>
          <a:prstGeom prst="rect">
            <a:avLst/>
          </a:prstGeom>
          <a:noFill/>
          <a:ln/>
        </p:spPr>
        <p:txBody>
          <a:bodyPr wrap="none" lIns="0" tIns="0" rIns="0" bIns="0" rtlCol="0" anchor="t"/>
          <a:lstStyle/>
          <a:p>
            <a:pPr algn="l" indent="0" marL="0">
              <a:lnSpc>
                <a:spcPct val="96000"/>
              </a:lnSpc>
              <a:buNone/>
            </a:pPr>
            <a:r>
              <a:rPr lang="en-US" sz="1450" dirty="0">
                <a:solidFill>
                  <a:srgbClr val="3B3535"/>
                </a:solidFill>
                <a:latin typeface="Roboto" pitchFamily="34" charset="0"/>
                <a:ea typeface="Roboto" pitchFamily="34" charset="-122"/>
                <a:cs typeface="Roboto" pitchFamily="34" charset="-120"/>
              </a:rPr>
              <a:t>LOGÍSTICA DE LA MATERIA</a:t>
            </a:r>
            <a:endParaRPr lang="en-US" sz="1450" dirty="0"/>
          </a:p>
        </p:txBody>
      </p:sp>
      <p:sp>
        <p:nvSpPr>
          <p:cNvPr id="4" name="Text 2"/>
          <p:cNvSpPr/>
          <p:nvPr/>
        </p:nvSpPr>
        <p:spPr>
          <a:xfrm>
            <a:off x="661475" y="1538684"/>
            <a:ext cx="10868745" cy="738287"/>
          </a:xfrm>
          <a:prstGeom prst="rect">
            <a:avLst/>
          </a:prstGeom>
          <a:noFill/>
          <a:ln/>
        </p:spPr>
        <p:txBody>
          <a:bodyPr wrap="none" lIns="0" tIns="0" rIns="0" bIns="0" rtlCol="0" anchor="t"/>
          <a:lstStyle/>
          <a:p>
            <a:pPr algn="l" indent="0" marL="0">
              <a:lnSpc>
                <a:spcPct val="104000"/>
              </a:lnSpc>
              <a:buNone/>
            </a:pPr>
            <a:r>
              <a:rPr lang="en-US" sz="4650" dirty="0">
                <a:solidFill>
                  <a:srgbClr val="1F1E1E"/>
                </a:solidFill>
                <a:latin typeface="Roboto Mono Medium" pitchFamily="34" charset="0"/>
                <a:ea typeface="Roboto Mono Medium" pitchFamily="34" charset="-122"/>
                <a:cs typeface="Roboto Mono Medium" pitchFamily="34" charset="-120"/>
              </a:rPr>
              <a:t>Entregables de Clase</a:t>
            </a:r>
            <a:endParaRPr lang="en-US" sz="4650" dirty="0"/>
          </a:p>
        </p:txBody>
      </p:sp>
      <p:sp>
        <p:nvSpPr>
          <p:cNvPr id="5" name="Text 3"/>
          <p:cNvSpPr/>
          <p:nvPr/>
        </p:nvSpPr>
        <p:spPr>
          <a:xfrm>
            <a:off x="661475" y="2631380"/>
            <a:ext cx="10868745" cy="3141365"/>
          </a:xfrm>
          <a:prstGeom prst="rect">
            <a:avLst/>
          </a:prstGeom>
          <a:noFill/>
          <a:ln/>
        </p:spPr>
        <p:txBody>
          <a:bodyPr wrap="square" lIns="0" tIns="0" rIns="0" bIns="0" rtlCol="0" anchor="t">
            <a:normAutofit/>
          </a:bodyPr>
          <a:lstStyle/>
          <a:p>
            <a:pPr algn="l" marL="375920" indent="-375920">
              <a:lnSpc>
                <a:spcPct val="133000"/>
              </a:lnSpc>
              <a:buSzPct val="100000"/>
              <a:buChar char="•"/>
            </a:pPr>
            <a:r>
              <a:rPr lang="en-US" sz="1850" dirty="0">
                <a:solidFill>
                  <a:srgbClr val="3B3535"/>
                </a:solidFill>
                <a:latin typeface="Roboto" pitchFamily="34" charset="0"/>
                <a:ea typeface="Roboto" pitchFamily="34" charset="-122"/>
                <a:cs typeface="Roboto" pitchFamily="34" charset="-120"/>
              </a:rPr>
              <a:t>Uno cada dos clases, relacionado con temas vistos.</a:t>
            </a:r>
            <a:endParaRPr lang="en-US" sz="1850" dirty="0"/>
          </a:p>
          <a:p>
            <a:pPr algn="l" marL="375920" indent="-375920">
              <a:lnSpc>
                <a:spcPct val="133000"/>
              </a:lnSpc>
              <a:buSzPct val="100000"/>
              <a:buChar char="•"/>
            </a:pPr>
            <a:r>
              <a:rPr lang="en-US" sz="1850" dirty="0">
                <a:solidFill>
                  <a:srgbClr val="3B3535"/>
                </a:solidFill>
                <a:latin typeface="Roboto" pitchFamily="34" charset="0"/>
                <a:ea typeface="Roboto" pitchFamily="34" charset="-122"/>
                <a:cs typeface="Roboto" pitchFamily="34" charset="-120"/>
              </a:rPr>
              <a:t>En grupos de 2 personas.</a:t>
            </a:r>
            <a:endParaRPr lang="en-US" sz="1850" dirty="0"/>
          </a:p>
          <a:p>
            <a:pPr algn="l" marL="375920" indent="-375920">
              <a:lnSpc>
                <a:spcPct val="133000"/>
              </a:lnSpc>
              <a:buSzPct val="100000"/>
              <a:buChar char="•"/>
            </a:pPr>
            <a:r>
              <a:rPr lang="en-US" sz="1850" dirty="0">
                <a:solidFill>
                  <a:srgbClr val="3B3535"/>
                </a:solidFill>
                <a:latin typeface="Roboto" pitchFamily="34" charset="0"/>
                <a:ea typeface="Roboto" pitchFamily="34" charset="-122"/>
                <a:cs typeface="Roboto" pitchFamily="34" charset="-120"/>
              </a:rPr>
              <a:t>Valen 40% de la nota final.</a:t>
            </a:r>
            <a:endParaRPr lang="en-US" sz="1850" dirty="0"/>
          </a:p>
          <a:p>
            <a:pPr algn="l" marL="375920" indent="-375920">
              <a:lnSpc>
                <a:spcPct val="133000"/>
              </a:lnSpc>
              <a:buSzPct val="100000"/>
              <a:buChar char="•"/>
            </a:pPr>
            <a:r>
              <a:rPr lang="en-US" sz="1850" dirty="0">
                <a:solidFill>
                  <a:srgbClr val="3B3535"/>
                </a:solidFill>
                <a:latin typeface="Roboto" pitchFamily="34" charset="0"/>
                <a:ea typeface="Roboto" pitchFamily="34" charset="-122"/>
                <a:cs typeface="Roboto" pitchFamily="34" charset="-120"/>
              </a:rPr>
              <a:t>Gran parte del trabajo se completa en clase.</a:t>
            </a:r>
            <a:endParaRPr lang="en-US" sz="1850" dirty="0"/>
          </a:p>
          <a:p>
            <a:pPr algn="l" marL="375920" indent="-375920">
              <a:lnSpc>
                <a:spcPct val="133000"/>
              </a:lnSpc>
              <a:buSzPct val="100000"/>
              <a:buChar char="•"/>
            </a:pPr>
            <a:r>
              <a:rPr lang="en-US" sz="1850" dirty="0">
                <a:solidFill>
                  <a:srgbClr val="3B3535"/>
                </a:solidFill>
                <a:latin typeface="Roboto" pitchFamily="34" charset="0"/>
                <a:ea typeface="Roboto" pitchFamily="34" charset="-122"/>
                <a:cs typeface="Roboto" pitchFamily="34" charset="-120"/>
              </a:rPr>
              <a:t>Entrega: antes del viernes siguiente vía repositorio GitHub.</a:t>
            </a:r>
            <a:endParaRPr lang="en-US" sz="1850" dirty="0"/>
          </a:p>
          <a:p>
            <a:pPr algn="l" marL="375920" indent="-375920">
              <a:lnSpc>
                <a:spcPct val="133000"/>
              </a:lnSpc>
              <a:buSzPct val="100000"/>
              <a:buChar char="•"/>
            </a:pPr>
            <a:r>
              <a:rPr lang="en-US" sz="1850" dirty="0">
                <a:solidFill>
                  <a:srgbClr val="3B3535"/>
                </a:solidFill>
                <a:latin typeface="Roboto" pitchFamily="34" charset="0"/>
                <a:ea typeface="Roboto" pitchFamily="34" charset="-122"/>
                <a:cs typeface="Roboto" pitchFamily="34" charset="-120"/>
              </a:rPr>
              <a:t>Todos los entregables son obligatorios.</a:t>
            </a:r>
            <a:endParaRPr lang="en-US" sz="1850" dirty="0"/>
          </a:p>
          <a:p>
            <a:pPr algn="l" marL="375920" indent="-375920">
              <a:lnSpc>
                <a:spcPct val="133000"/>
              </a:lnSpc>
              <a:buSzPct val="100000"/>
              <a:buChar char="•"/>
            </a:pPr>
            <a:r>
              <a:rPr lang="en-US" sz="1850" dirty="0">
                <a:solidFill>
                  <a:srgbClr val="3B3535"/>
                </a:solidFill>
                <a:latin typeface="Roboto" pitchFamily="34" charset="0"/>
                <a:ea typeface="Roboto" pitchFamily="34" charset="-122"/>
                <a:cs typeface="Roboto" pitchFamily="34" charset="-120"/>
              </a:rPr>
              <a:t>Entregas tardías impactan la nota.</a:t>
            </a:r>
            <a:endParaRPr lang="en-US" sz="1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661475" y="1126530"/>
            <a:ext cx="2600954" cy="358973"/>
          </a:xfrm>
          <a:prstGeom prst="roundRect">
            <a:avLst>
              <a:gd name="adj" fmla="val 2123"/>
            </a:avLst>
          </a:prstGeom>
          <a:solidFill>
            <a:srgbClr val="F9D2D6"/>
          </a:solidFill>
          <a:ln/>
        </p:spPr>
      </p:sp>
      <p:sp>
        <p:nvSpPr>
          <p:cNvPr id="3" name="Text 1"/>
          <p:cNvSpPr/>
          <p:nvPr/>
        </p:nvSpPr>
        <p:spPr>
          <a:xfrm>
            <a:off x="803156" y="1197372"/>
            <a:ext cx="2927178" cy="217289"/>
          </a:xfrm>
          <a:prstGeom prst="rect">
            <a:avLst/>
          </a:prstGeom>
          <a:noFill/>
          <a:ln/>
        </p:spPr>
        <p:txBody>
          <a:bodyPr wrap="none" lIns="0" tIns="0" rIns="0" bIns="0" rtlCol="0" anchor="t"/>
          <a:lstStyle/>
          <a:p>
            <a:pPr algn="l" indent="0" marL="0">
              <a:lnSpc>
                <a:spcPct val="96000"/>
              </a:lnSpc>
              <a:buNone/>
            </a:pPr>
            <a:r>
              <a:rPr lang="en-US" sz="1450" dirty="0">
                <a:solidFill>
                  <a:srgbClr val="3B3535"/>
                </a:solidFill>
                <a:latin typeface="Roboto" pitchFamily="34" charset="0"/>
                <a:ea typeface="Roboto" pitchFamily="34" charset="-122"/>
                <a:cs typeface="Roboto" pitchFamily="34" charset="-120"/>
              </a:rPr>
              <a:t>LOGÍSTICA DE LA MATERIA</a:t>
            </a:r>
            <a:endParaRPr lang="en-US" sz="1450" dirty="0"/>
          </a:p>
        </p:txBody>
      </p:sp>
      <p:sp>
        <p:nvSpPr>
          <p:cNvPr id="4" name="Text 2"/>
          <p:cNvSpPr/>
          <p:nvPr/>
        </p:nvSpPr>
        <p:spPr>
          <a:xfrm>
            <a:off x="661475" y="1579959"/>
            <a:ext cx="10868745" cy="738287"/>
          </a:xfrm>
          <a:prstGeom prst="rect">
            <a:avLst/>
          </a:prstGeom>
          <a:noFill/>
          <a:ln/>
        </p:spPr>
        <p:txBody>
          <a:bodyPr wrap="none" lIns="0" tIns="0" rIns="0" bIns="0" rtlCol="0" anchor="t"/>
          <a:lstStyle/>
          <a:p>
            <a:pPr algn="l" indent="0" marL="0">
              <a:lnSpc>
                <a:spcPct val="104000"/>
              </a:lnSpc>
              <a:buNone/>
            </a:pPr>
            <a:r>
              <a:rPr lang="en-US" sz="4650" dirty="0">
                <a:solidFill>
                  <a:srgbClr val="1F1E1E"/>
                </a:solidFill>
                <a:latin typeface="Roboto Mono Medium" pitchFamily="34" charset="0"/>
                <a:ea typeface="Roboto Mono Medium" pitchFamily="34" charset="-122"/>
                <a:cs typeface="Roboto Mono Medium" pitchFamily="34" charset="-120"/>
              </a:rPr>
              <a:t>Trabajo Final</a:t>
            </a:r>
            <a:endParaRPr lang="en-US" sz="4650" dirty="0"/>
          </a:p>
        </p:txBody>
      </p:sp>
      <p:sp>
        <p:nvSpPr>
          <p:cNvPr id="5" name="Text 3"/>
          <p:cNvSpPr/>
          <p:nvPr/>
        </p:nvSpPr>
        <p:spPr>
          <a:xfrm>
            <a:off x="661475" y="2672655"/>
            <a:ext cx="10868745" cy="3058716"/>
          </a:xfrm>
          <a:prstGeom prst="rect">
            <a:avLst/>
          </a:prstGeom>
          <a:noFill/>
          <a:ln/>
        </p:spPr>
        <p:txBody>
          <a:bodyPr wrap="square" lIns="0" tIns="0" rIns="0" bIns="0" rtlCol="0" anchor="t">
            <a:normAutofit/>
          </a:bodyPr>
          <a:lstStyle/>
          <a:p>
            <a:pPr algn="l" marL="375920" indent="-375920">
              <a:lnSpc>
                <a:spcPct val="133000"/>
              </a:lnSpc>
              <a:buSzPct val="100000"/>
              <a:buChar char="•"/>
            </a:pPr>
            <a:r>
              <a:rPr lang="en-US" sz="1850" dirty="0">
                <a:solidFill>
                  <a:srgbClr val="3B3535"/>
                </a:solidFill>
                <a:latin typeface="Roboto" pitchFamily="34" charset="0"/>
                <a:ea typeface="Roboto" pitchFamily="34" charset="-122"/>
                <a:cs typeface="Roboto" pitchFamily="34" charset="-120"/>
              </a:rPr>
              <a:t>Propuesta propia aplicando los conceptos de la materia. Vamos a prover guidance sobre el scope del mismo.</a:t>
            </a:r>
            <a:endParaRPr lang="en-US" sz="1850" dirty="0"/>
          </a:p>
          <a:p>
            <a:pPr algn="l" marL="375920" indent="-375920">
              <a:lnSpc>
                <a:spcPct val="133000"/>
              </a:lnSpc>
              <a:buSzPct val="100000"/>
              <a:buChar char="•"/>
            </a:pPr>
            <a:r>
              <a:rPr lang="en-US" sz="1850" dirty="0">
                <a:solidFill>
                  <a:srgbClr val="3B3535"/>
                </a:solidFill>
                <a:latin typeface="Roboto" pitchFamily="34" charset="0"/>
                <a:ea typeface="Roboto" pitchFamily="34" charset="-122"/>
                <a:cs typeface="Roboto" pitchFamily="34" charset="-120"/>
              </a:rPr>
              <a:t>Equipos de 2 personas.</a:t>
            </a:r>
            <a:endParaRPr lang="en-US" sz="1850" dirty="0"/>
          </a:p>
          <a:p>
            <a:pPr algn="l" marL="375920" indent="-375920">
              <a:lnSpc>
                <a:spcPct val="133000"/>
              </a:lnSpc>
              <a:buSzPct val="100000"/>
              <a:buChar char="•"/>
            </a:pPr>
            <a:r>
              <a:rPr lang="en-US" sz="1850" dirty="0">
                <a:solidFill>
                  <a:srgbClr val="3B3535"/>
                </a:solidFill>
                <a:latin typeface="Roboto" pitchFamily="34" charset="0"/>
                <a:ea typeface="Roboto" pitchFamily="34" charset="-122"/>
                <a:cs typeface="Roboto" pitchFamily="34" charset="-120"/>
              </a:rPr>
              <a:t>Entregables:</a:t>
            </a:r>
            <a:endParaRPr lang="en-US" sz="1850" dirty="0"/>
          </a:p>
          <a:p>
            <a:pPr algn="l" lvl="1" marL="751840" indent="-375920">
              <a:lnSpc>
                <a:spcPct val="133000"/>
              </a:lnSpc>
              <a:buSzPct val="100000"/>
              <a:buChar char="◦"/>
            </a:pPr>
            <a:r>
              <a:rPr lang="en-US" sz="1850" dirty="0">
                <a:solidFill>
                  <a:srgbClr val="3B3535"/>
                </a:solidFill>
                <a:latin typeface="Roboto" pitchFamily="34" charset="0"/>
                <a:ea typeface="Roboto" pitchFamily="34" charset="-122"/>
                <a:cs typeface="Roboto" pitchFamily="34" charset="-120"/>
              </a:rPr>
              <a:t>Video en Loom de 10 min: valor de negocio, desafío técnico y aprendizajes.</a:t>
            </a:r>
            <a:endParaRPr lang="en-US" sz="1850" dirty="0"/>
          </a:p>
          <a:p>
            <a:pPr algn="l" lvl="1" marL="751840" indent="-375920">
              <a:lnSpc>
                <a:spcPct val="133000"/>
              </a:lnSpc>
              <a:buSzPct val="100000"/>
              <a:buChar char="◦"/>
            </a:pPr>
            <a:r>
              <a:rPr lang="en-US" sz="1850" dirty="0">
                <a:solidFill>
                  <a:srgbClr val="3B3535"/>
                </a:solidFill>
                <a:latin typeface="Roboto" pitchFamily="34" charset="0"/>
                <a:ea typeface="Roboto" pitchFamily="34" charset="-122"/>
                <a:cs typeface="Roboto" pitchFamily="34" charset="-120"/>
              </a:rPr>
              <a:t>Código deployado en GitHub, ejecutable con set de prueba.</a:t>
            </a:r>
            <a:endParaRPr lang="en-US" sz="1850" dirty="0"/>
          </a:p>
          <a:p>
            <a:pPr algn="l" marL="375920" indent="-375920">
              <a:lnSpc>
                <a:spcPct val="133000"/>
              </a:lnSpc>
              <a:buSzPct val="100000"/>
              <a:buChar char="•"/>
            </a:pPr>
            <a:r>
              <a:rPr lang="en-US" sz="1850" dirty="0">
                <a:solidFill>
                  <a:srgbClr val="3B3535"/>
                </a:solidFill>
                <a:latin typeface="Roboto" pitchFamily="34" charset="0"/>
                <a:ea typeface="Roboto" pitchFamily="34" charset="-122"/>
                <a:cs typeface="Roboto" pitchFamily="34" charset="-120"/>
              </a:rPr>
              <a:t>Más detalles a mitad de la cursada.</a:t>
            </a:r>
            <a:endParaRPr lang="en-US" sz="1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61475" y="718939"/>
            <a:ext cx="10868745" cy="738287"/>
          </a:xfrm>
          <a:prstGeom prst="rect">
            <a:avLst/>
          </a:prstGeom>
          <a:noFill/>
          <a:ln/>
        </p:spPr>
        <p:txBody>
          <a:bodyPr wrap="none" lIns="0" tIns="0" rIns="0" bIns="0" rtlCol="0" anchor="t"/>
          <a:lstStyle/>
          <a:p>
            <a:pPr algn="l" indent="0" marL="0">
              <a:lnSpc>
                <a:spcPct val="104000"/>
              </a:lnSpc>
              <a:buNone/>
            </a:pPr>
            <a:r>
              <a:rPr lang="en-US" sz="4650" dirty="0">
                <a:solidFill>
                  <a:srgbClr val="1F1E1E"/>
                </a:solidFill>
                <a:latin typeface="Roboto Mono Medium" pitchFamily="34" charset="0"/>
                <a:ea typeface="Roboto Mono Medium" pitchFamily="34" charset="-122"/>
                <a:cs typeface="Roboto Mono Medium" pitchFamily="34" charset="-120"/>
              </a:rPr>
              <a:t>Contenidos de la Materia</a:t>
            </a:r>
            <a:endParaRPr lang="en-US" sz="4650" dirty="0"/>
          </a:p>
        </p:txBody>
      </p:sp>
      <p:sp>
        <p:nvSpPr>
          <p:cNvPr id="3" name="Text 1"/>
          <p:cNvSpPr/>
          <p:nvPr/>
        </p:nvSpPr>
        <p:spPr>
          <a:xfrm>
            <a:off x="661475" y="1929705"/>
            <a:ext cx="472468" cy="295275"/>
          </a:xfrm>
          <a:prstGeom prst="rect">
            <a:avLst/>
          </a:prstGeom>
          <a:noFill/>
          <a:ln/>
        </p:spPr>
        <p:txBody>
          <a:bodyPr wrap="none" lIns="0" tIns="0" rIns="0" bIns="0" rtlCol="0" anchor="ctr"/>
          <a:lstStyle/>
          <a:p>
            <a:pPr algn="l" indent="0" marL="0">
              <a:lnSpc>
                <a:spcPct val="100000"/>
              </a:lnSpc>
              <a:buNone/>
            </a:pPr>
            <a:r>
              <a:rPr lang="en-US" sz="1850" dirty="0">
                <a:solidFill>
                  <a:srgbClr val="3B3535"/>
                </a:solidFill>
                <a:latin typeface="Roboto Mono Light" pitchFamily="34" charset="0"/>
                <a:ea typeface="Roboto Mono Light" pitchFamily="34" charset="-122"/>
                <a:cs typeface="Roboto Mono Light" pitchFamily="34" charset="-120"/>
              </a:rPr>
              <a:t>01</a:t>
            </a:r>
            <a:endParaRPr lang="en-US" sz="1850" dirty="0"/>
          </a:p>
        </p:txBody>
      </p:sp>
      <p:sp>
        <p:nvSpPr>
          <p:cNvPr id="4" name="Shape 2"/>
          <p:cNvSpPr/>
          <p:nvPr/>
        </p:nvSpPr>
        <p:spPr>
          <a:xfrm>
            <a:off x="661475" y="2299494"/>
            <a:ext cx="5316206" cy="31750"/>
          </a:xfrm>
          <a:prstGeom prst="rect">
            <a:avLst/>
          </a:prstGeom>
          <a:solidFill>
            <a:srgbClr val="DA1B2E"/>
          </a:solidFill>
          <a:ln/>
        </p:spPr>
      </p:sp>
      <p:sp>
        <p:nvSpPr>
          <p:cNvPr id="5" name="Text 3"/>
          <p:cNvSpPr/>
          <p:nvPr/>
        </p:nvSpPr>
        <p:spPr>
          <a:xfrm>
            <a:off x="661475" y="2481064"/>
            <a:ext cx="5316206" cy="738386"/>
          </a:xfrm>
          <a:prstGeom prst="rect">
            <a:avLst/>
          </a:prstGeom>
          <a:noFill/>
          <a:ln/>
        </p:spPr>
        <p:txBody>
          <a:bodyPr wrap="square" lIns="0" tIns="0" rIns="0" bIns="0" rtlCol="0" anchor="t">
            <a:normAutofit/>
          </a:bodyPr>
          <a:lstStyle/>
          <a:p>
            <a:pPr algn="l" indent="0" marL="0">
              <a:lnSpc>
                <a:spcPct val="104000"/>
              </a:lnSpc>
              <a:buNone/>
            </a:pPr>
            <a:r>
              <a:rPr lang="en-US" sz="2300" dirty="0">
                <a:solidFill>
                  <a:srgbClr val="3B3535"/>
                </a:solidFill>
                <a:latin typeface="Roboto Mono Medium" pitchFamily="34" charset="0"/>
                <a:ea typeface="Roboto Mono Medium" pitchFamily="34" charset="-122"/>
                <a:cs typeface="Roboto Mono Medium" pitchFamily="34" charset="-120"/>
              </a:rPr>
              <a:t>Módulo 1: Fundamentos y NLP Clínico</a:t>
            </a:r>
            <a:endParaRPr lang="en-US" sz="2300" dirty="0"/>
          </a:p>
        </p:txBody>
      </p:sp>
      <p:sp>
        <p:nvSpPr>
          <p:cNvPr id="6" name="Text 4"/>
          <p:cNvSpPr/>
          <p:nvPr/>
        </p:nvSpPr>
        <p:spPr>
          <a:xfrm>
            <a:off x="661475" y="3361134"/>
            <a:ext cx="5316206" cy="377924"/>
          </a:xfrm>
          <a:prstGeom prst="rect">
            <a:avLst/>
          </a:prstGeom>
          <a:noFill/>
          <a:ln/>
        </p:spPr>
        <p:txBody>
          <a:bodyPr wrap="none" lIns="0" tIns="0" rIns="0" bIns="0" rtlCol="0" anchor="t"/>
          <a:lstStyle/>
          <a:p>
            <a:pPr algn="l" indent="0" marL="0">
              <a:lnSpc>
                <a:spcPct val="133000"/>
              </a:lnSpc>
              <a:buNone/>
            </a:pPr>
            <a:r>
              <a:rPr lang="en-US" sz="1850" dirty="0">
                <a:solidFill>
                  <a:srgbClr val="3B3535"/>
                </a:solidFill>
                <a:latin typeface="Roboto" pitchFamily="34" charset="0"/>
                <a:ea typeface="Roboto" pitchFamily="34" charset="-122"/>
                <a:cs typeface="Roboto" pitchFamily="34" charset="-120"/>
              </a:rPr>
              <a:t>Clases 1–4</a:t>
            </a:r>
            <a:endParaRPr lang="en-US" sz="1850" dirty="0"/>
          </a:p>
        </p:txBody>
      </p:sp>
      <p:sp>
        <p:nvSpPr>
          <p:cNvPr id="7" name="Text 5"/>
          <p:cNvSpPr/>
          <p:nvPr/>
        </p:nvSpPr>
        <p:spPr>
          <a:xfrm>
            <a:off x="6213915" y="1929705"/>
            <a:ext cx="472468" cy="295275"/>
          </a:xfrm>
          <a:prstGeom prst="rect">
            <a:avLst/>
          </a:prstGeom>
          <a:noFill/>
          <a:ln/>
        </p:spPr>
        <p:txBody>
          <a:bodyPr wrap="none" lIns="0" tIns="0" rIns="0" bIns="0" rtlCol="0" anchor="ctr"/>
          <a:lstStyle/>
          <a:p>
            <a:pPr algn="l" indent="0" marL="0">
              <a:lnSpc>
                <a:spcPct val="100000"/>
              </a:lnSpc>
              <a:buNone/>
            </a:pPr>
            <a:r>
              <a:rPr lang="en-US" sz="1850" dirty="0">
                <a:solidFill>
                  <a:srgbClr val="3B3535"/>
                </a:solidFill>
                <a:latin typeface="Roboto Mono Light" pitchFamily="34" charset="0"/>
                <a:ea typeface="Roboto Mono Light" pitchFamily="34" charset="-122"/>
                <a:cs typeface="Roboto Mono Light" pitchFamily="34" charset="-120"/>
              </a:rPr>
              <a:t>02</a:t>
            </a:r>
            <a:endParaRPr lang="en-US" sz="1850" dirty="0"/>
          </a:p>
        </p:txBody>
      </p:sp>
      <p:sp>
        <p:nvSpPr>
          <p:cNvPr id="8" name="Shape 6"/>
          <p:cNvSpPr/>
          <p:nvPr/>
        </p:nvSpPr>
        <p:spPr>
          <a:xfrm>
            <a:off x="6213915" y="2299494"/>
            <a:ext cx="5316305" cy="31750"/>
          </a:xfrm>
          <a:prstGeom prst="rect">
            <a:avLst/>
          </a:prstGeom>
          <a:solidFill>
            <a:srgbClr val="DA1B2E"/>
          </a:solidFill>
          <a:ln/>
        </p:spPr>
      </p:sp>
      <p:sp>
        <p:nvSpPr>
          <p:cNvPr id="9" name="Text 7"/>
          <p:cNvSpPr/>
          <p:nvPr/>
        </p:nvSpPr>
        <p:spPr>
          <a:xfrm>
            <a:off x="6213915" y="2481064"/>
            <a:ext cx="5316305" cy="738386"/>
          </a:xfrm>
          <a:prstGeom prst="rect">
            <a:avLst/>
          </a:prstGeom>
          <a:noFill/>
          <a:ln/>
        </p:spPr>
        <p:txBody>
          <a:bodyPr wrap="square" lIns="0" tIns="0" rIns="0" bIns="0" rtlCol="0" anchor="t">
            <a:normAutofit/>
          </a:bodyPr>
          <a:lstStyle/>
          <a:p>
            <a:pPr algn="l" indent="0" marL="0">
              <a:lnSpc>
                <a:spcPct val="104000"/>
              </a:lnSpc>
              <a:buNone/>
            </a:pPr>
            <a:r>
              <a:rPr lang="en-US" sz="2300" dirty="0">
                <a:solidFill>
                  <a:srgbClr val="3B3535"/>
                </a:solidFill>
                <a:latin typeface="Roboto Mono Medium" pitchFamily="34" charset="0"/>
                <a:ea typeface="Roboto Mono Medium" pitchFamily="34" charset="-122"/>
                <a:cs typeface="Roboto Mono Medium" pitchFamily="34" charset="-120"/>
              </a:rPr>
              <a:t>Módulo 2: Visión Artificial Generativa</a:t>
            </a:r>
            <a:endParaRPr lang="en-US" sz="2300" dirty="0"/>
          </a:p>
        </p:txBody>
      </p:sp>
      <p:sp>
        <p:nvSpPr>
          <p:cNvPr id="10" name="Text 8"/>
          <p:cNvSpPr/>
          <p:nvPr/>
        </p:nvSpPr>
        <p:spPr>
          <a:xfrm>
            <a:off x="6213915" y="3361134"/>
            <a:ext cx="5316305" cy="377924"/>
          </a:xfrm>
          <a:prstGeom prst="rect">
            <a:avLst/>
          </a:prstGeom>
          <a:noFill/>
          <a:ln/>
        </p:spPr>
        <p:txBody>
          <a:bodyPr wrap="none" lIns="0" tIns="0" rIns="0" bIns="0" rtlCol="0" anchor="t"/>
          <a:lstStyle/>
          <a:p>
            <a:pPr algn="l" indent="0" marL="0">
              <a:lnSpc>
                <a:spcPct val="133000"/>
              </a:lnSpc>
              <a:buNone/>
            </a:pPr>
            <a:r>
              <a:rPr lang="en-US" sz="1850" dirty="0">
                <a:solidFill>
                  <a:srgbClr val="3B3535"/>
                </a:solidFill>
                <a:latin typeface="Roboto" pitchFamily="34" charset="0"/>
                <a:ea typeface="Roboto" pitchFamily="34" charset="-122"/>
                <a:cs typeface="Roboto" pitchFamily="34" charset="-120"/>
              </a:rPr>
              <a:t>Clases 5–8</a:t>
            </a:r>
            <a:endParaRPr lang="en-US" sz="1850" dirty="0"/>
          </a:p>
        </p:txBody>
      </p:sp>
      <p:sp>
        <p:nvSpPr>
          <p:cNvPr id="11" name="Text 9"/>
          <p:cNvSpPr/>
          <p:nvPr/>
        </p:nvSpPr>
        <p:spPr>
          <a:xfrm>
            <a:off x="661475" y="4152503"/>
            <a:ext cx="472468" cy="295275"/>
          </a:xfrm>
          <a:prstGeom prst="rect">
            <a:avLst/>
          </a:prstGeom>
          <a:noFill/>
          <a:ln/>
        </p:spPr>
        <p:txBody>
          <a:bodyPr wrap="none" lIns="0" tIns="0" rIns="0" bIns="0" rtlCol="0" anchor="ctr"/>
          <a:lstStyle/>
          <a:p>
            <a:pPr algn="l" indent="0" marL="0">
              <a:lnSpc>
                <a:spcPct val="100000"/>
              </a:lnSpc>
              <a:buNone/>
            </a:pPr>
            <a:r>
              <a:rPr lang="en-US" sz="1850" dirty="0">
                <a:solidFill>
                  <a:srgbClr val="3B3535"/>
                </a:solidFill>
                <a:latin typeface="Roboto Mono Light" pitchFamily="34" charset="0"/>
                <a:ea typeface="Roboto Mono Light" pitchFamily="34" charset="-122"/>
                <a:cs typeface="Roboto Mono Light" pitchFamily="34" charset="-120"/>
              </a:rPr>
              <a:t>03</a:t>
            </a:r>
            <a:endParaRPr lang="en-US" sz="1850" dirty="0"/>
          </a:p>
        </p:txBody>
      </p:sp>
      <p:sp>
        <p:nvSpPr>
          <p:cNvPr id="12" name="Shape 10"/>
          <p:cNvSpPr/>
          <p:nvPr/>
        </p:nvSpPr>
        <p:spPr>
          <a:xfrm>
            <a:off x="661475" y="4522291"/>
            <a:ext cx="5316206" cy="31750"/>
          </a:xfrm>
          <a:prstGeom prst="rect">
            <a:avLst/>
          </a:prstGeom>
          <a:solidFill>
            <a:srgbClr val="DA1B2E"/>
          </a:solidFill>
          <a:ln/>
        </p:spPr>
      </p:sp>
      <p:sp>
        <p:nvSpPr>
          <p:cNvPr id="13" name="Text 11"/>
          <p:cNvSpPr/>
          <p:nvPr/>
        </p:nvSpPr>
        <p:spPr>
          <a:xfrm>
            <a:off x="661475" y="4703862"/>
            <a:ext cx="5316206" cy="738386"/>
          </a:xfrm>
          <a:prstGeom prst="rect">
            <a:avLst/>
          </a:prstGeom>
          <a:noFill/>
          <a:ln/>
        </p:spPr>
        <p:txBody>
          <a:bodyPr wrap="square" lIns="0" tIns="0" rIns="0" bIns="0" rtlCol="0" anchor="t">
            <a:normAutofit/>
          </a:bodyPr>
          <a:lstStyle/>
          <a:p>
            <a:pPr algn="l" indent="0" marL="0">
              <a:lnSpc>
                <a:spcPct val="104000"/>
              </a:lnSpc>
              <a:buNone/>
            </a:pPr>
            <a:r>
              <a:rPr lang="en-US" sz="2300" dirty="0">
                <a:solidFill>
                  <a:srgbClr val="3B3535"/>
                </a:solidFill>
                <a:latin typeface="Roboto Mono Medium" pitchFamily="34" charset="0"/>
                <a:ea typeface="Roboto Mono Medium" pitchFamily="34" charset="-122"/>
                <a:cs typeface="Roboto Mono Medium" pitchFamily="34" charset="-120"/>
              </a:rPr>
              <a:t>Módulo 3: Señales, Moléculas y Simulación</a:t>
            </a:r>
            <a:endParaRPr lang="en-US" sz="2300" dirty="0"/>
          </a:p>
        </p:txBody>
      </p:sp>
      <p:sp>
        <p:nvSpPr>
          <p:cNvPr id="14" name="Text 12"/>
          <p:cNvSpPr/>
          <p:nvPr/>
        </p:nvSpPr>
        <p:spPr>
          <a:xfrm>
            <a:off x="661475" y="5583932"/>
            <a:ext cx="5316206" cy="377924"/>
          </a:xfrm>
          <a:prstGeom prst="rect">
            <a:avLst/>
          </a:prstGeom>
          <a:noFill/>
          <a:ln/>
        </p:spPr>
        <p:txBody>
          <a:bodyPr wrap="none" lIns="0" tIns="0" rIns="0" bIns="0" rtlCol="0" anchor="t"/>
          <a:lstStyle/>
          <a:p>
            <a:pPr algn="l" indent="0" marL="0">
              <a:lnSpc>
                <a:spcPct val="133000"/>
              </a:lnSpc>
              <a:buNone/>
            </a:pPr>
            <a:r>
              <a:rPr lang="en-US" sz="1850" dirty="0">
                <a:solidFill>
                  <a:srgbClr val="3B3535"/>
                </a:solidFill>
                <a:latin typeface="Roboto" pitchFamily="34" charset="0"/>
                <a:ea typeface="Roboto" pitchFamily="34" charset="-122"/>
                <a:cs typeface="Roboto" pitchFamily="34" charset="-120"/>
              </a:rPr>
              <a:t>Clases 9–12</a:t>
            </a:r>
            <a:endParaRPr lang="en-US" sz="1850" dirty="0"/>
          </a:p>
        </p:txBody>
      </p:sp>
      <p:sp>
        <p:nvSpPr>
          <p:cNvPr id="15" name="Text 13"/>
          <p:cNvSpPr/>
          <p:nvPr/>
        </p:nvSpPr>
        <p:spPr>
          <a:xfrm>
            <a:off x="6213915" y="4152503"/>
            <a:ext cx="472468" cy="295275"/>
          </a:xfrm>
          <a:prstGeom prst="rect">
            <a:avLst/>
          </a:prstGeom>
          <a:noFill/>
          <a:ln/>
        </p:spPr>
        <p:txBody>
          <a:bodyPr wrap="none" lIns="0" tIns="0" rIns="0" bIns="0" rtlCol="0" anchor="ctr"/>
          <a:lstStyle/>
          <a:p>
            <a:pPr algn="l" indent="0" marL="0">
              <a:lnSpc>
                <a:spcPct val="100000"/>
              </a:lnSpc>
              <a:buNone/>
            </a:pPr>
            <a:r>
              <a:rPr lang="en-US" sz="1850" dirty="0">
                <a:solidFill>
                  <a:srgbClr val="3B3535"/>
                </a:solidFill>
                <a:latin typeface="Roboto Mono Light" pitchFamily="34" charset="0"/>
                <a:ea typeface="Roboto Mono Light" pitchFamily="34" charset="-122"/>
                <a:cs typeface="Roboto Mono Light" pitchFamily="34" charset="-120"/>
              </a:rPr>
              <a:t>04</a:t>
            </a:r>
            <a:endParaRPr lang="en-US" sz="1850" dirty="0"/>
          </a:p>
        </p:txBody>
      </p:sp>
      <p:sp>
        <p:nvSpPr>
          <p:cNvPr id="16" name="Shape 14"/>
          <p:cNvSpPr/>
          <p:nvPr/>
        </p:nvSpPr>
        <p:spPr>
          <a:xfrm>
            <a:off x="6213915" y="4522291"/>
            <a:ext cx="5316305" cy="31750"/>
          </a:xfrm>
          <a:prstGeom prst="rect">
            <a:avLst/>
          </a:prstGeom>
          <a:solidFill>
            <a:srgbClr val="DA1B2E"/>
          </a:solidFill>
          <a:ln/>
        </p:spPr>
      </p:sp>
      <p:sp>
        <p:nvSpPr>
          <p:cNvPr id="17" name="Text 15"/>
          <p:cNvSpPr/>
          <p:nvPr/>
        </p:nvSpPr>
        <p:spPr>
          <a:xfrm>
            <a:off x="6213915" y="4703862"/>
            <a:ext cx="5316305" cy="369193"/>
          </a:xfrm>
          <a:prstGeom prst="rect">
            <a:avLst/>
          </a:prstGeom>
          <a:noFill/>
          <a:ln/>
        </p:spPr>
        <p:txBody>
          <a:bodyPr wrap="none" lIns="0" tIns="0" rIns="0" bIns="0" rtlCol="0" anchor="t"/>
          <a:lstStyle/>
          <a:p>
            <a:pPr algn="l" indent="0" marL="0">
              <a:lnSpc>
                <a:spcPct val="104000"/>
              </a:lnSpc>
              <a:buNone/>
            </a:pPr>
            <a:r>
              <a:rPr lang="en-US" sz="2300" dirty="0">
                <a:solidFill>
                  <a:srgbClr val="3B3535"/>
                </a:solidFill>
                <a:latin typeface="Roboto Mono Medium" pitchFamily="34" charset="0"/>
                <a:ea typeface="Roboto Mono Medium" pitchFamily="34" charset="-122"/>
                <a:cs typeface="Roboto Mono Medium" pitchFamily="34" charset="-120"/>
              </a:rPr>
              <a:t>Módulo 4: Ética y Regulación</a:t>
            </a:r>
            <a:endParaRPr lang="en-US" sz="2300" dirty="0"/>
          </a:p>
        </p:txBody>
      </p:sp>
      <p:sp>
        <p:nvSpPr>
          <p:cNvPr id="18" name="Text 16"/>
          <p:cNvSpPr/>
          <p:nvPr/>
        </p:nvSpPr>
        <p:spPr>
          <a:xfrm>
            <a:off x="6213915" y="5214739"/>
            <a:ext cx="5316305" cy="377924"/>
          </a:xfrm>
          <a:prstGeom prst="rect">
            <a:avLst/>
          </a:prstGeom>
          <a:noFill/>
          <a:ln/>
        </p:spPr>
        <p:txBody>
          <a:bodyPr wrap="none" lIns="0" tIns="0" rIns="0" bIns="0" rtlCol="0" anchor="t"/>
          <a:lstStyle/>
          <a:p>
            <a:pPr algn="l" indent="0" marL="0">
              <a:lnSpc>
                <a:spcPct val="133000"/>
              </a:lnSpc>
              <a:buNone/>
            </a:pPr>
            <a:r>
              <a:rPr lang="en-US" sz="1850" dirty="0">
                <a:solidFill>
                  <a:srgbClr val="3B3535"/>
                </a:solidFill>
                <a:latin typeface="Roboto" pitchFamily="34" charset="0"/>
                <a:ea typeface="Roboto" pitchFamily="34" charset="-122"/>
                <a:cs typeface="Roboto" pitchFamily="34" charset="-120"/>
              </a:rPr>
              <a:t>Clases 12–14</a:t>
            </a:r>
            <a:endParaRPr lang="en-US" sz="1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693690"/>
            <a:ext cx="6296860" cy="738287"/>
          </a:xfrm>
          <a:prstGeom prst="rect">
            <a:avLst/>
          </a:prstGeom>
          <a:noFill/>
          <a:ln/>
        </p:spPr>
        <p:txBody>
          <a:bodyPr wrap="none" lIns="0" tIns="0" rIns="0" bIns="0" rtlCol="0" anchor="t"/>
          <a:lstStyle/>
          <a:p>
            <a:pPr algn="l" indent="0" marL="0">
              <a:lnSpc>
                <a:spcPct val="104000"/>
              </a:lnSpc>
              <a:buNone/>
            </a:pPr>
            <a:r>
              <a:rPr lang="en-US" sz="4650" dirty="0">
                <a:solidFill>
                  <a:srgbClr val="1F1E1E"/>
                </a:solidFill>
                <a:latin typeface="Roboto Mono Medium" pitchFamily="34" charset="0"/>
                <a:ea typeface="Roboto Mono Medium" pitchFamily="34" charset="-122"/>
                <a:cs typeface="Roboto Mono Medium" pitchFamily="34" charset="-120"/>
              </a:rPr>
              <a:t>Preguntas</a:t>
            </a:r>
            <a:endParaRPr lang="en-US" sz="4650" dirty="0"/>
          </a:p>
        </p:txBody>
      </p:sp>
      <p:sp>
        <p:nvSpPr>
          <p:cNvPr id="4" name="Text 1"/>
          <p:cNvSpPr/>
          <p:nvPr/>
        </p:nvSpPr>
        <p:spPr>
          <a:xfrm>
            <a:off x="661475" y="3786386"/>
            <a:ext cx="6906444" cy="377924"/>
          </a:xfrm>
          <a:prstGeom prst="rect">
            <a:avLst/>
          </a:prstGeom>
          <a:noFill/>
          <a:ln/>
        </p:spPr>
        <p:txBody>
          <a:bodyPr wrap="none" lIns="0" tIns="0" rIns="0" bIns="0" rtlCol="0" anchor="t"/>
          <a:lstStyle/>
          <a:p>
            <a:pPr algn="l" indent="0" marL="0">
              <a:lnSpc>
                <a:spcPct val="133000"/>
              </a:lnSpc>
              <a:buNone/>
            </a:pPr>
            <a:endParaRPr lang="en-US" sz="1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61475" y="784126"/>
            <a:ext cx="10868745" cy="832545"/>
          </a:xfrm>
          <a:prstGeom prst="rect">
            <a:avLst/>
          </a:prstGeom>
          <a:noFill/>
          <a:ln/>
        </p:spPr>
        <p:txBody>
          <a:bodyPr wrap="square" lIns="0" tIns="0" rIns="0" bIns="0" rtlCol="0" anchor="t"/>
          <a:lstStyle/>
          <a:p>
            <a:pPr algn="l" indent="0" marL="0">
              <a:lnSpc>
                <a:spcPct val="110000"/>
              </a:lnSpc>
              <a:spcAft>
                <a:spcPts val="850"/>
              </a:spcAft>
              <a:buNone/>
            </a:pPr>
            <a:endParaRPr lang="en-US" sz="1200" dirty="0"/>
          </a:p>
          <a:p>
            <a:pPr algn="l" indent="0" marL="0">
              <a:lnSpc>
                <a:spcPct val="110000"/>
              </a:lnSpc>
              <a:spcAft>
                <a:spcPts val="850"/>
              </a:spcAft>
              <a:buNone/>
            </a:pPr>
            <a:endParaRPr lang="en-US" sz="1200" dirty="0"/>
          </a:p>
        </p:txBody>
      </p:sp>
      <p:sp>
        <p:nvSpPr>
          <p:cNvPr id="3" name="Text 1"/>
          <p:cNvSpPr/>
          <p:nvPr/>
        </p:nvSpPr>
        <p:spPr>
          <a:xfrm>
            <a:off x="661475" y="1766391"/>
            <a:ext cx="10868745" cy="959842"/>
          </a:xfrm>
          <a:prstGeom prst="rect">
            <a:avLst/>
          </a:prstGeom>
          <a:noFill/>
          <a:ln/>
        </p:spPr>
        <p:txBody>
          <a:bodyPr wrap="square" lIns="0" tIns="0" rIns="0" bIns="0" rtlCol="0" anchor="t">
            <a:normAutofit/>
          </a:bodyPr>
          <a:lstStyle/>
          <a:p>
            <a:pPr algn="l" indent="0" marL="0">
              <a:lnSpc>
                <a:spcPct val="104000"/>
              </a:lnSpc>
              <a:buNone/>
            </a:pPr>
            <a:r>
              <a:rPr lang="en-US" sz="3000" dirty="0">
                <a:solidFill>
                  <a:srgbClr val="1F1E1E"/>
                </a:solidFill>
                <a:latin typeface="Roboto Mono Medium" pitchFamily="34" charset="0"/>
                <a:ea typeface="Roboto Mono Medium" pitchFamily="34" charset="-122"/>
                <a:cs typeface="Roboto Mono Medium" pitchFamily="34" charset="-120"/>
              </a:rPr>
              <a:t>Inteligencia Artificial Generativa Aplicada en Biomedicina</a:t>
            </a:r>
            <a:endParaRPr lang="en-US" sz="3000" dirty="0"/>
          </a:p>
        </p:txBody>
      </p:sp>
      <p:sp>
        <p:nvSpPr>
          <p:cNvPr id="4" name="Text 2"/>
          <p:cNvSpPr/>
          <p:nvPr/>
        </p:nvSpPr>
        <p:spPr>
          <a:xfrm>
            <a:off x="661475" y="2875955"/>
            <a:ext cx="11478330" cy="202704"/>
          </a:xfrm>
          <a:prstGeom prst="rect">
            <a:avLst/>
          </a:prstGeom>
          <a:noFill/>
          <a:ln/>
        </p:spPr>
        <p:txBody>
          <a:bodyPr wrap="none" lIns="0" tIns="0" rIns="0" bIns="0" rtlCol="0" anchor="t"/>
          <a:lstStyle/>
          <a:p>
            <a:pPr algn="l" indent="0" marL="0">
              <a:lnSpc>
                <a:spcPct val="110000"/>
              </a:lnSpc>
              <a:buNone/>
            </a:pPr>
            <a:endParaRPr lang="en-US" sz="1200" dirty="0"/>
          </a:p>
        </p:txBody>
      </p:sp>
      <p:sp>
        <p:nvSpPr>
          <p:cNvPr id="5" name="Text 3"/>
          <p:cNvSpPr/>
          <p:nvPr/>
        </p:nvSpPr>
        <p:spPr>
          <a:xfrm>
            <a:off x="661475" y="3228380"/>
            <a:ext cx="10868745" cy="287933"/>
          </a:xfrm>
          <a:prstGeom prst="rect">
            <a:avLst/>
          </a:prstGeom>
          <a:noFill/>
          <a:ln/>
        </p:spPr>
        <p:txBody>
          <a:bodyPr wrap="none" lIns="0" tIns="0" rIns="0" bIns="0" rtlCol="0" anchor="t"/>
          <a:lstStyle/>
          <a:p>
            <a:pPr algn="l" indent="0" marL="0">
              <a:lnSpc>
                <a:spcPct val="104000"/>
              </a:lnSpc>
              <a:buNone/>
            </a:pPr>
            <a:r>
              <a:rPr lang="en-US" sz="1800" dirty="0">
                <a:solidFill>
                  <a:srgbClr val="1F1E1E"/>
                </a:solidFill>
                <a:latin typeface="Roboto Mono Medium" pitchFamily="34" charset="0"/>
                <a:ea typeface="Roboto Mono Medium" pitchFamily="34" charset="-122"/>
                <a:cs typeface="Roboto Mono Medium" pitchFamily="34" charset="-120"/>
              </a:rPr>
              <a:t>Clase 1: Fundamentos, Modelos y el Ecosistema Actual</a:t>
            </a:r>
            <a:endParaRPr lang="en-US" sz="1800" dirty="0"/>
          </a:p>
        </p:txBody>
      </p:sp>
      <p:sp>
        <p:nvSpPr>
          <p:cNvPr id="6" name="Text 4"/>
          <p:cNvSpPr/>
          <p:nvPr/>
        </p:nvSpPr>
        <p:spPr>
          <a:xfrm>
            <a:off x="661475" y="3666034"/>
            <a:ext cx="10868745" cy="832545"/>
          </a:xfrm>
          <a:prstGeom prst="rect">
            <a:avLst/>
          </a:prstGeom>
          <a:noFill/>
          <a:ln/>
        </p:spPr>
        <p:txBody>
          <a:bodyPr wrap="square" lIns="0" tIns="0" rIns="0" bIns="0" rtlCol="0" anchor="t"/>
          <a:lstStyle/>
          <a:p>
            <a:pPr algn="l" indent="0" marL="0">
              <a:lnSpc>
                <a:spcPct val="110000"/>
              </a:lnSpc>
              <a:spcAft>
                <a:spcPts val="850"/>
              </a:spcAft>
              <a:buNone/>
            </a:pPr>
            <a:endParaRPr lang="en-US" sz="1200" dirty="0"/>
          </a:p>
          <a:p>
            <a:pPr algn="l" indent="0" marL="0">
              <a:lnSpc>
                <a:spcPct val="110000"/>
              </a:lnSpc>
              <a:spcAft>
                <a:spcPts val="850"/>
              </a:spcAft>
              <a:buNone/>
            </a:pPr>
            <a:endParaRPr lang="en-US" sz="1200" dirty="0"/>
          </a:p>
        </p:txBody>
      </p:sp>
      <p:pic>
        <p:nvPicPr>
          <p:cNvPr id="7" name="Image 0" descr="preencoded.png">    </p:cNvPr>
          <p:cNvPicPr>
            <a:picLocks noChangeAspect="1"/>
          </p:cNvPicPr>
          <p:nvPr/>
        </p:nvPicPr>
        <p:blipFill>
          <a:blip r:embed="rId1"/>
          <a:stretch>
            <a:fillRect/>
          </a:stretch>
        </p:blipFill>
        <p:spPr>
          <a:xfrm>
            <a:off x="10032451" y="4610795"/>
            <a:ext cx="1497769" cy="1237853"/>
          </a:xfrm>
          <a:prstGeom prst="rect">
            <a:avLst/>
          </a:prstGeom>
        </p:spPr>
      </p:pic>
      <p:sp>
        <p:nvSpPr>
          <p:cNvPr id="8" name="Text 5"/>
          <p:cNvSpPr/>
          <p:nvPr/>
        </p:nvSpPr>
        <p:spPr>
          <a:xfrm>
            <a:off x="661475" y="5960864"/>
            <a:ext cx="11478330" cy="202704"/>
          </a:xfrm>
          <a:prstGeom prst="rect">
            <a:avLst/>
          </a:prstGeom>
          <a:noFill/>
          <a:ln/>
        </p:spPr>
        <p:txBody>
          <a:bodyPr wrap="none" lIns="0" tIns="0" rIns="0" bIns="0" rtlCol="0" anchor="t"/>
          <a:lstStyle/>
          <a:p>
            <a:pPr algn="l" indent="0" marL="0">
              <a:lnSpc>
                <a:spcPct val="110000"/>
              </a:lnSpc>
              <a:buNone/>
            </a:pP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61475" y="885627"/>
            <a:ext cx="10868745" cy="627559"/>
          </a:xfrm>
          <a:prstGeom prst="rect">
            <a:avLst/>
          </a:prstGeom>
          <a:noFill/>
          <a:ln/>
        </p:spPr>
        <p:txBody>
          <a:bodyPr wrap="none" lIns="0" tIns="0" rIns="0" bIns="0" rtlCol="0" anchor="t"/>
          <a:lstStyle/>
          <a:p>
            <a:pPr algn="l" indent="0" marL="0">
              <a:lnSpc>
                <a:spcPct val="104000"/>
              </a:lnSpc>
              <a:buNone/>
            </a:pPr>
            <a:r>
              <a:rPr lang="en-US" sz="3950" dirty="0">
                <a:solidFill>
                  <a:srgbClr val="1F1E1E"/>
                </a:solidFill>
                <a:latin typeface="Roboto Mono Medium" pitchFamily="34" charset="0"/>
                <a:ea typeface="Roboto Mono Medium" pitchFamily="34" charset="-122"/>
                <a:cs typeface="Roboto Mono Medium" pitchFamily="34" charset="-120"/>
              </a:rPr>
              <a:t>¿Qué es la Inteligencia Artificial?</a:t>
            </a:r>
            <a:endParaRPr lang="en-US" sz="3950" dirty="0"/>
          </a:p>
        </p:txBody>
      </p:sp>
      <p:sp>
        <p:nvSpPr>
          <p:cNvPr id="3" name="Text 1"/>
          <p:cNvSpPr/>
          <p:nvPr/>
        </p:nvSpPr>
        <p:spPr>
          <a:xfrm>
            <a:off x="661475" y="1854597"/>
            <a:ext cx="11478330" cy="297160"/>
          </a:xfrm>
          <a:prstGeom prst="rect">
            <a:avLst/>
          </a:prstGeom>
          <a:noFill/>
          <a:ln/>
        </p:spPr>
        <p:txBody>
          <a:bodyPr wrap="none" lIns="0" tIns="0" rIns="0" bIns="0" rtlCol="0" anchor="t"/>
          <a:lstStyle/>
          <a:p>
            <a:pPr algn="l" indent="0" marL="0">
              <a:lnSpc>
                <a:spcPct val="123000"/>
              </a:lnSpc>
              <a:buNone/>
            </a:pPr>
            <a:r>
              <a:rPr lang="en-US" sz="1550" dirty="0">
                <a:solidFill>
                  <a:srgbClr val="3B3535"/>
                </a:solidFill>
                <a:latin typeface="Roboto" pitchFamily="34" charset="0"/>
                <a:ea typeface="Roboto" pitchFamily="34" charset="-122"/>
                <a:cs typeface="Roboto" pitchFamily="34" charset="-120"/>
              </a:rPr>
              <a:t>De la teoría a la intuición</a:t>
            </a:r>
            <a:endParaRPr lang="en-US" sz="1550" dirty="0"/>
          </a:p>
        </p:txBody>
      </p:sp>
      <p:sp>
        <p:nvSpPr>
          <p:cNvPr id="4" name="Text 2"/>
          <p:cNvSpPr/>
          <p:nvPr/>
        </p:nvSpPr>
        <p:spPr>
          <a:xfrm>
            <a:off x="661475" y="2514402"/>
            <a:ext cx="5189408" cy="313730"/>
          </a:xfrm>
          <a:prstGeom prst="rect">
            <a:avLst/>
          </a:prstGeom>
          <a:noFill/>
          <a:ln/>
        </p:spPr>
        <p:txBody>
          <a:bodyPr wrap="none" lIns="0" tIns="0" rIns="0" bIns="0" rtlCol="0" anchor="t"/>
          <a:lstStyle/>
          <a:p>
            <a:pPr algn="l" indent="0" marL="0">
              <a:lnSpc>
                <a:spcPct val="104000"/>
              </a:lnSpc>
              <a:buNone/>
            </a:pPr>
            <a:r>
              <a:rPr lang="en-US" sz="1950" dirty="0">
                <a:solidFill>
                  <a:srgbClr val="1F1E1E"/>
                </a:solidFill>
                <a:latin typeface="Roboto Mono Medium" pitchFamily="34" charset="0"/>
                <a:ea typeface="Roboto Mono Medium" pitchFamily="34" charset="-122"/>
                <a:cs typeface="Roboto Mono Medium" pitchFamily="34" charset="-120"/>
              </a:rPr>
              <a:t>Intuicion</a:t>
            </a:r>
            <a:endParaRPr lang="en-US" sz="1950" dirty="0"/>
          </a:p>
        </p:txBody>
      </p:sp>
      <p:sp>
        <p:nvSpPr>
          <p:cNvPr id="5" name="Text 3"/>
          <p:cNvSpPr/>
          <p:nvPr/>
        </p:nvSpPr>
        <p:spPr>
          <a:xfrm>
            <a:off x="661475" y="2998788"/>
            <a:ext cx="5189408" cy="1936552"/>
          </a:xfrm>
          <a:prstGeom prst="rect">
            <a:avLst/>
          </a:prstGeom>
          <a:noFill/>
          <a:ln/>
        </p:spPr>
        <p:txBody>
          <a:bodyPr wrap="square" lIns="0" tIns="0" rIns="0" bIns="0" rtlCol="0" anchor="t">
            <a:normAutofit/>
          </a:bodyPr>
          <a:lstStyle/>
          <a:p>
            <a:pPr algn="l" indent="0" marL="0">
              <a:lnSpc>
                <a:spcPct val="123000"/>
              </a:lnSpc>
              <a:spcAft>
                <a:spcPts val="1200"/>
              </a:spcAft>
              <a:buNone/>
            </a:pPr>
            <a:r>
              <a:rPr lang="en-US" sz="1550" dirty="0">
                <a:solidFill>
                  <a:srgbClr val="3B3535"/>
                </a:solidFill>
                <a:latin typeface="Roboto" pitchFamily="34" charset="0"/>
                <a:ea typeface="Roboto" pitchFamily="34" charset="-122"/>
                <a:cs typeface="Roboto" pitchFamily="34" charset="-120"/>
              </a:rPr>
              <a:t>No se trata de programar reglas explícitas para cada situación. Se trata de construir sistemas que </a:t>
            </a:r>
            <a:pPr algn="l" indent="0" marL="0">
              <a:lnSpc>
                <a:spcPct val="123000"/>
              </a:lnSpc>
              <a:spcAft>
                <a:spcPts val="1200"/>
              </a:spcAft>
              <a:buNone/>
            </a:pPr>
            <a:r>
              <a:rPr lang="en-US" sz="1550" b="1" dirty="0">
                <a:solidFill>
                  <a:srgbClr val="3B3535"/>
                </a:solidFill>
                <a:latin typeface="Roboto Bold" pitchFamily="34" charset="0"/>
                <a:ea typeface="Roboto Bold" pitchFamily="34" charset="-122"/>
                <a:cs typeface="Roboto Bold" pitchFamily="34" charset="-120"/>
              </a:rPr>
              <a:t>aprenden patrones a partir de datos</a:t>
            </a:r>
            <a:pPr algn="l" indent="0" marL="0">
              <a:lnSpc>
                <a:spcPct val="123000"/>
              </a:lnSpc>
              <a:spcAft>
                <a:spcPts val="1200"/>
              </a:spcAft>
              <a:buNone/>
            </a:pPr>
            <a:r>
              <a:rPr lang="en-US" sz="1550" dirty="0">
                <a:solidFill>
                  <a:srgbClr val="3B3535"/>
                </a:solidFill>
                <a:latin typeface="Roboto" pitchFamily="34" charset="0"/>
                <a:ea typeface="Roboto" pitchFamily="34" charset="-122"/>
                <a:cs typeface="Roboto" pitchFamily="34" charset="-120"/>
              </a:rPr>
              <a:t> y los generalizan a situaciones nuevas, de forma parecida a cómo aprende el cerebro humano.</a:t>
            </a:r>
            <a:endParaRPr lang="en-US" sz="1550" dirty="0"/>
          </a:p>
        </p:txBody>
      </p:sp>
      <p:sp>
        <p:nvSpPr>
          <p:cNvPr id="6" name="Shape 4"/>
          <p:cNvSpPr/>
          <p:nvPr/>
        </p:nvSpPr>
        <p:spPr>
          <a:xfrm>
            <a:off x="6202604" y="2343745"/>
            <a:ext cx="5478524" cy="2745184"/>
          </a:xfrm>
          <a:prstGeom prst="roundRect">
            <a:avLst>
              <a:gd name="adj" fmla="val 1097"/>
            </a:avLst>
          </a:prstGeom>
          <a:solidFill>
            <a:srgbClr val="DA1B2E">
              <a:alpha val="95000"/>
            </a:srgbClr>
          </a:solidFill>
          <a:ln/>
        </p:spPr>
      </p:sp>
      <p:sp>
        <p:nvSpPr>
          <p:cNvPr id="7" name="Text 5"/>
          <p:cNvSpPr/>
          <p:nvPr/>
        </p:nvSpPr>
        <p:spPr>
          <a:xfrm>
            <a:off x="6403418" y="2514402"/>
            <a:ext cx="5076896" cy="313730"/>
          </a:xfrm>
          <a:prstGeom prst="rect">
            <a:avLst/>
          </a:prstGeom>
          <a:noFill/>
          <a:ln/>
        </p:spPr>
        <p:txBody>
          <a:bodyPr wrap="none" lIns="0" tIns="0" rIns="0" bIns="0" rtlCol="0" anchor="t"/>
          <a:lstStyle/>
          <a:p>
            <a:pPr algn="l" indent="0" marL="0">
              <a:lnSpc>
                <a:spcPct val="104000"/>
              </a:lnSpc>
              <a:buNone/>
            </a:pPr>
            <a:r>
              <a:rPr lang="en-US" sz="1950" dirty="0">
                <a:solidFill>
                  <a:srgbClr val="FFFFFF"/>
                </a:solidFill>
                <a:latin typeface="Roboto Mono Medium" pitchFamily="34" charset="0"/>
                <a:ea typeface="Roboto Mono Medium" pitchFamily="34" charset="-122"/>
                <a:cs typeface="Roboto Mono Medium" pitchFamily="34" charset="-120"/>
              </a:rPr>
              <a:t>Un Poco mas Formal</a:t>
            </a:r>
            <a:endParaRPr lang="en-US" sz="1950" dirty="0"/>
          </a:p>
        </p:txBody>
      </p:sp>
      <p:sp>
        <p:nvSpPr>
          <p:cNvPr id="8" name="Text 6"/>
          <p:cNvSpPr/>
          <p:nvPr/>
        </p:nvSpPr>
        <p:spPr>
          <a:xfrm>
            <a:off x="6403418" y="2998788"/>
            <a:ext cx="5076896" cy="1936552"/>
          </a:xfrm>
          <a:prstGeom prst="rect">
            <a:avLst/>
          </a:prstGeom>
          <a:noFill/>
          <a:ln/>
        </p:spPr>
        <p:txBody>
          <a:bodyPr wrap="square" lIns="0" tIns="0" rIns="0" bIns="0" rtlCol="0" anchor="t">
            <a:normAutofit/>
          </a:bodyPr>
          <a:lstStyle/>
          <a:p>
            <a:pPr algn="l" indent="0" marL="0">
              <a:lnSpc>
                <a:spcPct val="123000"/>
              </a:lnSpc>
              <a:spcAft>
                <a:spcPts val="1200"/>
              </a:spcAft>
              <a:buNone/>
            </a:pPr>
            <a:r>
              <a:rPr lang="en-US" sz="1550" dirty="0">
                <a:solidFill>
                  <a:srgbClr val="FFFFFF"/>
                </a:solidFill>
                <a:latin typeface="Roboto" pitchFamily="34" charset="0"/>
                <a:ea typeface="Roboto" pitchFamily="34" charset="-122"/>
                <a:cs typeface="Roboto" pitchFamily="34" charset="-120"/>
              </a:rPr>
              <a:t>La IA es el diseño de agentes racionales: sistemas que perciben su entorno y toman acciones para maximizar sus </a:t>
            </a:r>
            <a:pPr algn="l" indent="0" marL="0">
              <a:lnSpc>
                <a:spcPct val="123000"/>
              </a:lnSpc>
              <a:spcAft>
                <a:spcPts val="1200"/>
              </a:spcAft>
              <a:buNone/>
            </a:pPr>
            <a:r>
              <a:rPr lang="en-US" sz="1550" u="sng" dirty="0">
                <a:solidFill>
                  <a:srgbClr val="FFFFFF"/>
                </a:solidFill>
                <a:latin typeface="Roboto" pitchFamily="34" charset="0"/>
                <a:ea typeface="Roboto" pitchFamily="34" charset="-122"/>
                <a:cs typeface="Roboto" pitchFamily="34" charset="-120"/>
              </a:rPr>
              <a:t>posibilidades</a:t>
            </a:r>
            <a:pPr algn="l" indent="0" marL="0">
              <a:lnSpc>
                <a:spcPct val="123000"/>
              </a:lnSpc>
              <a:spcAft>
                <a:spcPts val="1200"/>
              </a:spcAft>
              <a:buNone/>
            </a:pPr>
            <a:r>
              <a:rPr lang="en-US" sz="1550" dirty="0">
                <a:solidFill>
                  <a:srgbClr val="FFFFFF"/>
                </a:solidFill>
                <a:latin typeface="Roboto" pitchFamily="34" charset="0"/>
                <a:ea typeface="Roboto" pitchFamily="34" charset="-122"/>
                <a:cs typeface="Roboto" pitchFamily="34" charset="-120"/>
              </a:rPr>
              <a:t> de éxito en un objetivo dado. No se trata de crear humanos sintéticos, sino de resolver problemas complejos con matemáticas a gran escala.</a:t>
            </a:r>
            <a:endParaRPr lang="en-US" sz="1550" dirty="0"/>
          </a:p>
          <a:p>
            <a:pPr algn="l" indent="0" marL="0">
              <a:lnSpc>
                <a:spcPct val="123000"/>
              </a:lnSpc>
              <a:buNone/>
            </a:pPr>
            <a:r>
              <a:rPr lang="en-US" sz="1550" dirty="0">
                <a:solidFill>
                  <a:srgbClr val="FFFFFF"/>
                </a:solidFill>
                <a:latin typeface="Roboto" pitchFamily="34" charset="0"/>
                <a:ea typeface="Roboto" pitchFamily="34" charset="-122"/>
                <a:cs typeface="Roboto" pitchFamily="34" charset="-120"/>
              </a:rPr>
              <a:t>— Russell &amp; Norvig</a:t>
            </a:r>
            <a:endParaRPr lang="en-US" sz="1550" dirty="0"/>
          </a:p>
        </p:txBody>
      </p:sp>
      <p:sp>
        <p:nvSpPr>
          <p:cNvPr id="9" name="Text 7"/>
          <p:cNvSpPr/>
          <p:nvPr/>
        </p:nvSpPr>
        <p:spPr>
          <a:xfrm>
            <a:off x="661475" y="5344914"/>
            <a:ext cx="10868745" cy="627459"/>
          </a:xfrm>
          <a:prstGeom prst="rect">
            <a:avLst/>
          </a:prstGeom>
          <a:noFill/>
          <a:ln/>
        </p:spPr>
        <p:txBody>
          <a:bodyPr wrap="square" lIns="0" tIns="0" rIns="0" bIns="0" rtlCol="0" anchor="t">
            <a:normAutofit/>
          </a:bodyPr>
          <a:lstStyle/>
          <a:p>
            <a:pPr algn="l" indent="0" marL="0">
              <a:lnSpc>
                <a:spcPct val="104000"/>
              </a:lnSpc>
              <a:buNone/>
            </a:pPr>
            <a:r>
              <a:rPr lang="en-US" sz="1950" u="sng" dirty="0">
                <a:solidFill>
                  <a:srgbClr val="1F1E1E"/>
                </a:solidFill>
                <a:latin typeface="Roboto Mono Medium" pitchFamily="34" charset="0"/>
                <a:ea typeface="Roboto Mono Medium" pitchFamily="34" charset="-122"/>
                <a:cs typeface="Roboto Mono Medium" pitchFamily="34" charset="-120"/>
              </a:rPr>
              <a:t>La IA no es magia: es estadística, álgebra lineal y grandes cantidades de datos bien organizados.</a:t>
            </a:r>
            <a:endParaRPr lang="en-US" sz="1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61475" y="658118"/>
            <a:ext cx="10868745" cy="404912"/>
          </a:xfrm>
          <a:prstGeom prst="rect">
            <a:avLst/>
          </a:prstGeom>
          <a:noFill/>
          <a:ln/>
        </p:spPr>
        <p:txBody>
          <a:bodyPr wrap="none" lIns="0" tIns="0" rIns="0" bIns="0" rtlCol="0" anchor="t"/>
          <a:lstStyle/>
          <a:p>
            <a:pPr algn="l" indent="0" marL="0">
              <a:lnSpc>
                <a:spcPct val="104000"/>
              </a:lnSpc>
              <a:buNone/>
            </a:pPr>
            <a:r>
              <a:rPr lang="en-US" sz="2550" dirty="0">
                <a:solidFill>
                  <a:srgbClr val="1F1E1E"/>
                </a:solidFill>
                <a:latin typeface="Roboto Mono Medium" pitchFamily="34" charset="0"/>
                <a:ea typeface="Roboto Mono Medium" pitchFamily="34" charset="-122"/>
                <a:cs typeface="Roboto Mono Medium" pitchFamily="34" charset="-120"/>
              </a:rPr>
              <a:t>Una Breve Historia (Parte 1)</a:t>
            </a:r>
            <a:endParaRPr lang="en-US" sz="2550" dirty="0"/>
          </a:p>
        </p:txBody>
      </p:sp>
      <p:sp>
        <p:nvSpPr>
          <p:cNvPr id="3" name="Text 1"/>
          <p:cNvSpPr/>
          <p:nvPr/>
        </p:nvSpPr>
        <p:spPr>
          <a:xfrm>
            <a:off x="661475" y="1091406"/>
            <a:ext cx="10868745" cy="202505"/>
          </a:xfrm>
          <a:prstGeom prst="rect">
            <a:avLst/>
          </a:prstGeom>
          <a:noFill/>
          <a:ln/>
        </p:spPr>
        <p:txBody>
          <a:bodyPr wrap="none" lIns="0" tIns="0" rIns="0" bIns="0" rtlCol="0" anchor="t"/>
          <a:lstStyle/>
          <a:p>
            <a:pPr algn="l" indent="0" marL="0">
              <a:lnSpc>
                <a:spcPct val="104000"/>
              </a:lnSpc>
              <a:buNone/>
            </a:pPr>
            <a:r>
              <a:rPr lang="en-US" sz="1250" dirty="0">
                <a:solidFill>
                  <a:srgbClr val="1F1E1E"/>
                </a:solidFill>
                <a:latin typeface="Roboto Mono Medium" pitchFamily="34" charset="0"/>
                <a:ea typeface="Roboto Mono Medium" pitchFamily="34" charset="-122"/>
                <a:cs typeface="Roboto Mono Medium" pitchFamily="34" charset="-120"/>
              </a:rPr>
              <a:t>De Turing al primer invierno — 1948 a 1997</a:t>
            </a:r>
            <a:endParaRPr lang="en-US" sz="1250" dirty="0"/>
          </a:p>
        </p:txBody>
      </p:sp>
      <p:sp>
        <p:nvSpPr>
          <p:cNvPr id="4" name="Shape 2"/>
          <p:cNvSpPr/>
          <p:nvPr/>
        </p:nvSpPr>
        <p:spPr>
          <a:xfrm>
            <a:off x="6086323" y="1400473"/>
            <a:ext cx="19050" cy="4799409"/>
          </a:xfrm>
          <a:prstGeom prst="roundRect">
            <a:avLst>
              <a:gd name="adj" fmla="val 39999"/>
            </a:avLst>
          </a:prstGeom>
          <a:solidFill>
            <a:srgbClr val="D8D4D4"/>
          </a:solidFill>
          <a:ln/>
        </p:spPr>
      </p:sp>
      <p:sp>
        <p:nvSpPr>
          <p:cNvPr id="5" name="Shape 3"/>
          <p:cNvSpPr/>
          <p:nvPr/>
        </p:nvSpPr>
        <p:spPr>
          <a:xfrm>
            <a:off x="5580419" y="1536700"/>
            <a:ext cx="388729" cy="19050"/>
          </a:xfrm>
          <a:prstGeom prst="roundRect">
            <a:avLst>
              <a:gd name="adj" fmla="val 39999"/>
            </a:avLst>
          </a:prstGeom>
          <a:solidFill>
            <a:srgbClr val="D8D4D4"/>
          </a:solidFill>
          <a:ln/>
        </p:spPr>
      </p:sp>
      <p:sp>
        <p:nvSpPr>
          <p:cNvPr id="6" name="Shape 4"/>
          <p:cNvSpPr/>
          <p:nvPr/>
        </p:nvSpPr>
        <p:spPr>
          <a:xfrm>
            <a:off x="5950099" y="1400473"/>
            <a:ext cx="291497" cy="291505"/>
          </a:xfrm>
          <a:prstGeom prst="roundRect">
            <a:avLst>
              <a:gd name="adj" fmla="val 2614"/>
            </a:avLst>
          </a:prstGeom>
          <a:solidFill>
            <a:srgbClr val="F2EEEE"/>
          </a:solidFill>
          <a:ln w="6350">
            <a:solidFill>
              <a:srgbClr val="D8D4D4"/>
            </a:solidFill>
            <a:prstDash val="solid"/>
          </a:ln>
        </p:spPr>
      </p:sp>
      <p:sp>
        <p:nvSpPr>
          <p:cNvPr id="7" name="Text 5"/>
          <p:cNvSpPr/>
          <p:nvPr/>
        </p:nvSpPr>
        <p:spPr>
          <a:xfrm>
            <a:off x="5998665" y="1424781"/>
            <a:ext cx="194365" cy="242888"/>
          </a:xfrm>
          <a:prstGeom prst="rect">
            <a:avLst/>
          </a:prstGeom>
          <a:noFill/>
          <a:ln/>
        </p:spPr>
        <p:txBody>
          <a:bodyPr wrap="none" lIns="0" tIns="0" rIns="0" bIns="0" rtlCol="0" anchor="ctr"/>
          <a:lstStyle/>
          <a:p>
            <a:pPr algn="ctr" indent="0" marL="0">
              <a:lnSpc>
                <a:spcPct val="100000"/>
              </a:lnSpc>
              <a:buNone/>
            </a:pPr>
            <a:r>
              <a:rPr lang="en-US" sz="1500" dirty="0">
                <a:solidFill>
                  <a:srgbClr val="3B3535"/>
                </a:solidFill>
                <a:latin typeface="Roboto Mono Medium" pitchFamily="34" charset="0"/>
                <a:ea typeface="Roboto Mono Medium" pitchFamily="34" charset="-122"/>
                <a:cs typeface="Roboto Mono Medium" pitchFamily="34" charset="-120"/>
              </a:rPr>
              <a:t>1</a:t>
            </a:r>
            <a:endParaRPr lang="en-US" sz="1500" dirty="0"/>
          </a:p>
        </p:txBody>
      </p:sp>
      <p:sp>
        <p:nvSpPr>
          <p:cNvPr id="8" name="Text 6"/>
          <p:cNvSpPr/>
          <p:nvPr/>
        </p:nvSpPr>
        <p:spPr>
          <a:xfrm>
            <a:off x="661475" y="1444923"/>
            <a:ext cx="4786490" cy="405011"/>
          </a:xfrm>
          <a:prstGeom prst="rect">
            <a:avLst/>
          </a:prstGeom>
          <a:noFill/>
          <a:ln/>
        </p:spPr>
        <p:txBody>
          <a:bodyPr wrap="square" lIns="0" tIns="0" rIns="0" bIns="0" rtlCol="0" anchor="t">
            <a:normAutofit/>
          </a:bodyPr>
          <a:lstStyle/>
          <a:p>
            <a:pPr algn="r" indent="0" marL="0">
              <a:lnSpc>
                <a:spcPct val="104000"/>
              </a:lnSpc>
              <a:buNone/>
            </a:pPr>
            <a:r>
              <a:rPr lang="en-US" sz="1250" dirty="0">
                <a:solidFill>
                  <a:srgbClr val="3B3535"/>
                </a:solidFill>
                <a:latin typeface="Roboto Mono Medium" pitchFamily="34" charset="0"/>
                <a:ea typeface="Roboto Mono Medium" pitchFamily="34" charset="-122"/>
                <a:cs typeface="Roboto Mono Medium" pitchFamily="34" charset="-120"/>
              </a:rPr>
              <a:t>1948 — La Teoría de la Información (Claude Shannon)</a:t>
            </a:r>
            <a:endParaRPr lang="en-US" sz="1250" dirty="0"/>
          </a:p>
        </p:txBody>
      </p:sp>
      <p:sp>
        <p:nvSpPr>
          <p:cNvPr id="9" name="Text 7"/>
          <p:cNvSpPr/>
          <p:nvPr/>
        </p:nvSpPr>
        <p:spPr>
          <a:xfrm>
            <a:off x="661475" y="1892498"/>
            <a:ext cx="4786490" cy="481310"/>
          </a:xfrm>
          <a:prstGeom prst="rect">
            <a:avLst/>
          </a:prstGeom>
          <a:noFill/>
          <a:ln/>
        </p:spPr>
        <p:txBody>
          <a:bodyPr wrap="square" lIns="0" tIns="0" rIns="0" bIns="0" rtlCol="0" anchor="t">
            <a:normAutofit/>
          </a:bodyPr>
          <a:lstStyle/>
          <a:p>
            <a:pPr algn="r" indent="0" marL="0">
              <a:lnSpc>
                <a:spcPct val="103000"/>
              </a:lnSpc>
              <a:buNone/>
            </a:pPr>
            <a:r>
              <a:rPr lang="en-US" sz="1000" dirty="0">
                <a:solidFill>
                  <a:srgbClr val="3B3535"/>
                </a:solidFill>
                <a:latin typeface="Roboto" pitchFamily="34" charset="0"/>
                <a:ea typeface="Roboto" pitchFamily="34" charset="-122"/>
                <a:cs typeface="Roboto" pitchFamily="34" charset="-120"/>
              </a:rPr>
              <a:t>Shannon publica "A Mathematical Theory of Communication". Define conceptos como bit, entropía y canal de comunicación, sentando las bases matemáticas para el procesamiento de datos.</a:t>
            </a:r>
            <a:endParaRPr lang="en-US" sz="1000" dirty="0"/>
          </a:p>
        </p:txBody>
      </p:sp>
      <p:sp>
        <p:nvSpPr>
          <p:cNvPr id="10" name="Shape 8"/>
          <p:cNvSpPr/>
          <p:nvPr/>
        </p:nvSpPr>
        <p:spPr>
          <a:xfrm>
            <a:off x="6222547" y="2197100"/>
            <a:ext cx="388729" cy="19050"/>
          </a:xfrm>
          <a:prstGeom prst="roundRect">
            <a:avLst>
              <a:gd name="adj" fmla="val 39999"/>
            </a:avLst>
          </a:prstGeom>
          <a:solidFill>
            <a:srgbClr val="D8D4D4"/>
          </a:solidFill>
          <a:ln/>
        </p:spPr>
      </p:sp>
      <p:sp>
        <p:nvSpPr>
          <p:cNvPr id="11" name="Shape 9"/>
          <p:cNvSpPr/>
          <p:nvPr/>
        </p:nvSpPr>
        <p:spPr>
          <a:xfrm>
            <a:off x="5950099" y="2060873"/>
            <a:ext cx="291497" cy="291505"/>
          </a:xfrm>
          <a:prstGeom prst="roundRect">
            <a:avLst>
              <a:gd name="adj" fmla="val 2614"/>
            </a:avLst>
          </a:prstGeom>
          <a:solidFill>
            <a:srgbClr val="F2EEEE"/>
          </a:solidFill>
          <a:ln w="6350">
            <a:solidFill>
              <a:srgbClr val="D8D4D4"/>
            </a:solidFill>
            <a:prstDash val="solid"/>
          </a:ln>
        </p:spPr>
      </p:sp>
      <p:sp>
        <p:nvSpPr>
          <p:cNvPr id="12" name="Text 10"/>
          <p:cNvSpPr/>
          <p:nvPr/>
        </p:nvSpPr>
        <p:spPr>
          <a:xfrm>
            <a:off x="5998665" y="2085181"/>
            <a:ext cx="194365" cy="242888"/>
          </a:xfrm>
          <a:prstGeom prst="rect">
            <a:avLst/>
          </a:prstGeom>
          <a:noFill/>
          <a:ln/>
        </p:spPr>
        <p:txBody>
          <a:bodyPr wrap="none" lIns="0" tIns="0" rIns="0" bIns="0" rtlCol="0" anchor="ctr"/>
          <a:lstStyle/>
          <a:p>
            <a:pPr algn="ctr" indent="0" marL="0">
              <a:lnSpc>
                <a:spcPct val="100000"/>
              </a:lnSpc>
              <a:buNone/>
            </a:pPr>
            <a:r>
              <a:rPr lang="en-US" sz="1500" dirty="0">
                <a:solidFill>
                  <a:srgbClr val="3B3535"/>
                </a:solidFill>
                <a:latin typeface="Roboto Mono Medium" pitchFamily="34" charset="0"/>
                <a:ea typeface="Roboto Mono Medium" pitchFamily="34" charset="-122"/>
                <a:cs typeface="Roboto Mono Medium" pitchFamily="34" charset="-120"/>
              </a:rPr>
              <a:t>2</a:t>
            </a:r>
            <a:endParaRPr lang="en-US" sz="1500" dirty="0"/>
          </a:p>
        </p:txBody>
      </p:sp>
      <p:sp>
        <p:nvSpPr>
          <p:cNvPr id="13" name="Text 11"/>
          <p:cNvSpPr/>
          <p:nvPr/>
        </p:nvSpPr>
        <p:spPr>
          <a:xfrm>
            <a:off x="6743730" y="2105323"/>
            <a:ext cx="4786490" cy="202505"/>
          </a:xfrm>
          <a:prstGeom prst="rect">
            <a:avLst/>
          </a:prstGeom>
          <a:noFill/>
          <a:ln/>
        </p:spPr>
        <p:txBody>
          <a:bodyPr wrap="none" lIns="0" tIns="0" rIns="0" bIns="0" rtlCol="0" anchor="t"/>
          <a:lstStyle/>
          <a:p>
            <a:pPr algn="l" indent="0" marL="0">
              <a:lnSpc>
                <a:spcPct val="104000"/>
              </a:lnSpc>
              <a:buNone/>
            </a:pPr>
            <a:r>
              <a:rPr lang="en-US" sz="1250" dirty="0">
                <a:solidFill>
                  <a:srgbClr val="3B3535"/>
                </a:solidFill>
                <a:latin typeface="Roboto Mono Medium" pitchFamily="34" charset="0"/>
                <a:ea typeface="Roboto Mono Medium" pitchFamily="34" charset="-122"/>
                <a:cs typeface="Roboto Mono Medium" pitchFamily="34" charset="-120"/>
              </a:rPr>
              <a:t>1950 — El test de Turing</a:t>
            </a:r>
            <a:endParaRPr lang="en-US" sz="1250" dirty="0"/>
          </a:p>
        </p:txBody>
      </p:sp>
      <p:sp>
        <p:nvSpPr>
          <p:cNvPr id="14" name="Text 12"/>
          <p:cNvSpPr/>
          <p:nvPr/>
        </p:nvSpPr>
        <p:spPr>
          <a:xfrm>
            <a:off x="6743730" y="2350393"/>
            <a:ext cx="4786490" cy="320873"/>
          </a:xfrm>
          <a:prstGeom prst="rect">
            <a:avLst/>
          </a:prstGeom>
          <a:noFill/>
          <a:ln/>
        </p:spPr>
        <p:txBody>
          <a:bodyPr wrap="square" lIns="0" tIns="0" rIns="0" bIns="0" rtlCol="0" anchor="t">
            <a:normAutofit/>
          </a:bodyPr>
          <a:lstStyle/>
          <a:p>
            <a:pPr algn="l" indent="0" marL="0">
              <a:lnSpc>
                <a:spcPct val="103000"/>
              </a:lnSpc>
              <a:buNone/>
            </a:pPr>
            <a:r>
              <a:rPr lang="en-US" sz="1000" dirty="0">
                <a:solidFill>
                  <a:srgbClr val="3B3535"/>
                </a:solidFill>
                <a:latin typeface="Roboto" pitchFamily="34" charset="0"/>
                <a:ea typeface="Roboto" pitchFamily="34" charset="-122"/>
                <a:cs typeface="Roboto" pitchFamily="34" charset="-120"/>
              </a:rPr>
              <a:t>Alan Turing propone la pregunta: "¿Pueden pensar las máquinas?" Nace el marco conceptual de la IA.</a:t>
            </a:r>
            <a:endParaRPr lang="en-US" sz="1000" dirty="0"/>
          </a:p>
        </p:txBody>
      </p:sp>
      <p:sp>
        <p:nvSpPr>
          <p:cNvPr id="15" name="Shape 13"/>
          <p:cNvSpPr/>
          <p:nvPr/>
        </p:nvSpPr>
        <p:spPr>
          <a:xfrm>
            <a:off x="5580419" y="2808684"/>
            <a:ext cx="388729" cy="19050"/>
          </a:xfrm>
          <a:prstGeom prst="roundRect">
            <a:avLst>
              <a:gd name="adj" fmla="val 39999"/>
            </a:avLst>
          </a:prstGeom>
          <a:solidFill>
            <a:srgbClr val="D8D4D4"/>
          </a:solidFill>
          <a:ln/>
        </p:spPr>
      </p:sp>
      <p:sp>
        <p:nvSpPr>
          <p:cNvPr id="16" name="Shape 14"/>
          <p:cNvSpPr/>
          <p:nvPr/>
        </p:nvSpPr>
        <p:spPr>
          <a:xfrm>
            <a:off x="5950099" y="2672457"/>
            <a:ext cx="291497" cy="291505"/>
          </a:xfrm>
          <a:prstGeom prst="roundRect">
            <a:avLst>
              <a:gd name="adj" fmla="val 2614"/>
            </a:avLst>
          </a:prstGeom>
          <a:solidFill>
            <a:srgbClr val="F2EEEE"/>
          </a:solidFill>
          <a:ln w="6350">
            <a:solidFill>
              <a:srgbClr val="D8D4D4"/>
            </a:solidFill>
            <a:prstDash val="solid"/>
          </a:ln>
        </p:spPr>
      </p:sp>
      <p:sp>
        <p:nvSpPr>
          <p:cNvPr id="17" name="Text 15"/>
          <p:cNvSpPr/>
          <p:nvPr/>
        </p:nvSpPr>
        <p:spPr>
          <a:xfrm>
            <a:off x="5998665" y="2696766"/>
            <a:ext cx="194365" cy="242888"/>
          </a:xfrm>
          <a:prstGeom prst="rect">
            <a:avLst/>
          </a:prstGeom>
          <a:noFill/>
          <a:ln/>
        </p:spPr>
        <p:txBody>
          <a:bodyPr wrap="none" lIns="0" tIns="0" rIns="0" bIns="0" rtlCol="0" anchor="ctr"/>
          <a:lstStyle/>
          <a:p>
            <a:pPr algn="ctr" indent="0" marL="0">
              <a:lnSpc>
                <a:spcPct val="100000"/>
              </a:lnSpc>
              <a:buNone/>
            </a:pPr>
            <a:r>
              <a:rPr lang="en-US" sz="1500" dirty="0">
                <a:solidFill>
                  <a:srgbClr val="3B3535"/>
                </a:solidFill>
                <a:latin typeface="Roboto Mono Medium" pitchFamily="34" charset="0"/>
                <a:ea typeface="Roboto Mono Medium" pitchFamily="34" charset="-122"/>
                <a:cs typeface="Roboto Mono Medium" pitchFamily="34" charset="-120"/>
              </a:rPr>
              <a:t>3</a:t>
            </a:r>
            <a:endParaRPr lang="en-US" sz="1500" dirty="0"/>
          </a:p>
        </p:txBody>
      </p:sp>
      <p:sp>
        <p:nvSpPr>
          <p:cNvPr id="18" name="Text 16"/>
          <p:cNvSpPr/>
          <p:nvPr/>
        </p:nvSpPr>
        <p:spPr>
          <a:xfrm>
            <a:off x="661475" y="2716907"/>
            <a:ext cx="4786490" cy="202505"/>
          </a:xfrm>
          <a:prstGeom prst="rect">
            <a:avLst/>
          </a:prstGeom>
          <a:noFill/>
          <a:ln/>
        </p:spPr>
        <p:txBody>
          <a:bodyPr wrap="none" lIns="0" tIns="0" rIns="0" bIns="0" rtlCol="0" anchor="t"/>
          <a:lstStyle/>
          <a:p>
            <a:pPr algn="r" indent="0" marL="0">
              <a:lnSpc>
                <a:spcPct val="104000"/>
              </a:lnSpc>
              <a:buNone/>
            </a:pPr>
            <a:r>
              <a:rPr lang="en-US" sz="1250" dirty="0">
                <a:solidFill>
                  <a:srgbClr val="3B3535"/>
                </a:solidFill>
                <a:latin typeface="Roboto Mono Medium" pitchFamily="34" charset="0"/>
                <a:ea typeface="Roboto Mono Medium" pitchFamily="34" charset="-122"/>
                <a:cs typeface="Roboto Mono Medium" pitchFamily="34" charset="-120"/>
              </a:rPr>
              <a:t>1956 — Nacimiento oficial</a:t>
            </a:r>
            <a:endParaRPr lang="en-US" sz="1250" dirty="0"/>
          </a:p>
        </p:txBody>
      </p:sp>
      <p:sp>
        <p:nvSpPr>
          <p:cNvPr id="19" name="Text 17"/>
          <p:cNvSpPr/>
          <p:nvPr/>
        </p:nvSpPr>
        <p:spPr>
          <a:xfrm>
            <a:off x="661475" y="2961977"/>
            <a:ext cx="4786490" cy="320873"/>
          </a:xfrm>
          <a:prstGeom prst="rect">
            <a:avLst/>
          </a:prstGeom>
          <a:noFill/>
          <a:ln/>
        </p:spPr>
        <p:txBody>
          <a:bodyPr wrap="square" lIns="0" tIns="0" rIns="0" bIns="0" rtlCol="0" anchor="t">
            <a:normAutofit/>
          </a:bodyPr>
          <a:lstStyle/>
          <a:p>
            <a:pPr algn="r" indent="0" marL="0">
              <a:lnSpc>
                <a:spcPct val="103000"/>
              </a:lnSpc>
              <a:buNone/>
            </a:pPr>
            <a:r>
              <a:rPr lang="en-US" sz="1000" dirty="0">
                <a:solidFill>
                  <a:srgbClr val="3B3535"/>
                </a:solidFill>
                <a:latin typeface="Roboto" pitchFamily="34" charset="0"/>
                <a:ea typeface="Roboto" pitchFamily="34" charset="-122"/>
                <a:cs typeface="Roboto" pitchFamily="34" charset="-120"/>
              </a:rPr>
              <a:t>Conferencia de Dartmouth. John McCarthy acuña el término "Inteligencia Artificial". Comienza la primera era de optimismo.</a:t>
            </a:r>
            <a:endParaRPr lang="en-US" sz="1000" dirty="0"/>
          </a:p>
        </p:txBody>
      </p:sp>
      <p:sp>
        <p:nvSpPr>
          <p:cNvPr id="20" name="Shape 18"/>
          <p:cNvSpPr/>
          <p:nvPr/>
        </p:nvSpPr>
        <p:spPr>
          <a:xfrm>
            <a:off x="6222547" y="3420269"/>
            <a:ext cx="388729" cy="19050"/>
          </a:xfrm>
          <a:prstGeom prst="roundRect">
            <a:avLst>
              <a:gd name="adj" fmla="val 39999"/>
            </a:avLst>
          </a:prstGeom>
          <a:solidFill>
            <a:srgbClr val="D8D4D4"/>
          </a:solidFill>
          <a:ln/>
        </p:spPr>
      </p:sp>
      <p:sp>
        <p:nvSpPr>
          <p:cNvPr id="21" name="Shape 19"/>
          <p:cNvSpPr/>
          <p:nvPr/>
        </p:nvSpPr>
        <p:spPr>
          <a:xfrm>
            <a:off x="5950099" y="3284041"/>
            <a:ext cx="291497" cy="291505"/>
          </a:xfrm>
          <a:prstGeom prst="roundRect">
            <a:avLst>
              <a:gd name="adj" fmla="val 2614"/>
            </a:avLst>
          </a:prstGeom>
          <a:solidFill>
            <a:srgbClr val="F2EEEE"/>
          </a:solidFill>
          <a:ln w="6350">
            <a:solidFill>
              <a:srgbClr val="D8D4D4"/>
            </a:solidFill>
            <a:prstDash val="solid"/>
          </a:ln>
        </p:spPr>
      </p:sp>
      <p:sp>
        <p:nvSpPr>
          <p:cNvPr id="22" name="Text 20"/>
          <p:cNvSpPr/>
          <p:nvPr/>
        </p:nvSpPr>
        <p:spPr>
          <a:xfrm>
            <a:off x="5998665" y="3308350"/>
            <a:ext cx="194365" cy="242888"/>
          </a:xfrm>
          <a:prstGeom prst="rect">
            <a:avLst/>
          </a:prstGeom>
          <a:noFill/>
          <a:ln/>
        </p:spPr>
        <p:txBody>
          <a:bodyPr wrap="none" lIns="0" tIns="0" rIns="0" bIns="0" rtlCol="0" anchor="ctr"/>
          <a:lstStyle/>
          <a:p>
            <a:pPr algn="ctr" indent="0" marL="0">
              <a:lnSpc>
                <a:spcPct val="100000"/>
              </a:lnSpc>
              <a:buNone/>
            </a:pPr>
            <a:r>
              <a:rPr lang="en-US" sz="1500" dirty="0">
                <a:solidFill>
                  <a:srgbClr val="3B3535"/>
                </a:solidFill>
                <a:latin typeface="Roboto Mono Medium" pitchFamily="34" charset="0"/>
                <a:ea typeface="Roboto Mono Medium" pitchFamily="34" charset="-122"/>
                <a:cs typeface="Roboto Mono Medium" pitchFamily="34" charset="-120"/>
              </a:rPr>
              <a:t>4</a:t>
            </a:r>
            <a:endParaRPr lang="en-US" sz="1500" dirty="0"/>
          </a:p>
        </p:txBody>
      </p:sp>
      <p:sp>
        <p:nvSpPr>
          <p:cNvPr id="23" name="Text 21"/>
          <p:cNvSpPr/>
          <p:nvPr/>
        </p:nvSpPr>
        <p:spPr>
          <a:xfrm>
            <a:off x="6743730" y="3328491"/>
            <a:ext cx="4786490" cy="202505"/>
          </a:xfrm>
          <a:prstGeom prst="rect">
            <a:avLst/>
          </a:prstGeom>
          <a:noFill/>
          <a:ln/>
        </p:spPr>
        <p:txBody>
          <a:bodyPr wrap="none" lIns="0" tIns="0" rIns="0" bIns="0" rtlCol="0" anchor="t"/>
          <a:lstStyle/>
          <a:p>
            <a:pPr algn="l" indent="0" marL="0">
              <a:lnSpc>
                <a:spcPct val="104000"/>
              </a:lnSpc>
              <a:buNone/>
            </a:pPr>
            <a:r>
              <a:rPr lang="en-US" sz="1250" dirty="0">
                <a:solidFill>
                  <a:srgbClr val="3B3535"/>
                </a:solidFill>
                <a:latin typeface="Roboto Mono Medium" pitchFamily="34" charset="0"/>
                <a:ea typeface="Roboto Mono Medium" pitchFamily="34" charset="-122"/>
                <a:cs typeface="Roboto Mono Medium" pitchFamily="34" charset="-120"/>
              </a:rPr>
              <a:t>1958 — El Perceptrón (Frank Rosenblatt)</a:t>
            </a:r>
            <a:endParaRPr lang="en-US" sz="1250" dirty="0"/>
          </a:p>
        </p:txBody>
      </p:sp>
      <p:sp>
        <p:nvSpPr>
          <p:cNvPr id="24" name="Text 22"/>
          <p:cNvSpPr/>
          <p:nvPr/>
        </p:nvSpPr>
        <p:spPr>
          <a:xfrm>
            <a:off x="6743730" y="3573562"/>
            <a:ext cx="4786490" cy="481310"/>
          </a:xfrm>
          <a:prstGeom prst="rect">
            <a:avLst/>
          </a:prstGeom>
          <a:noFill/>
          <a:ln/>
        </p:spPr>
        <p:txBody>
          <a:bodyPr wrap="square" lIns="0" tIns="0" rIns="0" bIns="0" rtlCol="0" anchor="t">
            <a:normAutofit/>
          </a:bodyPr>
          <a:lstStyle/>
          <a:p>
            <a:pPr algn="l" indent="0" marL="0">
              <a:lnSpc>
                <a:spcPct val="103000"/>
              </a:lnSpc>
              <a:buNone/>
            </a:pPr>
            <a:r>
              <a:rPr lang="en-US" sz="1000" dirty="0">
                <a:solidFill>
                  <a:srgbClr val="3B3535"/>
                </a:solidFill>
                <a:latin typeface="Roboto" pitchFamily="34" charset="0"/>
                <a:ea typeface="Roboto" pitchFamily="34" charset="-122"/>
                <a:cs typeface="Roboto" pitchFamily="34" charset="-120"/>
              </a:rPr>
              <a:t>Rosenblatt crea la primera red neuronal artificial capaz de aprender. Minsky y Papert demostrarían en 1969 sus limitaciones, desencadenando el primer "invierno de la IA".</a:t>
            </a:r>
            <a:endParaRPr lang="en-US" sz="1000" dirty="0"/>
          </a:p>
        </p:txBody>
      </p:sp>
      <p:sp>
        <p:nvSpPr>
          <p:cNvPr id="25" name="Shape 23"/>
          <p:cNvSpPr/>
          <p:nvPr/>
        </p:nvSpPr>
        <p:spPr>
          <a:xfrm>
            <a:off x="5580419" y="4031853"/>
            <a:ext cx="388729" cy="19050"/>
          </a:xfrm>
          <a:prstGeom prst="roundRect">
            <a:avLst>
              <a:gd name="adj" fmla="val 39999"/>
            </a:avLst>
          </a:prstGeom>
          <a:solidFill>
            <a:srgbClr val="D8D4D4"/>
          </a:solidFill>
          <a:ln/>
        </p:spPr>
      </p:sp>
      <p:sp>
        <p:nvSpPr>
          <p:cNvPr id="26" name="Shape 24"/>
          <p:cNvSpPr/>
          <p:nvPr/>
        </p:nvSpPr>
        <p:spPr>
          <a:xfrm>
            <a:off x="5950099" y="3895626"/>
            <a:ext cx="291497" cy="291505"/>
          </a:xfrm>
          <a:prstGeom prst="roundRect">
            <a:avLst>
              <a:gd name="adj" fmla="val 2614"/>
            </a:avLst>
          </a:prstGeom>
          <a:solidFill>
            <a:srgbClr val="F2EEEE"/>
          </a:solidFill>
          <a:ln w="6350">
            <a:solidFill>
              <a:srgbClr val="D8D4D4"/>
            </a:solidFill>
            <a:prstDash val="solid"/>
          </a:ln>
        </p:spPr>
      </p:sp>
      <p:sp>
        <p:nvSpPr>
          <p:cNvPr id="27" name="Text 25"/>
          <p:cNvSpPr/>
          <p:nvPr/>
        </p:nvSpPr>
        <p:spPr>
          <a:xfrm>
            <a:off x="5998665" y="3919934"/>
            <a:ext cx="194365" cy="242888"/>
          </a:xfrm>
          <a:prstGeom prst="rect">
            <a:avLst/>
          </a:prstGeom>
          <a:noFill/>
          <a:ln/>
        </p:spPr>
        <p:txBody>
          <a:bodyPr wrap="none" lIns="0" tIns="0" rIns="0" bIns="0" rtlCol="0" anchor="ctr"/>
          <a:lstStyle/>
          <a:p>
            <a:pPr algn="ctr" indent="0" marL="0">
              <a:lnSpc>
                <a:spcPct val="100000"/>
              </a:lnSpc>
              <a:buNone/>
            </a:pPr>
            <a:r>
              <a:rPr lang="en-US" sz="1500" dirty="0">
                <a:solidFill>
                  <a:srgbClr val="3B3535"/>
                </a:solidFill>
                <a:latin typeface="Roboto Mono Medium" pitchFamily="34" charset="0"/>
                <a:ea typeface="Roboto Mono Medium" pitchFamily="34" charset="-122"/>
                <a:cs typeface="Roboto Mono Medium" pitchFamily="34" charset="-120"/>
              </a:rPr>
              <a:t>5</a:t>
            </a:r>
            <a:endParaRPr lang="en-US" sz="1500" dirty="0"/>
          </a:p>
        </p:txBody>
      </p:sp>
      <p:sp>
        <p:nvSpPr>
          <p:cNvPr id="28" name="Text 26"/>
          <p:cNvSpPr/>
          <p:nvPr/>
        </p:nvSpPr>
        <p:spPr>
          <a:xfrm>
            <a:off x="661475" y="3940076"/>
            <a:ext cx="4786490" cy="202505"/>
          </a:xfrm>
          <a:prstGeom prst="rect">
            <a:avLst/>
          </a:prstGeom>
          <a:noFill/>
          <a:ln/>
        </p:spPr>
        <p:txBody>
          <a:bodyPr wrap="none" lIns="0" tIns="0" rIns="0" bIns="0" rtlCol="0" anchor="t"/>
          <a:lstStyle/>
          <a:p>
            <a:pPr algn="r" indent="0" marL="0">
              <a:lnSpc>
                <a:spcPct val="104000"/>
              </a:lnSpc>
              <a:buNone/>
            </a:pPr>
            <a:r>
              <a:rPr lang="en-US" sz="1250" dirty="0">
                <a:solidFill>
                  <a:srgbClr val="3B3535"/>
                </a:solidFill>
                <a:latin typeface="Roboto Mono Medium" pitchFamily="34" charset="0"/>
                <a:ea typeface="Roboto Mono Medium" pitchFamily="34" charset="-122"/>
                <a:cs typeface="Roboto Mono Medium" pitchFamily="34" charset="-120"/>
              </a:rPr>
              <a:t>1980-90s — Sistemas expertos e inviernos</a:t>
            </a:r>
            <a:endParaRPr lang="en-US" sz="1250" dirty="0"/>
          </a:p>
        </p:txBody>
      </p:sp>
      <p:sp>
        <p:nvSpPr>
          <p:cNvPr id="29" name="Text 27"/>
          <p:cNvSpPr/>
          <p:nvPr/>
        </p:nvSpPr>
        <p:spPr>
          <a:xfrm>
            <a:off x="661475" y="4185146"/>
            <a:ext cx="4786490" cy="320873"/>
          </a:xfrm>
          <a:prstGeom prst="rect">
            <a:avLst/>
          </a:prstGeom>
          <a:noFill/>
          <a:ln/>
        </p:spPr>
        <p:txBody>
          <a:bodyPr wrap="square" lIns="0" tIns="0" rIns="0" bIns="0" rtlCol="0" anchor="t">
            <a:normAutofit/>
          </a:bodyPr>
          <a:lstStyle/>
          <a:p>
            <a:pPr algn="r" indent="0" marL="0">
              <a:lnSpc>
                <a:spcPct val="103000"/>
              </a:lnSpc>
              <a:buNone/>
            </a:pPr>
            <a:r>
              <a:rPr lang="en-US" sz="1000" dirty="0">
                <a:solidFill>
                  <a:srgbClr val="3B3535"/>
                </a:solidFill>
                <a:latin typeface="Roboto" pitchFamily="34" charset="0"/>
                <a:ea typeface="Roboto" pitchFamily="34" charset="-122"/>
                <a:cs typeface="Roboto" pitchFamily="34" charset="-120"/>
              </a:rPr>
              <a:t>Auge y caída de los sistemas basados en reglas. Los "inviernos de la IA" frenan la inversión y la investigación.</a:t>
            </a:r>
            <a:endParaRPr lang="en-US" sz="1000" dirty="0"/>
          </a:p>
        </p:txBody>
      </p:sp>
      <p:sp>
        <p:nvSpPr>
          <p:cNvPr id="30" name="Shape 28"/>
          <p:cNvSpPr/>
          <p:nvPr/>
        </p:nvSpPr>
        <p:spPr>
          <a:xfrm>
            <a:off x="6222547" y="4643437"/>
            <a:ext cx="388729" cy="19050"/>
          </a:xfrm>
          <a:prstGeom prst="roundRect">
            <a:avLst>
              <a:gd name="adj" fmla="val 39999"/>
            </a:avLst>
          </a:prstGeom>
          <a:solidFill>
            <a:srgbClr val="D8D4D4"/>
          </a:solidFill>
          <a:ln/>
        </p:spPr>
      </p:sp>
      <p:sp>
        <p:nvSpPr>
          <p:cNvPr id="31" name="Shape 29"/>
          <p:cNvSpPr/>
          <p:nvPr/>
        </p:nvSpPr>
        <p:spPr>
          <a:xfrm>
            <a:off x="5950099" y="4507210"/>
            <a:ext cx="291497" cy="291505"/>
          </a:xfrm>
          <a:prstGeom prst="roundRect">
            <a:avLst>
              <a:gd name="adj" fmla="val 2614"/>
            </a:avLst>
          </a:prstGeom>
          <a:solidFill>
            <a:srgbClr val="F2EEEE"/>
          </a:solidFill>
          <a:ln w="6350">
            <a:solidFill>
              <a:srgbClr val="D8D4D4"/>
            </a:solidFill>
            <a:prstDash val="solid"/>
          </a:ln>
        </p:spPr>
      </p:sp>
      <p:sp>
        <p:nvSpPr>
          <p:cNvPr id="32" name="Text 30"/>
          <p:cNvSpPr/>
          <p:nvPr/>
        </p:nvSpPr>
        <p:spPr>
          <a:xfrm>
            <a:off x="5998665" y="4531519"/>
            <a:ext cx="194365" cy="242888"/>
          </a:xfrm>
          <a:prstGeom prst="rect">
            <a:avLst/>
          </a:prstGeom>
          <a:noFill/>
          <a:ln/>
        </p:spPr>
        <p:txBody>
          <a:bodyPr wrap="none" lIns="0" tIns="0" rIns="0" bIns="0" rtlCol="0" anchor="ctr"/>
          <a:lstStyle/>
          <a:p>
            <a:pPr algn="ctr" indent="0" marL="0">
              <a:lnSpc>
                <a:spcPct val="100000"/>
              </a:lnSpc>
              <a:buNone/>
            </a:pPr>
            <a:r>
              <a:rPr lang="en-US" sz="1500" dirty="0">
                <a:solidFill>
                  <a:srgbClr val="3B3535"/>
                </a:solidFill>
                <a:latin typeface="Roboto Mono Medium" pitchFamily="34" charset="0"/>
                <a:ea typeface="Roboto Mono Medium" pitchFamily="34" charset="-122"/>
                <a:cs typeface="Roboto Mono Medium" pitchFamily="34" charset="-120"/>
              </a:rPr>
              <a:t>6</a:t>
            </a:r>
            <a:endParaRPr lang="en-US" sz="1500" dirty="0"/>
          </a:p>
        </p:txBody>
      </p:sp>
      <p:sp>
        <p:nvSpPr>
          <p:cNvPr id="33" name="Text 31"/>
          <p:cNvSpPr/>
          <p:nvPr/>
        </p:nvSpPr>
        <p:spPr>
          <a:xfrm>
            <a:off x="6743730" y="4551660"/>
            <a:ext cx="4786490" cy="202505"/>
          </a:xfrm>
          <a:prstGeom prst="rect">
            <a:avLst/>
          </a:prstGeom>
          <a:noFill/>
          <a:ln/>
        </p:spPr>
        <p:txBody>
          <a:bodyPr wrap="none" lIns="0" tIns="0" rIns="0" bIns="0" rtlCol="0" anchor="t"/>
          <a:lstStyle/>
          <a:p>
            <a:pPr algn="l" indent="0" marL="0">
              <a:lnSpc>
                <a:spcPct val="104000"/>
              </a:lnSpc>
              <a:buNone/>
            </a:pPr>
            <a:r>
              <a:rPr lang="en-US" sz="1250" dirty="0">
                <a:solidFill>
                  <a:srgbClr val="3B3535"/>
                </a:solidFill>
                <a:latin typeface="Roboto Mono Medium" pitchFamily="34" charset="0"/>
                <a:ea typeface="Roboto Mono Medium" pitchFamily="34" charset="-122"/>
                <a:cs typeface="Roboto Mono Medium" pitchFamily="34" charset="-120"/>
              </a:rPr>
              <a:t>1986 — Backpropagation revoluciona el aprendizaje</a:t>
            </a:r>
            <a:endParaRPr lang="en-US" sz="1250" dirty="0"/>
          </a:p>
        </p:txBody>
      </p:sp>
      <p:sp>
        <p:nvSpPr>
          <p:cNvPr id="34" name="Text 32"/>
          <p:cNvSpPr/>
          <p:nvPr/>
        </p:nvSpPr>
        <p:spPr>
          <a:xfrm>
            <a:off x="6743730" y="4796730"/>
            <a:ext cx="4786490" cy="320873"/>
          </a:xfrm>
          <a:prstGeom prst="rect">
            <a:avLst/>
          </a:prstGeom>
          <a:noFill/>
          <a:ln/>
        </p:spPr>
        <p:txBody>
          <a:bodyPr wrap="square" lIns="0" tIns="0" rIns="0" bIns="0" rtlCol="0" anchor="t">
            <a:normAutofit/>
          </a:bodyPr>
          <a:lstStyle/>
          <a:p>
            <a:pPr algn="l" indent="0" marL="0">
              <a:lnSpc>
                <a:spcPct val="103000"/>
              </a:lnSpc>
              <a:buNone/>
            </a:pPr>
            <a:r>
              <a:rPr lang="en-US" sz="1000" dirty="0">
                <a:solidFill>
                  <a:srgbClr val="3B3535"/>
                </a:solidFill>
                <a:latin typeface="Roboto" pitchFamily="34" charset="0"/>
                <a:ea typeface="Roboto" pitchFamily="34" charset="-122"/>
                <a:cs typeface="Roboto" pitchFamily="34" charset="-120"/>
              </a:rPr>
              <a:t>Rumelhart, Hinton y Williams popularizan el algoritmo de retropropagación del error, permitiendo entrenar redes neuronales multicapa.</a:t>
            </a:r>
            <a:endParaRPr lang="en-US" sz="1000" dirty="0"/>
          </a:p>
        </p:txBody>
      </p:sp>
      <p:sp>
        <p:nvSpPr>
          <p:cNvPr id="35" name="Shape 33"/>
          <p:cNvSpPr/>
          <p:nvPr/>
        </p:nvSpPr>
        <p:spPr>
          <a:xfrm>
            <a:off x="5580419" y="5255022"/>
            <a:ext cx="388729" cy="19050"/>
          </a:xfrm>
          <a:prstGeom prst="roundRect">
            <a:avLst>
              <a:gd name="adj" fmla="val 39999"/>
            </a:avLst>
          </a:prstGeom>
          <a:solidFill>
            <a:srgbClr val="D8D4D4"/>
          </a:solidFill>
          <a:ln/>
        </p:spPr>
      </p:sp>
      <p:sp>
        <p:nvSpPr>
          <p:cNvPr id="36" name="Shape 34"/>
          <p:cNvSpPr/>
          <p:nvPr/>
        </p:nvSpPr>
        <p:spPr>
          <a:xfrm>
            <a:off x="5950099" y="5118795"/>
            <a:ext cx="291497" cy="291505"/>
          </a:xfrm>
          <a:prstGeom prst="roundRect">
            <a:avLst>
              <a:gd name="adj" fmla="val 2614"/>
            </a:avLst>
          </a:prstGeom>
          <a:solidFill>
            <a:srgbClr val="F2EEEE"/>
          </a:solidFill>
          <a:ln w="6350">
            <a:solidFill>
              <a:srgbClr val="D8D4D4"/>
            </a:solidFill>
            <a:prstDash val="solid"/>
          </a:ln>
        </p:spPr>
      </p:sp>
      <p:sp>
        <p:nvSpPr>
          <p:cNvPr id="37" name="Text 35"/>
          <p:cNvSpPr/>
          <p:nvPr/>
        </p:nvSpPr>
        <p:spPr>
          <a:xfrm>
            <a:off x="5998665" y="5143103"/>
            <a:ext cx="194365" cy="242888"/>
          </a:xfrm>
          <a:prstGeom prst="rect">
            <a:avLst/>
          </a:prstGeom>
          <a:noFill/>
          <a:ln/>
        </p:spPr>
        <p:txBody>
          <a:bodyPr wrap="none" lIns="0" tIns="0" rIns="0" bIns="0" rtlCol="0" anchor="ctr"/>
          <a:lstStyle/>
          <a:p>
            <a:pPr algn="ctr" indent="0" marL="0">
              <a:lnSpc>
                <a:spcPct val="100000"/>
              </a:lnSpc>
              <a:buNone/>
            </a:pPr>
            <a:r>
              <a:rPr lang="en-US" sz="1500" dirty="0">
                <a:solidFill>
                  <a:srgbClr val="3B3535"/>
                </a:solidFill>
                <a:latin typeface="Roboto Mono Medium" pitchFamily="34" charset="0"/>
                <a:ea typeface="Roboto Mono Medium" pitchFamily="34" charset="-122"/>
                <a:cs typeface="Roboto Mono Medium" pitchFamily="34" charset="-120"/>
              </a:rPr>
              <a:t>7</a:t>
            </a:r>
            <a:endParaRPr lang="en-US" sz="1500" dirty="0"/>
          </a:p>
        </p:txBody>
      </p:sp>
      <p:sp>
        <p:nvSpPr>
          <p:cNvPr id="38" name="Text 36"/>
          <p:cNvSpPr/>
          <p:nvPr/>
        </p:nvSpPr>
        <p:spPr>
          <a:xfrm>
            <a:off x="661475" y="5163245"/>
            <a:ext cx="4786490" cy="202505"/>
          </a:xfrm>
          <a:prstGeom prst="rect">
            <a:avLst/>
          </a:prstGeom>
          <a:noFill/>
          <a:ln/>
        </p:spPr>
        <p:txBody>
          <a:bodyPr wrap="none" lIns="0" tIns="0" rIns="0" bIns="0" rtlCol="0" anchor="t"/>
          <a:lstStyle/>
          <a:p>
            <a:pPr algn="r" indent="0" marL="0">
              <a:lnSpc>
                <a:spcPct val="104000"/>
              </a:lnSpc>
              <a:buNone/>
            </a:pPr>
            <a:r>
              <a:rPr lang="en-US" sz="1250" dirty="0">
                <a:solidFill>
                  <a:srgbClr val="3B3535"/>
                </a:solidFill>
                <a:latin typeface="Roboto Mono Medium" pitchFamily="34" charset="0"/>
                <a:ea typeface="Roboto Mono Medium" pitchFamily="34" charset="-122"/>
                <a:cs typeface="Roboto Mono Medium" pitchFamily="34" charset="-120"/>
              </a:rPr>
              <a:t>1997 — Deep Blue vence a Kasparov</a:t>
            </a:r>
            <a:endParaRPr lang="en-US" sz="1250" dirty="0"/>
          </a:p>
        </p:txBody>
      </p:sp>
      <p:sp>
        <p:nvSpPr>
          <p:cNvPr id="39" name="Text 37"/>
          <p:cNvSpPr/>
          <p:nvPr/>
        </p:nvSpPr>
        <p:spPr>
          <a:xfrm>
            <a:off x="661475" y="5408315"/>
            <a:ext cx="4786490" cy="481310"/>
          </a:xfrm>
          <a:prstGeom prst="rect">
            <a:avLst/>
          </a:prstGeom>
          <a:noFill/>
          <a:ln/>
        </p:spPr>
        <p:txBody>
          <a:bodyPr wrap="square" lIns="0" tIns="0" rIns="0" bIns="0" rtlCol="0" anchor="t">
            <a:normAutofit/>
          </a:bodyPr>
          <a:lstStyle/>
          <a:p>
            <a:pPr algn="r" indent="0" marL="0">
              <a:lnSpc>
                <a:spcPct val="103000"/>
              </a:lnSpc>
              <a:buNone/>
            </a:pPr>
            <a:r>
              <a:rPr lang="en-US" sz="1000" dirty="0">
                <a:solidFill>
                  <a:srgbClr val="3B3535"/>
                </a:solidFill>
                <a:latin typeface="Roboto" pitchFamily="34" charset="0"/>
                <a:ea typeface="Roboto" pitchFamily="34" charset="-122"/>
                <a:cs typeface="Roboto" pitchFamily="34" charset="-120"/>
              </a:rPr>
              <a:t>La supercomputadora de IBM derrota al campeón mundial de ajedrez Garry Kasparov. Primera victoria de la IA sobre el mejor humano en un juego de estrategia complejo.</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61475" y="657523"/>
            <a:ext cx="10868745" cy="434876"/>
          </a:xfrm>
          <a:prstGeom prst="rect">
            <a:avLst/>
          </a:prstGeom>
          <a:noFill/>
          <a:ln/>
        </p:spPr>
        <p:txBody>
          <a:bodyPr wrap="none" lIns="0" tIns="0" rIns="0" bIns="0" rtlCol="0" anchor="t"/>
          <a:lstStyle/>
          <a:p>
            <a:pPr algn="l" indent="0" marL="0">
              <a:lnSpc>
                <a:spcPct val="104000"/>
              </a:lnSpc>
              <a:buNone/>
            </a:pPr>
            <a:r>
              <a:rPr lang="en-US" sz="2700" dirty="0">
                <a:solidFill>
                  <a:srgbClr val="1F1E1E"/>
                </a:solidFill>
                <a:latin typeface="Roboto Mono Medium" pitchFamily="34" charset="0"/>
                <a:ea typeface="Roboto Mono Medium" pitchFamily="34" charset="-122"/>
                <a:cs typeface="Roboto Mono Medium" pitchFamily="34" charset="-120"/>
              </a:rPr>
              <a:t>Redes Neuronales — Estructura y Celda Básica</a:t>
            </a:r>
            <a:endParaRPr lang="en-US" sz="2700" dirty="0"/>
          </a:p>
        </p:txBody>
      </p:sp>
      <p:sp>
        <p:nvSpPr>
          <p:cNvPr id="3" name="Text 1"/>
          <p:cNvSpPr/>
          <p:nvPr/>
        </p:nvSpPr>
        <p:spPr>
          <a:xfrm>
            <a:off x="661475" y="1125141"/>
            <a:ext cx="10868745" cy="217388"/>
          </a:xfrm>
          <a:prstGeom prst="rect">
            <a:avLst/>
          </a:prstGeom>
          <a:noFill/>
          <a:ln/>
        </p:spPr>
        <p:txBody>
          <a:bodyPr wrap="none" lIns="0" tIns="0" rIns="0" bIns="0" rtlCol="0" anchor="t"/>
          <a:lstStyle/>
          <a:p>
            <a:pPr algn="l" indent="0" marL="0">
              <a:lnSpc>
                <a:spcPct val="104000"/>
              </a:lnSpc>
              <a:buNone/>
            </a:pPr>
            <a:r>
              <a:rPr lang="en-US" sz="1350" dirty="0">
                <a:solidFill>
                  <a:srgbClr val="1F1E1E"/>
                </a:solidFill>
                <a:latin typeface="Roboto Mono Medium" pitchFamily="34" charset="0"/>
                <a:ea typeface="Roboto Mono Medium" pitchFamily="34" charset="-122"/>
                <a:cs typeface="Roboto Mono Medium" pitchFamily="34" charset="-120"/>
              </a:rPr>
              <a:t>De la neurona biológica al perceptrón artificial</a:t>
            </a:r>
            <a:endParaRPr lang="en-US" sz="1350" dirty="0"/>
          </a:p>
        </p:txBody>
      </p:sp>
      <p:sp>
        <p:nvSpPr>
          <p:cNvPr id="4" name="Text 2"/>
          <p:cNvSpPr/>
          <p:nvPr/>
        </p:nvSpPr>
        <p:spPr>
          <a:xfrm>
            <a:off x="661475" y="1547416"/>
            <a:ext cx="5264614" cy="260945"/>
          </a:xfrm>
          <a:prstGeom prst="rect">
            <a:avLst/>
          </a:prstGeom>
          <a:noFill/>
          <a:ln/>
        </p:spPr>
        <p:txBody>
          <a:bodyPr wrap="none" lIns="0" tIns="0" rIns="0" bIns="0" rtlCol="0" anchor="t"/>
          <a:lstStyle/>
          <a:p>
            <a:pPr algn="l" indent="0" marL="0">
              <a:lnSpc>
                <a:spcPct val="104000"/>
              </a:lnSpc>
              <a:buNone/>
            </a:pPr>
            <a:r>
              <a:rPr lang="en-US" sz="1600" dirty="0">
                <a:solidFill>
                  <a:srgbClr val="1F1E1E"/>
                </a:solidFill>
                <a:latin typeface="Roboto Mono Medium" pitchFamily="34" charset="0"/>
                <a:ea typeface="Roboto Mono Medium" pitchFamily="34" charset="-122"/>
                <a:cs typeface="Roboto Mono Medium" pitchFamily="34" charset="-120"/>
              </a:rPr>
              <a:t>Red Neuronal Simple</a:t>
            </a:r>
            <a:endParaRPr lang="en-US" sz="1600" dirty="0"/>
          </a:p>
        </p:txBody>
      </p:sp>
      <p:pic>
        <p:nvPicPr>
          <p:cNvPr id="5" name="Image 0" descr="preencoded.png">    </p:cNvPr>
          <p:cNvPicPr>
            <a:picLocks noChangeAspect="1"/>
          </p:cNvPicPr>
          <p:nvPr/>
        </p:nvPicPr>
        <p:blipFill>
          <a:blip r:embed="rId1"/>
          <a:stretch>
            <a:fillRect/>
          </a:stretch>
        </p:blipFill>
        <p:spPr>
          <a:xfrm>
            <a:off x="661475" y="1900535"/>
            <a:ext cx="3421969" cy="2679799"/>
          </a:xfrm>
          <a:prstGeom prst="rect">
            <a:avLst/>
          </a:prstGeom>
        </p:spPr>
      </p:pic>
      <p:sp>
        <p:nvSpPr>
          <p:cNvPr id="6" name="Text 3"/>
          <p:cNvSpPr/>
          <p:nvPr/>
        </p:nvSpPr>
        <p:spPr>
          <a:xfrm>
            <a:off x="6271956" y="1547416"/>
            <a:ext cx="5264614" cy="260945"/>
          </a:xfrm>
          <a:prstGeom prst="rect">
            <a:avLst/>
          </a:prstGeom>
          <a:noFill/>
          <a:ln/>
        </p:spPr>
        <p:txBody>
          <a:bodyPr wrap="none" lIns="0" tIns="0" rIns="0" bIns="0" rtlCol="0" anchor="t"/>
          <a:lstStyle/>
          <a:p>
            <a:pPr algn="l" indent="0" marL="0">
              <a:lnSpc>
                <a:spcPct val="104000"/>
              </a:lnSpc>
              <a:buNone/>
            </a:pPr>
            <a:r>
              <a:rPr lang="en-US" sz="1600" dirty="0">
                <a:solidFill>
                  <a:srgbClr val="1F1E1E"/>
                </a:solidFill>
                <a:latin typeface="Roboto Mono Medium" pitchFamily="34" charset="0"/>
                <a:ea typeface="Roboto Mono Medium" pitchFamily="34" charset="-122"/>
                <a:cs typeface="Roboto Mono Medium" pitchFamily="34" charset="-120"/>
              </a:rPr>
              <a:t>Anatomía de una Neurona Artificial</a:t>
            </a:r>
            <a:endParaRPr lang="en-US" sz="1600" dirty="0"/>
          </a:p>
        </p:txBody>
      </p:sp>
      <p:sp>
        <p:nvSpPr>
          <p:cNvPr id="7" name="Shape 4"/>
          <p:cNvSpPr/>
          <p:nvPr/>
        </p:nvSpPr>
        <p:spPr>
          <a:xfrm>
            <a:off x="6271956" y="1900535"/>
            <a:ext cx="5264614" cy="779859"/>
          </a:xfrm>
          <a:prstGeom prst="roundRect">
            <a:avLst>
              <a:gd name="adj" fmla="val 977"/>
            </a:avLst>
          </a:prstGeom>
          <a:solidFill>
            <a:srgbClr val="F2EEEE"/>
          </a:solidFill>
          <a:ln w="6350">
            <a:solidFill>
              <a:srgbClr val="D8D4D4"/>
            </a:solidFill>
            <a:prstDash val="solid"/>
          </a:ln>
        </p:spPr>
      </p:sp>
      <p:sp>
        <p:nvSpPr>
          <p:cNvPr id="8" name="Text 5"/>
          <p:cNvSpPr/>
          <p:nvPr/>
        </p:nvSpPr>
        <p:spPr>
          <a:xfrm>
            <a:off x="6417407" y="2045990"/>
            <a:ext cx="4973712" cy="230088"/>
          </a:xfrm>
          <a:prstGeom prst="rect">
            <a:avLst/>
          </a:prstGeom>
          <a:noFill/>
          <a:ln/>
        </p:spPr>
        <p:txBody>
          <a:bodyPr wrap="none" lIns="0" tIns="0" rIns="0" bIns="0" rtlCol="0" anchor="t"/>
          <a:lstStyle/>
          <a:p>
            <a:pPr algn="l" indent="0" marL="0">
              <a:lnSpc>
                <a:spcPct val="104000"/>
              </a:lnSpc>
              <a:buNone/>
            </a:pPr>
            <a:r>
              <a:rPr lang="en-US" sz="13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350" dirty="0">
                <a:solidFill>
                  <a:srgbClr val="3B3535"/>
                </a:solidFill>
                <a:latin typeface="Roboto Mono Medium" pitchFamily="34" charset="0"/>
                <a:ea typeface="Roboto Mono Medium" pitchFamily="34" charset="-122"/>
                <a:cs typeface="Roboto Mono Medium" pitchFamily="34" charset="-120"/>
              </a:rPr>
              <a:t> Entradas (x₁, x₂, ..., xₙ)</a:t>
            </a:r>
            <a:endParaRPr lang="en-US" sz="1350" dirty="0"/>
          </a:p>
        </p:txBody>
      </p:sp>
      <p:sp>
        <p:nvSpPr>
          <p:cNvPr id="9" name="Text 6"/>
          <p:cNvSpPr/>
          <p:nvPr/>
        </p:nvSpPr>
        <p:spPr>
          <a:xfrm>
            <a:off x="6417407" y="2358033"/>
            <a:ext cx="4973712" cy="176907"/>
          </a:xfrm>
          <a:prstGeom prst="rect">
            <a:avLst/>
          </a:prstGeom>
          <a:noFill/>
          <a:ln/>
        </p:spPr>
        <p:txBody>
          <a:bodyPr wrap="none" lIns="0" tIns="0" rIns="0" bIns="0" rtlCol="0" anchor="t"/>
          <a:lstStyle/>
          <a:p>
            <a:pPr algn="l" indent="0" marL="0">
              <a:lnSpc>
                <a:spcPct val="106000"/>
              </a:lnSpc>
              <a:buNone/>
            </a:pPr>
            <a:r>
              <a:rPr lang="en-US" sz="1050" dirty="0">
                <a:solidFill>
                  <a:srgbClr val="3B3535"/>
                </a:solidFill>
                <a:latin typeface="Roboto" pitchFamily="34" charset="0"/>
                <a:ea typeface="Roboto" pitchFamily="34" charset="-122"/>
                <a:cs typeface="Roboto" pitchFamily="34" charset="-120"/>
              </a:rPr>
              <a:t>Señales de entrada — datos crudos o salidas de neuronas anteriores.</a:t>
            </a:r>
            <a:endParaRPr lang="en-US" sz="1050" dirty="0"/>
          </a:p>
        </p:txBody>
      </p:sp>
      <p:sp>
        <p:nvSpPr>
          <p:cNvPr id="10" name="Shape 7"/>
          <p:cNvSpPr/>
          <p:nvPr/>
        </p:nvSpPr>
        <p:spPr>
          <a:xfrm>
            <a:off x="6271956" y="2762349"/>
            <a:ext cx="5264614" cy="956766"/>
          </a:xfrm>
          <a:prstGeom prst="roundRect">
            <a:avLst>
              <a:gd name="adj" fmla="val 796"/>
            </a:avLst>
          </a:prstGeom>
          <a:solidFill>
            <a:srgbClr val="F2EEEE"/>
          </a:solidFill>
          <a:ln w="6350">
            <a:solidFill>
              <a:srgbClr val="D8D4D4"/>
            </a:solidFill>
            <a:prstDash val="solid"/>
          </a:ln>
        </p:spPr>
      </p:sp>
      <p:sp>
        <p:nvSpPr>
          <p:cNvPr id="11" name="Text 8"/>
          <p:cNvSpPr/>
          <p:nvPr/>
        </p:nvSpPr>
        <p:spPr>
          <a:xfrm>
            <a:off x="6417407" y="2907804"/>
            <a:ext cx="4973712" cy="230088"/>
          </a:xfrm>
          <a:prstGeom prst="rect">
            <a:avLst/>
          </a:prstGeom>
          <a:noFill/>
          <a:ln/>
        </p:spPr>
        <p:txBody>
          <a:bodyPr wrap="none" lIns="0" tIns="0" rIns="0" bIns="0" rtlCol="0" anchor="t"/>
          <a:lstStyle/>
          <a:p>
            <a:pPr algn="l" indent="0" marL="0">
              <a:lnSpc>
                <a:spcPct val="104000"/>
              </a:lnSpc>
              <a:buNone/>
            </a:pPr>
            <a:r>
              <a:rPr lang="en-US" sz="13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350" dirty="0">
                <a:solidFill>
                  <a:srgbClr val="3B3535"/>
                </a:solidFill>
                <a:latin typeface="Roboto Mono Medium" pitchFamily="34" charset="0"/>
                <a:ea typeface="Roboto Mono Medium" pitchFamily="34" charset="-122"/>
                <a:cs typeface="Roboto Mono Medium" pitchFamily="34" charset="-120"/>
              </a:rPr>
              <a:t> Pesos (w₁, w₂, ..., wₙ)</a:t>
            </a:r>
            <a:endParaRPr lang="en-US" sz="1350" dirty="0"/>
          </a:p>
        </p:txBody>
      </p:sp>
      <p:sp>
        <p:nvSpPr>
          <p:cNvPr id="12" name="Text 9"/>
          <p:cNvSpPr/>
          <p:nvPr/>
        </p:nvSpPr>
        <p:spPr>
          <a:xfrm>
            <a:off x="6417407" y="3219847"/>
            <a:ext cx="4973712" cy="353814"/>
          </a:xfrm>
          <a:prstGeom prst="rect">
            <a:avLst/>
          </a:prstGeom>
          <a:noFill/>
          <a:ln/>
        </p:spPr>
        <p:txBody>
          <a:bodyPr wrap="square" lIns="0" tIns="0" rIns="0" bIns="0" rtlCol="0" anchor="t">
            <a:normAutofit/>
          </a:bodyPr>
          <a:lstStyle/>
          <a:p>
            <a:pPr algn="l" indent="0" marL="0">
              <a:lnSpc>
                <a:spcPct val="106000"/>
              </a:lnSpc>
              <a:buNone/>
            </a:pPr>
            <a:r>
              <a:rPr lang="en-US" sz="1050" dirty="0">
                <a:solidFill>
                  <a:srgbClr val="3B3535"/>
                </a:solidFill>
                <a:latin typeface="Roboto" pitchFamily="34" charset="0"/>
                <a:ea typeface="Roboto" pitchFamily="34" charset="-122"/>
                <a:cs typeface="Roboto" pitchFamily="34" charset="-120"/>
              </a:rPr>
              <a:t>Cada entrada se multiplica por un peso. El modelo aprende ajustando estos valores durante el entrenamiento.</a:t>
            </a:r>
            <a:endParaRPr lang="en-US" sz="1050" dirty="0"/>
          </a:p>
        </p:txBody>
      </p:sp>
      <p:sp>
        <p:nvSpPr>
          <p:cNvPr id="13" name="Shape 10"/>
          <p:cNvSpPr/>
          <p:nvPr/>
        </p:nvSpPr>
        <p:spPr>
          <a:xfrm>
            <a:off x="6271956" y="3801070"/>
            <a:ext cx="5264614" cy="1017786"/>
          </a:xfrm>
          <a:prstGeom prst="roundRect">
            <a:avLst>
              <a:gd name="adj" fmla="val 749"/>
            </a:avLst>
          </a:prstGeom>
          <a:solidFill>
            <a:srgbClr val="F2EEEE"/>
          </a:solidFill>
          <a:ln w="6350">
            <a:solidFill>
              <a:srgbClr val="D8D4D4"/>
            </a:solidFill>
            <a:prstDash val="solid"/>
          </a:ln>
        </p:spPr>
      </p:sp>
      <p:sp>
        <p:nvSpPr>
          <p:cNvPr id="14" name="Text 11"/>
          <p:cNvSpPr/>
          <p:nvPr/>
        </p:nvSpPr>
        <p:spPr>
          <a:xfrm>
            <a:off x="6417407" y="3946525"/>
            <a:ext cx="4973712" cy="217388"/>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Roboto Mono Medium" pitchFamily="34" charset="0"/>
                <a:ea typeface="Roboto Mono Medium" pitchFamily="34" charset="-122"/>
                <a:cs typeface="Roboto Mono Medium" pitchFamily="34" charset="-120"/>
              </a:rPr>
              <a:t>∑ Suma Ponderada + Bias</a:t>
            </a:r>
            <a:endParaRPr lang="en-US" sz="1350" dirty="0"/>
          </a:p>
        </p:txBody>
      </p:sp>
      <p:sp>
        <p:nvSpPr>
          <p:cNvPr id="15" name="Text 12"/>
          <p:cNvSpPr/>
          <p:nvPr/>
        </p:nvSpPr>
        <p:spPr>
          <a:xfrm>
            <a:off x="6417407" y="4245868"/>
            <a:ext cx="4973712" cy="427534"/>
          </a:xfrm>
          <a:prstGeom prst="rect">
            <a:avLst/>
          </a:prstGeom>
          <a:noFill/>
          <a:ln/>
        </p:spPr>
        <p:txBody>
          <a:bodyPr wrap="square" lIns="0" tIns="0" rIns="0" bIns="0" rtlCol="0" anchor="t"/>
          <a:lstStyle/>
          <a:p>
            <a:pPr algn="l" indent="0" marL="0">
              <a:lnSpc>
                <a:spcPct val="106000"/>
              </a:lnSpc>
              <a:spcAft>
                <a:spcPts val="550"/>
              </a:spcAft>
              <a:buNone/>
            </a:pPr>
            <a:r>
              <a:rPr lang="en-US" sz="1050" dirty="0">
                <a:solidFill>
                  <a:srgbClr val="3B3535"/>
                </a:solidFill>
                <a:latin typeface="Roboto" pitchFamily="34" charset="0"/>
                <a:ea typeface="Roboto" pitchFamily="34" charset="-122"/>
                <a:cs typeface="Roboto" pitchFamily="34" charset="-120"/>
              </a:rPr>
              <a:t>z = w₁x₁ + w₂x₂ + ... + wₙxₙ + b</a:t>
            </a:r>
            <a:endParaRPr lang="en-US" sz="1050" dirty="0"/>
          </a:p>
          <a:p>
            <a:pPr algn="l" indent="0" marL="0">
              <a:lnSpc>
                <a:spcPct val="106000"/>
              </a:lnSpc>
              <a:buNone/>
            </a:pPr>
            <a:r>
              <a:rPr lang="en-US" sz="1050" dirty="0">
                <a:solidFill>
                  <a:srgbClr val="3B3535"/>
                </a:solidFill>
                <a:latin typeface="Roboto" pitchFamily="34" charset="0"/>
                <a:ea typeface="Roboto" pitchFamily="34" charset="-122"/>
                <a:cs typeface="Roboto" pitchFamily="34" charset="-120"/>
              </a:rPr>
              <a:t>El bias permite desplazar la función de activación.</a:t>
            </a:r>
            <a:endParaRPr lang="en-US" sz="1050" dirty="0"/>
          </a:p>
        </p:txBody>
      </p:sp>
      <p:sp>
        <p:nvSpPr>
          <p:cNvPr id="16" name="Shape 13"/>
          <p:cNvSpPr/>
          <p:nvPr/>
        </p:nvSpPr>
        <p:spPr>
          <a:xfrm>
            <a:off x="6271956" y="4900811"/>
            <a:ext cx="5264614" cy="956766"/>
          </a:xfrm>
          <a:prstGeom prst="roundRect">
            <a:avLst>
              <a:gd name="adj" fmla="val 796"/>
            </a:avLst>
          </a:prstGeom>
          <a:solidFill>
            <a:srgbClr val="F2EEEE"/>
          </a:solidFill>
          <a:ln w="6350">
            <a:solidFill>
              <a:srgbClr val="D8D4D4"/>
            </a:solidFill>
            <a:prstDash val="solid"/>
          </a:ln>
        </p:spPr>
      </p:sp>
      <p:sp>
        <p:nvSpPr>
          <p:cNvPr id="17" name="Text 14"/>
          <p:cNvSpPr/>
          <p:nvPr/>
        </p:nvSpPr>
        <p:spPr>
          <a:xfrm>
            <a:off x="6417407" y="5046266"/>
            <a:ext cx="4973712" cy="230088"/>
          </a:xfrm>
          <a:prstGeom prst="rect">
            <a:avLst/>
          </a:prstGeom>
          <a:noFill/>
          <a:ln/>
        </p:spPr>
        <p:txBody>
          <a:bodyPr wrap="none" lIns="0" tIns="0" rIns="0" bIns="0" rtlCol="0" anchor="t"/>
          <a:lstStyle/>
          <a:p>
            <a:pPr algn="l" indent="0" marL="0">
              <a:lnSpc>
                <a:spcPct val="104000"/>
              </a:lnSpc>
              <a:buNone/>
            </a:pPr>
            <a:r>
              <a:rPr lang="en-US" sz="13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350" dirty="0">
                <a:solidFill>
                  <a:srgbClr val="3B3535"/>
                </a:solidFill>
                <a:latin typeface="Roboto Mono Medium" pitchFamily="34" charset="0"/>
                <a:ea typeface="Roboto Mono Medium" pitchFamily="34" charset="-122"/>
                <a:cs typeface="Roboto Mono Medium" pitchFamily="34" charset="-120"/>
              </a:rPr>
              <a:t> Función de Activación f(z)</a:t>
            </a:r>
            <a:endParaRPr lang="en-US" sz="1350" dirty="0"/>
          </a:p>
        </p:txBody>
      </p:sp>
      <p:sp>
        <p:nvSpPr>
          <p:cNvPr id="18" name="Text 15"/>
          <p:cNvSpPr/>
          <p:nvPr/>
        </p:nvSpPr>
        <p:spPr>
          <a:xfrm>
            <a:off x="6417407" y="5358309"/>
            <a:ext cx="4973712" cy="353814"/>
          </a:xfrm>
          <a:prstGeom prst="rect">
            <a:avLst/>
          </a:prstGeom>
          <a:noFill/>
          <a:ln/>
        </p:spPr>
        <p:txBody>
          <a:bodyPr wrap="square" lIns="0" tIns="0" rIns="0" bIns="0" rtlCol="0" anchor="t">
            <a:normAutofit/>
          </a:bodyPr>
          <a:lstStyle/>
          <a:p>
            <a:pPr algn="l" indent="0" marL="0">
              <a:lnSpc>
                <a:spcPct val="106000"/>
              </a:lnSpc>
              <a:buNone/>
            </a:pPr>
            <a:r>
              <a:rPr lang="en-US" sz="1050" dirty="0">
                <a:solidFill>
                  <a:srgbClr val="3B3535"/>
                </a:solidFill>
                <a:latin typeface="Roboto" pitchFamily="34" charset="0"/>
                <a:ea typeface="Roboto" pitchFamily="34" charset="-122"/>
                <a:cs typeface="Roboto" pitchFamily="34" charset="-120"/>
              </a:rPr>
              <a:t>Introduce no-linealidad. Ejemplos: ReLU, Sigmoid, Tanh. Determina si la neurona "se activa" y con qué intensidad.</a:t>
            </a:r>
            <a:endParaRPr lang="en-US" sz="1050" dirty="0"/>
          </a:p>
        </p:txBody>
      </p:sp>
      <p:sp>
        <p:nvSpPr>
          <p:cNvPr id="19" name="Text 16"/>
          <p:cNvSpPr/>
          <p:nvPr/>
        </p:nvSpPr>
        <p:spPr>
          <a:xfrm>
            <a:off x="6271956" y="5949752"/>
            <a:ext cx="5874198" cy="176907"/>
          </a:xfrm>
          <a:prstGeom prst="rect">
            <a:avLst/>
          </a:prstGeom>
          <a:noFill/>
          <a:ln/>
        </p:spPr>
        <p:txBody>
          <a:bodyPr wrap="none" lIns="0" tIns="0" rIns="0" bIns="0" rtlCol="0" anchor="t"/>
          <a:lstStyle/>
          <a:p>
            <a:pPr algn="l" indent="0" marL="0">
              <a:lnSpc>
                <a:spcPct val="106000"/>
              </a:lnSpc>
              <a:buNone/>
            </a:pPr>
            <a:r>
              <a:rPr lang="en-US" sz="1050" dirty="0">
                <a:solidFill>
                  <a:srgbClr val="3B3535"/>
                </a:solidFill>
                <a:latin typeface="Roboto" pitchFamily="34" charset="0"/>
                <a:ea typeface="Roboto" pitchFamily="34" charset="-122"/>
                <a:cs typeface="Roboto" pitchFamily="34" charset="-120"/>
              </a:rPr>
              <a:t>Output: ŷ = f(z)</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61475" y="720229"/>
            <a:ext cx="1849292" cy="168573"/>
          </a:xfrm>
          <a:prstGeom prst="rect">
            <a:avLst/>
          </a:prstGeom>
          <a:noFill/>
          <a:ln/>
        </p:spPr>
        <p:txBody>
          <a:bodyPr wrap="none" lIns="0" tIns="0" rIns="0" bIns="0" rtlCol="0" anchor="t"/>
          <a:lstStyle/>
          <a:p>
            <a:pPr algn="l" indent="0" marL="0">
              <a:lnSpc>
                <a:spcPct val="105000"/>
              </a:lnSpc>
              <a:buNone/>
            </a:pPr>
            <a:endParaRPr lang="en-US" sz="1050" dirty="0"/>
          </a:p>
        </p:txBody>
      </p:sp>
      <p:sp>
        <p:nvSpPr>
          <p:cNvPr id="3" name="Text 1"/>
          <p:cNvSpPr/>
          <p:nvPr/>
        </p:nvSpPr>
        <p:spPr>
          <a:xfrm>
            <a:off x="2235343" y="720229"/>
            <a:ext cx="9910812" cy="168573"/>
          </a:xfrm>
          <a:prstGeom prst="rect">
            <a:avLst/>
          </a:prstGeom>
          <a:noFill/>
          <a:ln/>
        </p:spPr>
        <p:txBody>
          <a:bodyPr wrap="none" lIns="0" tIns="0" rIns="0" bIns="0" rtlCol="0" anchor="t"/>
          <a:lstStyle/>
          <a:p>
            <a:pPr algn="l" indent="0" marL="0">
              <a:lnSpc>
                <a:spcPct val="105000"/>
              </a:lnSpc>
              <a:buNone/>
            </a:pPr>
            <a:endParaRPr lang="en-US" sz="1050" dirty="0"/>
          </a:p>
        </p:txBody>
      </p:sp>
      <p:sp>
        <p:nvSpPr>
          <p:cNvPr id="4" name="Text 2"/>
          <p:cNvSpPr/>
          <p:nvPr/>
        </p:nvSpPr>
        <p:spPr>
          <a:xfrm>
            <a:off x="661475" y="1072158"/>
            <a:ext cx="10868745" cy="419894"/>
          </a:xfrm>
          <a:prstGeom prst="rect">
            <a:avLst/>
          </a:prstGeom>
          <a:noFill/>
          <a:ln/>
        </p:spPr>
        <p:txBody>
          <a:bodyPr wrap="none" lIns="0" tIns="0" rIns="0" bIns="0" rtlCol="0" anchor="t"/>
          <a:lstStyle/>
          <a:p>
            <a:pPr algn="l" indent="0" marL="0">
              <a:lnSpc>
                <a:spcPct val="104000"/>
              </a:lnSpc>
              <a:buNone/>
            </a:pPr>
            <a:r>
              <a:rPr lang="en-US" sz="2600" dirty="0">
                <a:solidFill>
                  <a:srgbClr val="1F1E1E"/>
                </a:solidFill>
                <a:latin typeface="Roboto Mono Medium" pitchFamily="34" charset="0"/>
                <a:ea typeface="Roboto Mono Medium" pitchFamily="34" charset="-122"/>
                <a:cs typeface="Roboto Mono Medium" pitchFamily="34" charset="-120"/>
              </a:rPr>
              <a:t>Una Breve Historia (Parte 2)</a:t>
            </a:r>
            <a:endParaRPr lang="en-US" sz="2600" dirty="0"/>
          </a:p>
        </p:txBody>
      </p:sp>
      <p:sp>
        <p:nvSpPr>
          <p:cNvPr id="5" name="Text 3"/>
          <p:cNvSpPr/>
          <p:nvPr/>
        </p:nvSpPr>
        <p:spPr>
          <a:xfrm>
            <a:off x="661475" y="1522611"/>
            <a:ext cx="10868745" cy="209947"/>
          </a:xfrm>
          <a:prstGeom prst="rect">
            <a:avLst/>
          </a:prstGeom>
          <a:noFill/>
          <a:ln/>
        </p:spPr>
        <p:txBody>
          <a:bodyPr wrap="none" lIns="0" tIns="0" rIns="0" bIns="0" rtlCol="0" anchor="t"/>
          <a:lstStyle/>
          <a:p>
            <a:pPr algn="l" indent="0" marL="0">
              <a:lnSpc>
                <a:spcPct val="104000"/>
              </a:lnSpc>
              <a:buNone/>
            </a:pPr>
            <a:r>
              <a:rPr lang="en-US" sz="1300" dirty="0">
                <a:solidFill>
                  <a:srgbClr val="1F1E1E"/>
                </a:solidFill>
                <a:latin typeface="Roboto Mono Medium" pitchFamily="34" charset="0"/>
                <a:ea typeface="Roboto Mono Medium" pitchFamily="34" charset="-122"/>
                <a:cs typeface="Roboto Mono Medium" pitchFamily="34" charset="-120"/>
              </a:rPr>
              <a:t>Del deep learning a la era generativa — 2011 a 2022</a:t>
            </a:r>
            <a:endParaRPr lang="en-US" sz="1300" dirty="0"/>
          </a:p>
        </p:txBody>
      </p:sp>
      <p:sp>
        <p:nvSpPr>
          <p:cNvPr id="6" name="Shape 4"/>
          <p:cNvSpPr/>
          <p:nvPr/>
        </p:nvSpPr>
        <p:spPr>
          <a:xfrm>
            <a:off x="6086323" y="1847155"/>
            <a:ext cx="19050" cy="4359374"/>
          </a:xfrm>
          <a:prstGeom prst="roundRect">
            <a:avLst>
              <a:gd name="adj" fmla="val 39999"/>
            </a:avLst>
          </a:prstGeom>
          <a:solidFill>
            <a:srgbClr val="D8D4D4"/>
          </a:solidFill>
          <a:ln/>
        </p:spPr>
      </p:sp>
      <p:sp>
        <p:nvSpPr>
          <p:cNvPr id="7" name="Shape 5"/>
          <p:cNvSpPr/>
          <p:nvPr/>
        </p:nvSpPr>
        <p:spPr>
          <a:xfrm>
            <a:off x="5560625" y="1988741"/>
            <a:ext cx="403116" cy="19050"/>
          </a:xfrm>
          <a:prstGeom prst="roundRect">
            <a:avLst>
              <a:gd name="adj" fmla="val 39999"/>
            </a:avLst>
          </a:prstGeom>
          <a:solidFill>
            <a:srgbClr val="D8D4D4"/>
          </a:solidFill>
          <a:ln/>
        </p:spPr>
      </p:sp>
      <p:sp>
        <p:nvSpPr>
          <p:cNvPr id="8" name="Shape 6"/>
          <p:cNvSpPr/>
          <p:nvPr/>
        </p:nvSpPr>
        <p:spPr>
          <a:xfrm>
            <a:off x="5944692" y="1847155"/>
            <a:ext cx="302312" cy="302320"/>
          </a:xfrm>
          <a:prstGeom prst="roundRect">
            <a:avLst>
              <a:gd name="adj" fmla="val 2521"/>
            </a:avLst>
          </a:prstGeom>
          <a:solidFill>
            <a:srgbClr val="F2EEEE"/>
          </a:solidFill>
          <a:ln w="6350">
            <a:solidFill>
              <a:srgbClr val="D8D4D4"/>
            </a:solidFill>
            <a:prstDash val="solid"/>
          </a:ln>
        </p:spPr>
      </p:sp>
      <p:sp>
        <p:nvSpPr>
          <p:cNvPr id="9" name="Text 7"/>
          <p:cNvSpPr/>
          <p:nvPr/>
        </p:nvSpPr>
        <p:spPr>
          <a:xfrm>
            <a:off x="5995044" y="1872307"/>
            <a:ext cx="201508" cy="251916"/>
          </a:xfrm>
          <a:prstGeom prst="rect">
            <a:avLst/>
          </a:prstGeom>
          <a:noFill/>
          <a:ln/>
        </p:spPr>
        <p:txBody>
          <a:bodyPr wrap="none" lIns="0" tIns="0" rIns="0" bIns="0" rtlCol="0" anchor="ctr"/>
          <a:lstStyle/>
          <a:p>
            <a:pPr algn="ctr" indent="0" marL="0">
              <a:lnSpc>
                <a:spcPct val="100000"/>
              </a:lnSpc>
              <a:buNone/>
            </a:pPr>
            <a:r>
              <a:rPr lang="en-US" sz="1550" dirty="0">
                <a:solidFill>
                  <a:srgbClr val="3B3535"/>
                </a:solidFill>
                <a:latin typeface="Roboto Mono Medium" pitchFamily="34" charset="0"/>
                <a:ea typeface="Roboto Mono Medium" pitchFamily="34" charset="-122"/>
                <a:cs typeface="Roboto Mono Medium" pitchFamily="34" charset="-120"/>
              </a:rPr>
              <a:t>1</a:t>
            </a:r>
            <a:endParaRPr lang="en-US" sz="1550" dirty="0"/>
          </a:p>
        </p:txBody>
      </p:sp>
      <p:sp>
        <p:nvSpPr>
          <p:cNvPr id="10" name="Text 8"/>
          <p:cNvSpPr/>
          <p:nvPr/>
        </p:nvSpPr>
        <p:spPr>
          <a:xfrm>
            <a:off x="661475" y="1893292"/>
            <a:ext cx="4762480" cy="209947"/>
          </a:xfrm>
          <a:prstGeom prst="rect">
            <a:avLst/>
          </a:prstGeom>
          <a:noFill/>
          <a:ln/>
        </p:spPr>
        <p:txBody>
          <a:bodyPr wrap="none" lIns="0" tIns="0" rIns="0" bIns="0" rtlCol="0" anchor="t"/>
          <a:lstStyle/>
          <a:p>
            <a:pPr algn="r" indent="0" marL="0">
              <a:lnSpc>
                <a:spcPct val="104000"/>
              </a:lnSpc>
              <a:buNone/>
            </a:pPr>
            <a:r>
              <a:rPr lang="en-US" sz="1300" dirty="0">
                <a:solidFill>
                  <a:srgbClr val="3B3535"/>
                </a:solidFill>
                <a:latin typeface="Roboto Mono Medium" pitchFamily="34" charset="0"/>
                <a:ea typeface="Roboto Mono Medium" pitchFamily="34" charset="-122"/>
                <a:cs typeface="Roboto Mono Medium" pitchFamily="34" charset="-120"/>
              </a:rPr>
              <a:t>2011 — Watson gana en Jeopardy!</a:t>
            </a:r>
            <a:endParaRPr lang="en-US" sz="1300" dirty="0"/>
          </a:p>
        </p:txBody>
      </p:sp>
      <p:sp>
        <p:nvSpPr>
          <p:cNvPr id="11" name="Text 9"/>
          <p:cNvSpPr/>
          <p:nvPr/>
        </p:nvSpPr>
        <p:spPr>
          <a:xfrm>
            <a:off x="661475" y="2149078"/>
            <a:ext cx="4762480" cy="337145"/>
          </a:xfrm>
          <a:prstGeom prst="rect">
            <a:avLst/>
          </a:prstGeom>
          <a:noFill/>
          <a:ln/>
        </p:spPr>
        <p:txBody>
          <a:bodyPr wrap="square" lIns="0" tIns="0" rIns="0" bIns="0" rtlCol="0" anchor="t">
            <a:normAutofit/>
          </a:bodyPr>
          <a:lstStyle/>
          <a:p>
            <a:pPr algn="r" indent="0" marL="0">
              <a:lnSpc>
                <a:spcPct val="105000"/>
              </a:lnSpc>
              <a:buNone/>
            </a:pPr>
            <a:r>
              <a:rPr lang="en-US" sz="1050" dirty="0">
                <a:solidFill>
                  <a:srgbClr val="3B3535"/>
                </a:solidFill>
                <a:latin typeface="Roboto" pitchFamily="34" charset="0"/>
                <a:ea typeface="Roboto" pitchFamily="34" charset="-122"/>
                <a:cs typeface="Roboto" pitchFamily="34" charset="-120"/>
              </a:rPr>
              <a:t>IBM Watson derrota a los mejores campeones humanos del concurso de preguntas. Demuestra comprensión del lenguaje natural a gran escala.</a:t>
            </a:r>
            <a:endParaRPr lang="en-US" sz="1050" dirty="0"/>
          </a:p>
        </p:txBody>
      </p:sp>
      <p:sp>
        <p:nvSpPr>
          <p:cNvPr id="12" name="Shape 10"/>
          <p:cNvSpPr/>
          <p:nvPr/>
        </p:nvSpPr>
        <p:spPr>
          <a:xfrm>
            <a:off x="6227954" y="2679005"/>
            <a:ext cx="403116" cy="19050"/>
          </a:xfrm>
          <a:prstGeom prst="roundRect">
            <a:avLst>
              <a:gd name="adj" fmla="val 39999"/>
            </a:avLst>
          </a:prstGeom>
          <a:solidFill>
            <a:srgbClr val="D8D4D4"/>
          </a:solidFill>
          <a:ln/>
        </p:spPr>
      </p:sp>
      <p:sp>
        <p:nvSpPr>
          <p:cNvPr id="13" name="Shape 11"/>
          <p:cNvSpPr/>
          <p:nvPr/>
        </p:nvSpPr>
        <p:spPr>
          <a:xfrm>
            <a:off x="5944692" y="2537420"/>
            <a:ext cx="302312" cy="302320"/>
          </a:xfrm>
          <a:prstGeom prst="roundRect">
            <a:avLst>
              <a:gd name="adj" fmla="val 2521"/>
            </a:avLst>
          </a:prstGeom>
          <a:solidFill>
            <a:srgbClr val="F2EEEE"/>
          </a:solidFill>
          <a:ln w="6350">
            <a:solidFill>
              <a:srgbClr val="D8D4D4"/>
            </a:solidFill>
            <a:prstDash val="solid"/>
          </a:ln>
        </p:spPr>
      </p:sp>
      <p:sp>
        <p:nvSpPr>
          <p:cNvPr id="14" name="Text 12"/>
          <p:cNvSpPr/>
          <p:nvPr/>
        </p:nvSpPr>
        <p:spPr>
          <a:xfrm>
            <a:off x="5995044" y="2562572"/>
            <a:ext cx="201508" cy="251916"/>
          </a:xfrm>
          <a:prstGeom prst="rect">
            <a:avLst/>
          </a:prstGeom>
          <a:noFill/>
          <a:ln/>
        </p:spPr>
        <p:txBody>
          <a:bodyPr wrap="none" lIns="0" tIns="0" rIns="0" bIns="0" rtlCol="0" anchor="ctr"/>
          <a:lstStyle/>
          <a:p>
            <a:pPr algn="ctr" indent="0" marL="0">
              <a:lnSpc>
                <a:spcPct val="100000"/>
              </a:lnSpc>
              <a:buNone/>
            </a:pPr>
            <a:r>
              <a:rPr lang="en-US" sz="1550" dirty="0">
                <a:solidFill>
                  <a:srgbClr val="3B3535"/>
                </a:solidFill>
                <a:latin typeface="Roboto Mono Medium" pitchFamily="34" charset="0"/>
                <a:ea typeface="Roboto Mono Medium" pitchFamily="34" charset="-122"/>
                <a:cs typeface="Roboto Mono Medium" pitchFamily="34" charset="-120"/>
              </a:rPr>
              <a:t>2</a:t>
            </a:r>
            <a:endParaRPr lang="en-US" sz="1550" dirty="0"/>
          </a:p>
        </p:txBody>
      </p:sp>
      <p:sp>
        <p:nvSpPr>
          <p:cNvPr id="15" name="Text 13"/>
          <p:cNvSpPr/>
          <p:nvPr/>
        </p:nvSpPr>
        <p:spPr>
          <a:xfrm>
            <a:off x="6767740" y="2583557"/>
            <a:ext cx="4762480" cy="209947"/>
          </a:xfrm>
          <a:prstGeom prst="rect">
            <a:avLst/>
          </a:prstGeom>
          <a:noFill/>
          <a:ln/>
        </p:spPr>
        <p:txBody>
          <a:bodyPr wrap="none" lIns="0" tIns="0" rIns="0" bIns="0" rtlCol="0" anchor="t"/>
          <a:lstStyle/>
          <a:p>
            <a:pPr algn="l" indent="0" marL="0">
              <a:lnSpc>
                <a:spcPct val="104000"/>
              </a:lnSpc>
              <a:buNone/>
            </a:pPr>
            <a:r>
              <a:rPr lang="en-US" sz="1300" dirty="0">
                <a:solidFill>
                  <a:srgbClr val="3B3535"/>
                </a:solidFill>
                <a:latin typeface="Roboto Mono Medium" pitchFamily="34" charset="0"/>
                <a:ea typeface="Roboto Mono Medium" pitchFamily="34" charset="-122"/>
                <a:cs typeface="Roboto Mono Medium" pitchFamily="34" charset="-120"/>
              </a:rPr>
              <a:t>2012 — La revolución del deep learning</a:t>
            </a:r>
            <a:endParaRPr lang="en-US" sz="1300" dirty="0"/>
          </a:p>
        </p:txBody>
      </p:sp>
      <p:sp>
        <p:nvSpPr>
          <p:cNvPr id="16" name="Text 14"/>
          <p:cNvSpPr/>
          <p:nvPr/>
        </p:nvSpPr>
        <p:spPr>
          <a:xfrm>
            <a:off x="6767740" y="2839343"/>
            <a:ext cx="4762480" cy="337145"/>
          </a:xfrm>
          <a:prstGeom prst="rect">
            <a:avLst/>
          </a:prstGeom>
          <a:noFill/>
          <a:ln/>
        </p:spPr>
        <p:txBody>
          <a:bodyPr wrap="square" lIns="0" tIns="0" rIns="0" bIns="0" rtlCol="0" anchor="t">
            <a:normAutofit/>
          </a:bodyPr>
          <a:lstStyle/>
          <a:p>
            <a:pPr algn="l" indent="0" marL="0">
              <a:lnSpc>
                <a:spcPct val="105000"/>
              </a:lnSpc>
              <a:buNone/>
            </a:pPr>
            <a:r>
              <a:rPr lang="en-US" sz="1050" dirty="0">
                <a:solidFill>
                  <a:srgbClr val="3B3535"/>
                </a:solidFill>
                <a:latin typeface="Roboto" pitchFamily="34" charset="0"/>
                <a:ea typeface="Roboto" pitchFamily="34" charset="-122"/>
                <a:cs typeface="Roboto" pitchFamily="34" charset="-120"/>
              </a:rPr>
              <a:t>AlexNet gana ImageNet con una ventaja histórica. Las redes neuronales profundas y las GPUs cambian todo. Codificar a entrenar.</a:t>
            </a:r>
            <a:endParaRPr lang="en-US" sz="1050" dirty="0"/>
          </a:p>
        </p:txBody>
      </p:sp>
      <p:sp>
        <p:nvSpPr>
          <p:cNvPr id="17" name="Shape 15"/>
          <p:cNvSpPr/>
          <p:nvPr/>
        </p:nvSpPr>
        <p:spPr>
          <a:xfrm>
            <a:off x="5560625" y="3315990"/>
            <a:ext cx="403116" cy="19050"/>
          </a:xfrm>
          <a:prstGeom prst="roundRect">
            <a:avLst>
              <a:gd name="adj" fmla="val 39999"/>
            </a:avLst>
          </a:prstGeom>
          <a:solidFill>
            <a:srgbClr val="D8D4D4"/>
          </a:solidFill>
          <a:ln/>
        </p:spPr>
      </p:sp>
      <p:sp>
        <p:nvSpPr>
          <p:cNvPr id="18" name="Shape 16"/>
          <p:cNvSpPr/>
          <p:nvPr/>
        </p:nvSpPr>
        <p:spPr>
          <a:xfrm>
            <a:off x="5944692" y="3174405"/>
            <a:ext cx="302312" cy="302320"/>
          </a:xfrm>
          <a:prstGeom prst="roundRect">
            <a:avLst>
              <a:gd name="adj" fmla="val 2521"/>
            </a:avLst>
          </a:prstGeom>
          <a:solidFill>
            <a:srgbClr val="F2EEEE"/>
          </a:solidFill>
          <a:ln w="6350">
            <a:solidFill>
              <a:srgbClr val="D8D4D4"/>
            </a:solidFill>
            <a:prstDash val="solid"/>
          </a:ln>
        </p:spPr>
      </p:sp>
      <p:sp>
        <p:nvSpPr>
          <p:cNvPr id="19" name="Text 17"/>
          <p:cNvSpPr/>
          <p:nvPr/>
        </p:nvSpPr>
        <p:spPr>
          <a:xfrm>
            <a:off x="5995044" y="3199557"/>
            <a:ext cx="201508" cy="251916"/>
          </a:xfrm>
          <a:prstGeom prst="rect">
            <a:avLst/>
          </a:prstGeom>
          <a:noFill/>
          <a:ln/>
        </p:spPr>
        <p:txBody>
          <a:bodyPr wrap="none" lIns="0" tIns="0" rIns="0" bIns="0" rtlCol="0" anchor="ctr"/>
          <a:lstStyle/>
          <a:p>
            <a:pPr algn="ctr" indent="0" marL="0">
              <a:lnSpc>
                <a:spcPct val="100000"/>
              </a:lnSpc>
              <a:buNone/>
            </a:pPr>
            <a:r>
              <a:rPr lang="en-US" sz="1550" dirty="0">
                <a:solidFill>
                  <a:srgbClr val="3B3535"/>
                </a:solidFill>
                <a:latin typeface="Roboto Mono Medium" pitchFamily="34" charset="0"/>
                <a:ea typeface="Roboto Mono Medium" pitchFamily="34" charset="-122"/>
                <a:cs typeface="Roboto Mono Medium" pitchFamily="34" charset="-120"/>
              </a:rPr>
              <a:t>3</a:t>
            </a:r>
            <a:endParaRPr lang="en-US" sz="1550" dirty="0"/>
          </a:p>
        </p:txBody>
      </p:sp>
      <p:sp>
        <p:nvSpPr>
          <p:cNvPr id="20" name="Text 18"/>
          <p:cNvSpPr/>
          <p:nvPr/>
        </p:nvSpPr>
        <p:spPr>
          <a:xfrm>
            <a:off x="661475" y="3220541"/>
            <a:ext cx="4762480" cy="209947"/>
          </a:xfrm>
          <a:prstGeom prst="rect">
            <a:avLst/>
          </a:prstGeom>
          <a:noFill/>
          <a:ln/>
        </p:spPr>
        <p:txBody>
          <a:bodyPr wrap="none" lIns="0" tIns="0" rIns="0" bIns="0" rtlCol="0" anchor="t"/>
          <a:lstStyle/>
          <a:p>
            <a:pPr algn="r" indent="0" marL="0">
              <a:lnSpc>
                <a:spcPct val="104000"/>
              </a:lnSpc>
              <a:buNone/>
            </a:pPr>
            <a:r>
              <a:rPr lang="en-US" sz="1300" dirty="0">
                <a:solidFill>
                  <a:srgbClr val="3B3535"/>
                </a:solidFill>
                <a:latin typeface="Roboto Mono Medium" pitchFamily="34" charset="0"/>
                <a:ea typeface="Roboto Mono Medium" pitchFamily="34" charset="-122"/>
                <a:cs typeface="Roboto Mono Medium" pitchFamily="34" charset="-120"/>
              </a:rPr>
              <a:t>2016 — AlphaGo vence a Lee Sedol</a:t>
            </a:r>
            <a:endParaRPr lang="en-US" sz="1300" dirty="0"/>
          </a:p>
        </p:txBody>
      </p:sp>
      <p:sp>
        <p:nvSpPr>
          <p:cNvPr id="21" name="Text 19"/>
          <p:cNvSpPr/>
          <p:nvPr/>
        </p:nvSpPr>
        <p:spPr>
          <a:xfrm>
            <a:off x="661475" y="3476327"/>
            <a:ext cx="4762480" cy="674291"/>
          </a:xfrm>
          <a:prstGeom prst="rect">
            <a:avLst/>
          </a:prstGeom>
          <a:noFill/>
          <a:ln/>
        </p:spPr>
        <p:txBody>
          <a:bodyPr wrap="square" lIns="0" tIns="0" rIns="0" bIns="0" rtlCol="0" anchor="t">
            <a:normAutofit/>
          </a:bodyPr>
          <a:lstStyle/>
          <a:p>
            <a:pPr algn="r" indent="0" marL="0">
              <a:lnSpc>
                <a:spcPct val="105000"/>
              </a:lnSpc>
              <a:buNone/>
            </a:pPr>
            <a:r>
              <a:rPr lang="en-US" sz="1050" dirty="0">
                <a:solidFill>
                  <a:srgbClr val="3B3535"/>
                </a:solidFill>
                <a:latin typeface="Roboto" pitchFamily="34" charset="0"/>
                <a:ea typeface="Roboto" pitchFamily="34" charset="-122"/>
                <a:cs typeface="Roboto" pitchFamily="34" charset="-120"/>
              </a:rPr>
              <a:t>DeepMind derrota al campeón mundial de Go, un juego con más combinaciones posibles que átomos en el universo. Considerado imposible para la IA hasta ese momento. Toma decisiones estratégicas en un espacio de búsqueda enorme.</a:t>
            </a:r>
            <a:endParaRPr lang="en-US" sz="1050" dirty="0"/>
          </a:p>
        </p:txBody>
      </p:sp>
      <p:sp>
        <p:nvSpPr>
          <p:cNvPr id="22" name="Shape 20"/>
          <p:cNvSpPr/>
          <p:nvPr/>
        </p:nvSpPr>
        <p:spPr>
          <a:xfrm>
            <a:off x="6227954" y="3952974"/>
            <a:ext cx="403116" cy="19050"/>
          </a:xfrm>
          <a:prstGeom prst="roundRect">
            <a:avLst>
              <a:gd name="adj" fmla="val 39999"/>
            </a:avLst>
          </a:prstGeom>
          <a:solidFill>
            <a:srgbClr val="D8D4D4"/>
          </a:solidFill>
          <a:ln/>
        </p:spPr>
      </p:sp>
      <p:sp>
        <p:nvSpPr>
          <p:cNvPr id="23" name="Shape 21"/>
          <p:cNvSpPr/>
          <p:nvPr/>
        </p:nvSpPr>
        <p:spPr>
          <a:xfrm>
            <a:off x="5944692" y="3811389"/>
            <a:ext cx="302312" cy="302320"/>
          </a:xfrm>
          <a:prstGeom prst="roundRect">
            <a:avLst>
              <a:gd name="adj" fmla="val 2521"/>
            </a:avLst>
          </a:prstGeom>
          <a:solidFill>
            <a:srgbClr val="F2EEEE"/>
          </a:solidFill>
          <a:ln w="6350">
            <a:solidFill>
              <a:srgbClr val="D8D4D4"/>
            </a:solidFill>
            <a:prstDash val="solid"/>
          </a:ln>
        </p:spPr>
      </p:sp>
      <p:sp>
        <p:nvSpPr>
          <p:cNvPr id="24" name="Text 22"/>
          <p:cNvSpPr/>
          <p:nvPr/>
        </p:nvSpPr>
        <p:spPr>
          <a:xfrm>
            <a:off x="5995044" y="3836541"/>
            <a:ext cx="201508" cy="251916"/>
          </a:xfrm>
          <a:prstGeom prst="rect">
            <a:avLst/>
          </a:prstGeom>
          <a:noFill/>
          <a:ln/>
        </p:spPr>
        <p:txBody>
          <a:bodyPr wrap="none" lIns="0" tIns="0" rIns="0" bIns="0" rtlCol="0" anchor="ctr"/>
          <a:lstStyle/>
          <a:p>
            <a:pPr algn="ctr" indent="0" marL="0">
              <a:lnSpc>
                <a:spcPct val="100000"/>
              </a:lnSpc>
              <a:buNone/>
            </a:pPr>
            <a:r>
              <a:rPr lang="en-US" sz="1550" dirty="0">
                <a:solidFill>
                  <a:srgbClr val="3B3535"/>
                </a:solidFill>
                <a:latin typeface="Roboto Mono Medium" pitchFamily="34" charset="0"/>
                <a:ea typeface="Roboto Mono Medium" pitchFamily="34" charset="-122"/>
                <a:cs typeface="Roboto Mono Medium" pitchFamily="34" charset="-120"/>
              </a:rPr>
              <a:t>4</a:t>
            </a:r>
            <a:endParaRPr lang="en-US" sz="1550" dirty="0"/>
          </a:p>
        </p:txBody>
      </p:sp>
      <p:sp>
        <p:nvSpPr>
          <p:cNvPr id="25" name="Text 23"/>
          <p:cNvSpPr/>
          <p:nvPr/>
        </p:nvSpPr>
        <p:spPr>
          <a:xfrm>
            <a:off x="6767740" y="3857526"/>
            <a:ext cx="4762480" cy="209947"/>
          </a:xfrm>
          <a:prstGeom prst="rect">
            <a:avLst/>
          </a:prstGeom>
          <a:noFill/>
          <a:ln/>
        </p:spPr>
        <p:txBody>
          <a:bodyPr wrap="none" lIns="0" tIns="0" rIns="0" bIns="0" rtlCol="0" anchor="t"/>
          <a:lstStyle/>
          <a:p>
            <a:pPr algn="l" indent="0" marL="0">
              <a:lnSpc>
                <a:spcPct val="104000"/>
              </a:lnSpc>
              <a:buNone/>
            </a:pPr>
            <a:r>
              <a:rPr lang="en-US" sz="1300" dirty="0">
                <a:solidFill>
                  <a:srgbClr val="3B3535"/>
                </a:solidFill>
                <a:latin typeface="Roboto Mono Medium" pitchFamily="34" charset="0"/>
                <a:ea typeface="Roboto Mono Medium" pitchFamily="34" charset="-122"/>
                <a:cs typeface="Roboto Mono Medium" pitchFamily="34" charset="-120"/>
              </a:rPr>
              <a:t>2017 — Atención es todo</a:t>
            </a:r>
            <a:endParaRPr lang="en-US" sz="1300" dirty="0"/>
          </a:p>
        </p:txBody>
      </p:sp>
      <p:sp>
        <p:nvSpPr>
          <p:cNvPr id="26" name="Text 24"/>
          <p:cNvSpPr/>
          <p:nvPr/>
        </p:nvSpPr>
        <p:spPr>
          <a:xfrm>
            <a:off x="6767740" y="4113312"/>
            <a:ext cx="4762480" cy="337145"/>
          </a:xfrm>
          <a:prstGeom prst="rect">
            <a:avLst/>
          </a:prstGeom>
          <a:noFill/>
          <a:ln/>
        </p:spPr>
        <p:txBody>
          <a:bodyPr wrap="square" lIns="0" tIns="0" rIns="0" bIns="0" rtlCol="0" anchor="t">
            <a:normAutofit/>
          </a:bodyPr>
          <a:lstStyle/>
          <a:p>
            <a:pPr algn="l" indent="0" marL="0">
              <a:lnSpc>
                <a:spcPct val="105000"/>
              </a:lnSpc>
              <a:buNone/>
            </a:pPr>
            <a:r>
              <a:rPr lang="en-US" sz="1050" dirty="0">
                <a:solidFill>
                  <a:srgbClr val="3B3535"/>
                </a:solidFill>
                <a:latin typeface="Roboto" pitchFamily="34" charset="0"/>
                <a:ea typeface="Roboto" pitchFamily="34" charset="-122"/>
                <a:cs typeface="Roboto" pitchFamily="34" charset="-120"/>
              </a:rPr>
              <a:t>Google publica "Attention Is All You Need". Nace la arquitectura Transformer, base de todos los modelos modernos.</a:t>
            </a:r>
            <a:endParaRPr lang="en-US" sz="1050" dirty="0"/>
          </a:p>
        </p:txBody>
      </p:sp>
      <p:sp>
        <p:nvSpPr>
          <p:cNvPr id="27" name="Shape 25"/>
          <p:cNvSpPr/>
          <p:nvPr/>
        </p:nvSpPr>
        <p:spPr>
          <a:xfrm>
            <a:off x="5560625" y="4589959"/>
            <a:ext cx="403116" cy="19050"/>
          </a:xfrm>
          <a:prstGeom prst="roundRect">
            <a:avLst>
              <a:gd name="adj" fmla="val 39999"/>
            </a:avLst>
          </a:prstGeom>
          <a:solidFill>
            <a:srgbClr val="D8D4D4"/>
          </a:solidFill>
          <a:ln/>
        </p:spPr>
      </p:sp>
      <p:sp>
        <p:nvSpPr>
          <p:cNvPr id="28" name="Shape 26"/>
          <p:cNvSpPr/>
          <p:nvPr/>
        </p:nvSpPr>
        <p:spPr>
          <a:xfrm>
            <a:off x="5944692" y="4448373"/>
            <a:ext cx="302312" cy="302320"/>
          </a:xfrm>
          <a:prstGeom prst="roundRect">
            <a:avLst>
              <a:gd name="adj" fmla="val 2521"/>
            </a:avLst>
          </a:prstGeom>
          <a:solidFill>
            <a:srgbClr val="F2EEEE"/>
          </a:solidFill>
          <a:ln w="6350">
            <a:solidFill>
              <a:srgbClr val="D8D4D4"/>
            </a:solidFill>
            <a:prstDash val="solid"/>
          </a:ln>
        </p:spPr>
      </p:sp>
      <p:sp>
        <p:nvSpPr>
          <p:cNvPr id="29" name="Text 27"/>
          <p:cNvSpPr/>
          <p:nvPr/>
        </p:nvSpPr>
        <p:spPr>
          <a:xfrm>
            <a:off x="5995044" y="4473525"/>
            <a:ext cx="201508" cy="251916"/>
          </a:xfrm>
          <a:prstGeom prst="rect">
            <a:avLst/>
          </a:prstGeom>
          <a:noFill/>
          <a:ln/>
        </p:spPr>
        <p:txBody>
          <a:bodyPr wrap="none" lIns="0" tIns="0" rIns="0" bIns="0" rtlCol="0" anchor="ctr"/>
          <a:lstStyle/>
          <a:p>
            <a:pPr algn="ctr" indent="0" marL="0">
              <a:lnSpc>
                <a:spcPct val="100000"/>
              </a:lnSpc>
              <a:buNone/>
            </a:pPr>
            <a:r>
              <a:rPr lang="en-US" sz="1550" dirty="0">
                <a:solidFill>
                  <a:srgbClr val="3B3535"/>
                </a:solidFill>
                <a:latin typeface="Roboto Mono Medium" pitchFamily="34" charset="0"/>
                <a:ea typeface="Roboto Mono Medium" pitchFamily="34" charset="-122"/>
                <a:cs typeface="Roboto Mono Medium" pitchFamily="34" charset="-120"/>
              </a:rPr>
              <a:t>5</a:t>
            </a:r>
            <a:endParaRPr lang="en-US" sz="1550" dirty="0"/>
          </a:p>
        </p:txBody>
      </p:sp>
      <p:sp>
        <p:nvSpPr>
          <p:cNvPr id="30" name="Text 28"/>
          <p:cNvSpPr/>
          <p:nvPr/>
        </p:nvSpPr>
        <p:spPr>
          <a:xfrm>
            <a:off x="661475" y="4494510"/>
            <a:ext cx="4762480" cy="209947"/>
          </a:xfrm>
          <a:prstGeom prst="rect">
            <a:avLst/>
          </a:prstGeom>
          <a:noFill/>
          <a:ln/>
        </p:spPr>
        <p:txBody>
          <a:bodyPr wrap="none" lIns="0" tIns="0" rIns="0" bIns="0" rtlCol="0" anchor="t"/>
          <a:lstStyle/>
          <a:p>
            <a:pPr algn="r" indent="0" marL="0">
              <a:lnSpc>
                <a:spcPct val="104000"/>
              </a:lnSpc>
              <a:buNone/>
            </a:pPr>
            <a:r>
              <a:rPr lang="en-US" sz="1300" dirty="0">
                <a:solidFill>
                  <a:srgbClr val="3B3535"/>
                </a:solidFill>
                <a:latin typeface="Roboto Mono Medium" pitchFamily="34" charset="0"/>
                <a:ea typeface="Roboto Mono Medium" pitchFamily="34" charset="-122"/>
                <a:cs typeface="Roboto Mono Medium" pitchFamily="34" charset="-120"/>
              </a:rPr>
              <a:t>2020s — Era generativa</a:t>
            </a:r>
            <a:endParaRPr lang="en-US" sz="1300" dirty="0"/>
          </a:p>
        </p:txBody>
      </p:sp>
      <p:sp>
        <p:nvSpPr>
          <p:cNvPr id="31" name="Text 29"/>
          <p:cNvSpPr/>
          <p:nvPr/>
        </p:nvSpPr>
        <p:spPr>
          <a:xfrm>
            <a:off x="661475" y="4750296"/>
            <a:ext cx="4762480" cy="337145"/>
          </a:xfrm>
          <a:prstGeom prst="rect">
            <a:avLst/>
          </a:prstGeom>
          <a:noFill/>
          <a:ln/>
        </p:spPr>
        <p:txBody>
          <a:bodyPr wrap="square" lIns="0" tIns="0" rIns="0" bIns="0" rtlCol="0" anchor="t">
            <a:normAutofit/>
          </a:bodyPr>
          <a:lstStyle/>
          <a:p>
            <a:pPr algn="r" indent="0" marL="0">
              <a:lnSpc>
                <a:spcPct val="105000"/>
              </a:lnSpc>
              <a:buNone/>
            </a:pPr>
            <a:r>
              <a:rPr lang="en-US" sz="1050" dirty="0">
                <a:solidFill>
                  <a:srgbClr val="3B3535"/>
                </a:solidFill>
                <a:latin typeface="Roboto" pitchFamily="34" charset="0"/>
                <a:ea typeface="Roboto" pitchFamily="34" charset="-122"/>
                <a:cs typeface="Roboto" pitchFamily="34" charset="-120"/>
              </a:rPr>
              <a:t>GPT-3, ChatGPT, Gemini, Claude. Los Foundation Models democratizan el acceso a capacidades de IA sin precedentes.</a:t>
            </a:r>
            <a:endParaRPr lang="en-US" sz="1050" dirty="0"/>
          </a:p>
        </p:txBody>
      </p:sp>
      <p:sp>
        <p:nvSpPr>
          <p:cNvPr id="32" name="Shape 30"/>
          <p:cNvSpPr/>
          <p:nvPr/>
        </p:nvSpPr>
        <p:spPr>
          <a:xfrm>
            <a:off x="6227954" y="5226943"/>
            <a:ext cx="403116" cy="19050"/>
          </a:xfrm>
          <a:prstGeom prst="roundRect">
            <a:avLst>
              <a:gd name="adj" fmla="val 39999"/>
            </a:avLst>
          </a:prstGeom>
          <a:solidFill>
            <a:srgbClr val="D8D4D4"/>
          </a:solidFill>
          <a:ln/>
        </p:spPr>
      </p:sp>
      <p:sp>
        <p:nvSpPr>
          <p:cNvPr id="33" name="Shape 31"/>
          <p:cNvSpPr/>
          <p:nvPr/>
        </p:nvSpPr>
        <p:spPr>
          <a:xfrm>
            <a:off x="5944692" y="5085358"/>
            <a:ext cx="302312" cy="302320"/>
          </a:xfrm>
          <a:prstGeom prst="roundRect">
            <a:avLst>
              <a:gd name="adj" fmla="val 2521"/>
            </a:avLst>
          </a:prstGeom>
          <a:solidFill>
            <a:srgbClr val="F2EEEE"/>
          </a:solidFill>
          <a:ln w="6350">
            <a:solidFill>
              <a:srgbClr val="D8D4D4"/>
            </a:solidFill>
            <a:prstDash val="solid"/>
          </a:ln>
        </p:spPr>
      </p:sp>
      <p:sp>
        <p:nvSpPr>
          <p:cNvPr id="34" name="Text 32"/>
          <p:cNvSpPr/>
          <p:nvPr/>
        </p:nvSpPr>
        <p:spPr>
          <a:xfrm>
            <a:off x="5995044" y="5110510"/>
            <a:ext cx="201508" cy="251916"/>
          </a:xfrm>
          <a:prstGeom prst="rect">
            <a:avLst/>
          </a:prstGeom>
          <a:noFill/>
          <a:ln/>
        </p:spPr>
        <p:txBody>
          <a:bodyPr wrap="none" lIns="0" tIns="0" rIns="0" bIns="0" rtlCol="0" anchor="ctr"/>
          <a:lstStyle/>
          <a:p>
            <a:pPr algn="ctr" indent="0" marL="0">
              <a:lnSpc>
                <a:spcPct val="100000"/>
              </a:lnSpc>
              <a:buNone/>
            </a:pPr>
            <a:r>
              <a:rPr lang="en-US" sz="1550" dirty="0">
                <a:solidFill>
                  <a:srgbClr val="3B3535"/>
                </a:solidFill>
                <a:latin typeface="Roboto Mono Medium" pitchFamily="34" charset="0"/>
                <a:ea typeface="Roboto Mono Medium" pitchFamily="34" charset="-122"/>
                <a:cs typeface="Roboto Mono Medium" pitchFamily="34" charset="-120"/>
              </a:rPr>
              <a:t>6</a:t>
            </a:r>
            <a:endParaRPr lang="en-US" sz="1550" dirty="0"/>
          </a:p>
        </p:txBody>
      </p:sp>
      <p:sp>
        <p:nvSpPr>
          <p:cNvPr id="35" name="Text 33"/>
          <p:cNvSpPr/>
          <p:nvPr/>
        </p:nvSpPr>
        <p:spPr>
          <a:xfrm>
            <a:off x="6767740" y="5131495"/>
            <a:ext cx="4762480" cy="209947"/>
          </a:xfrm>
          <a:prstGeom prst="rect">
            <a:avLst/>
          </a:prstGeom>
          <a:noFill/>
          <a:ln/>
        </p:spPr>
        <p:txBody>
          <a:bodyPr wrap="none" lIns="0" tIns="0" rIns="0" bIns="0" rtlCol="0" anchor="t"/>
          <a:lstStyle/>
          <a:p>
            <a:pPr algn="l" indent="0" marL="0">
              <a:lnSpc>
                <a:spcPct val="104000"/>
              </a:lnSpc>
              <a:buNone/>
            </a:pPr>
            <a:r>
              <a:rPr lang="en-US" sz="1300" dirty="0">
                <a:solidFill>
                  <a:srgbClr val="3B3535"/>
                </a:solidFill>
                <a:latin typeface="Roboto Mono Medium" pitchFamily="34" charset="0"/>
                <a:ea typeface="Roboto Mono Medium" pitchFamily="34" charset="-122"/>
                <a:cs typeface="Roboto Mono Medium" pitchFamily="34" charset="-120"/>
              </a:rPr>
              <a:t>2022 — ChatGPT rompe internet</a:t>
            </a:r>
            <a:endParaRPr lang="en-US" sz="1300" dirty="0"/>
          </a:p>
        </p:txBody>
      </p:sp>
      <p:sp>
        <p:nvSpPr>
          <p:cNvPr id="36" name="Text 34"/>
          <p:cNvSpPr/>
          <p:nvPr/>
        </p:nvSpPr>
        <p:spPr>
          <a:xfrm>
            <a:off x="6767740" y="5387280"/>
            <a:ext cx="4762480" cy="337145"/>
          </a:xfrm>
          <a:prstGeom prst="rect">
            <a:avLst/>
          </a:prstGeom>
          <a:noFill/>
          <a:ln/>
        </p:spPr>
        <p:txBody>
          <a:bodyPr wrap="square" lIns="0" tIns="0" rIns="0" bIns="0" rtlCol="0" anchor="t">
            <a:normAutofit/>
          </a:bodyPr>
          <a:lstStyle/>
          <a:p>
            <a:pPr algn="l" indent="0" marL="0">
              <a:lnSpc>
                <a:spcPct val="105000"/>
              </a:lnSpc>
              <a:buNone/>
            </a:pPr>
            <a:r>
              <a:rPr lang="en-US" sz="1050" dirty="0">
                <a:solidFill>
                  <a:srgbClr val="3B3535"/>
                </a:solidFill>
                <a:latin typeface="Roboto" pitchFamily="34" charset="0"/>
                <a:ea typeface="Roboto" pitchFamily="34" charset="-122"/>
                <a:cs typeface="Roboto" pitchFamily="34" charset="-120"/>
              </a:rPr>
              <a:t>OpenAI lanza ChatGPT. Alcanza 100 millones de usuarios en 2 meses, el producto de mayor crecimiento en la historia.</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661475" y="850404"/>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La Taxonomía de Problemas</a:t>
            </a:r>
            <a:endParaRPr lang="en-US" sz="3250" dirty="0"/>
          </a:p>
        </p:txBody>
      </p:sp>
      <p:sp>
        <p:nvSpPr>
          <p:cNvPr id="3" name="Text 1"/>
          <p:cNvSpPr/>
          <p:nvPr/>
        </p:nvSpPr>
        <p:spPr>
          <a:xfrm>
            <a:off x="661475" y="1413371"/>
            <a:ext cx="10868745" cy="258465"/>
          </a:xfrm>
          <a:prstGeom prst="rect">
            <a:avLst/>
          </a:prstGeom>
          <a:noFill/>
          <a:ln/>
        </p:spPr>
        <p:txBody>
          <a:bodyPr wrap="none" lIns="0" tIns="0" rIns="0" bIns="0" rtlCol="0" anchor="t"/>
          <a:lstStyle/>
          <a:p>
            <a:pPr algn="l" indent="0" marL="0">
              <a:lnSpc>
                <a:spcPct val="104000"/>
              </a:lnSpc>
              <a:buNone/>
            </a:pPr>
            <a:r>
              <a:rPr lang="en-US" sz="1600" dirty="0">
                <a:solidFill>
                  <a:srgbClr val="1F1E1E"/>
                </a:solidFill>
                <a:latin typeface="Roboto Mono Medium" pitchFamily="34" charset="0"/>
                <a:ea typeface="Roboto Mono Medium" pitchFamily="34" charset="-122"/>
                <a:cs typeface="Roboto Mono Medium" pitchFamily="34" charset="-120"/>
              </a:rPr>
              <a:t>¿Qué tipos de problemas resuelve la IA?</a:t>
            </a:r>
            <a:endParaRPr lang="en-US" sz="16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845469"/>
            <a:ext cx="413434" cy="413445"/>
          </a:xfrm>
          <a:prstGeom prst="rect">
            <a:avLst/>
          </a:prstGeom>
        </p:spPr>
      </p:pic>
      <p:sp>
        <p:nvSpPr>
          <p:cNvPr id="5" name="Text 2"/>
          <p:cNvSpPr/>
          <p:nvPr/>
        </p:nvSpPr>
        <p:spPr>
          <a:xfrm>
            <a:off x="1219566" y="1845469"/>
            <a:ext cx="2968352"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Predicción</a:t>
            </a:r>
            <a:endParaRPr lang="en-US" sz="1600" dirty="0"/>
          </a:p>
        </p:txBody>
      </p:sp>
      <p:sp>
        <p:nvSpPr>
          <p:cNvPr id="6" name="Text 3"/>
          <p:cNvSpPr/>
          <p:nvPr/>
        </p:nvSpPr>
        <p:spPr>
          <a:xfrm>
            <a:off x="1219566" y="2173387"/>
            <a:ext cx="2968352" cy="674787"/>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Aprender X → Y a partir de datos etiquetados. Incluye clasificación y regresión.</a:t>
            </a:r>
            <a:endParaRPr lang="en-US" sz="130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32576" y="1845469"/>
            <a:ext cx="413434" cy="413445"/>
          </a:xfrm>
          <a:prstGeom prst="rect">
            <a:avLst/>
          </a:prstGeom>
        </p:spPr>
      </p:pic>
      <p:sp>
        <p:nvSpPr>
          <p:cNvPr id="8" name="Text 4"/>
          <p:cNvSpPr/>
          <p:nvPr/>
        </p:nvSpPr>
        <p:spPr>
          <a:xfrm>
            <a:off x="4890667" y="1845469"/>
            <a:ext cx="2968352"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Percepción</a:t>
            </a:r>
            <a:endParaRPr lang="en-US" sz="1600" dirty="0"/>
          </a:p>
        </p:txBody>
      </p:sp>
      <p:sp>
        <p:nvSpPr>
          <p:cNvPr id="9" name="Text 5"/>
          <p:cNvSpPr/>
          <p:nvPr/>
        </p:nvSpPr>
        <p:spPr>
          <a:xfrm>
            <a:off x="4890667" y="2173387"/>
            <a:ext cx="2968352" cy="449858"/>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Extraer estructura de señales sensoriales: imagen, audio, video.</a:t>
            </a:r>
            <a:endParaRPr lang="en-US" sz="130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3677" y="1845469"/>
            <a:ext cx="413434" cy="413445"/>
          </a:xfrm>
          <a:prstGeom prst="rect">
            <a:avLst/>
          </a:prstGeom>
        </p:spPr>
      </p:pic>
      <p:sp>
        <p:nvSpPr>
          <p:cNvPr id="11" name="Text 6"/>
          <p:cNvSpPr/>
          <p:nvPr/>
        </p:nvSpPr>
        <p:spPr>
          <a:xfrm>
            <a:off x="8561769" y="1845469"/>
            <a:ext cx="2968352"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Representación</a:t>
            </a:r>
            <a:endParaRPr lang="en-US" sz="1600" dirty="0"/>
          </a:p>
        </p:txBody>
      </p:sp>
      <p:sp>
        <p:nvSpPr>
          <p:cNvPr id="12" name="Text 7"/>
          <p:cNvSpPr/>
          <p:nvPr/>
        </p:nvSpPr>
        <p:spPr>
          <a:xfrm>
            <a:off x="8561769" y="2173387"/>
            <a:ext cx="2968352" cy="674787"/>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Aprender embeddings y espacios latentes que capturan relaciones entre datos.</a:t>
            </a:r>
            <a:endParaRPr lang="en-US" sz="130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3079651"/>
            <a:ext cx="413434" cy="413445"/>
          </a:xfrm>
          <a:prstGeom prst="rect">
            <a:avLst/>
          </a:prstGeom>
        </p:spPr>
      </p:pic>
      <p:sp>
        <p:nvSpPr>
          <p:cNvPr id="14" name="Text 8"/>
          <p:cNvSpPr/>
          <p:nvPr/>
        </p:nvSpPr>
        <p:spPr>
          <a:xfrm>
            <a:off x="1219566" y="3079651"/>
            <a:ext cx="2968352"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Decisión Secuencial</a:t>
            </a:r>
            <a:endParaRPr lang="en-US" sz="1600" dirty="0"/>
          </a:p>
        </p:txBody>
      </p:sp>
      <p:sp>
        <p:nvSpPr>
          <p:cNvPr id="15" name="Text 9"/>
          <p:cNvSpPr/>
          <p:nvPr/>
        </p:nvSpPr>
        <p:spPr>
          <a:xfrm>
            <a:off x="1219566" y="3407569"/>
            <a:ext cx="2968352" cy="674787"/>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Maximizar recompensa acumulada. Formalizado como Reinforcement Learning.</a:t>
            </a:r>
            <a:endParaRPr lang="en-US" sz="1300" dirty="0"/>
          </a:p>
        </p:txBody>
      </p:sp>
      <p:pic>
        <p:nvPicPr>
          <p:cNvPr id="1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32576" y="3079651"/>
            <a:ext cx="413434" cy="413445"/>
          </a:xfrm>
          <a:prstGeom prst="rect">
            <a:avLst/>
          </a:prstGeom>
        </p:spPr>
      </p:pic>
      <p:sp>
        <p:nvSpPr>
          <p:cNvPr id="17" name="Text 10"/>
          <p:cNvSpPr/>
          <p:nvPr/>
        </p:nvSpPr>
        <p:spPr>
          <a:xfrm>
            <a:off x="4890667" y="3079651"/>
            <a:ext cx="2968352" cy="516930"/>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Búsqueda / Planificación</a:t>
            </a:r>
            <a:endParaRPr lang="en-US" sz="1600" dirty="0"/>
          </a:p>
        </p:txBody>
      </p:sp>
      <p:sp>
        <p:nvSpPr>
          <p:cNvPr id="18" name="Text 11"/>
          <p:cNvSpPr/>
          <p:nvPr/>
        </p:nvSpPr>
        <p:spPr>
          <a:xfrm>
            <a:off x="4890667" y="3666034"/>
            <a:ext cx="2968352" cy="449858"/>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Encontrar la mejor secuencia de acciones en un espacio de estados.</a:t>
            </a:r>
            <a:endParaRPr lang="en-US" sz="1300" dirty="0"/>
          </a:p>
        </p:txBody>
      </p:sp>
      <p:pic>
        <p:nvPicPr>
          <p:cNvPr id="1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003677" y="3079651"/>
            <a:ext cx="413434" cy="413445"/>
          </a:xfrm>
          <a:prstGeom prst="rect">
            <a:avLst/>
          </a:prstGeom>
        </p:spPr>
      </p:pic>
      <p:sp>
        <p:nvSpPr>
          <p:cNvPr id="20" name="Text 12"/>
          <p:cNvSpPr/>
          <p:nvPr/>
        </p:nvSpPr>
        <p:spPr>
          <a:xfrm>
            <a:off x="8561769" y="3079651"/>
            <a:ext cx="2968352"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Razonamiento Simbólico</a:t>
            </a:r>
            <a:endParaRPr lang="en-US" sz="1600" dirty="0"/>
          </a:p>
        </p:txBody>
      </p:sp>
      <p:sp>
        <p:nvSpPr>
          <p:cNvPr id="21" name="Text 13"/>
          <p:cNvSpPr/>
          <p:nvPr/>
        </p:nvSpPr>
        <p:spPr>
          <a:xfrm>
            <a:off x="8561769" y="3407569"/>
            <a:ext cx="2968352" cy="449858"/>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Manipular símbolos y reglas IF–THEN para derivar conclusiones lógicas.</a:t>
            </a:r>
            <a:endParaRPr lang="en-US" sz="1300" dirty="0"/>
          </a:p>
        </p:txBody>
      </p:sp>
      <p:pic>
        <p:nvPicPr>
          <p:cNvPr id="22"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61475" y="4347369"/>
            <a:ext cx="413434" cy="413445"/>
          </a:xfrm>
          <a:prstGeom prst="rect">
            <a:avLst/>
          </a:prstGeom>
        </p:spPr>
      </p:pic>
      <p:sp>
        <p:nvSpPr>
          <p:cNvPr id="23" name="Text 14"/>
          <p:cNvSpPr/>
          <p:nvPr/>
        </p:nvSpPr>
        <p:spPr>
          <a:xfrm>
            <a:off x="1219566" y="4347369"/>
            <a:ext cx="2968352"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Generación</a:t>
            </a:r>
            <a:endParaRPr lang="en-US" sz="1600" dirty="0"/>
          </a:p>
        </p:txBody>
      </p:sp>
      <p:sp>
        <p:nvSpPr>
          <p:cNvPr id="24" name="Text 15"/>
          <p:cNvSpPr/>
          <p:nvPr/>
        </p:nvSpPr>
        <p:spPr>
          <a:xfrm>
            <a:off x="1219566" y="4675287"/>
            <a:ext cx="2968352" cy="674787"/>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Producir nuevas muestras coherentes: texto, imagen, audio, código. Infinita cantidad de outputs.</a:t>
            </a:r>
            <a:endParaRPr lang="en-US" sz="1300" dirty="0"/>
          </a:p>
        </p:txBody>
      </p:sp>
      <p:sp>
        <p:nvSpPr>
          <p:cNvPr id="25" name="Shape 16"/>
          <p:cNvSpPr/>
          <p:nvPr/>
        </p:nvSpPr>
        <p:spPr>
          <a:xfrm>
            <a:off x="661475" y="5480248"/>
            <a:ext cx="10868745" cy="527348"/>
          </a:xfrm>
          <a:prstGeom prst="roundRect">
            <a:avLst>
              <a:gd name="adj" fmla="val 1445"/>
            </a:avLst>
          </a:prstGeom>
          <a:solidFill>
            <a:srgbClr val="F9D2D6"/>
          </a:solidFill>
          <a:ln/>
        </p:spPr>
      </p:sp>
      <p:pic>
        <p:nvPicPr>
          <p:cNvPr id="26" name="Image 7" descr="preencoded.png">    </p:cNvPr>
          <p:cNvPicPr>
            <a:picLocks noChangeAspect="1"/>
          </p:cNvPicPr>
          <p:nvPr/>
        </p:nvPicPr>
        <p:blipFill>
          <a:blip r:embed="rId15"/>
          <a:stretch>
            <a:fillRect/>
          </a:stretch>
        </p:blipFill>
        <p:spPr>
          <a:xfrm>
            <a:off x="826769" y="5700911"/>
            <a:ext cx="206667" cy="165298"/>
          </a:xfrm>
          <a:prstGeom prst="rect">
            <a:avLst/>
          </a:prstGeom>
        </p:spPr>
      </p:pic>
      <p:sp>
        <p:nvSpPr>
          <p:cNvPr id="27" name="Text 17"/>
          <p:cNvSpPr/>
          <p:nvPr/>
        </p:nvSpPr>
        <p:spPr>
          <a:xfrm>
            <a:off x="1198731" y="5637213"/>
            <a:ext cx="10775780" cy="224929"/>
          </a:xfrm>
          <a:prstGeom prst="rect">
            <a:avLst/>
          </a:prstGeom>
          <a:noFill/>
          <a:ln/>
        </p:spPr>
        <p:txBody>
          <a:bodyPr wrap="none" lIns="0" tIns="0" rIns="0" bIns="0" rtlCol="0" anchor="t"/>
          <a:lstStyle/>
          <a:p>
            <a:pPr algn="l" indent="0" marL="0">
              <a:lnSpc>
                <a:spcPct val="113000"/>
              </a:lnSpc>
              <a:buNone/>
            </a:pPr>
            <a:r>
              <a:rPr lang="en-US" sz="1300" dirty="0">
                <a:solidFill>
                  <a:srgbClr val="000000"/>
                </a:solidFill>
                <a:latin typeface="Roboto" pitchFamily="34" charset="0"/>
                <a:ea typeface="Roboto" pitchFamily="34" charset="-122"/>
                <a:cs typeface="Roboto" pitchFamily="34" charset="-120"/>
              </a:rPr>
              <a:t>💡</a:t>
            </a:r>
            <a:pPr algn="l" indent="0" marL="0">
              <a:lnSpc>
                <a:spcPct val="113000"/>
              </a:lnSpc>
              <a:buNone/>
            </a:pPr>
            <a:r>
              <a:rPr lang="en-US" sz="1300" dirty="0">
                <a:solidFill>
                  <a:srgbClr val="000000"/>
                </a:solidFill>
                <a:latin typeface="Roboto" pitchFamily="34" charset="0"/>
                <a:ea typeface="Roboto" pitchFamily="34" charset="-122"/>
                <a:cs typeface="Roboto" pitchFamily="34" charset="-120"/>
              </a:rPr>
              <a:t> Un auto autónomo combina percepción + decisión secuencial + planificación</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661475" y="923131"/>
            <a:ext cx="1983829" cy="233263"/>
          </a:xfrm>
          <a:prstGeom prst="roundRect">
            <a:avLst>
              <a:gd name="adj" fmla="val 3267"/>
            </a:avLst>
          </a:prstGeom>
          <a:solidFill>
            <a:srgbClr val="F9D2D6"/>
          </a:solidFill>
          <a:ln/>
        </p:spPr>
      </p:sp>
      <p:sp>
        <p:nvSpPr>
          <p:cNvPr id="3" name="Text 1"/>
          <p:cNvSpPr/>
          <p:nvPr/>
        </p:nvSpPr>
        <p:spPr>
          <a:xfrm>
            <a:off x="753548" y="969169"/>
            <a:ext cx="2409269" cy="141188"/>
          </a:xfrm>
          <a:prstGeom prst="rect">
            <a:avLst/>
          </a:prstGeom>
          <a:noFill/>
          <a:ln/>
        </p:spPr>
        <p:txBody>
          <a:bodyPr wrap="none" lIns="0" tIns="0" rIns="0" bIns="0" rtlCol="0" anchor="t"/>
          <a:lstStyle/>
          <a:p>
            <a:pPr algn="l" indent="0" marL="0">
              <a:lnSpc>
                <a:spcPct val="96000"/>
              </a:lnSpc>
              <a:buNone/>
            </a:pPr>
            <a:r>
              <a:rPr lang="en-US" sz="950" dirty="0">
                <a:solidFill>
                  <a:srgbClr val="3B3535"/>
                </a:solidFill>
                <a:latin typeface="Roboto" pitchFamily="34" charset="0"/>
                <a:ea typeface="Roboto" pitchFamily="34" charset="-122"/>
                <a:cs typeface="Roboto" pitchFamily="34" charset="-120"/>
              </a:rPr>
              <a:t>LA TAXONOMÍA DE PROBLEMAS</a:t>
            </a:r>
            <a:endParaRPr lang="en-US" sz="950" dirty="0"/>
          </a:p>
        </p:txBody>
      </p:sp>
      <p:sp>
        <p:nvSpPr>
          <p:cNvPr id="4" name="Text 2"/>
          <p:cNvSpPr/>
          <p:nvPr/>
        </p:nvSpPr>
        <p:spPr>
          <a:xfrm>
            <a:off x="661475" y="1196280"/>
            <a:ext cx="10868745" cy="479921"/>
          </a:xfrm>
          <a:prstGeom prst="rect">
            <a:avLst/>
          </a:prstGeom>
          <a:noFill/>
          <a:ln/>
        </p:spPr>
        <p:txBody>
          <a:bodyPr wrap="none" lIns="0" tIns="0" rIns="0" bIns="0" rtlCol="0" anchor="t"/>
          <a:lstStyle/>
          <a:p>
            <a:pPr algn="l" indent="0" marL="0">
              <a:lnSpc>
                <a:spcPct val="104000"/>
              </a:lnSpc>
              <a:buNone/>
            </a:pPr>
            <a:r>
              <a:rPr lang="en-US" sz="3000" dirty="0">
                <a:solidFill>
                  <a:srgbClr val="1F1E1E"/>
                </a:solidFill>
                <a:latin typeface="Roboto Mono Medium" pitchFamily="34" charset="0"/>
                <a:ea typeface="Roboto Mono Medium" pitchFamily="34" charset="-122"/>
                <a:cs typeface="Roboto Mono Medium" pitchFamily="34" charset="-120"/>
              </a:rPr>
              <a:t>Predicción</a:t>
            </a:r>
            <a:endParaRPr lang="en-US" sz="3000" dirty="0"/>
          </a:p>
        </p:txBody>
      </p:sp>
      <p:sp>
        <p:nvSpPr>
          <p:cNvPr id="5" name="Text 3"/>
          <p:cNvSpPr/>
          <p:nvPr/>
        </p:nvSpPr>
        <p:spPr>
          <a:xfrm>
            <a:off x="661475" y="1716088"/>
            <a:ext cx="10868745" cy="239911"/>
          </a:xfrm>
          <a:prstGeom prst="rect">
            <a:avLst/>
          </a:prstGeom>
          <a:noFill/>
          <a:ln/>
        </p:spPr>
        <p:txBody>
          <a:bodyPr wrap="none" lIns="0" tIns="0" rIns="0" bIns="0" rtlCol="0" anchor="t"/>
          <a:lstStyle/>
          <a:p>
            <a:pPr algn="l" indent="0" marL="0">
              <a:lnSpc>
                <a:spcPct val="104000"/>
              </a:lnSpc>
              <a:buNone/>
            </a:pPr>
            <a:r>
              <a:rPr lang="en-US" sz="1500" dirty="0">
                <a:solidFill>
                  <a:srgbClr val="1F1E1E"/>
                </a:solidFill>
                <a:latin typeface="Roboto Mono Medium" pitchFamily="34" charset="0"/>
                <a:ea typeface="Roboto Mono Medium" pitchFamily="34" charset="-122"/>
                <a:cs typeface="Roboto Mono Medium" pitchFamily="34" charset="-120"/>
              </a:rPr>
              <a:t>Aprender una función X → Y a partir de datos etiquetados</a:t>
            </a:r>
            <a:endParaRPr lang="en-US" sz="1500" dirty="0"/>
          </a:p>
        </p:txBody>
      </p:sp>
      <p:sp>
        <p:nvSpPr>
          <p:cNvPr id="6" name="Text 4"/>
          <p:cNvSpPr/>
          <p:nvPr/>
        </p:nvSpPr>
        <p:spPr>
          <a:xfrm>
            <a:off x="661475" y="2105720"/>
            <a:ext cx="10868745" cy="405408"/>
          </a:xfrm>
          <a:prstGeom prst="rect">
            <a:avLst/>
          </a:prstGeom>
          <a:noFill/>
          <a:ln/>
        </p:spPr>
        <p:txBody>
          <a:bodyPr wrap="square" lIns="0" tIns="0" rIns="0" bIns="0" rtlCol="0" anchor="t">
            <a:normAutofit/>
          </a:bodyPr>
          <a:lstStyle/>
          <a:p>
            <a:pPr algn="l" indent="0" marL="0">
              <a:lnSpc>
                <a:spcPct val="110000"/>
              </a:lnSpc>
              <a:buNone/>
            </a:pPr>
            <a:r>
              <a:rPr lang="en-US" sz="1200" dirty="0">
                <a:solidFill>
                  <a:srgbClr val="3B3535"/>
                </a:solidFill>
                <a:latin typeface="Roboto" pitchFamily="34" charset="0"/>
                <a:ea typeface="Roboto" pitchFamily="34" charset="-122"/>
                <a:cs typeface="Roboto" pitchFamily="34" charset="-120"/>
              </a:rPr>
              <a:t>El modelo aprende a mapear entradas a salidas conocidas minimizando el error. Es la categoría más madura de la IA y la base de la mayoría de aplicaciones industriales.</a:t>
            </a:r>
            <a:endParaRPr lang="en-US" sz="12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623344"/>
            <a:ext cx="383868" cy="383877"/>
          </a:xfrm>
          <a:prstGeom prst="rect">
            <a:avLst/>
          </a:prstGeom>
        </p:spPr>
      </p:pic>
      <p:sp>
        <p:nvSpPr>
          <p:cNvPr id="8" name="Text 5"/>
          <p:cNvSpPr/>
          <p:nvPr/>
        </p:nvSpPr>
        <p:spPr>
          <a:xfrm>
            <a:off x="1170057" y="2623344"/>
            <a:ext cx="4863383" cy="239911"/>
          </a:xfrm>
          <a:prstGeom prst="rect">
            <a:avLst/>
          </a:prstGeom>
          <a:noFill/>
          <a:ln/>
        </p:spPr>
        <p:txBody>
          <a:bodyPr wrap="none" lIns="0" tIns="0" rIns="0" bIns="0" rtlCol="0" anchor="t"/>
          <a:lstStyle/>
          <a:p>
            <a:pPr algn="l" indent="0" marL="0">
              <a:lnSpc>
                <a:spcPct val="104000"/>
              </a:lnSpc>
              <a:buNone/>
            </a:pPr>
            <a:r>
              <a:rPr lang="en-US" sz="1500" dirty="0">
                <a:solidFill>
                  <a:srgbClr val="3B3535"/>
                </a:solidFill>
                <a:latin typeface="Roboto Mono Medium" pitchFamily="34" charset="0"/>
                <a:ea typeface="Roboto Mono Medium" pitchFamily="34" charset="-122"/>
                <a:cs typeface="Roboto Mono Medium" pitchFamily="34" charset="-120"/>
              </a:rPr>
              <a:t>Clasificación Binaria</a:t>
            </a:r>
            <a:endParaRPr lang="en-US" sz="1500" dirty="0"/>
          </a:p>
        </p:txBody>
      </p:sp>
      <p:sp>
        <p:nvSpPr>
          <p:cNvPr id="9" name="Text 6"/>
          <p:cNvSpPr/>
          <p:nvPr/>
        </p:nvSpPr>
        <p:spPr>
          <a:xfrm>
            <a:off x="1170057" y="2923084"/>
            <a:ext cx="4863383" cy="202704"/>
          </a:xfrm>
          <a:prstGeom prst="rect">
            <a:avLst/>
          </a:prstGeom>
          <a:noFill/>
          <a:ln/>
        </p:spPr>
        <p:txBody>
          <a:bodyPr wrap="none" lIns="0" tIns="0" rIns="0" bIns="0" rtlCol="0" anchor="t"/>
          <a:lstStyle/>
          <a:p>
            <a:pPr algn="l" indent="0" marL="0">
              <a:lnSpc>
                <a:spcPct val="110000"/>
              </a:lnSpc>
              <a:buNone/>
            </a:pPr>
            <a:r>
              <a:rPr lang="en-US" sz="1200" dirty="0">
                <a:solidFill>
                  <a:srgbClr val="3B3535"/>
                </a:solidFill>
                <a:latin typeface="Roboto" pitchFamily="34" charset="0"/>
                <a:ea typeface="Roboto" pitchFamily="34" charset="-122"/>
                <a:cs typeface="Roboto" pitchFamily="34" charset="-120"/>
              </a:rPr>
              <a:t>Spam/no spam · Fraude/legítimo · Sano/enfermo</a:t>
            </a:r>
            <a:endParaRPr lang="en-US" sz="120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58155" y="2623344"/>
            <a:ext cx="383868" cy="383877"/>
          </a:xfrm>
          <a:prstGeom prst="rect">
            <a:avLst/>
          </a:prstGeom>
        </p:spPr>
      </p:pic>
      <p:sp>
        <p:nvSpPr>
          <p:cNvPr id="11" name="Text 7"/>
          <p:cNvSpPr/>
          <p:nvPr/>
        </p:nvSpPr>
        <p:spPr>
          <a:xfrm>
            <a:off x="6666738" y="2623344"/>
            <a:ext cx="4863482" cy="239911"/>
          </a:xfrm>
          <a:prstGeom prst="rect">
            <a:avLst/>
          </a:prstGeom>
          <a:noFill/>
          <a:ln/>
        </p:spPr>
        <p:txBody>
          <a:bodyPr wrap="none" lIns="0" tIns="0" rIns="0" bIns="0" rtlCol="0" anchor="t"/>
          <a:lstStyle/>
          <a:p>
            <a:pPr algn="l" indent="0" marL="0">
              <a:lnSpc>
                <a:spcPct val="104000"/>
              </a:lnSpc>
              <a:buNone/>
            </a:pPr>
            <a:r>
              <a:rPr lang="en-US" sz="1500" dirty="0">
                <a:solidFill>
                  <a:srgbClr val="3B3535"/>
                </a:solidFill>
                <a:latin typeface="Roboto Mono Medium" pitchFamily="34" charset="0"/>
                <a:ea typeface="Roboto Mono Medium" pitchFamily="34" charset="-122"/>
                <a:cs typeface="Roboto Mono Medium" pitchFamily="34" charset="-120"/>
              </a:rPr>
              <a:t>Clasificación Multiclase</a:t>
            </a:r>
            <a:endParaRPr lang="en-US" sz="1500" dirty="0"/>
          </a:p>
        </p:txBody>
      </p:sp>
      <p:sp>
        <p:nvSpPr>
          <p:cNvPr id="12" name="Text 8"/>
          <p:cNvSpPr/>
          <p:nvPr/>
        </p:nvSpPr>
        <p:spPr>
          <a:xfrm>
            <a:off x="6666738" y="2923084"/>
            <a:ext cx="4863482" cy="202704"/>
          </a:xfrm>
          <a:prstGeom prst="rect">
            <a:avLst/>
          </a:prstGeom>
          <a:noFill/>
          <a:ln/>
        </p:spPr>
        <p:txBody>
          <a:bodyPr wrap="none" lIns="0" tIns="0" rIns="0" bIns="0" rtlCol="0" anchor="t"/>
          <a:lstStyle/>
          <a:p>
            <a:pPr algn="l" indent="0" marL="0">
              <a:lnSpc>
                <a:spcPct val="110000"/>
              </a:lnSpc>
              <a:buNone/>
            </a:pPr>
            <a:r>
              <a:rPr lang="en-US" sz="1200" dirty="0">
                <a:solidFill>
                  <a:srgbClr val="3B3535"/>
                </a:solidFill>
                <a:latin typeface="Roboto" pitchFamily="34" charset="0"/>
                <a:ea typeface="Roboto" pitchFamily="34" charset="-122"/>
                <a:cs typeface="Roboto" pitchFamily="34" charset="-120"/>
              </a:rPr>
              <a:t>¿Qué cultivo? · ¿Qué enfermedad?</a:t>
            </a:r>
            <a:endParaRPr lang="en-US" sz="120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325416"/>
            <a:ext cx="383868" cy="383877"/>
          </a:xfrm>
          <a:prstGeom prst="rect">
            <a:avLst/>
          </a:prstGeom>
        </p:spPr>
      </p:pic>
      <p:sp>
        <p:nvSpPr>
          <p:cNvPr id="14" name="Text 9"/>
          <p:cNvSpPr/>
          <p:nvPr/>
        </p:nvSpPr>
        <p:spPr>
          <a:xfrm>
            <a:off x="1170057" y="3325416"/>
            <a:ext cx="4863383" cy="239911"/>
          </a:xfrm>
          <a:prstGeom prst="rect">
            <a:avLst/>
          </a:prstGeom>
          <a:noFill/>
          <a:ln/>
        </p:spPr>
        <p:txBody>
          <a:bodyPr wrap="none" lIns="0" tIns="0" rIns="0" bIns="0" rtlCol="0" anchor="t"/>
          <a:lstStyle/>
          <a:p>
            <a:pPr algn="l" indent="0" marL="0">
              <a:lnSpc>
                <a:spcPct val="104000"/>
              </a:lnSpc>
              <a:buNone/>
            </a:pPr>
            <a:r>
              <a:rPr lang="en-US" sz="1500" dirty="0">
                <a:solidFill>
                  <a:srgbClr val="3B3535"/>
                </a:solidFill>
                <a:latin typeface="Roboto Mono Medium" pitchFamily="34" charset="0"/>
                <a:ea typeface="Roboto Mono Medium" pitchFamily="34" charset="-122"/>
                <a:cs typeface="Roboto Mono Medium" pitchFamily="34" charset="-120"/>
              </a:rPr>
              <a:t>Regresión</a:t>
            </a:r>
            <a:endParaRPr lang="en-US" sz="1500" dirty="0"/>
          </a:p>
        </p:txBody>
      </p:sp>
      <p:sp>
        <p:nvSpPr>
          <p:cNvPr id="15" name="Text 10"/>
          <p:cNvSpPr/>
          <p:nvPr/>
        </p:nvSpPr>
        <p:spPr>
          <a:xfrm>
            <a:off x="1170057" y="3625155"/>
            <a:ext cx="4863383" cy="202704"/>
          </a:xfrm>
          <a:prstGeom prst="rect">
            <a:avLst/>
          </a:prstGeom>
          <a:noFill/>
          <a:ln/>
        </p:spPr>
        <p:txBody>
          <a:bodyPr wrap="none" lIns="0" tIns="0" rIns="0" bIns="0" rtlCol="0" anchor="t"/>
          <a:lstStyle/>
          <a:p>
            <a:pPr algn="l" indent="0" marL="0">
              <a:lnSpc>
                <a:spcPct val="110000"/>
              </a:lnSpc>
              <a:buNone/>
            </a:pPr>
            <a:r>
              <a:rPr lang="en-US" sz="1200" dirty="0">
                <a:solidFill>
                  <a:srgbClr val="3B3535"/>
                </a:solidFill>
                <a:latin typeface="Roboto" pitchFamily="34" charset="0"/>
                <a:ea typeface="Roboto" pitchFamily="34" charset="-122"/>
                <a:cs typeface="Roboto" pitchFamily="34" charset="-120"/>
              </a:rPr>
              <a:t>Precio de vivienda · Demanda energética · Cosecha</a:t>
            </a:r>
            <a:endParaRPr lang="en-US" sz="1200" dirty="0"/>
          </a:p>
        </p:txBody>
      </p:sp>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58155" y="3325416"/>
            <a:ext cx="383868" cy="383877"/>
          </a:xfrm>
          <a:prstGeom prst="rect">
            <a:avLst/>
          </a:prstGeom>
        </p:spPr>
      </p:pic>
      <p:sp>
        <p:nvSpPr>
          <p:cNvPr id="17" name="Text 11"/>
          <p:cNvSpPr/>
          <p:nvPr/>
        </p:nvSpPr>
        <p:spPr>
          <a:xfrm>
            <a:off x="6666738" y="3325416"/>
            <a:ext cx="4863482" cy="239911"/>
          </a:xfrm>
          <a:prstGeom prst="rect">
            <a:avLst/>
          </a:prstGeom>
          <a:noFill/>
          <a:ln/>
        </p:spPr>
        <p:txBody>
          <a:bodyPr wrap="none" lIns="0" tIns="0" rIns="0" bIns="0" rtlCol="0" anchor="t"/>
          <a:lstStyle/>
          <a:p>
            <a:pPr algn="l" indent="0" marL="0">
              <a:lnSpc>
                <a:spcPct val="104000"/>
              </a:lnSpc>
              <a:buNone/>
            </a:pPr>
            <a:r>
              <a:rPr lang="en-US" sz="1500" dirty="0">
                <a:solidFill>
                  <a:srgbClr val="3B3535"/>
                </a:solidFill>
                <a:latin typeface="Roboto Mono Medium" pitchFamily="34" charset="0"/>
                <a:ea typeface="Roboto Mono Medium" pitchFamily="34" charset="-122"/>
                <a:cs typeface="Roboto Mono Medium" pitchFamily="34" charset="-120"/>
              </a:rPr>
              <a:t>Series Temporales</a:t>
            </a:r>
            <a:endParaRPr lang="en-US" sz="1500" dirty="0"/>
          </a:p>
        </p:txBody>
      </p:sp>
      <p:sp>
        <p:nvSpPr>
          <p:cNvPr id="18" name="Text 12"/>
          <p:cNvSpPr/>
          <p:nvPr/>
        </p:nvSpPr>
        <p:spPr>
          <a:xfrm>
            <a:off x="6666738" y="3625155"/>
            <a:ext cx="4863482" cy="202704"/>
          </a:xfrm>
          <a:prstGeom prst="rect">
            <a:avLst/>
          </a:prstGeom>
          <a:noFill/>
          <a:ln/>
        </p:spPr>
        <p:txBody>
          <a:bodyPr wrap="none" lIns="0" tIns="0" rIns="0" bIns="0" rtlCol="0" anchor="t"/>
          <a:lstStyle/>
          <a:p>
            <a:pPr algn="l" indent="0" marL="0">
              <a:lnSpc>
                <a:spcPct val="110000"/>
              </a:lnSpc>
              <a:buNone/>
            </a:pPr>
            <a:r>
              <a:rPr lang="en-US" sz="1200" dirty="0">
                <a:solidFill>
                  <a:srgbClr val="3B3535"/>
                </a:solidFill>
                <a:latin typeface="Roboto" pitchFamily="34" charset="0"/>
                <a:ea typeface="Roboto" pitchFamily="34" charset="-122"/>
                <a:cs typeface="Roboto" pitchFamily="34" charset="-120"/>
              </a:rPr>
              <a:t>Ventas · Temperatura · Tráfico</a:t>
            </a:r>
            <a:endParaRPr lang="en-US" sz="1200" dirty="0"/>
          </a:p>
        </p:txBody>
      </p:sp>
      <p:sp>
        <p:nvSpPr>
          <p:cNvPr id="19" name="Text 13"/>
          <p:cNvSpPr/>
          <p:nvPr/>
        </p:nvSpPr>
        <p:spPr>
          <a:xfrm>
            <a:off x="661475" y="3977580"/>
            <a:ext cx="10868745" cy="239911"/>
          </a:xfrm>
          <a:prstGeom prst="rect">
            <a:avLst/>
          </a:prstGeom>
          <a:noFill/>
          <a:ln/>
        </p:spPr>
        <p:txBody>
          <a:bodyPr wrap="none" lIns="0" tIns="0" rIns="0" bIns="0" rtlCol="0" anchor="t"/>
          <a:lstStyle/>
          <a:p>
            <a:pPr algn="l" indent="0" marL="0">
              <a:lnSpc>
                <a:spcPct val="104000"/>
              </a:lnSpc>
              <a:buNone/>
            </a:pPr>
            <a:r>
              <a:rPr lang="en-US" sz="1500" dirty="0">
                <a:solidFill>
                  <a:srgbClr val="1F1E1E"/>
                </a:solidFill>
                <a:latin typeface="Roboto Mono Medium" pitchFamily="34" charset="0"/>
                <a:ea typeface="Roboto Mono Medium" pitchFamily="34" charset="-122"/>
                <a:cs typeface="Roboto Mono Medium" pitchFamily="34" charset="-120"/>
              </a:rPr>
              <a:t>Tools:</a:t>
            </a:r>
            <a:endParaRPr lang="en-US" sz="1500" dirty="0"/>
          </a:p>
        </p:txBody>
      </p:sp>
      <p:sp>
        <p:nvSpPr>
          <p:cNvPr id="20" name="Text 14"/>
          <p:cNvSpPr/>
          <p:nvPr/>
        </p:nvSpPr>
        <p:spPr>
          <a:xfrm>
            <a:off x="661475" y="4367213"/>
            <a:ext cx="11478330" cy="202704"/>
          </a:xfrm>
          <a:prstGeom prst="rect">
            <a:avLst/>
          </a:prstGeom>
          <a:noFill/>
          <a:ln/>
        </p:spPr>
        <p:txBody>
          <a:bodyPr wrap="none" lIns="0" tIns="0" rIns="0" bIns="0" rtlCol="0" anchor="t"/>
          <a:lstStyle/>
          <a:p>
            <a:pPr algn="l" indent="0" marL="0">
              <a:lnSpc>
                <a:spcPct val="110000"/>
              </a:lnSpc>
              <a:buNone/>
            </a:pPr>
            <a:r>
              <a:rPr lang="en-US" sz="1200" dirty="0">
                <a:solidFill>
                  <a:srgbClr val="3B3535"/>
                </a:solidFill>
                <a:latin typeface="Roboto" pitchFamily="34" charset="0"/>
                <a:ea typeface="Roboto" pitchFamily="34" charset="-122"/>
                <a:cs typeface="Roboto" pitchFamily="34" charset="-120"/>
              </a:rPr>
              <a:t>Scikit-learn · XGBoost · LightGBM · TensorFlow · PyTorch · AutoML (H2O, AutoGluon)</a:t>
            </a:r>
            <a:endParaRPr lang="en-US" sz="1200" dirty="0"/>
          </a:p>
        </p:txBody>
      </p:sp>
      <p:sp>
        <p:nvSpPr>
          <p:cNvPr id="21" name="Shape 15"/>
          <p:cNvSpPr/>
          <p:nvPr/>
        </p:nvSpPr>
        <p:spPr>
          <a:xfrm>
            <a:off x="661475" y="4682133"/>
            <a:ext cx="10868745" cy="468908"/>
          </a:xfrm>
          <a:prstGeom prst="roundRect">
            <a:avLst>
              <a:gd name="adj" fmla="val 1625"/>
            </a:avLst>
          </a:prstGeom>
          <a:solidFill>
            <a:srgbClr val="F9D2D6"/>
          </a:solidFill>
          <a:ln/>
        </p:spPr>
      </p:sp>
      <p:pic>
        <p:nvPicPr>
          <p:cNvPr id="22" name="Image 4" descr="preencoded.png">    </p:cNvPr>
          <p:cNvPicPr>
            <a:picLocks noChangeAspect="1"/>
          </p:cNvPicPr>
          <p:nvPr/>
        </p:nvPicPr>
        <p:blipFill>
          <a:blip r:embed="rId9"/>
          <a:stretch>
            <a:fillRect/>
          </a:stretch>
        </p:blipFill>
        <p:spPr>
          <a:xfrm>
            <a:off x="814962" y="4879280"/>
            <a:ext cx="191884" cy="153491"/>
          </a:xfrm>
          <a:prstGeom prst="rect">
            <a:avLst/>
          </a:prstGeom>
        </p:spPr>
      </p:pic>
      <p:sp>
        <p:nvSpPr>
          <p:cNvPr id="23" name="Text 16"/>
          <p:cNvSpPr/>
          <p:nvPr/>
        </p:nvSpPr>
        <p:spPr>
          <a:xfrm>
            <a:off x="1160334" y="4820245"/>
            <a:ext cx="10825983" cy="202704"/>
          </a:xfrm>
          <a:prstGeom prst="rect">
            <a:avLst/>
          </a:prstGeom>
          <a:noFill/>
          <a:ln/>
        </p:spPr>
        <p:txBody>
          <a:bodyPr wrap="none" lIns="0" tIns="0" rIns="0" bIns="0" rtlCol="0" anchor="t"/>
          <a:lstStyle/>
          <a:p>
            <a:pPr algn="l" indent="0" marL="0">
              <a:lnSpc>
                <a:spcPct val="110000"/>
              </a:lnSpc>
              <a:buNone/>
            </a:pPr>
            <a:r>
              <a:rPr lang="en-US" sz="1200" dirty="0">
                <a:solidFill>
                  <a:srgbClr val="000000"/>
                </a:solidFill>
                <a:latin typeface="Roboto" pitchFamily="34" charset="0"/>
                <a:ea typeface="Roboto" pitchFamily="34" charset="-122"/>
                <a:cs typeface="Roboto" pitchFamily="34" charset="-120"/>
              </a:rPr>
              <a:t>Métricas: Accuracy · F1-Score · AUC-ROC (clasificación) · MAE · RMSE · R² (regresión)</a:t>
            </a:r>
            <a:endParaRPr lang="en-US" sz="1200" dirty="0"/>
          </a:p>
        </p:txBody>
      </p:sp>
      <p:sp>
        <p:nvSpPr>
          <p:cNvPr id="24" name="Shape 17"/>
          <p:cNvSpPr/>
          <p:nvPr/>
        </p:nvSpPr>
        <p:spPr>
          <a:xfrm>
            <a:off x="661475" y="5263257"/>
            <a:ext cx="10868745" cy="671612"/>
          </a:xfrm>
          <a:prstGeom prst="roundRect">
            <a:avLst>
              <a:gd name="adj" fmla="val 1135"/>
            </a:avLst>
          </a:prstGeom>
          <a:solidFill>
            <a:srgbClr val="F9D2D6"/>
          </a:solidFill>
          <a:ln/>
        </p:spPr>
      </p:sp>
      <p:pic>
        <p:nvPicPr>
          <p:cNvPr id="25" name="Image 5" descr="preencoded.png">    </p:cNvPr>
          <p:cNvPicPr>
            <a:picLocks noChangeAspect="1"/>
          </p:cNvPicPr>
          <p:nvPr/>
        </p:nvPicPr>
        <p:blipFill>
          <a:blip r:embed="rId10"/>
          <a:stretch>
            <a:fillRect/>
          </a:stretch>
        </p:blipFill>
        <p:spPr>
          <a:xfrm>
            <a:off x="814962" y="5460405"/>
            <a:ext cx="191884" cy="153491"/>
          </a:xfrm>
          <a:prstGeom prst="rect">
            <a:avLst/>
          </a:prstGeom>
        </p:spPr>
      </p:pic>
      <p:sp>
        <p:nvSpPr>
          <p:cNvPr id="26" name="Text 18"/>
          <p:cNvSpPr/>
          <p:nvPr/>
        </p:nvSpPr>
        <p:spPr>
          <a:xfrm>
            <a:off x="1160334" y="5401370"/>
            <a:ext cx="10216398" cy="405408"/>
          </a:xfrm>
          <a:prstGeom prst="rect">
            <a:avLst/>
          </a:prstGeom>
          <a:noFill/>
          <a:ln/>
        </p:spPr>
        <p:txBody>
          <a:bodyPr wrap="square" lIns="0" tIns="0" rIns="0" bIns="0" rtlCol="0" anchor="t">
            <a:normAutofit/>
          </a:bodyPr>
          <a:lstStyle/>
          <a:p>
            <a:pPr algn="l" indent="0" marL="0">
              <a:lnSpc>
                <a:spcPct val="110000"/>
              </a:lnSpc>
              <a:buNone/>
            </a:pPr>
            <a:r>
              <a:rPr lang="en-US" sz="1200" dirty="0">
                <a:solidFill>
                  <a:srgbClr val="000000"/>
                </a:solidFill>
                <a:latin typeface="Roboto" pitchFamily="34" charset="0"/>
                <a:ea typeface="Roboto" pitchFamily="34" charset="-122"/>
                <a:cs typeface="Roboto" pitchFamily="34" charset="-120"/>
              </a:rPr>
              <a:t>🏆</a:t>
            </a:r>
            <a:pPr algn="l" indent="0" marL="0">
              <a:lnSpc>
                <a:spcPct val="110000"/>
              </a:lnSpc>
              <a:buNone/>
            </a:pPr>
            <a:r>
              <a:rPr lang="en-US" sz="1200" dirty="0">
                <a:solidFill>
                  <a:srgbClr val="000000"/>
                </a:solidFill>
                <a:latin typeface="Roboto" pitchFamily="34" charset="0"/>
                <a:ea typeface="Roboto" pitchFamily="34" charset="-122"/>
                <a:cs typeface="Roboto" pitchFamily="34" charset="-120"/>
              </a:rPr>
              <a:t> Hito: En 2012, AlexNet (Krizhevsky et al.) ganó ImageNet con un error un 10% menor que el segundo lugar, usando predicción sobre imágenes. Marcó el inicio de la era del deep learning.</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661475" y="821730"/>
            <a:ext cx="1983829" cy="233263"/>
          </a:xfrm>
          <a:prstGeom prst="roundRect">
            <a:avLst>
              <a:gd name="adj" fmla="val 3267"/>
            </a:avLst>
          </a:prstGeom>
          <a:solidFill>
            <a:srgbClr val="F9D2D6"/>
          </a:solidFill>
          <a:ln/>
        </p:spPr>
      </p:sp>
      <p:sp>
        <p:nvSpPr>
          <p:cNvPr id="3" name="Text 1"/>
          <p:cNvSpPr/>
          <p:nvPr/>
        </p:nvSpPr>
        <p:spPr>
          <a:xfrm>
            <a:off x="753548" y="867767"/>
            <a:ext cx="2409269" cy="141188"/>
          </a:xfrm>
          <a:prstGeom prst="rect">
            <a:avLst/>
          </a:prstGeom>
          <a:noFill/>
          <a:ln/>
        </p:spPr>
        <p:txBody>
          <a:bodyPr wrap="none" lIns="0" tIns="0" rIns="0" bIns="0" rtlCol="0" anchor="t"/>
          <a:lstStyle/>
          <a:p>
            <a:pPr algn="l" indent="0" marL="0">
              <a:lnSpc>
                <a:spcPct val="96000"/>
              </a:lnSpc>
              <a:buNone/>
            </a:pPr>
            <a:r>
              <a:rPr lang="en-US" sz="950" dirty="0">
                <a:solidFill>
                  <a:srgbClr val="3B3535"/>
                </a:solidFill>
                <a:latin typeface="Roboto" pitchFamily="34" charset="0"/>
                <a:ea typeface="Roboto" pitchFamily="34" charset="-122"/>
                <a:cs typeface="Roboto" pitchFamily="34" charset="-120"/>
              </a:rPr>
              <a:t>LA TAXONOMÍA DE PROBLEMAS</a:t>
            </a:r>
            <a:endParaRPr lang="en-US" sz="950" dirty="0"/>
          </a:p>
        </p:txBody>
      </p:sp>
      <p:sp>
        <p:nvSpPr>
          <p:cNvPr id="4" name="Text 2"/>
          <p:cNvSpPr/>
          <p:nvPr/>
        </p:nvSpPr>
        <p:spPr>
          <a:xfrm>
            <a:off x="661475" y="1094879"/>
            <a:ext cx="10868745" cy="479921"/>
          </a:xfrm>
          <a:prstGeom prst="rect">
            <a:avLst/>
          </a:prstGeom>
          <a:noFill/>
          <a:ln/>
        </p:spPr>
        <p:txBody>
          <a:bodyPr wrap="none" lIns="0" tIns="0" rIns="0" bIns="0" rtlCol="0" anchor="t"/>
          <a:lstStyle/>
          <a:p>
            <a:pPr algn="l" indent="0" marL="0">
              <a:lnSpc>
                <a:spcPct val="104000"/>
              </a:lnSpc>
              <a:buNone/>
            </a:pPr>
            <a:r>
              <a:rPr lang="en-US" sz="3000" dirty="0">
                <a:solidFill>
                  <a:srgbClr val="1F1E1E"/>
                </a:solidFill>
                <a:latin typeface="Roboto Mono Medium" pitchFamily="34" charset="0"/>
                <a:ea typeface="Roboto Mono Medium" pitchFamily="34" charset="-122"/>
                <a:cs typeface="Roboto Mono Medium" pitchFamily="34" charset="-120"/>
              </a:rPr>
              <a:t>Percepción</a:t>
            </a:r>
            <a:endParaRPr lang="en-US" sz="3000" dirty="0"/>
          </a:p>
        </p:txBody>
      </p:sp>
      <p:sp>
        <p:nvSpPr>
          <p:cNvPr id="5" name="Text 3"/>
          <p:cNvSpPr/>
          <p:nvPr/>
        </p:nvSpPr>
        <p:spPr>
          <a:xfrm>
            <a:off x="661475" y="1614686"/>
            <a:ext cx="10868745" cy="239911"/>
          </a:xfrm>
          <a:prstGeom prst="rect">
            <a:avLst/>
          </a:prstGeom>
          <a:noFill/>
          <a:ln/>
        </p:spPr>
        <p:txBody>
          <a:bodyPr wrap="none" lIns="0" tIns="0" rIns="0" bIns="0" rtlCol="0" anchor="t"/>
          <a:lstStyle/>
          <a:p>
            <a:pPr algn="l" indent="0" marL="0">
              <a:lnSpc>
                <a:spcPct val="104000"/>
              </a:lnSpc>
              <a:buNone/>
            </a:pPr>
            <a:r>
              <a:rPr lang="en-US" sz="1500" dirty="0">
                <a:solidFill>
                  <a:srgbClr val="1F1E1E"/>
                </a:solidFill>
                <a:latin typeface="Roboto Mono Medium" pitchFamily="34" charset="0"/>
                <a:ea typeface="Roboto Mono Medium" pitchFamily="34" charset="-122"/>
                <a:cs typeface="Roboto Mono Medium" pitchFamily="34" charset="-120"/>
              </a:rPr>
              <a:t>Extraer estructura significativa de señales sensoriales</a:t>
            </a:r>
            <a:endParaRPr lang="en-US" sz="1500" dirty="0"/>
          </a:p>
        </p:txBody>
      </p:sp>
      <p:sp>
        <p:nvSpPr>
          <p:cNvPr id="6" name="Text 4"/>
          <p:cNvSpPr/>
          <p:nvPr/>
        </p:nvSpPr>
        <p:spPr>
          <a:xfrm>
            <a:off x="661475" y="2004318"/>
            <a:ext cx="10868745" cy="405408"/>
          </a:xfrm>
          <a:prstGeom prst="rect">
            <a:avLst/>
          </a:prstGeom>
          <a:noFill/>
          <a:ln/>
        </p:spPr>
        <p:txBody>
          <a:bodyPr wrap="square" lIns="0" tIns="0" rIns="0" bIns="0" rtlCol="0" anchor="t">
            <a:normAutofit/>
          </a:bodyPr>
          <a:lstStyle/>
          <a:p>
            <a:pPr algn="l" indent="0" marL="0">
              <a:lnSpc>
                <a:spcPct val="110000"/>
              </a:lnSpc>
              <a:buNone/>
            </a:pPr>
            <a:r>
              <a:rPr lang="en-US" sz="1200" dirty="0">
                <a:solidFill>
                  <a:srgbClr val="3B3535"/>
                </a:solidFill>
                <a:latin typeface="Roboto" pitchFamily="34" charset="0"/>
                <a:ea typeface="Roboto" pitchFamily="34" charset="-122"/>
                <a:cs typeface="Roboto" pitchFamily="34" charset="-120"/>
              </a:rPr>
              <a:t>Convierte datos crudos (píxeles, ondas de audio, frames de video) en objetos, eventos o conceptos interpretables. Es la base de la visión por computadora y el procesamiento del habla.</a:t>
            </a:r>
            <a:endParaRPr lang="en-US" sz="1200" dirty="0"/>
          </a:p>
        </p:txBody>
      </p:sp>
      <p:sp>
        <p:nvSpPr>
          <p:cNvPr id="7" name="Text 5"/>
          <p:cNvSpPr/>
          <p:nvPr/>
        </p:nvSpPr>
        <p:spPr>
          <a:xfrm>
            <a:off x="661475" y="2559447"/>
            <a:ext cx="10868745" cy="239911"/>
          </a:xfrm>
          <a:prstGeom prst="rect">
            <a:avLst/>
          </a:prstGeom>
          <a:noFill/>
          <a:ln/>
        </p:spPr>
        <p:txBody>
          <a:bodyPr wrap="none" lIns="0" tIns="0" rIns="0" bIns="0" rtlCol="0" anchor="t"/>
          <a:lstStyle/>
          <a:p>
            <a:pPr algn="l" indent="0" marL="0">
              <a:lnSpc>
                <a:spcPct val="104000"/>
              </a:lnSpc>
              <a:buNone/>
            </a:pPr>
            <a:r>
              <a:rPr lang="en-US" sz="1500" dirty="0">
                <a:solidFill>
                  <a:srgbClr val="1F1E1E"/>
                </a:solidFill>
                <a:latin typeface="Roboto Mono Medium" pitchFamily="34" charset="0"/>
                <a:ea typeface="Roboto Mono Medium" pitchFamily="34" charset="-122"/>
                <a:cs typeface="Roboto Mono Medium" pitchFamily="34" charset="-120"/>
              </a:rPr>
              <a:t>Problemas típicos</a:t>
            </a:r>
            <a:endParaRPr lang="en-US" sz="150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949079"/>
            <a:ext cx="383868" cy="383877"/>
          </a:xfrm>
          <a:prstGeom prst="rect">
            <a:avLst/>
          </a:prstGeom>
        </p:spPr>
      </p:pic>
      <p:sp>
        <p:nvSpPr>
          <p:cNvPr id="9" name="Text 6"/>
          <p:cNvSpPr/>
          <p:nvPr/>
        </p:nvSpPr>
        <p:spPr>
          <a:xfrm>
            <a:off x="1170057" y="2949079"/>
            <a:ext cx="3031156" cy="239911"/>
          </a:xfrm>
          <a:prstGeom prst="rect">
            <a:avLst/>
          </a:prstGeom>
          <a:noFill/>
          <a:ln/>
        </p:spPr>
        <p:txBody>
          <a:bodyPr wrap="none" lIns="0" tIns="0" rIns="0" bIns="0" rtlCol="0" anchor="t"/>
          <a:lstStyle/>
          <a:p>
            <a:pPr algn="l" indent="0" marL="0">
              <a:lnSpc>
                <a:spcPct val="104000"/>
              </a:lnSpc>
              <a:buNone/>
            </a:pPr>
            <a:r>
              <a:rPr lang="en-US" sz="1500" dirty="0">
                <a:solidFill>
                  <a:srgbClr val="3B3535"/>
                </a:solidFill>
                <a:latin typeface="Roboto Mono Medium" pitchFamily="34" charset="0"/>
                <a:ea typeface="Roboto Mono Medium" pitchFamily="34" charset="-122"/>
                <a:cs typeface="Roboto Mono Medium" pitchFamily="34" charset="-120"/>
              </a:rPr>
              <a:t>Clasificación de Imágenes</a:t>
            </a:r>
            <a:endParaRPr lang="en-US" sz="1500" dirty="0"/>
          </a:p>
        </p:txBody>
      </p:sp>
      <p:sp>
        <p:nvSpPr>
          <p:cNvPr id="10" name="Text 7"/>
          <p:cNvSpPr/>
          <p:nvPr/>
        </p:nvSpPr>
        <p:spPr>
          <a:xfrm>
            <a:off x="1170057" y="3248819"/>
            <a:ext cx="3031156" cy="202704"/>
          </a:xfrm>
          <a:prstGeom prst="rect">
            <a:avLst/>
          </a:prstGeom>
          <a:noFill/>
          <a:ln/>
        </p:spPr>
        <p:txBody>
          <a:bodyPr wrap="none" lIns="0" tIns="0" rIns="0" bIns="0" rtlCol="0" anchor="t"/>
          <a:lstStyle/>
          <a:p>
            <a:pPr algn="l" indent="0" marL="0">
              <a:lnSpc>
                <a:spcPct val="110000"/>
              </a:lnSpc>
              <a:buNone/>
            </a:pPr>
            <a:r>
              <a:rPr lang="en-US" sz="1200" dirty="0">
                <a:solidFill>
                  <a:srgbClr val="3B3535"/>
                </a:solidFill>
                <a:latin typeface="Roboto" pitchFamily="34" charset="0"/>
                <a:ea typeface="Roboto" pitchFamily="34" charset="-122"/>
                <a:cs typeface="Roboto" pitchFamily="34" charset="-120"/>
              </a:rPr>
              <a:t>¿Qué hay en esta foto?</a:t>
            </a:r>
            <a:endParaRPr lang="en-US" sz="1200" dirty="0"/>
          </a:p>
        </p:txBody>
      </p:sp>
      <p:pic>
        <p:nvPicPr>
          <p:cNvPr id="11" name="Image 1" descr="preencoded.png">    </p:cNvPr>
          <p:cNvPicPr>
            <a:picLocks noChangeAspect="1"/>
          </p:cNvPicPr>
          <p:nvPr/>
        </p:nvPicPr>
        <p:blipFill>
          <a:blip r:embed="rId3"/>
          <a:stretch>
            <a:fillRect/>
          </a:stretch>
        </p:blipFill>
        <p:spPr>
          <a:xfrm>
            <a:off x="4325928" y="2949079"/>
            <a:ext cx="383868" cy="383877"/>
          </a:xfrm>
          <a:prstGeom prst="rect">
            <a:avLst/>
          </a:prstGeom>
        </p:spPr>
      </p:pic>
      <p:sp>
        <p:nvSpPr>
          <p:cNvPr id="12" name="Text 8"/>
          <p:cNvSpPr/>
          <p:nvPr/>
        </p:nvSpPr>
        <p:spPr>
          <a:xfrm>
            <a:off x="4834511" y="2949079"/>
            <a:ext cx="3031156" cy="239911"/>
          </a:xfrm>
          <a:prstGeom prst="rect">
            <a:avLst/>
          </a:prstGeom>
          <a:noFill/>
          <a:ln/>
        </p:spPr>
        <p:txBody>
          <a:bodyPr wrap="none" lIns="0" tIns="0" rIns="0" bIns="0" rtlCol="0" anchor="t"/>
          <a:lstStyle/>
          <a:p>
            <a:pPr algn="l" indent="0" marL="0">
              <a:lnSpc>
                <a:spcPct val="104000"/>
              </a:lnSpc>
              <a:buNone/>
            </a:pPr>
            <a:r>
              <a:rPr lang="en-US" sz="1500" dirty="0">
                <a:solidFill>
                  <a:srgbClr val="3B3535"/>
                </a:solidFill>
                <a:latin typeface="Roboto Mono Medium" pitchFamily="34" charset="0"/>
                <a:ea typeface="Roboto Mono Medium" pitchFamily="34" charset="-122"/>
                <a:cs typeface="Roboto Mono Medium" pitchFamily="34" charset="-120"/>
              </a:rPr>
              <a:t>Detección de Objetos</a:t>
            </a:r>
            <a:endParaRPr lang="en-US" sz="1500" dirty="0"/>
          </a:p>
        </p:txBody>
      </p:sp>
      <p:sp>
        <p:nvSpPr>
          <p:cNvPr id="13" name="Text 9"/>
          <p:cNvSpPr/>
          <p:nvPr/>
        </p:nvSpPr>
        <p:spPr>
          <a:xfrm>
            <a:off x="4834511" y="3248819"/>
            <a:ext cx="3031156" cy="202704"/>
          </a:xfrm>
          <a:prstGeom prst="rect">
            <a:avLst/>
          </a:prstGeom>
          <a:noFill/>
          <a:ln/>
        </p:spPr>
        <p:txBody>
          <a:bodyPr wrap="none" lIns="0" tIns="0" rIns="0" bIns="0" rtlCol="0" anchor="t"/>
          <a:lstStyle/>
          <a:p>
            <a:pPr algn="l" indent="0" marL="0">
              <a:lnSpc>
                <a:spcPct val="110000"/>
              </a:lnSpc>
              <a:buNone/>
            </a:pPr>
            <a:r>
              <a:rPr lang="en-US" sz="1200" dirty="0">
                <a:solidFill>
                  <a:srgbClr val="3B3535"/>
                </a:solidFill>
                <a:latin typeface="Roboto" pitchFamily="34" charset="0"/>
                <a:ea typeface="Roboto" pitchFamily="34" charset="-122"/>
                <a:cs typeface="Roboto" pitchFamily="34" charset="-120"/>
              </a:rPr>
              <a:t>¿Dónde están y qué son?</a:t>
            </a:r>
            <a:endParaRPr lang="en-US" sz="1200" dirty="0"/>
          </a:p>
        </p:txBody>
      </p:sp>
      <p:pic>
        <p:nvPicPr>
          <p:cNvPr id="14"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990382" y="2949079"/>
            <a:ext cx="383868" cy="383877"/>
          </a:xfrm>
          <a:prstGeom prst="rect">
            <a:avLst/>
          </a:prstGeom>
        </p:spPr>
      </p:pic>
      <p:sp>
        <p:nvSpPr>
          <p:cNvPr id="15" name="Text 10"/>
          <p:cNvSpPr/>
          <p:nvPr/>
        </p:nvSpPr>
        <p:spPr>
          <a:xfrm>
            <a:off x="8498965" y="2949079"/>
            <a:ext cx="3031156" cy="239911"/>
          </a:xfrm>
          <a:prstGeom prst="rect">
            <a:avLst/>
          </a:prstGeom>
          <a:noFill/>
          <a:ln/>
        </p:spPr>
        <p:txBody>
          <a:bodyPr wrap="none" lIns="0" tIns="0" rIns="0" bIns="0" rtlCol="0" anchor="t"/>
          <a:lstStyle/>
          <a:p>
            <a:pPr algn="l" indent="0" marL="0">
              <a:lnSpc>
                <a:spcPct val="104000"/>
              </a:lnSpc>
              <a:buNone/>
            </a:pPr>
            <a:r>
              <a:rPr lang="en-US" sz="1500" dirty="0">
                <a:solidFill>
                  <a:srgbClr val="3B3535"/>
                </a:solidFill>
                <a:latin typeface="Roboto Mono Medium" pitchFamily="34" charset="0"/>
                <a:ea typeface="Roboto Mono Medium" pitchFamily="34" charset="-122"/>
                <a:cs typeface="Roboto Mono Medium" pitchFamily="34" charset="-120"/>
              </a:rPr>
              <a:t>Segmentación Semántica</a:t>
            </a:r>
            <a:endParaRPr lang="en-US" sz="1500" dirty="0"/>
          </a:p>
        </p:txBody>
      </p:sp>
      <p:sp>
        <p:nvSpPr>
          <p:cNvPr id="16" name="Text 11"/>
          <p:cNvSpPr/>
          <p:nvPr/>
        </p:nvSpPr>
        <p:spPr>
          <a:xfrm>
            <a:off x="8498965" y="3248819"/>
            <a:ext cx="3031156" cy="202704"/>
          </a:xfrm>
          <a:prstGeom prst="rect">
            <a:avLst/>
          </a:prstGeom>
          <a:noFill/>
          <a:ln/>
        </p:spPr>
        <p:txBody>
          <a:bodyPr wrap="none" lIns="0" tIns="0" rIns="0" bIns="0" rtlCol="0" anchor="t"/>
          <a:lstStyle/>
          <a:p>
            <a:pPr algn="l" indent="0" marL="0">
              <a:lnSpc>
                <a:spcPct val="110000"/>
              </a:lnSpc>
              <a:buNone/>
            </a:pPr>
            <a:r>
              <a:rPr lang="en-US" sz="1200" dirty="0">
                <a:solidFill>
                  <a:srgbClr val="3B3535"/>
                </a:solidFill>
                <a:latin typeface="Roboto" pitchFamily="34" charset="0"/>
                <a:ea typeface="Roboto" pitchFamily="34" charset="-122"/>
                <a:cs typeface="Roboto" pitchFamily="34" charset="-120"/>
              </a:rPr>
              <a:t>Etiquetar cada píxel por clase</a:t>
            </a:r>
            <a:endParaRPr lang="en-US" sz="1200" dirty="0"/>
          </a:p>
        </p:txBody>
      </p:sp>
      <p:pic>
        <p:nvPicPr>
          <p:cNvPr id="17"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3651151"/>
            <a:ext cx="383868" cy="383877"/>
          </a:xfrm>
          <a:prstGeom prst="rect">
            <a:avLst/>
          </a:prstGeom>
        </p:spPr>
      </p:pic>
      <p:sp>
        <p:nvSpPr>
          <p:cNvPr id="18" name="Text 12"/>
          <p:cNvSpPr/>
          <p:nvPr/>
        </p:nvSpPr>
        <p:spPr>
          <a:xfrm>
            <a:off x="1170057" y="3651151"/>
            <a:ext cx="3031156" cy="239911"/>
          </a:xfrm>
          <a:prstGeom prst="rect">
            <a:avLst/>
          </a:prstGeom>
          <a:noFill/>
          <a:ln/>
        </p:spPr>
        <p:txBody>
          <a:bodyPr wrap="none" lIns="0" tIns="0" rIns="0" bIns="0" rtlCol="0" anchor="t"/>
          <a:lstStyle/>
          <a:p>
            <a:pPr algn="l" indent="0" marL="0">
              <a:lnSpc>
                <a:spcPct val="104000"/>
              </a:lnSpc>
              <a:buNone/>
            </a:pPr>
            <a:r>
              <a:rPr lang="en-US" sz="1500" dirty="0">
                <a:solidFill>
                  <a:srgbClr val="3B3535"/>
                </a:solidFill>
                <a:latin typeface="Roboto Mono Medium" pitchFamily="34" charset="0"/>
                <a:ea typeface="Roboto Mono Medium" pitchFamily="34" charset="-122"/>
                <a:cs typeface="Roboto Mono Medium" pitchFamily="34" charset="-120"/>
              </a:rPr>
              <a:t>Reconocimiento de Voz</a:t>
            </a:r>
            <a:endParaRPr lang="en-US" sz="1500" dirty="0"/>
          </a:p>
        </p:txBody>
      </p:sp>
      <p:sp>
        <p:nvSpPr>
          <p:cNvPr id="19" name="Text 13"/>
          <p:cNvSpPr/>
          <p:nvPr/>
        </p:nvSpPr>
        <p:spPr>
          <a:xfrm>
            <a:off x="1170057" y="3950891"/>
            <a:ext cx="3031156" cy="202704"/>
          </a:xfrm>
          <a:prstGeom prst="rect">
            <a:avLst/>
          </a:prstGeom>
          <a:noFill/>
          <a:ln/>
        </p:spPr>
        <p:txBody>
          <a:bodyPr wrap="none" lIns="0" tIns="0" rIns="0" bIns="0" rtlCol="0" anchor="t"/>
          <a:lstStyle/>
          <a:p>
            <a:pPr algn="l" indent="0" marL="0">
              <a:lnSpc>
                <a:spcPct val="110000"/>
              </a:lnSpc>
              <a:buNone/>
            </a:pPr>
            <a:r>
              <a:rPr lang="en-US" sz="1200" dirty="0">
                <a:solidFill>
                  <a:srgbClr val="3B3535"/>
                </a:solidFill>
                <a:latin typeface="Roboto" pitchFamily="34" charset="0"/>
                <a:ea typeface="Roboto" pitchFamily="34" charset="-122"/>
                <a:cs typeface="Roboto" pitchFamily="34" charset="-120"/>
              </a:rPr>
              <a:t>Audio → texto (ASR)</a:t>
            </a:r>
            <a:endParaRPr lang="en-US" sz="1200" dirty="0"/>
          </a:p>
        </p:txBody>
      </p:sp>
      <p:pic>
        <p:nvPicPr>
          <p:cNvPr id="2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325928" y="3651151"/>
            <a:ext cx="383868" cy="383877"/>
          </a:xfrm>
          <a:prstGeom prst="rect">
            <a:avLst/>
          </a:prstGeom>
        </p:spPr>
      </p:pic>
      <p:sp>
        <p:nvSpPr>
          <p:cNvPr id="21" name="Text 14"/>
          <p:cNvSpPr/>
          <p:nvPr/>
        </p:nvSpPr>
        <p:spPr>
          <a:xfrm>
            <a:off x="4834511" y="3651151"/>
            <a:ext cx="3031156" cy="239911"/>
          </a:xfrm>
          <a:prstGeom prst="rect">
            <a:avLst/>
          </a:prstGeom>
          <a:noFill/>
          <a:ln/>
        </p:spPr>
        <p:txBody>
          <a:bodyPr wrap="none" lIns="0" tIns="0" rIns="0" bIns="0" rtlCol="0" anchor="t"/>
          <a:lstStyle/>
          <a:p>
            <a:pPr algn="l" indent="0" marL="0">
              <a:lnSpc>
                <a:spcPct val="104000"/>
              </a:lnSpc>
              <a:buNone/>
            </a:pPr>
            <a:r>
              <a:rPr lang="en-US" sz="1500" dirty="0">
                <a:solidFill>
                  <a:srgbClr val="3B3535"/>
                </a:solidFill>
                <a:latin typeface="Roboto Mono Medium" pitchFamily="34" charset="0"/>
                <a:ea typeface="Roboto Mono Medium" pitchFamily="34" charset="-122"/>
                <a:cs typeface="Roboto Mono Medium" pitchFamily="34" charset="-120"/>
              </a:rPr>
              <a:t>Análisis de Video</a:t>
            </a:r>
            <a:endParaRPr lang="en-US" sz="1500" dirty="0"/>
          </a:p>
        </p:txBody>
      </p:sp>
      <p:sp>
        <p:nvSpPr>
          <p:cNvPr id="22" name="Text 15"/>
          <p:cNvSpPr/>
          <p:nvPr/>
        </p:nvSpPr>
        <p:spPr>
          <a:xfrm>
            <a:off x="4834511" y="3950891"/>
            <a:ext cx="3031156" cy="405408"/>
          </a:xfrm>
          <a:prstGeom prst="rect">
            <a:avLst/>
          </a:prstGeom>
          <a:noFill/>
          <a:ln/>
        </p:spPr>
        <p:txBody>
          <a:bodyPr wrap="square" lIns="0" tIns="0" rIns="0" bIns="0" rtlCol="0" anchor="t">
            <a:normAutofit/>
          </a:bodyPr>
          <a:lstStyle/>
          <a:p>
            <a:pPr algn="l" indent="0" marL="0">
              <a:lnSpc>
                <a:spcPct val="110000"/>
              </a:lnSpc>
              <a:buNone/>
            </a:pPr>
            <a:r>
              <a:rPr lang="en-US" sz="1200" dirty="0">
                <a:solidFill>
                  <a:srgbClr val="3B3535"/>
                </a:solidFill>
                <a:latin typeface="Roboto" pitchFamily="34" charset="0"/>
                <a:ea typeface="Roboto" pitchFamily="34" charset="-122"/>
                <a:cs typeface="Roboto" pitchFamily="34" charset="-120"/>
              </a:rPr>
              <a:t>Detección de eventos, seguimiento de objetos</a:t>
            </a:r>
            <a:endParaRPr lang="en-US" sz="1200" dirty="0"/>
          </a:p>
        </p:txBody>
      </p:sp>
      <p:sp>
        <p:nvSpPr>
          <p:cNvPr id="23" name="Text 16"/>
          <p:cNvSpPr/>
          <p:nvPr/>
        </p:nvSpPr>
        <p:spPr>
          <a:xfrm>
            <a:off x="661475" y="4468515"/>
            <a:ext cx="11478330" cy="202704"/>
          </a:xfrm>
          <a:prstGeom prst="rect">
            <a:avLst/>
          </a:prstGeom>
          <a:noFill/>
          <a:ln/>
        </p:spPr>
        <p:txBody>
          <a:bodyPr wrap="none" lIns="0" tIns="0" rIns="0" bIns="0" rtlCol="0" anchor="t"/>
          <a:lstStyle/>
          <a:p>
            <a:pPr algn="l" indent="0" marL="0">
              <a:lnSpc>
                <a:spcPct val="110000"/>
              </a:lnSpc>
              <a:buNone/>
            </a:pPr>
            <a:r>
              <a:rPr lang="en-US" sz="1200" dirty="0">
                <a:solidFill>
                  <a:srgbClr val="000000"/>
                </a:solidFill>
                <a:latin typeface="Roboto" pitchFamily="34" charset="0"/>
                <a:ea typeface="Roboto" pitchFamily="34" charset="-122"/>
                <a:cs typeface="Roboto" pitchFamily="34" charset="-120"/>
              </a:rPr>
              <a:t>🔧</a:t>
            </a:r>
            <a:pPr algn="l" indent="0" marL="0">
              <a:lnSpc>
                <a:spcPct val="110000"/>
              </a:lnSpc>
              <a:buNone/>
            </a:pPr>
            <a:r>
              <a:rPr lang="en-US" sz="1200" dirty="0">
                <a:solidFill>
                  <a:srgbClr val="3B3535"/>
                </a:solidFill>
                <a:latin typeface="Roboto" pitchFamily="34" charset="0"/>
                <a:ea typeface="Roboto" pitchFamily="34" charset="-122"/>
                <a:cs typeface="Roboto" pitchFamily="34" charset="-120"/>
              </a:rPr>
              <a:t> Tools: OpenCV · YOLO v8/v11 · PyTorch + torchvision · Whisper (OpenAI) · Hugging Face</a:t>
            </a:r>
            <a:endParaRPr lang="en-US" sz="1200" dirty="0"/>
          </a:p>
        </p:txBody>
      </p:sp>
      <p:sp>
        <p:nvSpPr>
          <p:cNvPr id="24" name="Shape 17"/>
          <p:cNvSpPr/>
          <p:nvPr/>
        </p:nvSpPr>
        <p:spPr>
          <a:xfrm>
            <a:off x="661475" y="4783435"/>
            <a:ext cx="10868745" cy="468908"/>
          </a:xfrm>
          <a:prstGeom prst="roundRect">
            <a:avLst>
              <a:gd name="adj" fmla="val 1625"/>
            </a:avLst>
          </a:prstGeom>
          <a:solidFill>
            <a:srgbClr val="F9D2D6"/>
          </a:solidFill>
          <a:ln/>
        </p:spPr>
      </p:sp>
      <p:pic>
        <p:nvPicPr>
          <p:cNvPr id="25" name="Image 5" descr="preencoded.png">    </p:cNvPr>
          <p:cNvPicPr>
            <a:picLocks noChangeAspect="1"/>
          </p:cNvPicPr>
          <p:nvPr/>
        </p:nvPicPr>
        <p:blipFill>
          <a:blip r:embed="rId10"/>
          <a:stretch>
            <a:fillRect/>
          </a:stretch>
        </p:blipFill>
        <p:spPr>
          <a:xfrm>
            <a:off x="814962" y="4980583"/>
            <a:ext cx="191884" cy="153491"/>
          </a:xfrm>
          <a:prstGeom prst="rect">
            <a:avLst/>
          </a:prstGeom>
        </p:spPr>
      </p:pic>
      <p:sp>
        <p:nvSpPr>
          <p:cNvPr id="26" name="Text 18"/>
          <p:cNvSpPr/>
          <p:nvPr/>
        </p:nvSpPr>
        <p:spPr>
          <a:xfrm>
            <a:off x="1160334" y="4921548"/>
            <a:ext cx="10825983" cy="202704"/>
          </a:xfrm>
          <a:prstGeom prst="rect">
            <a:avLst/>
          </a:prstGeom>
          <a:noFill/>
          <a:ln/>
        </p:spPr>
        <p:txBody>
          <a:bodyPr wrap="none" lIns="0" tIns="0" rIns="0" bIns="0" rtlCol="0" anchor="t"/>
          <a:lstStyle/>
          <a:p>
            <a:pPr algn="l" indent="0" marL="0">
              <a:lnSpc>
                <a:spcPct val="110000"/>
              </a:lnSpc>
              <a:buNone/>
            </a:pPr>
            <a:r>
              <a:rPr lang="en-US" sz="1200" dirty="0">
                <a:solidFill>
                  <a:srgbClr val="000000"/>
                </a:solidFill>
                <a:latin typeface="Roboto" pitchFamily="34" charset="0"/>
                <a:ea typeface="Roboto" pitchFamily="34" charset="-122"/>
                <a:cs typeface="Roboto" pitchFamily="34" charset="-120"/>
              </a:rPr>
              <a:t>Arquitecturas: CNN · Vision Transformer (ViT) · U-Net · Wav2Vec</a:t>
            </a:r>
            <a:endParaRPr lang="en-US" sz="1200" dirty="0"/>
          </a:p>
        </p:txBody>
      </p:sp>
      <p:sp>
        <p:nvSpPr>
          <p:cNvPr id="27" name="Shape 19"/>
          <p:cNvSpPr/>
          <p:nvPr/>
        </p:nvSpPr>
        <p:spPr>
          <a:xfrm>
            <a:off x="661475" y="5364559"/>
            <a:ext cx="10868745" cy="671612"/>
          </a:xfrm>
          <a:prstGeom prst="roundRect">
            <a:avLst>
              <a:gd name="adj" fmla="val 1135"/>
            </a:avLst>
          </a:prstGeom>
          <a:solidFill>
            <a:srgbClr val="F9D2D6"/>
          </a:solidFill>
          <a:ln/>
        </p:spPr>
      </p:sp>
      <p:pic>
        <p:nvPicPr>
          <p:cNvPr id="28" name="Image 6" descr="preencoded.png">    </p:cNvPr>
          <p:cNvPicPr>
            <a:picLocks noChangeAspect="1"/>
          </p:cNvPicPr>
          <p:nvPr/>
        </p:nvPicPr>
        <p:blipFill>
          <a:blip r:embed="rId11"/>
          <a:stretch>
            <a:fillRect/>
          </a:stretch>
        </p:blipFill>
        <p:spPr>
          <a:xfrm>
            <a:off x="814962" y="5561707"/>
            <a:ext cx="191884" cy="153491"/>
          </a:xfrm>
          <a:prstGeom prst="rect">
            <a:avLst/>
          </a:prstGeom>
        </p:spPr>
      </p:pic>
      <p:sp>
        <p:nvSpPr>
          <p:cNvPr id="29" name="Text 20"/>
          <p:cNvSpPr/>
          <p:nvPr/>
        </p:nvSpPr>
        <p:spPr>
          <a:xfrm>
            <a:off x="1160334" y="5502672"/>
            <a:ext cx="10216398" cy="405408"/>
          </a:xfrm>
          <a:prstGeom prst="rect">
            <a:avLst/>
          </a:prstGeom>
          <a:noFill/>
          <a:ln/>
        </p:spPr>
        <p:txBody>
          <a:bodyPr wrap="square" lIns="0" tIns="0" rIns="0" bIns="0" rtlCol="0" anchor="t">
            <a:normAutofit/>
          </a:bodyPr>
          <a:lstStyle/>
          <a:p>
            <a:pPr algn="l" indent="0" marL="0">
              <a:lnSpc>
                <a:spcPct val="110000"/>
              </a:lnSpc>
              <a:buNone/>
            </a:pPr>
            <a:r>
              <a:rPr lang="en-US" sz="1200" dirty="0">
                <a:solidFill>
                  <a:srgbClr val="000000"/>
                </a:solidFill>
                <a:latin typeface="Roboto" pitchFamily="34" charset="0"/>
                <a:ea typeface="Roboto" pitchFamily="34" charset="-122"/>
                <a:cs typeface="Roboto" pitchFamily="34" charset="-120"/>
              </a:rPr>
              <a:t>🏆</a:t>
            </a:r>
            <a:pPr algn="l" indent="0" marL="0">
              <a:lnSpc>
                <a:spcPct val="110000"/>
              </a:lnSpc>
              <a:buNone/>
            </a:pPr>
            <a:r>
              <a:rPr lang="en-US" sz="1200" dirty="0">
                <a:solidFill>
                  <a:srgbClr val="000000"/>
                </a:solidFill>
                <a:latin typeface="Roboto" pitchFamily="34" charset="0"/>
                <a:ea typeface="Roboto" pitchFamily="34" charset="-122"/>
                <a:cs typeface="Roboto" pitchFamily="34" charset="-120"/>
              </a:rPr>
              <a:t> Hito: En 2015, ResNet (Microsoft) superó la precisión humana en reconocimiento de imágenes con un error del 3.57% en ImageNet, por debajo del 5% humano.</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661475" y="670322"/>
            <a:ext cx="2442506" cy="287139"/>
          </a:xfrm>
          <a:prstGeom prst="roundRect">
            <a:avLst>
              <a:gd name="adj" fmla="val 2654"/>
            </a:avLst>
          </a:prstGeom>
          <a:solidFill>
            <a:srgbClr val="F9D2D6"/>
          </a:solidFill>
          <a:ln/>
        </p:spPr>
      </p:sp>
      <p:sp>
        <p:nvSpPr>
          <p:cNvPr id="3" name="Text 1"/>
          <p:cNvSpPr/>
          <p:nvPr/>
        </p:nvSpPr>
        <p:spPr>
          <a:xfrm>
            <a:off x="774879" y="726976"/>
            <a:ext cx="2825282" cy="173831"/>
          </a:xfrm>
          <a:prstGeom prst="rect">
            <a:avLst/>
          </a:prstGeom>
          <a:noFill/>
          <a:ln/>
        </p:spPr>
        <p:txBody>
          <a:bodyPr wrap="none" lIns="0" tIns="0" rIns="0" bIns="0" rtlCol="0" anchor="t"/>
          <a:lstStyle/>
          <a:p>
            <a:pPr algn="l" indent="0" marL="0">
              <a:lnSpc>
                <a:spcPct val="96000"/>
              </a:lnSpc>
              <a:buNone/>
            </a:pPr>
            <a:r>
              <a:rPr lang="en-US" sz="1150" dirty="0">
                <a:solidFill>
                  <a:srgbClr val="3B3535"/>
                </a:solidFill>
                <a:latin typeface="Roboto" pitchFamily="34" charset="0"/>
                <a:ea typeface="Roboto" pitchFamily="34" charset="-122"/>
                <a:cs typeface="Roboto" pitchFamily="34" charset="-120"/>
              </a:rPr>
              <a:t>LA TAXONOMÍA DE PROBLEMAS</a:t>
            </a:r>
            <a:endParaRPr lang="en-US" sz="1150" dirty="0"/>
          </a:p>
        </p:txBody>
      </p:sp>
      <p:sp>
        <p:nvSpPr>
          <p:cNvPr id="4" name="Text 2"/>
          <p:cNvSpPr/>
          <p:nvPr/>
        </p:nvSpPr>
        <p:spPr>
          <a:xfrm>
            <a:off x="661475" y="1017885"/>
            <a:ext cx="10868745" cy="590649"/>
          </a:xfrm>
          <a:prstGeom prst="rect">
            <a:avLst/>
          </a:prstGeom>
          <a:noFill/>
          <a:ln/>
        </p:spPr>
        <p:txBody>
          <a:bodyPr wrap="none" lIns="0" tIns="0" rIns="0" bIns="0" rtlCol="0" anchor="t"/>
          <a:lstStyle/>
          <a:p>
            <a:pPr algn="l" indent="0" marL="0">
              <a:lnSpc>
                <a:spcPct val="104000"/>
              </a:lnSpc>
              <a:buNone/>
            </a:pPr>
            <a:r>
              <a:rPr lang="en-US" sz="3700" dirty="0">
                <a:solidFill>
                  <a:srgbClr val="1F1E1E"/>
                </a:solidFill>
                <a:latin typeface="Roboto Mono Medium" pitchFamily="34" charset="0"/>
                <a:ea typeface="Roboto Mono Medium" pitchFamily="34" charset="-122"/>
                <a:cs typeface="Roboto Mono Medium" pitchFamily="34" charset="-120"/>
              </a:rPr>
              <a:t>Representación</a:t>
            </a:r>
            <a:endParaRPr lang="en-US" sz="3700" dirty="0"/>
          </a:p>
        </p:txBody>
      </p:sp>
      <p:sp>
        <p:nvSpPr>
          <p:cNvPr id="5" name="Text 3"/>
          <p:cNvSpPr/>
          <p:nvPr/>
        </p:nvSpPr>
        <p:spPr>
          <a:xfrm>
            <a:off x="661475" y="1668959"/>
            <a:ext cx="10868745" cy="295275"/>
          </a:xfrm>
          <a:prstGeom prst="rect">
            <a:avLst/>
          </a:prstGeom>
          <a:noFill/>
          <a:ln/>
        </p:spPr>
        <p:txBody>
          <a:bodyPr wrap="none" lIns="0" tIns="0" rIns="0" bIns="0" rtlCol="0" anchor="t"/>
          <a:lstStyle/>
          <a:p>
            <a:pPr algn="l" indent="0" marL="0">
              <a:lnSpc>
                <a:spcPct val="104000"/>
              </a:lnSpc>
              <a:buNone/>
            </a:pPr>
            <a:r>
              <a:rPr lang="en-US" sz="1850" dirty="0">
                <a:solidFill>
                  <a:srgbClr val="1F1E1E"/>
                </a:solidFill>
                <a:latin typeface="Roboto Mono Medium" pitchFamily="34" charset="0"/>
                <a:ea typeface="Roboto Mono Medium" pitchFamily="34" charset="-122"/>
                <a:cs typeface="Roboto Mono Medium" pitchFamily="34" charset="-120"/>
              </a:rPr>
              <a:t>Aprender estructuras internas que capturan relaciones entre datos</a:t>
            </a:r>
            <a:endParaRPr lang="en-US" sz="18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191048"/>
            <a:ext cx="472468" cy="472480"/>
          </a:xfrm>
          <a:prstGeom prst="rect">
            <a:avLst/>
          </a:prstGeom>
        </p:spPr>
      </p:pic>
      <p:sp>
        <p:nvSpPr>
          <p:cNvPr id="7" name="Text 4"/>
          <p:cNvSpPr/>
          <p:nvPr/>
        </p:nvSpPr>
        <p:spPr>
          <a:xfrm>
            <a:off x="1322950" y="2191048"/>
            <a:ext cx="2835403" cy="295275"/>
          </a:xfrm>
          <a:prstGeom prst="rect">
            <a:avLst/>
          </a:prstGeom>
          <a:noFill/>
          <a:ln/>
        </p:spPr>
        <p:txBody>
          <a:bodyPr wrap="none" lIns="0" tIns="0" rIns="0" bIns="0" rtlCol="0" anchor="t"/>
          <a:lstStyle/>
          <a:p>
            <a:pPr algn="l" indent="0" marL="0">
              <a:lnSpc>
                <a:spcPct val="104000"/>
              </a:lnSpc>
              <a:buNone/>
            </a:pPr>
            <a:r>
              <a:rPr lang="en-US" sz="1850" dirty="0">
                <a:solidFill>
                  <a:srgbClr val="3B3535"/>
                </a:solidFill>
                <a:latin typeface="Roboto Mono Medium" pitchFamily="34" charset="0"/>
                <a:ea typeface="Roboto Mono Medium" pitchFamily="34" charset="-122"/>
                <a:cs typeface="Roboto Mono Medium" pitchFamily="34" charset="-120"/>
              </a:rPr>
              <a:t>Embeddings de Texto</a:t>
            </a:r>
            <a:endParaRPr lang="en-US" sz="1850" dirty="0"/>
          </a:p>
        </p:txBody>
      </p:sp>
      <p:sp>
        <p:nvSpPr>
          <p:cNvPr id="8" name="Text 5"/>
          <p:cNvSpPr/>
          <p:nvPr/>
        </p:nvSpPr>
        <p:spPr>
          <a:xfrm>
            <a:off x="1322950" y="2577009"/>
            <a:ext cx="2835403" cy="544314"/>
          </a:xfrm>
          <a:prstGeom prst="rect">
            <a:avLst/>
          </a:prstGeom>
          <a:noFill/>
          <a:ln/>
        </p:spPr>
        <p:txBody>
          <a:bodyPr wrap="square" lIns="0" tIns="0" rIns="0" bIns="0" rtlCol="0" anchor="t">
            <a:normAutofit/>
          </a:bodyPr>
          <a:lstStyle/>
          <a:p>
            <a:pPr algn="l" indent="0" marL="0">
              <a:lnSpc>
                <a:spcPct val="120000"/>
              </a:lnSpc>
              <a:buNone/>
            </a:pPr>
            <a:r>
              <a:rPr lang="en-US" sz="1450" dirty="0">
                <a:solidFill>
                  <a:srgbClr val="3B3535"/>
                </a:solidFill>
                <a:latin typeface="Roboto" pitchFamily="34" charset="0"/>
                <a:ea typeface="Roboto" pitchFamily="34" charset="-122"/>
                <a:cs typeface="Roboto" pitchFamily="34" charset="-120"/>
              </a:rPr>
              <a:t>Palabras/frases como vectores de significado</a:t>
            </a:r>
            <a:endParaRPr lang="en-US" sz="145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47359" y="2191048"/>
            <a:ext cx="472468" cy="472480"/>
          </a:xfrm>
          <a:prstGeom prst="rect">
            <a:avLst/>
          </a:prstGeom>
        </p:spPr>
      </p:pic>
      <p:sp>
        <p:nvSpPr>
          <p:cNvPr id="10" name="Text 6"/>
          <p:cNvSpPr/>
          <p:nvPr/>
        </p:nvSpPr>
        <p:spPr>
          <a:xfrm>
            <a:off x="5008834" y="2191048"/>
            <a:ext cx="2835403" cy="295275"/>
          </a:xfrm>
          <a:prstGeom prst="rect">
            <a:avLst/>
          </a:prstGeom>
          <a:noFill/>
          <a:ln/>
        </p:spPr>
        <p:txBody>
          <a:bodyPr wrap="none" lIns="0" tIns="0" rIns="0" bIns="0" rtlCol="0" anchor="t"/>
          <a:lstStyle/>
          <a:p>
            <a:pPr algn="l" indent="0" marL="0">
              <a:lnSpc>
                <a:spcPct val="104000"/>
              </a:lnSpc>
              <a:buNone/>
            </a:pPr>
            <a:r>
              <a:rPr lang="en-US" sz="1850" dirty="0">
                <a:solidFill>
                  <a:srgbClr val="3B3535"/>
                </a:solidFill>
                <a:latin typeface="Roboto Mono Medium" pitchFamily="34" charset="0"/>
                <a:ea typeface="Roboto Mono Medium" pitchFamily="34" charset="-122"/>
                <a:cs typeface="Roboto Mono Medium" pitchFamily="34" charset="-120"/>
              </a:rPr>
              <a:t>Búsqueda Semántica</a:t>
            </a:r>
            <a:endParaRPr lang="en-US" sz="1850" dirty="0"/>
          </a:p>
        </p:txBody>
      </p:sp>
      <p:sp>
        <p:nvSpPr>
          <p:cNvPr id="11" name="Text 7"/>
          <p:cNvSpPr/>
          <p:nvPr/>
        </p:nvSpPr>
        <p:spPr>
          <a:xfrm>
            <a:off x="5008834" y="2577009"/>
            <a:ext cx="2835403" cy="544314"/>
          </a:xfrm>
          <a:prstGeom prst="rect">
            <a:avLst/>
          </a:prstGeom>
          <a:noFill/>
          <a:ln/>
        </p:spPr>
        <p:txBody>
          <a:bodyPr wrap="square" lIns="0" tIns="0" rIns="0" bIns="0" rtlCol="0" anchor="t">
            <a:normAutofit/>
          </a:bodyPr>
          <a:lstStyle/>
          <a:p>
            <a:pPr algn="l" indent="0" marL="0">
              <a:lnSpc>
                <a:spcPct val="120000"/>
              </a:lnSpc>
              <a:buNone/>
            </a:pPr>
            <a:r>
              <a:rPr lang="en-US" sz="1450" dirty="0">
                <a:solidFill>
                  <a:srgbClr val="3B3535"/>
                </a:solidFill>
                <a:latin typeface="Roboto" pitchFamily="34" charset="0"/>
                <a:ea typeface="Roboto" pitchFamily="34" charset="-122"/>
                <a:cs typeface="Roboto" pitchFamily="34" charset="-120"/>
              </a:rPr>
              <a:t>Documentos por significado, no por palabras exactas</a:t>
            </a:r>
            <a:endParaRPr lang="en-US" sz="1450" dirty="0"/>
          </a:p>
        </p:txBody>
      </p:sp>
      <p:pic>
        <p:nvPicPr>
          <p:cNvPr id="12" name="Image 2" descr="preencoded.png">    </p:cNvPr>
          <p:cNvPicPr>
            <a:picLocks noChangeAspect="1"/>
          </p:cNvPicPr>
          <p:nvPr/>
        </p:nvPicPr>
        <p:blipFill>
          <a:blip r:embed="rId5"/>
          <a:stretch>
            <a:fillRect/>
          </a:stretch>
        </p:blipFill>
        <p:spPr>
          <a:xfrm>
            <a:off x="8033244" y="2191048"/>
            <a:ext cx="472468" cy="472480"/>
          </a:xfrm>
          <a:prstGeom prst="rect">
            <a:avLst/>
          </a:prstGeom>
        </p:spPr>
      </p:pic>
      <p:sp>
        <p:nvSpPr>
          <p:cNvPr id="13" name="Text 8"/>
          <p:cNvSpPr/>
          <p:nvPr/>
        </p:nvSpPr>
        <p:spPr>
          <a:xfrm>
            <a:off x="8694718" y="2191048"/>
            <a:ext cx="2835403" cy="295275"/>
          </a:xfrm>
          <a:prstGeom prst="rect">
            <a:avLst/>
          </a:prstGeom>
          <a:noFill/>
          <a:ln/>
        </p:spPr>
        <p:txBody>
          <a:bodyPr wrap="none" lIns="0" tIns="0" rIns="0" bIns="0" rtlCol="0" anchor="t"/>
          <a:lstStyle/>
          <a:p>
            <a:pPr algn="l" indent="0" marL="0">
              <a:lnSpc>
                <a:spcPct val="104000"/>
              </a:lnSpc>
              <a:buNone/>
            </a:pPr>
            <a:r>
              <a:rPr lang="en-US" sz="1850" dirty="0">
                <a:solidFill>
                  <a:srgbClr val="3B3535"/>
                </a:solidFill>
                <a:latin typeface="Roboto Mono Medium" pitchFamily="34" charset="0"/>
                <a:ea typeface="Roboto Mono Medium" pitchFamily="34" charset="-122"/>
                <a:cs typeface="Roboto Mono Medium" pitchFamily="34" charset="-120"/>
              </a:rPr>
              <a:t>Recomendación</a:t>
            </a:r>
            <a:endParaRPr lang="en-US" sz="1850" dirty="0"/>
          </a:p>
        </p:txBody>
      </p:sp>
      <p:sp>
        <p:nvSpPr>
          <p:cNvPr id="14" name="Text 9"/>
          <p:cNvSpPr/>
          <p:nvPr/>
        </p:nvSpPr>
        <p:spPr>
          <a:xfrm>
            <a:off x="8694718" y="2577009"/>
            <a:ext cx="2835403" cy="544314"/>
          </a:xfrm>
          <a:prstGeom prst="rect">
            <a:avLst/>
          </a:prstGeom>
          <a:noFill/>
          <a:ln/>
        </p:spPr>
        <p:txBody>
          <a:bodyPr wrap="square" lIns="0" tIns="0" rIns="0" bIns="0" rtlCol="0" anchor="t">
            <a:normAutofit/>
          </a:bodyPr>
          <a:lstStyle/>
          <a:p>
            <a:pPr algn="l" indent="0" marL="0">
              <a:lnSpc>
                <a:spcPct val="120000"/>
              </a:lnSpc>
              <a:buNone/>
            </a:pPr>
            <a:r>
              <a:rPr lang="en-US" sz="1450" dirty="0">
                <a:solidFill>
                  <a:srgbClr val="3B3535"/>
                </a:solidFill>
                <a:latin typeface="Roboto" pitchFamily="34" charset="0"/>
                <a:ea typeface="Roboto" pitchFamily="34" charset="-122"/>
                <a:cs typeface="Roboto" pitchFamily="34" charset="-120"/>
              </a:rPr>
              <a:t>Usuarios y productos en el mismo espacio vectorial</a:t>
            </a:r>
            <a:endParaRPr lang="en-US" sz="1450" dirty="0"/>
          </a:p>
        </p:txBody>
      </p:sp>
      <p:pic>
        <p:nvPicPr>
          <p:cNvPr id="15"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3423741"/>
            <a:ext cx="472468" cy="472480"/>
          </a:xfrm>
          <a:prstGeom prst="rect">
            <a:avLst/>
          </a:prstGeom>
        </p:spPr>
      </p:pic>
      <p:sp>
        <p:nvSpPr>
          <p:cNvPr id="16" name="Text 10"/>
          <p:cNvSpPr/>
          <p:nvPr/>
        </p:nvSpPr>
        <p:spPr>
          <a:xfrm>
            <a:off x="1322950" y="3423741"/>
            <a:ext cx="2835403" cy="590550"/>
          </a:xfrm>
          <a:prstGeom prst="rect">
            <a:avLst/>
          </a:prstGeom>
          <a:noFill/>
          <a:ln/>
        </p:spPr>
        <p:txBody>
          <a:bodyPr wrap="square" lIns="0" tIns="0" rIns="0" bIns="0" rtlCol="0" anchor="t">
            <a:normAutofit/>
          </a:bodyPr>
          <a:lstStyle/>
          <a:p>
            <a:pPr algn="l" indent="0" marL="0">
              <a:lnSpc>
                <a:spcPct val="104000"/>
              </a:lnSpc>
              <a:buNone/>
            </a:pPr>
            <a:r>
              <a:rPr lang="en-US" sz="1850" dirty="0">
                <a:solidFill>
                  <a:srgbClr val="3B3535"/>
                </a:solidFill>
                <a:latin typeface="Roboto Mono Medium" pitchFamily="34" charset="0"/>
                <a:ea typeface="Roboto Mono Medium" pitchFamily="34" charset="-122"/>
                <a:cs typeface="Roboto Mono Medium" pitchFamily="34" charset="-120"/>
              </a:rPr>
              <a:t>Detección de Anomalías</a:t>
            </a:r>
            <a:endParaRPr lang="en-US" sz="1850" dirty="0"/>
          </a:p>
        </p:txBody>
      </p:sp>
      <p:sp>
        <p:nvSpPr>
          <p:cNvPr id="17" name="Text 11"/>
          <p:cNvSpPr/>
          <p:nvPr/>
        </p:nvSpPr>
        <p:spPr>
          <a:xfrm>
            <a:off x="1322950" y="4104977"/>
            <a:ext cx="2835403" cy="544314"/>
          </a:xfrm>
          <a:prstGeom prst="rect">
            <a:avLst/>
          </a:prstGeom>
          <a:noFill/>
          <a:ln/>
        </p:spPr>
        <p:txBody>
          <a:bodyPr wrap="square" lIns="0" tIns="0" rIns="0" bIns="0" rtlCol="0" anchor="t">
            <a:normAutofit/>
          </a:bodyPr>
          <a:lstStyle/>
          <a:p>
            <a:pPr algn="l" indent="0" marL="0">
              <a:lnSpc>
                <a:spcPct val="120000"/>
              </a:lnSpc>
              <a:buNone/>
            </a:pPr>
            <a:r>
              <a:rPr lang="en-US" sz="1450" dirty="0">
                <a:solidFill>
                  <a:srgbClr val="3B3535"/>
                </a:solidFill>
                <a:latin typeface="Roboto" pitchFamily="34" charset="0"/>
                <a:ea typeface="Roboto" pitchFamily="34" charset="-122"/>
                <a:cs typeface="Roboto" pitchFamily="34" charset="-120"/>
              </a:rPr>
              <a:t>Puntos alejados del espacio normal</a:t>
            </a:r>
            <a:endParaRPr lang="en-US" sz="1450" dirty="0"/>
          </a:p>
        </p:txBody>
      </p:sp>
      <p:pic>
        <p:nvPicPr>
          <p:cNvPr id="18" name="Image 4" descr="preencoded.png">    </p:cNvPr>
          <p:cNvPicPr>
            <a:picLocks noChangeAspect="1"/>
          </p:cNvPicPr>
          <p:nvPr/>
        </p:nvPicPr>
        <p:blipFill>
          <a:blip r:embed="rId8"/>
          <a:stretch>
            <a:fillRect/>
          </a:stretch>
        </p:blipFill>
        <p:spPr>
          <a:xfrm>
            <a:off x="4347359" y="3423741"/>
            <a:ext cx="472468" cy="472480"/>
          </a:xfrm>
          <a:prstGeom prst="rect">
            <a:avLst/>
          </a:prstGeom>
        </p:spPr>
      </p:pic>
      <p:sp>
        <p:nvSpPr>
          <p:cNvPr id="19" name="Text 12"/>
          <p:cNvSpPr/>
          <p:nvPr/>
        </p:nvSpPr>
        <p:spPr>
          <a:xfrm>
            <a:off x="5008834" y="3423741"/>
            <a:ext cx="2835403" cy="295275"/>
          </a:xfrm>
          <a:prstGeom prst="rect">
            <a:avLst/>
          </a:prstGeom>
          <a:noFill/>
          <a:ln/>
        </p:spPr>
        <p:txBody>
          <a:bodyPr wrap="none" lIns="0" tIns="0" rIns="0" bIns="0" rtlCol="0" anchor="t"/>
          <a:lstStyle/>
          <a:p>
            <a:pPr algn="l" indent="0" marL="0">
              <a:lnSpc>
                <a:spcPct val="104000"/>
              </a:lnSpc>
              <a:buNone/>
            </a:pPr>
            <a:r>
              <a:rPr lang="en-US" sz="1850" dirty="0">
                <a:solidFill>
                  <a:srgbClr val="3B3535"/>
                </a:solidFill>
                <a:latin typeface="Roboto Mono Medium" pitchFamily="34" charset="0"/>
                <a:ea typeface="Roboto Mono Medium" pitchFamily="34" charset="-122"/>
                <a:cs typeface="Roboto Mono Medium" pitchFamily="34" charset="-120"/>
              </a:rPr>
              <a:t>Clustering</a:t>
            </a:r>
            <a:endParaRPr lang="en-US" sz="1850" dirty="0"/>
          </a:p>
        </p:txBody>
      </p:sp>
      <p:sp>
        <p:nvSpPr>
          <p:cNvPr id="20" name="Text 13"/>
          <p:cNvSpPr/>
          <p:nvPr/>
        </p:nvSpPr>
        <p:spPr>
          <a:xfrm>
            <a:off x="5008834" y="3809702"/>
            <a:ext cx="2835403" cy="544314"/>
          </a:xfrm>
          <a:prstGeom prst="rect">
            <a:avLst/>
          </a:prstGeom>
          <a:noFill/>
          <a:ln/>
        </p:spPr>
        <p:txBody>
          <a:bodyPr wrap="square" lIns="0" tIns="0" rIns="0" bIns="0" rtlCol="0" anchor="t">
            <a:normAutofit/>
          </a:bodyPr>
          <a:lstStyle/>
          <a:p>
            <a:pPr algn="l" indent="0" marL="0">
              <a:lnSpc>
                <a:spcPct val="120000"/>
              </a:lnSpc>
              <a:buNone/>
            </a:pPr>
            <a:r>
              <a:rPr lang="en-US" sz="1450" dirty="0">
                <a:solidFill>
                  <a:srgbClr val="3B3535"/>
                </a:solidFill>
                <a:latin typeface="Roboto" pitchFamily="34" charset="0"/>
                <a:ea typeface="Roboto" pitchFamily="34" charset="-122"/>
                <a:cs typeface="Roboto" pitchFamily="34" charset="-120"/>
              </a:rPr>
              <a:t>Agrupar datos similares sin etiquetas</a:t>
            </a:r>
            <a:endParaRPr lang="en-US" sz="1450" dirty="0"/>
          </a:p>
        </p:txBody>
      </p:sp>
      <p:sp>
        <p:nvSpPr>
          <p:cNvPr id="21" name="Text 14"/>
          <p:cNvSpPr/>
          <p:nvPr/>
        </p:nvSpPr>
        <p:spPr>
          <a:xfrm>
            <a:off x="661475" y="4819352"/>
            <a:ext cx="11478330" cy="272157"/>
          </a:xfrm>
          <a:prstGeom prst="rect">
            <a:avLst/>
          </a:prstGeom>
          <a:noFill/>
          <a:ln/>
        </p:spPr>
        <p:txBody>
          <a:bodyPr wrap="none" lIns="0" tIns="0" rIns="0" bIns="0" rtlCol="0" anchor="t"/>
          <a:lstStyle/>
          <a:p>
            <a:pPr algn="l" indent="0" marL="0">
              <a:lnSpc>
                <a:spcPct val="120000"/>
              </a:lnSpc>
              <a:buNone/>
            </a:pPr>
            <a:r>
              <a:rPr lang="en-US" sz="1450" dirty="0">
                <a:solidFill>
                  <a:srgbClr val="3B3535"/>
                </a:solidFill>
                <a:latin typeface="Roboto" pitchFamily="34" charset="0"/>
                <a:ea typeface="Roboto" pitchFamily="34" charset="-122"/>
                <a:cs typeface="Roboto" pitchFamily="34" charset="-120"/>
              </a:rPr>
              <a:t>Tools: Word2Vec · GloVe · Sentence Transformers · FAISS (Meta) · Pinecone · Qdrant</a:t>
            </a:r>
            <a:endParaRPr lang="en-US" sz="1450" dirty="0"/>
          </a:p>
        </p:txBody>
      </p:sp>
      <p:sp>
        <p:nvSpPr>
          <p:cNvPr id="22" name="Shape 15"/>
          <p:cNvSpPr/>
          <p:nvPr/>
        </p:nvSpPr>
        <p:spPr>
          <a:xfrm>
            <a:off x="661475" y="5261570"/>
            <a:ext cx="10868745" cy="926009"/>
          </a:xfrm>
          <a:prstGeom prst="roundRect">
            <a:avLst>
              <a:gd name="adj" fmla="val 823"/>
            </a:avLst>
          </a:prstGeom>
          <a:solidFill>
            <a:srgbClr val="F9D2D6"/>
          </a:solidFill>
          <a:ln/>
        </p:spPr>
      </p:sp>
      <p:pic>
        <p:nvPicPr>
          <p:cNvPr id="23" name="Image 5" descr="preencoded.png">    </p:cNvPr>
          <p:cNvPicPr>
            <a:picLocks noChangeAspect="1"/>
          </p:cNvPicPr>
          <p:nvPr/>
        </p:nvPicPr>
        <p:blipFill>
          <a:blip r:embed="rId9"/>
          <a:stretch>
            <a:fillRect/>
          </a:stretch>
        </p:blipFill>
        <p:spPr>
          <a:xfrm>
            <a:off x="850482" y="5516563"/>
            <a:ext cx="236234" cy="189012"/>
          </a:xfrm>
          <a:prstGeom prst="rect">
            <a:avLst/>
          </a:prstGeom>
        </p:spPr>
      </p:pic>
      <p:sp>
        <p:nvSpPr>
          <p:cNvPr id="24" name="Text 16"/>
          <p:cNvSpPr/>
          <p:nvPr/>
        </p:nvSpPr>
        <p:spPr>
          <a:xfrm>
            <a:off x="1275723" y="5460008"/>
            <a:ext cx="10065490" cy="544314"/>
          </a:xfrm>
          <a:prstGeom prst="rect">
            <a:avLst/>
          </a:prstGeom>
          <a:noFill/>
          <a:ln/>
        </p:spPr>
        <p:txBody>
          <a:bodyPr wrap="square" lIns="0" tIns="0" rIns="0" bIns="0" rtlCol="0" anchor="t">
            <a:normAutofit/>
          </a:bodyPr>
          <a:lstStyle/>
          <a:p>
            <a:pPr algn="l" indent="0" marL="0">
              <a:lnSpc>
                <a:spcPct val="120000"/>
              </a:lnSpc>
              <a:buNone/>
            </a:pPr>
            <a:r>
              <a:rPr lang="en-US" sz="1450" dirty="0">
                <a:solidFill>
                  <a:srgbClr val="000000"/>
                </a:solidFill>
                <a:latin typeface="Roboto" pitchFamily="34" charset="0"/>
                <a:ea typeface="Roboto" pitchFamily="34" charset="-122"/>
                <a:cs typeface="Roboto" pitchFamily="34" charset="-120"/>
              </a:rPr>
              <a:t>Hito: En 2013, Word2Vec (Google) demostró que los embeddings capturan relaciones semánticas: Rey − Hombre + Mujer ≈ Reina. Revolucionó el procesamiento del lenguaje natural.</a:t>
            </a:r>
            <a:endParaRPr lang="en-US" sz="14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661475" y="763984"/>
            <a:ext cx="2137714" cy="251420"/>
          </a:xfrm>
          <a:prstGeom prst="roundRect">
            <a:avLst>
              <a:gd name="adj" fmla="val 3031"/>
            </a:avLst>
          </a:prstGeom>
          <a:solidFill>
            <a:srgbClr val="F9D2D6"/>
          </a:solidFill>
          <a:ln/>
        </p:spPr>
      </p:sp>
      <p:sp>
        <p:nvSpPr>
          <p:cNvPr id="3" name="Text 1"/>
          <p:cNvSpPr/>
          <p:nvPr/>
        </p:nvSpPr>
        <p:spPr>
          <a:xfrm>
            <a:off x="760691" y="813594"/>
            <a:ext cx="2548866"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LA TAXONOMÍA DE PROBLEMAS</a:t>
            </a:r>
            <a:endParaRPr lang="en-US" sz="1000" dirty="0"/>
          </a:p>
        </p:txBody>
      </p:sp>
      <p:sp>
        <p:nvSpPr>
          <p:cNvPr id="4" name="Text 2"/>
          <p:cNvSpPr/>
          <p:nvPr/>
        </p:nvSpPr>
        <p:spPr>
          <a:xfrm>
            <a:off x="661475" y="1061641"/>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Decisión Secuencial</a:t>
            </a:r>
            <a:endParaRPr lang="en-US" sz="3250" dirty="0"/>
          </a:p>
        </p:txBody>
      </p:sp>
      <p:sp>
        <p:nvSpPr>
          <p:cNvPr id="5" name="Text 3"/>
          <p:cNvSpPr/>
          <p:nvPr/>
        </p:nvSpPr>
        <p:spPr>
          <a:xfrm>
            <a:off x="661475" y="1624608"/>
            <a:ext cx="10868745" cy="258465"/>
          </a:xfrm>
          <a:prstGeom prst="rect">
            <a:avLst/>
          </a:prstGeom>
          <a:noFill/>
          <a:ln/>
        </p:spPr>
        <p:txBody>
          <a:bodyPr wrap="none" lIns="0" tIns="0" rIns="0" bIns="0" rtlCol="0" anchor="t"/>
          <a:lstStyle/>
          <a:p>
            <a:pPr algn="l" indent="0" marL="0">
              <a:lnSpc>
                <a:spcPct val="104000"/>
              </a:lnSpc>
              <a:buNone/>
            </a:pPr>
            <a:r>
              <a:rPr lang="en-US" sz="1600" dirty="0">
                <a:solidFill>
                  <a:srgbClr val="1F1E1E"/>
                </a:solidFill>
                <a:latin typeface="Roboto Mono Medium" pitchFamily="34" charset="0"/>
                <a:ea typeface="Roboto Mono Medium" pitchFamily="34" charset="-122"/>
                <a:cs typeface="Roboto Mono Medium" pitchFamily="34" charset="-120"/>
              </a:rPr>
              <a:t>Maximizar recompensa acumulada a través de acciones en el tiempo</a:t>
            </a:r>
            <a:endParaRPr lang="en-US" sz="1600" dirty="0"/>
          </a:p>
        </p:txBody>
      </p:sp>
      <p:sp>
        <p:nvSpPr>
          <p:cNvPr id="6" name="Text 4"/>
          <p:cNvSpPr/>
          <p:nvPr/>
        </p:nvSpPr>
        <p:spPr>
          <a:xfrm>
            <a:off x="661475" y="2056705"/>
            <a:ext cx="10868745" cy="449858"/>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Formalizado como Reinforcement Learning (RL): un agente interactúa con un entorno, toma acciones y recibe recompensas. Aprende por ensayo y error qué secuencia de decisiones maximiza el resultado a largo plazo.</a:t>
            </a:r>
            <a:endParaRPr lang="en-US" sz="13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636738"/>
            <a:ext cx="413434" cy="413445"/>
          </a:xfrm>
          <a:prstGeom prst="rect">
            <a:avLst/>
          </a:prstGeom>
        </p:spPr>
      </p:pic>
      <p:sp>
        <p:nvSpPr>
          <p:cNvPr id="8" name="Text 5"/>
          <p:cNvSpPr/>
          <p:nvPr/>
        </p:nvSpPr>
        <p:spPr>
          <a:xfrm>
            <a:off x="1219566" y="2636738"/>
            <a:ext cx="2968352"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Juegos</a:t>
            </a:r>
            <a:endParaRPr lang="en-US" sz="1600" dirty="0"/>
          </a:p>
        </p:txBody>
      </p:sp>
      <p:sp>
        <p:nvSpPr>
          <p:cNvPr id="9" name="Text 6"/>
          <p:cNvSpPr/>
          <p:nvPr/>
        </p:nvSpPr>
        <p:spPr>
          <a:xfrm>
            <a:off x="1219566" y="2964656"/>
            <a:ext cx="2968352"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Go · ajedrez · Atari · StarCraft</a:t>
            </a:r>
            <a:endParaRPr lang="en-US" sz="130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32576" y="2636738"/>
            <a:ext cx="413434" cy="413445"/>
          </a:xfrm>
          <a:prstGeom prst="rect">
            <a:avLst/>
          </a:prstGeom>
        </p:spPr>
      </p:pic>
      <p:sp>
        <p:nvSpPr>
          <p:cNvPr id="11" name="Text 7"/>
          <p:cNvSpPr/>
          <p:nvPr/>
        </p:nvSpPr>
        <p:spPr>
          <a:xfrm>
            <a:off x="4890667" y="2636738"/>
            <a:ext cx="2968352"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Robótica</a:t>
            </a:r>
            <a:endParaRPr lang="en-US" sz="1600" dirty="0"/>
          </a:p>
        </p:txBody>
      </p:sp>
      <p:sp>
        <p:nvSpPr>
          <p:cNvPr id="12" name="Text 8"/>
          <p:cNvSpPr/>
          <p:nvPr/>
        </p:nvSpPr>
        <p:spPr>
          <a:xfrm>
            <a:off x="4890667" y="2964656"/>
            <a:ext cx="2968352" cy="449858"/>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Control de movimiento · manipulación de objetos</a:t>
            </a:r>
            <a:endParaRPr lang="en-US" sz="130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3677" y="2636738"/>
            <a:ext cx="413434" cy="413445"/>
          </a:xfrm>
          <a:prstGeom prst="rect">
            <a:avLst/>
          </a:prstGeom>
        </p:spPr>
      </p:pic>
      <p:sp>
        <p:nvSpPr>
          <p:cNvPr id="14" name="Text 9"/>
          <p:cNvSpPr/>
          <p:nvPr/>
        </p:nvSpPr>
        <p:spPr>
          <a:xfrm>
            <a:off x="8561769" y="2636738"/>
            <a:ext cx="2968352"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Trading Algorítmico</a:t>
            </a:r>
            <a:endParaRPr lang="en-US" sz="1600" dirty="0"/>
          </a:p>
        </p:txBody>
      </p:sp>
      <p:sp>
        <p:nvSpPr>
          <p:cNvPr id="15" name="Text 10"/>
          <p:cNvSpPr/>
          <p:nvPr/>
        </p:nvSpPr>
        <p:spPr>
          <a:xfrm>
            <a:off x="8561769" y="2964656"/>
            <a:ext cx="2968352"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Estrategias de inversión adaptativas</a:t>
            </a:r>
            <a:endParaRPr lang="en-US" sz="1300" dirty="0"/>
          </a:p>
        </p:txBody>
      </p:sp>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3645991"/>
            <a:ext cx="413434" cy="413445"/>
          </a:xfrm>
          <a:prstGeom prst="rect">
            <a:avLst/>
          </a:prstGeom>
        </p:spPr>
      </p:pic>
      <p:sp>
        <p:nvSpPr>
          <p:cNvPr id="17" name="Text 11"/>
          <p:cNvSpPr/>
          <p:nvPr/>
        </p:nvSpPr>
        <p:spPr>
          <a:xfrm>
            <a:off x="1219566" y="3645991"/>
            <a:ext cx="2968352"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Optimización de Redes</a:t>
            </a:r>
            <a:endParaRPr lang="en-US" sz="1600" dirty="0"/>
          </a:p>
        </p:txBody>
      </p:sp>
      <p:sp>
        <p:nvSpPr>
          <p:cNvPr id="18" name="Text 12"/>
          <p:cNvSpPr/>
          <p:nvPr/>
        </p:nvSpPr>
        <p:spPr>
          <a:xfrm>
            <a:off x="1219566" y="3973909"/>
            <a:ext cx="2968352"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Tráfico · data centers</a:t>
            </a:r>
            <a:endParaRPr lang="en-US" sz="1300" dirty="0"/>
          </a:p>
        </p:txBody>
      </p:sp>
      <p:pic>
        <p:nvPicPr>
          <p:cNvPr id="1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32576" y="3645991"/>
            <a:ext cx="413434" cy="413445"/>
          </a:xfrm>
          <a:prstGeom prst="rect">
            <a:avLst/>
          </a:prstGeom>
        </p:spPr>
      </p:pic>
      <p:sp>
        <p:nvSpPr>
          <p:cNvPr id="20" name="Text 13"/>
          <p:cNvSpPr/>
          <p:nvPr/>
        </p:nvSpPr>
        <p:spPr>
          <a:xfrm>
            <a:off x="4890667" y="3645991"/>
            <a:ext cx="2968352"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RLHF</a:t>
            </a:r>
            <a:endParaRPr lang="en-US" sz="1600" dirty="0"/>
          </a:p>
        </p:txBody>
      </p:sp>
      <p:sp>
        <p:nvSpPr>
          <p:cNvPr id="21" name="Text 14"/>
          <p:cNvSpPr/>
          <p:nvPr/>
        </p:nvSpPr>
        <p:spPr>
          <a:xfrm>
            <a:off x="4890667" y="3973909"/>
            <a:ext cx="2968352"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Alinear LLMs con preferencias humanas</a:t>
            </a:r>
            <a:endParaRPr lang="en-US" sz="1300" dirty="0"/>
          </a:p>
        </p:txBody>
      </p:sp>
      <p:sp>
        <p:nvSpPr>
          <p:cNvPr id="22" name="Text 15"/>
          <p:cNvSpPr/>
          <p:nvPr/>
        </p:nvSpPr>
        <p:spPr>
          <a:xfrm>
            <a:off x="661475" y="4329013"/>
            <a:ext cx="11478330"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Tools: OpenAI Gym · Stable Baselines3 · Ray RLlib · MuJoCo · TRL (Hugging Face)</a:t>
            </a:r>
            <a:endParaRPr lang="en-US" sz="1300" dirty="0"/>
          </a:p>
        </p:txBody>
      </p:sp>
      <p:sp>
        <p:nvSpPr>
          <p:cNvPr id="23" name="Shape 16"/>
          <p:cNvSpPr/>
          <p:nvPr/>
        </p:nvSpPr>
        <p:spPr>
          <a:xfrm>
            <a:off x="661475" y="4684117"/>
            <a:ext cx="10868745" cy="527348"/>
          </a:xfrm>
          <a:prstGeom prst="roundRect">
            <a:avLst>
              <a:gd name="adj" fmla="val 1445"/>
            </a:avLst>
          </a:prstGeom>
          <a:solidFill>
            <a:srgbClr val="F9D2D6"/>
          </a:solidFill>
          <a:ln/>
        </p:spPr>
      </p:sp>
      <p:pic>
        <p:nvPicPr>
          <p:cNvPr id="24" name="Image 5" descr="preencoded.png">    </p:cNvPr>
          <p:cNvPicPr>
            <a:picLocks noChangeAspect="1"/>
          </p:cNvPicPr>
          <p:nvPr/>
        </p:nvPicPr>
        <p:blipFill>
          <a:blip r:embed="rId11"/>
          <a:stretch>
            <a:fillRect/>
          </a:stretch>
        </p:blipFill>
        <p:spPr>
          <a:xfrm>
            <a:off x="826769" y="4904780"/>
            <a:ext cx="206667" cy="165298"/>
          </a:xfrm>
          <a:prstGeom prst="rect">
            <a:avLst/>
          </a:prstGeom>
        </p:spPr>
      </p:pic>
      <p:sp>
        <p:nvSpPr>
          <p:cNvPr id="25" name="Text 17"/>
          <p:cNvSpPr/>
          <p:nvPr/>
        </p:nvSpPr>
        <p:spPr>
          <a:xfrm>
            <a:off x="1198731" y="4841081"/>
            <a:ext cx="10775780" cy="224929"/>
          </a:xfrm>
          <a:prstGeom prst="rect">
            <a:avLst/>
          </a:prstGeom>
          <a:noFill/>
          <a:ln/>
        </p:spPr>
        <p:txBody>
          <a:bodyPr wrap="none" lIns="0" tIns="0" rIns="0" bIns="0" rtlCol="0" anchor="t"/>
          <a:lstStyle/>
          <a:p>
            <a:pPr algn="l" indent="0" marL="0">
              <a:lnSpc>
                <a:spcPct val="113000"/>
              </a:lnSpc>
              <a:buNone/>
            </a:pPr>
            <a:r>
              <a:rPr lang="en-US" sz="1300" dirty="0">
                <a:solidFill>
                  <a:srgbClr val="000000"/>
                </a:solidFill>
                <a:latin typeface="Roboto" pitchFamily="34" charset="0"/>
                <a:ea typeface="Roboto" pitchFamily="34" charset="-122"/>
                <a:cs typeface="Roboto" pitchFamily="34" charset="-120"/>
              </a:rPr>
              <a:t>Hito: AlphaGo (2016) y AlphaZero (2017) usaron RL para superar a campeones mundiales en Go y ajedrez.</a:t>
            </a:r>
            <a:endParaRPr lang="en-US" sz="1300" dirty="0"/>
          </a:p>
        </p:txBody>
      </p:sp>
      <p:sp>
        <p:nvSpPr>
          <p:cNvPr id="26" name="Shape 18"/>
          <p:cNvSpPr/>
          <p:nvPr/>
        </p:nvSpPr>
        <p:spPr>
          <a:xfrm>
            <a:off x="661475" y="5341640"/>
            <a:ext cx="10868745" cy="752277"/>
          </a:xfrm>
          <a:prstGeom prst="roundRect">
            <a:avLst>
              <a:gd name="adj" fmla="val 1013"/>
            </a:avLst>
          </a:prstGeom>
          <a:solidFill>
            <a:srgbClr val="F9D2D6"/>
          </a:solidFill>
          <a:ln/>
        </p:spPr>
      </p:sp>
      <p:pic>
        <p:nvPicPr>
          <p:cNvPr id="27" name="Image 6" descr="preencoded.png">    </p:cNvPr>
          <p:cNvPicPr>
            <a:picLocks noChangeAspect="1"/>
          </p:cNvPicPr>
          <p:nvPr/>
        </p:nvPicPr>
        <p:blipFill>
          <a:blip r:embed="rId12"/>
          <a:stretch>
            <a:fillRect/>
          </a:stretch>
        </p:blipFill>
        <p:spPr>
          <a:xfrm>
            <a:off x="826769" y="5562302"/>
            <a:ext cx="206667" cy="165298"/>
          </a:xfrm>
          <a:prstGeom prst="rect">
            <a:avLst/>
          </a:prstGeom>
        </p:spPr>
      </p:pic>
      <p:sp>
        <p:nvSpPr>
          <p:cNvPr id="28" name="Text 19"/>
          <p:cNvSpPr/>
          <p:nvPr/>
        </p:nvSpPr>
        <p:spPr>
          <a:xfrm>
            <a:off x="1198731" y="5498604"/>
            <a:ext cx="10166195" cy="449858"/>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000000"/>
                </a:solidFill>
                <a:latin typeface="Roboto" pitchFamily="34" charset="0"/>
                <a:ea typeface="Roboto" pitchFamily="34" charset="-122"/>
                <a:cs typeface="Roboto" pitchFamily="34" charset="-120"/>
              </a:rPr>
              <a:t>🏆</a:t>
            </a:r>
            <a:pPr algn="l" indent="0" marL="0">
              <a:lnSpc>
                <a:spcPct val="113000"/>
              </a:lnSpc>
              <a:buNone/>
            </a:pPr>
            <a:r>
              <a:rPr lang="en-US" sz="1300" dirty="0">
                <a:solidFill>
                  <a:srgbClr val="000000"/>
                </a:solidFill>
                <a:latin typeface="Roboto" pitchFamily="34" charset="0"/>
                <a:ea typeface="Roboto" pitchFamily="34" charset="-122"/>
                <a:cs typeface="Roboto" pitchFamily="34" charset="-120"/>
              </a:rPr>
              <a:t> Hito: En 2016, AlphaGo (DeepMind) venció a Lee Sedol 4-1 en Go — un juego con más combinaciones que átomos en el universo. En 2017, AlphaZero aprendió ajedrez, Go y shogi desde cero en menos de 24 horas.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661475" y="803573"/>
            <a:ext cx="2290011" cy="269180"/>
          </a:xfrm>
          <a:prstGeom prst="roundRect">
            <a:avLst>
              <a:gd name="adj" fmla="val 2831"/>
            </a:avLst>
          </a:prstGeom>
          <a:solidFill>
            <a:srgbClr val="F9D2D6"/>
          </a:solidFill>
          <a:ln/>
        </p:spPr>
      </p:sp>
      <p:sp>
        <p:nvSpPr>
          <p:cNvPr id="3" name="Text 1"/>
          <p:cNvSpPr/>
          <p:nvPr/>
        </p:nvSpPr>
        <p:spPr>
          <a:xfrm>
            <a:off x="767735" y="856655"/>
            <a:ext cx="2687074" cy="163016"/>
          </a:xfrm>
          <a:prstGeom prst="rect">
            <a:avLst/>
          </a:prstGeom>
          <a:noFill/>
          <a:ln/>
        </p:spPr>
        <p:txBody>
          <a:bodyPr wrap="none" lIns="0" tIns="0" rIns="0" bIns="0" rtlCol="0" anchor="t"/>
          <a:lstStyle/>
          <a:p>
            <a:pPr algn="l" indent="0" marL="0">
              <a:lnSpc>
                <a:spcPct val="96000"/>
              </a:lnSpc>
              <a:buNone/>
            </a:pPr>
            <a:r>
              <a:rPr lang="en-US" sz="1100" dirty="0">
                <a:solidFill>
                  <a:srgbClr val="3B3535"/>
                </a:solidFill>
                <a:latin typeface="Roboto" pitchFamily="34" charset="0"/>
                <a:ea typeface="Roboto" pitchFamily="34" charset="-122"/>
                <a:cs typeface="Roboto" pitchFamily="34" charset="-120"/>
              </a:rPr>
              <a:t>LA TAXONOMÍA DE PROBLEMAS</a:t>
            </a:r>
            <a:endParaRPr lang="en-US" sz="1100" dirty="0"/>
          </a:p>
        </p:txBody>
      </p:sp>
      <p:sp>
        <p:nvSpPr>
          <p:cNvPr id="4" name="Text 2"/>
          <p:cNvSpPr/>
          <p:nvPr/>
        </p:nvSpPr>
        <p:spPr>
          <a:xfrm>
            <a:off x="661475" y="1125835"/>
            <a:ext cx="10868745" cy="553740"/>
          </a:xfrm>
          <a:prstGeom prst="rect">
            <a:avLst/>
          </a:prstGeom>
          <a:noFill/>
          <a:ln/>
        </p:spPr>
        <p:txBody>
          <a:bodyPr wrap="none" lIns="0" tIns="0" rIns="0" bIns="0" rtlCol="0" anchor="t"/>
          <a:lstStyle/>
          <a:p>
            <a:pPr algn="l" indent="0" marL="0">
              <a:lnSpc>
                <a:spcPct val="104000"/>
              </a:lnSpc>
              <a:buNone/>
            </a:pPr>
            <a:r>
              <a:rPr lang="en-US" sz="3450" dirty="0">
                <a:solidFill>
                  <a:srgbClr val="1F1E1E"/>
                </a:solidFill>
                <a:latin typeface="Roboto Mono Medium" pitchFamily="34" charset="0"/>
                <a:ea typeface="Roboto Mono Medium" pitchFamily="34" charset="-122"/>
                <a:cs typeface="Roboto Mono Medium" pitchFamily="34" charset="-120"/>
              </a:rPr>
              <a:t>Búsqueda / Planificación</a:t>
            </a:r>
            <a:endParaRPr lang="en-US" sz="3450" dirty="0"/>
          </a:p>
        </p:txBody>
      </p:sp>
      <p:sp>
        <p:nvSpPr>
          <p:cNvPr id="5" name="Text 3"/>
          <p:cNvSpPr/>
          <p:nvPr/>
        </p:nvSpPr>
        <p:spPr>
          <a:xfrm>
            <a:off x="661475" y="1732657"/>
            <a:ext cx="10868745" cy="276920"/>
          </a:xfrm>
          <a:prstGeom prst="rect">
            <a:avLst/>
          </a:prstGeom>
          <a:noFill/>
          <a:ln/>
        </p:spPr>
        <p:txBody>
          <a:bodyPr wrap="none" lIns="0" tIns="0" rIns="0" bIns="0" rtlCol="0" anchor="t"/>
          <a:lstStyle/>
          <a:p>
            <a:pPr algn="l" indent="0" marL="0">
              <a:lnSpc>
                <a:spcPct val="104000"/>
              </a:lnSpc>
              <a:buNone/>
            </a:pPr>
            <a:r>
              <a:rPr lang="en-US" sz="1700" dirty="0">
                <a:solidFill>
                  <a:srgbClr val="1F1E1E"/>
                </a:solidFill>
                <a:latin typeface="Roboto Mono Medium" pitchFamily="34" charset="0"/>
                <a:ea typeface="Roboto Mono Medium" pitchFamily="34" charset="-122"/>
                <a:cs typeface="Roboto Mono Medium" pitchFamily="34" charset="-120"/>
              </a:rPr>
              <a:t>Encontrar la mejor secuencia de acciones en un espacio de estados</a:t>
            </a:r>
            <a:endParaRPr lang="en-US" sz="17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208907"/>
            <a:ext cx="443001" cy="443012"/>
          </a:xfrm>
          <a:prstGeom prst="rect">
            <a:avLst/>
          </a:prstGeom>
        </p:spPr>
      </p:pic>
      <p:sp>
        <p:nvSpPr>
          <p:cNvPr id="7" name="Text 4"/>
          <p:cNvSpPr/>
          <p:nvPr/>
        </p:nvSpPr>
        <p:spPr>
          <a:xfrm>
            <a:off x="1270564" y="2208907"/>
            <a:ext cx="2903068" cy="276920"/>
          </a:xfrm>
          <a:prstGeom prst="rect">
            <a:avLst/>
          </a:prstGeom>
          <a:noFill/>
          <a:ln/>
        </p:spPr>
        <p:txBody>
          <a:bodyPr wrap="none" lIns="0" tIns="0" rIns="0" bIns="0" rtlCol="0" anchor="t"/>
          <a:lstStyle/>
          <a:p>
            <a:pPr algn="l" indent="0" marL="0">
              <a:lnSpc>
                <a:spcPct val="104000"/>
              </a:lnSpc>
              <a:buNone/>
            </a:pPr>
            <a:r>
              <a:rPr lang="en-US" sz="1700" dirty="0">
                <a:solidFill>
                  <a:srgbClr val="3B3535"/>
                </a:solidFill>
                <a:latin typeface="Roboto Mono Medium" pitchFamily="34" charset="0"/>
                <a:ea typeface="Roboto Mono Medium" pitchFamily="34" charset="-122"/>
                <a:cs typeface="Roboto Mono Medium" pitchFamily="34" charset="-120"/>
              </a:rPr>
              <a:t>Logística</a:t>
            </a:r>
            <a:endParaRPr lang="en-US" sz="1700" dirty="0"/>
          </a:p>
        </p:txBody>
      </p:sp>
      <p:sp>
        <p:nvSpPr>
          <p:cNvPr id="8" name="Text 5"/>
          <p:cNvSpPr/>
          <p:nvPr/>
        </p:nvSpPr>
        <p:spPr>
          <a:xfrm>
            <a:off x="1270564" y="2565499"/>
            <a:ext cx="2903068" cy="496094"/>
          </a:xfrm>
          <a:prstGeom prst="rect">
            <a:avLst/>
          </a:prstGeom>
          <a:noFill/>
          <a:ln/>
        </p:spPr>
        <p:txBody>
          <a:bodyPr wrap="square" lIns="0" tIns="0" rIns="0" bIns="0" rtlCol="0" anchor="t">
            <a:normAutofit/>
          </a:bodyPr>
          <a:lstStyle/>
          <a:p>
            <a:pPr algn="l" indent="0" marL="0">
              <a:lnSpc>
                <a:spcPct val="117000"/>
              </a:lnSpc>
              <a:buNone/>
            </a:pPr>
            <a:r>
              <a:rPr lang="en-US" sz="1350" dirty="0">
                <a:solidFill>
                  <a:srgbClr val="3B3535"/>
                </a:solidFill>
                <a:latin typeface="Roboto" pitchFamily="34" charset="0"/>
                <a:ea typeface="Roboto" pitchFamily="34" charset="-122"/>
                <a:cs typeface="Roboto" pitchFamily="34" charset="-120"/>
              </a:rPr>
              <a:t>Ruta óptima para flotas de reparto (VRP)</a:t>
            </a:r>
            <a:endParaRPr lang="en-US" sz="135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39720" y="2208907"/>
            <a:ext cx="443001" cy="443012"/>
          </a:xfrm>
          <a:prstGeom prst="rect">
            <a:avLst/>
          </a:prstGeom>
        </p:spPr>
      </p:pic>
      <p:sp>
        <p:nvSpPr>
          <p:cNvPr id="10" name="Text 6"/>
          <p:cNvSpPr/>
          <p:nvPr/>
        </p:nvSpPr>
        <p:spPr>
          <a:xfrm>
            <a:off x="4948808" y="2208907"/>
            <a:ext cx="2903068" cy="276920"/>
          </a:xfrm>
          <a:prstGeom prst="rect">
            <a:avLst/>
          </a:prstGeom>
          <a:noFill/>
          <a:ln/>
        </p:spPr>
        <p:txBody>
          <a:bodyPr wrap="none" lIns="0" tIns="0" rIns="0" bIns="0" rtlCol="0" anchor="t"/>
          <a:lstStyle/>
          <a:p>
            <a:pPr algn="l" indent="0" marL="0">
              <a:lnSpc>
                <a:spcPct val="104000"/>
              </a:lnSpc>
              <a:buNone/>
            </a:pPr>
            <a:r>
              <a:rPr lang="en-US" sz="1700" dirty="0">
                <a:solidFill>
                  <a:srgbClr val="3B3535"/>
                </a:solidFill>
                <a:latin typeface="Roboto Mono Medium" pitchFamily="34" charset="0"/>
                <a:ea typeface="Roboto Mono Medium" pitchFamily="34" charset="-122"/>
                <a:cs typeface="Roboto Mono Medium" pitchFamily="34" charset="-120"/>
              </a:rPr>
              <a:t>Manufactura</a:t>
            </a:r>
            <a:endParaRPr lang="en-US" sz="1700" dirty="0"/>
          </a:p>
        </p:txBody>
      </p:sp>
      <p:sp>
        <p:nvSpPr>
          <p:cNvPr id="11" name="Text 7"/>
          <p:cNvSpPr/>
          <p:nvPr/>
        </p:nvSpPr>
        <p:spPr>
          <a:xfrm>
            <a:off x="4948808" y="2565499"/>
            <a:ext cx="2903068" cy="496094"/>
          </a:xfrm>
          <a:prstGeom prst="rect">
            <a:avLst/>
          </a:prstGeom>
          <a:noFill/>
          <a:ln/>
        </p:spPr>
        <p:txBody>
          <a:bodyPr wrap="square" lIns="0" tIns="0" rIns="0" bIns="0" rtlCol="0" anchor="t">
            <a:normAutofit/>
          </a:bodyPr>
          <a:lstStyle/>
          <a:p>
            <a:pPr algn="l" indent="0" marL="0">
              <a:lnSpc>
                <a:spcPct val="117000"/>
              </a:lnSpc>
              <a:buNone/>
            </a:pPr>
            <a:r>
              <a:rPr lang="en-US" sz="1350" dirty="0">
                <a:solidFill>
                  <a:srgbClr val="3B3535"/>
                </a:solidFill>
                <a:latin typeface="Roboto" pitchFamily="34" charset="0"/>
                <a:ea typeface="Roboto" pitchFamily="34" charset="-122"/>
                <a:cs typeface="Roboto" pitchFamily="34" charset="-120"/>
              </a:rPr>
              <a:t>Secuenciación de tareas en producción</a:t>
            </a:r>
            <a:endParaRPr lang="en-US" sz="135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17964" y="2208907"/>
            <a:ext cx="443001" cy="443012"/>
          </a:xfrm>
          <a:prstGeom prst="rect">
            <a:avLst/>
          </a:prstGeom>
        </p:spPr>
      </p:pic>
      <p:sp>
        <p:nvSpPr>
          <p:cNvPr id="13" name="Text 8"/>
          <p:cNvSpPr/>
          <p:nvPr/>
        </p:nvSpPr>
        <p:spPr>
          <a:xfrm>
            <a:off x="8627053" y="2208907"/>
            <a:ext cx="2903068" cy="276920"/>
          </a:xfrm>
          <a:prstGeom prst="rect">
            <a:avLst/>
          </a:prstGeom>
          <a:noFill/>
          <a:ln/>
        </p:spPr>
        <p:txBody>
          <a:bodyPr wrap="none" lIns="0" tIns="0" rIns="0" bIns="0" rtlCol="0" anchor="t"/>
          <a:lstStyle/>
          <a:p>
            <a:pPr algn="l" indent="0" marL="0">
              <a:lnSpc>
                <a:spcPct val="104000"/>
              </a:lnSpc>
              <a:buNone/>
            </a:pPr>
            <a:r>
              <a:rPr lang="en-US" sz="1700" dirty="0">
                <a:solidFill>
                  <a:srgbClr val="3B3535"/>
                </a:solidFill>
                <a:latin typeface="Roboto Mono Medium" pitchFamily="34" charset="0"/>
                <a:ea typeface="Roboto Mono Medium" pitchFamily="34" charset="-122"/>
                <a:cs typeface="Roboto Mono Medium" pitchFamily="34" charset="-120"/>
              </a:rPr>
              <a:t>Planificación</a:t>
            </a:r>
            <a:endParaRPr lang="en-US" sz="1700" dirty="0"/>
          </a:p>
        </p:txBody>
      </p:sp>
      <p:sp>
        <p:nvSpPr>
          <p:cNvPr id="14" name="Text 9"/>
          <p:cNvSpPr/>
          <p:nvPr/>
        </p:nvSpPr>
        <p:spPr>
          <a:xfrm>
            <a:off x="8627053" y="2565499"/>
            <a:ext cx="2903068" cy="496094"/>
          </a:xfrm>
          <a:prstGeom prst="rect">
            <a:avLst/>
          </a:prstGeom>
          <a:noFill/>
          <a:ln/>
        </p:spPr>
        <p:txBody>
          <a:bodyPr wrap="square" lIns="0" tIns="0" rIns="0" bIns="0" rtlCol="0" anchor="t">
            <a:normAutofit/>
          </a:bodyPr>
          <a:lstStyle/>
          <a:p>
            <a:pPr algn="l" indent="0" marL="0">
              <a:lnSpc>
                <a:spcPct val="117000"/>
              </a:lnSpc>
              <a:buNone/>
            </a:pPr>
            <a:r>
              <a:rPr lang="en-US" sz="1350" dirty="0">
                <a:solidFill>
                  <a:srgbClr val="3B3535"/>
                </a:solidFill>
                <a:latin typeface="Roboto" pitchFamily="34" charset="0"/>
                <a:ea typeface="Roboto" pitchFamily="34" charset="-122"/>
                <a:cs typeface="Roboto" pitchFamily="34" charset="-120"/>
              </a:rPr>
              <a:t>Asignación de recursos con restricciones</a:t>
            </a:r>
            <a:endParaRPr lang="en-US" sz="135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3327400"/>
            <a:ext cx="443001" cy="443012"/>
          </a:xfrm>
          <a:prstGeom prst="rect">
            <a:avLst/>
          </a:prstGeom>
        </p:spPr>
      </p:pic>
      <p:sp>
        <p:nvSpPr>
          <p:cNvPr id="16" name="Text 10"/>
          <p:cNvSpPr/>
          <p:nvPr/>
        </p:nvSpPr>
        <p:spPr>
          <a:xfrm>
            <a:off x="1270564" y="3327400"/>
            <a:ext cx="2903068" cy="276920"/>
          </a:xfrm>
          <a:prstGeom prst="rect">
            <a:avLst/>
          </a:prstGeom>
          <a:noFill/>
          <a:ln/>
        </p:spPr>
        <p:txBody>
          <a:bodyPr wrap="none" lIns="0" tIns="0" rIns="0" bIns="0" rtlCol="0" anchor="t"/>
          <a:lstStyle/>
          <a:p>
            <a:pPr algn="l" indent="0" marL="0">
              <a:lnSpc>
                <a:spcPct val="104000"/>
              </a:lnSpc>
              <a:buNone/>
            </a:pPr>
            <a:r>
              <a:rPr lang="en-US" sz="1700" dirty="0">
                <a:solidFill>
                  <a:srgbClr val="3B3535"/>
                </a:solidFill>
                <a:latin typeface="Roboto Mono Medium" pitchFamily="34" charset="0"/>
                <a:ea typeface="Roboto Mono Medium" pitchFamily="34" charset="-122"/>
                <a:cs typeface="Roboto Mono Medium" pitchFamily="34" charset="-120"/>
              </a:rPr>
              <a:t>Robótica</a:t>
            </a:r>
            <a:endParaRPr lang="en-US" sz="1700" dirty="0"/>
          </a:p>
        </p:txBody>
      </p:sp>
      <p:sp>
        <p:nvSpPr>
          <p:cNvPr id="17" name="Text 11"/>
          <p:cNvSpPr/>
          <p:nvPr/>
        </p:nvSpPr>
        <p:spPr>
          <a:xfrm>
            <a:off x="1270564" y="3683992"/>
            <a:ext cx="2903068" cy="248047"/>
          </a:xfrm>
          <a:prstGeom prst="rect">
            <a:avLst/>
          </a:prstGeom>
          <a:noFill/>
          <a:ln/>
        </p:spPr>
        <p:txBody>
          <a:bodyPr wrap="none" lIns="0" tIns="0" rIns="0" bIns="0" rtlCol="0" anchor="t"/>
          <a:lstStyle/>
          <a:p>
            <a:pPr algn="l" indent="0" marL="0">
              <a:lnSpc>
                <a:spcPct val="117000"/>
              </a:lnSpc>
              <a:buNone/>
            </a:pPr>
            <a:r>
              <a:rPr lang="en-US" sz="1350" dirty="0">
                <a:solidFill>
                  <a:srgbClr val="3B3535"/>
                </a:solidFill>
                <a:latin typeface="Roboto" pitchFamily="34" charset="0"/>
                <a:ea typeface="Roboto" pitchFamily="34" charset="-122"/>
                <a:cs typeface="Roboto" pitchFamily="34" charset="-120"/>
              </a:rPr>
              <a:t>Trayectorias en espacios físicos</a:t>
            </a:r>
            <a:endParaRPr lang="en-US" sz="1350" dirty="0"/>
          </a:p>
        </p:txBody>
      </p:sp>
      <p:pic>
        <p:nvPicPr>
          <p:cNvPr id="18"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39720" y="3327400"/>
            <a:ext cx="443001" cy="443012"/>
          </a:xfrm>
          <a:prstGeom prst="rect">
            <a:avLst/>
          </a:prstGeom>
        </p:spPr>
      </p:pic>
      <p:sp>
        <p:nvSpPr>
          <p:cNvPr id="19" name="Text 12"/>
          <p:cNvSpPr/>
          <p:nvPr/>
        </p:nvSpPr>
        <p:spPr>
          <a:xfrm>
            <a:off x="4948808" y="3327400"/>
            <a:ext cx="2903068" cy="276920"/>
          </a:xfrm>
          <a:prstGeom prst="rect">
            <a:avLst/>
          </a:prstGeom>
          <a:noFill/>
          <a:ln/>
        </p:spPr>
        <p:txBody>
          <a:bodyPr wrap="none" lIns="0" tIns="0" rIns="0" bIns="0" rtlCol="0" anchor="t"/>
          <a:lstStyle/>
          <a:p>
            <a:pPr algn="l" indent="0" marL="0">
              <a:lnSpc>
                <a:spcPct val="104000"/>
              </a:lnSpc>
              <a:buNone/>
            </a:pPr>
            <a:r>
              <a:rPr lang="en-US" sz="1700" dirty="0">
                <a:solidFill>
                  <a:srgbClr val="3B3535"/>
                </a:solidFill>
                <a:latin typeface="Roboto Mono Medium" pitchFamily="34" charset="0"/>
                <a:ea typeface="Roboto Mono Medium" pitchFamily="34" charset="-122"/>
                <a:cs typeface="Roboto Mono Medium" pitchFamily="34" charset="-120"/>
              </a:rPr>
              <a:t>Juegos de Estrategia</a:t>
            </a:r>
            <a:endParaRPr lang="en-US" sz="1700" dirty="0"/>
          </a:p>
        </p:txBody>
      </p:sp>
      <p:sp>
        <p:nvSpPr>
          <p:cNvPr id="20" name="Text 13"/>
          <p:cNvSpPr/>
          <p:nvPr/>
        </p:nvSpPr>
        <p:spPr>
          <a:xfrm>
            <a:off x="4948808" y="3683992"/>
            <a:ext cx="2903068" cy="248047"/>
          </a:xfrm>
          <a:prstGeom prst="rect">
            <a:avLst/>
          </a:prstGeom>
          <a:noFill/>
          <a:ln/>
        </p:spPr>
        <p:txBody>
          <a:bodyPr wrap="none" lIns="0" tIns="0" rIns="0" bIns="0" rtlCol="0" anchor="t"/>
          <a:lstStyle/>
          <a:p>
            <a:pPr algn="l" indent="0" marL="0">
              <a:lnSpc>
                <a:spcPct val="117000"/>
              </a:lnSpc>
              <a:buNone/>
            </a:pPr>
            <a:r>
              <a:rPr lang="en-US" sz="1350" dirty="0">
                <a:solidFill>
                  <a:srgbClr val="3B3535"/>
                </a:solidFill>
                <a:latin typeface="Roboto" pitchFamily="34" charset="0"/>
                <a:ea typeface="Roboto" pitchFamily="34" charset="-122"/>
                <a:cs typeface="Roboto" pitchFamily="34" charset="-120"/>
              </a:rPr>
              <a:t>MCTS en ajedrez y Go</a:t>
            </a:r>
            <a:endParaRPr lang="en-US" sz="1350" dirty="0"/>
          </a:p>
        </p:txBody>
      </p:sp>
      <p:sp>
        <p:nvSpPr>
          <p:cNvPr id="21" name="Text 14"/>
          <p:cNvSpPr/>
          <p:nvPr/>
        </p:nvSpPr>
        <p:spPr>
          <a:xfrm>
            <a:off x="661475" y="4081463"/>
            <a:ext cx="11478330" cy="248047"/>
          </a:xfrm>
          <a:prstGeom prst="rect">
            <a:avLst/>
          </a:prstGeom>
          <a:noFill/>
          <a:ln/>
        </p:spPr>
        <p:txBody>
          <a:bodyPr wrap="none" lIns="0" tIns="0" rIns="0" bIns="0" rtlCol="0" anchor="t"/>
          <a:lstStyle/>
          <a:p>
            <a:pPr algn="l" indent="0" marL="0">
              <a:lnSpc>
                <a:spcPct val="117000"/>
              </a:lnSpc>
              <a:buNone/>
            </a:pPr>
            <a:r>
              <a:rPr lang="en-US" sz="1350" dirty="0">
                <a:solidFill>
                  <a:srgbClr val="000000"/>
                </a:solidFill>
                <a:latin typeface="Roboto" pitchFamily="34" charset="0"/>
                <a:ea typeface="Roboto" pitchFamily="34" charset="-122"/>
                <a:cs typeface="Roboto" pitchFamily="34" charset="-120"/>
              </a:rPr>
              <a:t>🔧</a:t>
            </a:r>
            <a:pPr algn="l" indent="0" marL="0">
              <a:lnSpc>
                <a:spcPct val="117000"/>
              </a:lnSpc>
              <a:buNone/>
            </a:pPr>
            <a:r>
              <a:rPr lang="en-US" sz="1350" dirty="0">
                <a:solidFill>
                  <a:srgbClr val="3B3535"/>
                </a:solidFill>
                <a:latin typeface="Roboto" pitchFamily="34" charset="0"/>
                <a:ea typeface="Roboto" pitchFamily="34" charset="-122"/>
                <a:cs typeface="Roboto" pitchFamily="34" charset="-120"/>
              </a:rPr>
              <a:t> Tools: Google OR-Tools · A* / Dijkstra · MCTS · PDDL / Fast Downward · OptaPlanner</a:t>
            </a:r>
            <a:endParaRPr lang="en-US" sz="1350" dirty="0"/>
          </a:p>
        </p:txBody>
      </p:sp>
      <p:sp>
        <p:nvSpPr>
          <p:cNvPr id="22" name="Shape 15"/>
          <p:cNvSpPr/>
          <p:nvPr/>
        </p:nvSpPr>
        <p:spPr>
          <a:xfrm>
            <a:off x="661475" y="4478933"/>
            <a:ext cx="10868745" cy="588963"/>
          </a:xfrm>
          <a:prstGeom prst="roundRect">
            <a:avLst>
              <a:gd name="adj" fmla="val 1294"/>
            </a:avLst>
          </a:prstGeom>
          <a:solidFill>
            <a:srgbClr val="F9D2D6"/>
          </a:solidFill>
          <a:ln/>
        </p:spPr>
      </p:sp>
      <p:pic>
        <p:nvPicPr>
          <p:cNvPr id="23" name="Image 5" descr="preencoded.png">    </p:cNvPr>
          <p:cNvPicPr>
            <a:picLocks noChangeAspect="1"/>
          </p:cNvPicPr>
          <p:nvPr/>
        </p:nvPicPr>
        <p:blipFill>
          <a:blip r:embed="rId11"/>
          <a:stretch>
            <a:fillRect/>
          </a:stretch>
        </p:blipFill>
        <p:spPr>
          <a:xfrm>
            <a:off x="838675" y="4716760"/>
            <a:ext cx="221451" cy="177205"/>
          </a:xfrm>
          <a:prstGeom prst="rect">
            <a:avLst/>
          </a:prstGeom>
        </p:spPr>
      </p:pic>
      <p:sp>
        <p:nvSpPr>
          <p:cNvPr id="24" name="Text 16"/>
          <p:cNvSpPr/>
          <p:nvPr/>
        </p:nvSpPr>
        <p:spPr>
          <a:xfrm>
            <a:off x="1237326" y="4656038"/>
            <a:ext cx="10725279" cy="248047"/>
          </a:xfrm>
          <a:prstGeom prst="rect">
            <a:avLst/>
          </a:prstGeom>
          <a:noFill/>
          <a:ln/>
        </p:spPr>
        <p:txBody>
          <a:bodyPr wrap="none" lIns="0" tIns="0" rIns="0" bIns="0" rtlCol="0" anchor="t"/>
          <a:lstStyle/>
          <a:p>
            <a:pPr algn="l" indent="0" marL="0">
              <a:lnSpc>
                <a:spcPct val="117000"/>
              </a:lnSpc>
              <a:buNone/>
            </a:pPr>
            <a:r>
              <a:rPr lang="en-US" sz="1350" dirty="0">
                <a:solidFill>
                  <a:srgbClr val="000000"/>
                </a:solidFill>
                <a:latin typeface="Roboto" pitchFamily="34" charset="0"/>
                <a:ea typeface="Roboto" pitchFamily="34" charset="-122"/>
                <a:cs typeface="Roboto" pitchFamily="34" charset="-120"/>
              </a:rPr>
              <a:t>Diferencia clave con RL: aquí el modelo del entorno es conocido. En RL, el agente debe descubrirlo por experiencia.</a:t>
            </a:r>
            <a:endParaRPr lang="en-US" sz="1350" dirty="0"/>
          </a:p>
        </p:txBody>
      </p:sp>
      <p:sp>
        <p:nvSpPr>
          <p:cNvPr id="25" name="Shape 17"/>
          <p:cNvSpPr/>
          <p:nvPr/>
        </p:nvSpPr>
        <p:spPr>
          <a:xfrm>
            <a:off x="661475" y="5217319"/>
            <a:ext cx="10868745" cy="837009"/>
          </a:xfrm>
          <a:prstGeom prst="roundRect">
            <a:avLst>
              <a:gd name="adj" fmla="val 910"/>
            </a:avLst>
          </a:prstGeom>
          <a:solidFill>
            <a:srgbClr val="F9D2D6"/>
          </a:solidFill>
          <a:ln/>
        </p:spPr>
      </p:sp>
      <p:pic>
        <p:nvPicPr>
          <p:cNvPr id="26" name="Image 6" descr="preencoded.png">    </p:cNvPr>
          <p:cNvPicPr>
            <a:picLocks noChangeAspect="1"/>
          </p:cNvPicPr>
          <p:nvPr/>
        </p:nvPicPr>
        <p:blipFill>
          <a:blip r:embed="rId12"/>
          <a:stretch>
            <a:fillRect/>
          </a:stretch>
        </p:blipFill>
        <p:spPr>
          <a:xfrm>
            <a:off x="838675" y="5455146"/>
            <a:ext cx="221451" cy="177205"/>
          </a:xfrm>
          <a:prstGeom prst="rect">
            <a:avLst/>
          </a:prstGeom>
        </p:spPr>
      </p:pic>
      <p:sp>
        <p:nvSpPr>
          <p:cNvPr id="27" name="Text 18"/>
          <p:cNvSpPr/>
          <p:nvPr/>
        </p:nvSpPr>
        <p:spPr>
          <a:xfrm>
            <a:off x="1237326" y="5394424"/>
            <a:ext cx="10115694" cy="496094"/>
          </a:xfrm>
          <a:prstGeom prst="rect">
            <a:avLst/>
          </a:prstGeom>
          <a:noFill/>
          <a:ln/>
        </p:spPr>
        <p:txBody>
          <a:bodyPr wrap="square" lIns="0" tIns="0" rIns="0" bIns="0" rtlCol="0" anchor="t">
            <a:normAutofit/>
          </a:bodyPr>
          <a:lstStyle/>
          <a:p>
            <a:pPr algn="l" indent="0" marL="0">
              <a:lnSpc>
                <a:spcPct val="117000"/>
              </a:lnSpc>
              <a:buNone/>
            </a:pPr>
            <a:r>
              <a:rPr lang="en-US" sz="1350" dirty="0">
                <a:solidFill>
                  <a:srgbClr val="000000"/>
                </a:solidFill>
                <a:latin typeface="Roboto" pitchFamily="34" charset="0"/>
                <a:ea typeface="Roboto" pitchFamily="34" charset="-122"/>
                <a:cs typeface="Roboto" pitchFamily="34" charset="-120"/>
              </a:rPr>
              <a:t>🏆</a:t>
            </a:r>
            <a:pPr algn="l" indent="0" marL="0">
              <a:lnSpc>
                <a:spcPct val="117000"/>
              </a:lnSpc>
              <a:buNone/>
            </a:pPr>
            <a:r>
              <a:rPr lang="en-US" sz="1350" dirty="0">
                <a:solidFill>
                  <a:srgbClr val="000000"/>
                </a:solidFill>
                <a:latin typeface="Roboto" pitchFamily="34" charset="0"/>
                <a:ea typeface="Roboto" pitchFamily="34" charset="-122"/>
                <a:cs typeface="Roboto" pitchFamily="34" charset="-120"/>
              </a:rPr>
              <a:t> Hito: En 2016, DeepMind usó planificación + RL para reducir el consumo energético de los data centers de Google en un 40%, ahorrando cientos de millones de dólares anuales.</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661475" y="838200"/>
            <a:ext cx="2137714" cy="251420"/>
          </a:xfrm>
          <a:prstGeom prst="roundRect">
            <a:avLst>
              <a:gd name="adj" fmla="val 3031"/>
            </a:avLst>
          </a:prstGeom>
          <a:solidFill>
            <a:srgbClr val="F9D2D6"/>
          </a:solidFill>
          <a:ln/>
        </p:spPr>
      </p:sp>
      <p:sp>
        <p:nvSpPr>
          <p:cNvPr id="3" name="Text 1"/>
          <p:cNvSpPr/>
          <p:nvPr/>
        </p:nvSpPr>
        <p:spPr>
          <a:xfrm>
            <a:off x="760691" y="887809"/>
            <a:ext cx="2548866"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LA TAXONOMÍA DE PROBLEMAS</a:t>
            </a:r>
            <a:endParaRPr lang="en-US" sz="1000" dirty="0"/>
          </a:p>
        </p:txBody>
      </p:sp>
      <p:sp>
        <p:nvSpPr>
          <p:cNvPr id="4" name="Text 2"/>
          <p:cNvSpPr/>
          <p:nvPr/>
        </p:nvSpPr>
        <p:spPr>
          <a:xfrm>
            <a:off x="661475" y="1135856"/>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Razonamiento Simbólico</a:t>
            </a:r>
            <a:endParaRPr lang="en-US" sz="3250" dirty="0"/>
          </a:p>
        </p:txBody>
      </p:sp>
      <p:sp>
        <p:nvSpPr>
          <p:cNvPr id="5" name="Text 3"/>
          <p:cNvSpPr/>
          <p:nvPr/>
        </p:nvSpPr>
        <p:spPr>
          <a:xfrm>
            <a:off x="661475" y="1698823"/>
            <a:ext cx="10868745" cy="258465"/>
          </a:xfrm>
          <a:prstGeom prst="rect">
            <a:avLst/>
          </a:prstGeom>
          <a:noFill/>
          <a:ln/>
        </p:spPr>
        <p:txBody>
          <a:bodyPr wrap="none" lIns="0" tIns="0" rIns="0" bIns="0" rtlCol="0" anchor="t"/>
          <a:lstStyle/>
          <a:p>
            <a:pPr algn="l" indent="0" marL="0">
              <a:lnSpc>
                <a:spcPct val="104000"/>
              </a:lnSpc>
              <a:buNone/>
            </a:pPr>
            <a:r>
              <a:rPr lang="en-US" sz="1600" dirty="0">
                <a:solidFill>
                  <a:srgbClr val="1F1E1E"/>
                </a:solidFill>
                <a:latin typeface="Roboto Mono Medium" pitchFamily="34" charset="0"/>
                <a:ea typeface="Roboto Mono Medium" pitchFamily="34" charset="-122"/>
                <a:cs typeface="Roboto Mono Medium" pitchFamily="34" charset="-120"/>
              </a:rPr>
              <a:t>Manipular símbolos y reglas explícitas para derivar conclusiones lógicas. </a:t>
            </a:r>
            <a:endParaRPr lang="en-US" sz="1600" dirty="0"/>
          </a:p>
        </p:txBody>
      </p:sp>
      <p:sp>
        <p:nvSpPr>
          <p:cNvPr id="6" name="Text 4"/>
          <p:cNvSpPr/>
          <p:nvPr/>
        </p:nvSpPr>
        <p:spPr>
          <a:xfrm>
            <a:off x="661475" y="2130921"/>
            <a:ext cx="10868745" cy="449858"/>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A diferencia del aprendizaje estadístico, el razonamiento simbólico opera sobre representaciones explícitas del conocimiento: reglas IF–THEN, ontologías y lógica formal. Es interpretable, auditable y </a:t>
            </a:r>
            <a:pPr algn="l" indent="0" marL="0">
              <a:lnSpc>
                <a:spcPct val="113000"/>
              </a:lnSpc>
              <a:buNone/>
            </a:pPr>
            <a:r>
              <a:rPr lang="en-US" sz="1300" u="sng" dirty="0">
                <a:solidFill>
                  <a:srgbClr val="3B3535"/>
                </a:solidFill>
                <a:latin typeface="Roboto" pitchFamily="34" charset="0"/>
                <a:ea typeface="Roboto" pitchFamily="34" charset="-122"/>
                <a:cs typeface="Roboto" pitchFamily="34" charset="-120"/>
              </a:rPr>
              <a:t>determinista</a:t>
            </a:r>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.Sistemas expertos son la aplicacion practica de los mismos</a:t>
            </a:r>
            <a:endParaRPr lang="en-US" sz="1300" dirty="0"/>
          </a:p>
        </p:txBody>
      </p:sp>
      <p:sp>
        <p:nvSpPr>
          <p:cNvPr id="7" name="Text 5"/>
          <p:cNvSpPr/>
          <p:nvPr/>
        </p:nvSpPr>
        <p:spPr>
          <a:xfrm>
            <a:off x="661475" y="2754412"/>
            <a:ext cx="10868745" cy="258465"/>
          </a:xfrm>
          <a:prstGeom prst="rect">
            <a:avLst/>
          </a:prstGeom>
          <a:noFill/>
          <a:ln/>
        </p:spPr>
        <p:txBody>
          <a:bodyPr wrap="none" lIns="0" tIns="0" rIns="0" bIns="0" rtlCol="0" anchor="t"/>
          <a:lstStyle/>
          <a:p>
            <a:pPr algn="l" indent="0" marL="0">
              <a:lnSpc>
                <a:spcPct val="104000"/>
              </a:lnSpc>
              <a:buNone/>
            </a:pPr>
            <a:r>
              <a:rPr lang="en-US" sz="1600" dirty="0">
                <a:solidFill>
                  <a:srgbClr val="1F1E1E"/>
                </a:solidFill>
                <a:latin typeface="Roboto Mono Medium" pitchFamily="34" charset="0"/>
                <a:ea typeface="Roboto Mono Medium" pitchFamily="34" charset="-122"/>
                <a:cs typeface="Roboto Mono Medium" pitchFamily="34" charset="-120"/>
              </a:rPr>
              <a:t>Problemas típicos</a:t>
            </a:r>
            <a:endParaRPr lang="en-US" sz="160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3186509"/>
            <a:ext cx="413434" cy="413445"/>
          </a:xfrm>
          <a:prstGeom prst="rect">
            <a:avLst/>
          </a:prstGeom>
        </p:spPr>
      </p:pic>
      <p:sp>
        <p:nvSpPr>
          <p:cNvPr id="9" name="Text 6"/>
          <p:cNvSpPr/>
          <p:nvPr/>
        </p:nvSpPr>
        <p:spPr>
          <a:xfrm>
            <a:off x="1219566" y="3186509"/>
            <a:ext cx="2968352" cy="516930"/>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Sistemas Expertos Médicos</a:t>
            </a:r>
            <a:endParaRPr lang="en-US" sz="1600" dirty="0"/>
          </a:p>
        </p:txBody>
      </p:sp>
      <p:sp>
        <p:nvSpPr>
          <p:cNvPr id="10" name="Text 7"/>
          <p:cNvSpPr/>
          <p:nvPr/>
        </p:nvSpPr>
        <p:spPr>
          <a:xfrm>
            <a:off x="1219566" y="3772892"/>
            <a:ext cx="2968352"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Diagnóstico basado en reglas clínicas</a:t>
            </a:r>
            <a:endParaRPr lang="en-US" sz="1300" dirty="0"/>
          </a:p>
        </p:txBody>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32576" y="3186509"/>
            <a:ext cx="413434" cy="413445"/>
          </a:xfrm>
          <a:prstGeom prst="rect">
            <a:avLst/>
          </a:prstGeom>
        </p:spPr>
      </p:pic>
      <p:sp>
        <p:nvSpPr>
          <p:cNvPr id="12" name="Text 8"/>
          <p:cNvSpPr/>
          <p:nvPr/>
        </p:nvSpPr>
        <p:spPr>
          <a:xfrm>
            <a:off x="4890667" y="3186509"/>
            <a:ext cx="2968352"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Validación Legal</a:t>
            </a:r>
            <a:endParaRPr lang="en-US" sz="1600" dirty="0"/>
          </a:p>
        </p:txBody>
      </p:sp>
      <p:sp>
        <p:nvSpPr>
          <p:cNvPr id="13" name="Text 9"/>
          <p:cNvSpPr/>
          <p:nvPr/>
        </p:nvSpPr>
        <p:spPr>
          <a:xfrm>
            <a:off x="4890667" y="3514427"/>
            <a:ext cx="2968352" cy="449858"/>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Verificación automática de cumplimiento normativo</a:t>
            </a:r>
            <a:endParaRPr lang="en-US" sz="1300" dirty="0"/>
          </a:p>
        </p:txBody>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3677" y="3186509"/>
            <a:ext cx="413434" cy="413445"/>
          </a:xfrm>
          <a:prstGeom prst="rect">
            <a:avLst/>
          </a:prstGeom>
        </p:spPr>
      </p:pic>
      <p:sp>
        <p:nvSpPr>
          <p:cNvPr id="15" name="Text 10"/>
          <p:cNvSpPr/>
          <p:nvPr/>
        </p:nvSpPr>
        <p:spPr>
          <a:xfrm>
            <a:off x="8561769" y="3186509"/>
            <a:ext cx="2968352"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Reglas de Negocio</a:t>
            </a:r>
            <a:endParaRPr lang="en-US" sz="1600" dirty="0"/>
          </a:p>
        </p:txBody>
      </p:sp>
      <p:sp>
        <p:nvSpPr>
          <p:cNvPr id="16" name="Text 11"/>
          <p:cNvSpPr/>
          <p:nvPr/>
        </p:nvSpPr>
        <p:spPr>
          <a:xfrm>
            <a:off x="8561769" y="3514427"/>
            <a:ext cx="2968352"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Decisiones de crédito · seguros</a:t>
            </a:r>
            <a:endParaRPr lang="en-US" sz="1300" dirty="0"/>
          </a:p>
        </p:txBody>
      </p:sp>
      <p:pic>
        <p:nvPicPr>
          <p:cNvPr id="1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4229298"/>
            <a:ext cx="413434" cy="413445"/>
          </a:xfrm>
          <a:prstGeom prst="rect">
            <a:avLst/>
          </a:prstGeom>
        </p:spPr>
      </p:pic>
      <p:sp>
        <p:nvSpPr>
          <p:cNvPr id="18" name="Text 12"/>
          <p:cNvSpPr/>
          <p:nvPr/>
        </p:nvSpPr>
        <p:spPr>
          <a:xfrm>
            <a:off x="1219566" y="4229298"/>
            <a:ext cx="2968352"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Grafos de Conocimiento</a:t>
            </a:r>
            <a:endParaRPr lang="en-US" sz="1600" dirty="0"/>
          </a:p>
        </p:txBody>
      </p:sp>
      <p:sp>
        <p:nvSpPr>
          <p:cNvPr id="19" name="Text 13"/>
          <p:cNvSpPr/>
          <p:nvPr/>
        </p:nvSpPr>
        <p:spPr>
          <a:xfrm>
            <a:off x="1219566" y="4557216"/>
            <a:ext cx="2968352"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Wikidata · Knowledge Graphs</a:t>
            </a:r>
            <a:endParaRPr lang="en-US" sz="1300" dirty="0"/>
          </a:p>
        </p:txBody>
      </p:sp>
      <p:pic>
        <p:nvPicPr>
          <p:cNvPr id="20"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32576" y="4229298"/>
            <a:ext cx="413434" cy="413445"/>
          </a:xfrm>
          <a:prstGeom prst="rect">
            <a:avLst/>
          </a:prstGeom>
        </p:spPr>
      </p:pic>
      <p:sp>
        <p:nvSpPr>
          <p:cNvPr id="21" name="Text 14"/>
          <p:cNvSpPr/>
          <p:nvPr/>
        </p:nvSpPr>
        <p:spPr>
          <a:xfrm>
            <a:off x="4890667" y="4229298"/>
            <a:ext cx="2968352"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Verificación Formal</a:t>
            </a:r>
            <a:endParaRPr lang="en-US" sz="1600" dirty="0"/>
          </a:p>
        </p:txBody>
      </p:sp>
      <p:sp>
        <p:nvSpPr>
          <p:cNvPr id="22" name="Text 15"/>
          <p:cNvSpPr/>
          <p:nvPr/>
        </p:nvSpPr>
        <p:spPr>
          <a:xfrm>
            <a:off x="4890667" y="4557216"/>
            <a:ext cx="2968352"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Demostración de propiedades de código</a:t>
            </a:r>
            <a:endParaRPr lang="en-US" sz="1300" dirty="0"/>
          </a:p>
        </p:txBody>
      </p:sp>
      <p:sp>
        <p:nvSpPr>
          <p:cNvPr id="23" name="Text 16"/>
          <p:cNvSpPr/>
          <p:nvPr/>
        </p:nvSpPr>
        <p:spPr>
          <a:xfrm>
            <a:off x="661475" y="4912320"/>
            <a:ext cx="11478330" cy="224929"/>
          </a:xfrm>
          <a:prstGeom prst="rect">
            <a:avLst/>
          </a:prstGeom>
          <a:noFill/>
          <a:ln/>
        </p:spPr>
        <p:txBody>
          <a:bodyPr wrap="none" lIns="0" tIns="0" rIns="0" bIns="0" rtlCol="0" anchor="t"/>
          <a:lstStyle/>
          <a:p>
            <a:pPr algn="l" indent="0" marL="0">
              <a:lnSpc>
                <a:spcPct val="113000"/>
              </a:lnSpc>
              <a:buNone/>
            </a:pPr>
            <a:r>
              <a:rPr lang="en-US" sz="1300" dirty="0">
                <a:solidFill>
                  <a:srgbClr val="000000"/>
                </a:solidFill>
                <a:latin typeface="Roboto" pitchFamily="34" charset="0"/>
                <a:ea typeface="Roboto" pitchFamily="34" charset="-122"/>
                <a:cs typeface="Roboto" pitchFamily="34" charset="-120"/>
              </a:rPr>
              <a:t>🔧</a:t>
            </a:r>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 Tools: Prolog · Drools · OWL / RDF / SPARQL · Neo4j · LLMs + Knowledge Graphs</a:t>
            </a:r>
            <a:endParaRPr lang="en-US" sz="1300" dirty="0"/>
          </a:p>
        </p:txBody>
      </p:sp>
      <p:sp>
        <p:nvSpPr>
          <p:cNvPr id="24" name="Shape 17"/>
          <p:cNvSpPr/>
          <p:nvPr/>
        </p:nvSpPr>
        <p:spPr>
          <a:xfrm>
            <a:off x="661475" y="5267424"/>
            <a:ext cx="10868745" cy="752277"/>
          </a:xfrm>
          <a:prstGeom prst="roundRect">
            <a:avLst>
              <a:gd name="adj" fmla="val 1013"/>
            </a:avLst>
          </a:prstGeom>
          <a:solidFill>
            <a:srgbClr val="F9D2D6"/>
          </a:solidFill>
          <a:ln/>
        </p:spPr>
      </p:sp>
      <p:pic>
        <p:nvPicPr>
          <p:cNvPr id="25" name="Image 5" descr="preencoded.png">    </p:cNvPr>
          <p:cNvPicPr>
            <a:picLocks noChangeAspect="1"/>
          </p:cNvPicPr>
          <p:nvPr/>
        </p:nvPicPr>
        <p:blipFill>
          <a:blip r:embed="rId11"/>
          <a:stretch>
            <a:fillRect/>
          </a:stretch>
        </p:blipFill>
        <p:spPr>
          <a:xfrm>
            <a:off x="826769" y="5488087"/>
            <a:ext cx="206667" cy="165298"/>
          </a:xfrm>
          <a:prstGeom prst="rect">
            <a:avLst/>
          </a:prstGeom>
        </p:spPr>
      </p:pic>
      <p:sp>
        <p:nvSpPr>
          <p:cNvPr id="26" name="Text 18"/>
          <p:cNvSpPr/>
          <p:nvPr/>
        </p:nvSpPr>
        <p:spPr>
          <a:xfrm>
            <a:off x="1198731" y="5424388"/>
            <a:ext cx="10166195" cy="449858"/>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000000"/>
                </a:solidFill>
                <a:latin typeface="Roboto" pitchFamily="34" charset="0"/>
                <a:ea typeface="Roboto" pitchFamily="34" charset="-122"/>
                <a:cs typeface="Roboto" pitchFamily="34" charset="-120"/>
              </a:rPr>
              <a:t>🏆</a:t>
            </a:r>
            <a:pPr algn="l" indent="0" marL="0">
              <a:lnSpc>
                <a:spcPct val="113000"/>
              </a:lnSpc>
              <a:buNone/>
            </a:pPr>
            <a:r>
              <a:rPr lang="en-US" sz="1300" dirty="0">
                <a:solidFill>
                  <a:srgbClr val="000000"/>
                </a:solidFill>
                <a:latin typeface="Roboto" pitchFamily="34" charset="0"/>
                <a:ea typeface="Roboto" pitchFamily="34" charset="-122"/>
                <a:cs typeface="Roboto" pitchFamily="34" charset="-120"/>
              </a:rPr>
              <a:t> Hito: En 1997, Deep Blue (IBM) venció a Garry Kasparov usando búsqueda simbólica y evaluación de posiciones — sin aprendizaje automático. Fue la primera victoria de una máquina sobre el campeón mundial de ajedrez.</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661475" y="1054001"/>
            <a:ext cx="2137714" cy="251420"/>
          </a:xfrm>
          <a:prstGeom prst="roundRect">
            <a:avLst>
              <a:gd name="adj" fmla="val 3031"/>
            </a:avLst>
          </a:prstGeom>
          <a:solidFill>
            <a:srgbClr val="F9D2D6"/>
          </a:solidFill>
          <a:ln/>
        </p:spPr>
      </p:sp>
      <p:sp>
        <p:nvSpPr>
          <p:cNvPr id="3" name="Text 1"/>
          <p:cNvSpPr/>
          <p:nvPr/>
        </p:nvSpPr>
        <p:spPr>
          <a:xfrm>
            <a:off x="760691" y="1103610"/>
            <a:ext cx="2548866"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LA TAXONOMÍA DE PROBLEMAS</a:t>
            </a:r>
            <a:endParaRPr lang="en-US" sz="1000" dirty="0"/>
          </a:p>
        </p:txBody>
      </p:sp>
      <p:sp>
        <p:nvSpPr>
          <p:cNvPr id="4" name="Text 2"/>
          <p:cNvSpPr/>
          <p:nvPr/>
        </p:nvSpPr>
        <p:spPr>
          <a:xfrm>
            <a:off x="661475" y="1351657"/>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Generación</a:t>
            </a:r>
            <a:endParaRPr lang="en-US" sz="3250" dirty="0"/>
          </a:p>
        </p:txBody>
      </p:sp>
      <p:sp>
        <p:nvSpPr>
          <p:cNvPr id="5" name="Text 3"/>
          <p:cNvSpPr/>
          <p:nvPr/>
        </p:nvSpPr>
        <p:spPr>
          <a:xfrm>
            <a:off x="661475" y="1914624"/>
            <a:ext cx="10868745" cy="258465"/>
          </a:xfrm>
          <a:prstGeom prst="rect">
            <a:avLst/>
          </a:prstGeom>
          <a:noFill/>
          <a:ln/>
        </p:spPr>
        <p:txBody>
          <a:bodyPr wrap="none" lIns="0" tIns="0" rIns="0" bIns="0" rtlCol="0" anchor="t"/>
          <a:lstStyle/>
          <a:p>
            <a:pPr algn="l" indent="0" marL="0">
              <a:lnSpc>
                <a:spcPct val="104000"/>
              </a:lnSpc>
              <a:buNone/>
            </a:pPr>
            <a:r>
              <a:rPr lang="en-US" sz="1600" dirty="0">
                <a:solidFill>
                  <a:srgbClr val="1F1E1E"/>
                </a:solidFill>
                <a:latin typeface="Roboto Mono Medium" pitchFamily="34" charset="0"/>
                <a:ea typeface="Roboto Mono Medium" pitchFamily="34" charset="-122"/>
                <a:cs typeface="Roboto Mono Medium" pitchFamily="34" charset="-120"/>
              </a:rPr>
              <a:t>Modelar la distribución de los datos y producir nuevas muestras coherentes</a:t>
            </a:r>
            <a:endParaRPr lang="en-US" sz="16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346722"/>
            <a:ext cx="413434" cy="413445"/>
          </a:xfrm>
          <a:prstGeom prst="rect">
            <a:avLst/>
          </a:prstGeom>
        </p:spPr>
      </p:pic>
      <p:sp>
        <p:nvSpPr>
          <p:cNvPr id="7" name="Text 4"/>
          <p:cNvSpPr/>
          <p:nvPr/>
        </p:nvSpPr>
        <p:spPr>
          <a:xfrm>
            <a:off x="1219566" y="2346722"/>
            <a:ext cx="2968352"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Texto</a:t>
            </a:r>
            <a:endParaRPr lang="en-US" sz="1600" dirty="0"/>
          </a:p>
        </p:txBody>
      </p:sp>
      <p:sp>
        <p:nvSpPr>
          <p:cNvPr id="8" name="Text 5"/>
          <p:cNvSpPr/>
          <p:nvPr/>
        </p:nvSpPr>
        <p:spPr>
          <a:xfrm>
            <a:off x="1219566" y="2674640"/>
            <a:ext cx="2968352" cy="449858"/>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Respuestas · resúmenes · traducción · código</a:t>
            </a:r>
            <a:endParaRPr lang="en-US" sz="13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32576" y="2346722"/>
            <a:ext cx="413434" cy="413445"/>
          </a:xfrm>
          <a:prstGeom prst="rect">
            <a:avLst/>
          </a:prstGeom>
        </p:spPr>
      </p:pic>
      <p:sp>
        <p:nvSpPr>
          <p:cNvPr id="10" name="Text 6"/>
          <p:cNvSpPr/>
          <p:nvPr/>
        </p:nvSpPr>
        <p:spPr>
          <a:xfrm>
            <a:off x="4890667" y="2346722"/>
            <a:ext cx="2968352"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Imágenes</a:t>
            </a:r>
            <a:endParaRPr lang="en-US" sz="1600" dirty="0"/>
          </a:p>
        </p:txBody>
      </p:sp>
      <p:sp>
        <p:nvSpPr>
          <p:cNvPr id="11" name="Text 7"/>
          <p:cNvSpPr/>
          <p:nvPr/>
        </p:nvSpPr>
        <p:spPr>
          <a:xfrm>
            <a:off x="4890667" y="2674640"/>
            <a:ext cx="2968352"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Arte · diseño · síntesis fotorrealista</a:t>
            </a:r>
            <a:endParaRPr lang="en-US" sz="13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3677" y="2346722"/>
            <a:ext cx="413434" cy="413445"/>
          </a:xfrm>
          <a:prstGeom prst="rect">
            <a:avLst/>
          </a:prstGeom>
        </p:spPr>
      </p:pic>
      <p:sp>
        <p:nvSpPr>
          <p:cNvPr id="13" name="Text 8"/>
          <p:cNvSpPr/>
          <p:nvPr/>
        </p:nvSpPr>
        <p:spPr>
          <a:xfrm>
            <a:off x="8561769" y="2346722"/>
            <a:ext cx="2968352"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Audio &amp; Música</a:t>
            </a:r>
            <a:endParaRPr lang="en-US" sz="1600" dirty="0"/>
          </a:p>
        </p:txBody>
      </p:sp>
      <p:sp>
        <p:nvSpPr>
          <p:cNvPr id="14" name="Text 9"/>
          <p:cNvSpPr/>
          <p:nvPr/>
        </p:nvSpPr>
        <p:spPr>
          <a:xfrm>
            <a:off x="8561769" y="2674640"/>
            <a:ext cx="2968352"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Voz sintética · composición musical</a:t>
            </a:r>
            <a:endParaRPr lang="en-US" sz="130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3355975"/>
            <a:ext cx="413434" cy="413445"/>
          </a:xfrm>
          <a:prstGeom prst="rect">
            <a:avLst/>
          </a:prstGeom>
        </p:spPr>
      </p:pic>
      <p:sp>
        <p:nvSpPr>
          <p:cNvPr id="16" name="Text 10"/>
          <p:cNvSpPr/>
          <p:nvPr/>
        </p:nvSpPr>
        <p:spPr>
          <a:xfrm>
            <a:off x="1219566" y="3355975"/>
            <a:ext cx="2968352"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Video</a:t>
            </a:r>
            <a:endParaRPr lang="en-US" sz="1600" dirty="0"/>
          </a:p>
        </p:txBody>
      </p:sp>
      <p:sp>
        <p:nvSpPr>
          <p:cNvPr id="17" name="Text 11"/>
          <p:cNvSpPr/>
          <p:nvPr/>
        </p:nvSpPr>
        <p:spPr>
          <a:xfrm>
            <a:off x="1219566" y="3683893"/>
            <a:ext cx="2968352"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Animación · síntesis de escenas</a:t>
            </a:r>
            <a:endParaRPr lang="en-US" sz="1300" dirty="0"/>
          </a:p>
        </p:txBody>
      </p:sp>
      <p:pic>
        <p:nvPicPr>
          <p:cNvPr id="18"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32576" y="3355975"/>
            <a:ext cx="413434" cy="413445"/>
          </a:xfrm>
          <a:prstGeom prst="rect">
            <a:avLst/>
          </a:prstGeom>
        </p:spPr>
      </p:pic>
      <p:sp>
        <p:nvSpPr>
          <p:cNvPr id="19" name="Text 12"/>
          <p:cNvSpPr/>
          <p:nvPr/>
        </p:nvSpPr>
        <p:spPr>
          <a:xfrm>
            <a:off x="4890667" y="3355975"/>
            <a:ext cx="2968352"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Moléculas</a:t>
            </a:r>
            <a:endParaRPr lang="en-US" sz="1600" dirty="0"/>
          </a:p>
        </p:txBody>
      </p:sp>
      <p:sp>
        <p:nvSpPr>
          <p:cNvPr id="20" name="Text 13"/>
          <p:cNvSpPr/>
          <p:nvPr/>
        </p:nvSpPr>
        <p:spPr>
          <a:xfrm>
            <a:off x="4890667" y="3683893"/>
            <a:ext cx="2968352"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Candidatos a fármacos (biomedicina)</a:t>
            </a:r>
            <a:endParaRPr lang="en-US" sz="1300" dirty="0"/>
          </a:p>
        </p:txBody>
      </p:sp>
      <p:sp>
        <p:nvSpPr>
          <p:cNvPr id="21" name="Text 14"/>
          <p:cNvSpPr/>
          <p:nvPr/>
        </p:nvSpPr>
        <p:spPr>
          <a:xfrm>
            <a:off x="661475" y="4038997"/>
            <a:ext cx="11478330" cy="224929"/>
          </a:xfrm>
          <a:prstGeom prst="rect">
            <a:avLst/>
          </a:prstGeom>
          <a:noFill/>
          <a:ln/>
        </p:spPr>
        <p:txBody>
          <a:bodyPr wrap="none" lIns="0" tIns="0" rIns="0" bIns="0" rtlCol="0" anchor="t"/>
          <a:lstStyle/>
          <a:p>
            <a:pPr algn="l" indent="0" marL="0">
              <a:lnSpc>
                <a:spcPct val="113000"/>
              </a:lnSpc>
              <a:buNone/>
            </a:pPr>
            <a:r>
              <a:rPr lang="en-US" sz="1300" dirty="0">
                <a:solidFill>
                  <a:srgbClr val="000000"/>
                </a:solidFill>
                <a:latin typeface="Roboto" pitchFamily="34" charset="0"/>
                <a:ea typeface="Roboto" pitchFamily="34" charset="-122"/>
                <a:cs typeface="Roboto" pitchFamily="34" charset="-120"/>
              </a:rPr>
              <a:t>🔧</a:t>
            </a:r>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 Tools: GPT-4 · Claude · Gemini · Stable Diffusion · DALL·E · GitHub Copilot · Suno · AlphaFold</a:t>
            </a:r>
            <a:endParaRPr lang="en-US" sz="1300" dirty="0"/>
          </a:p>
        </p:txBody>
      </p:sp>
      <p:sp>
        <p:nvSpPr>
          <p:cNvPr id="22" name="Shape 15"/>
          <p:cNvSpPr/>
          <p:nvPr/>
        </p:nvSpPr>
        <p:spPr>
          <a:xfrm>
            <a:off x="661475" y="4394101"/>
            <a:ext cx="10868745" cy="527348"/>
          </a:xfrm>
          <a:prstGeom prst="roundRect">
            <a:avLst>
              <a:gd name="adj" fmla="val 1445"/>
            </a:avLst>
          </a:prstGeom>
          <a:solidFill>
            <a:srgbClr val="F9D2D6"/>
          </a:solidFill>
          <a:ln/>
        </p:spPr>
      </p:sp>
      <p:pic>
        <p:nvPicPr>
          <p:cNvPr id="23" name="Image 5" descr="preencoded.png">    </p:cNvPr>
          <p:cNvPicPr>
            <a:picLocks noChangeAspect="1"/>
          </p:cNvPicPr>
          <p:nvPr/>
        </p:nvPicPr>
        <p:blipFill>
          <a:blip r:embed="rId11"/>
          <a:stretch>
            <a:fillRect/>
          </a:stretch>
        </p:blipFill>
        <p:spPr>
          <a:xfrm>
            <a:off x="826769" y="4614763"/>
            <a:ext cx="206667" cy="165298"/>
          </a:xfrm>
          <a:prstGeom prst="rect">
            <a:avLst/>
          </a:prstGeom>
        </p:spPr>
      </p:pic>
      <p:sp>
        <p:nvSpPr>
          <p:cNvPr id="24" name="Text 16"/>
          <p:cNvSpPr/>
          <p:nvPr/>
        </p:nvSpPr>
        <p:spPr>
          <a:xfrm>
            <a:off x="1198731" y="4551065"/>
            <a:ext cx="10775780" cy="224929"/>
          </a:xfrm>
          <a:prstGeom prst="rect">
            <a:avLst/>
          </a:prstGeom>
          <a:noFill/>
          <a:ln/>
        </p:spPr>
        <p:txBody>
          <a:bodyPr wrap="none" lIns="0" tIns="0" rIns="0" bIns="0" rtlCol="0" anchor="t"/>
          <a:lstStyle/>
          <a:p>
            <a:pPr algn="l" indent="0" marL="0">
              <a:lnSpc>
                <a:spcPct val="113000"/>
              </a:lnSpc>
              <a:buNone/>
            </a:pPr>
            <a:r>
              <a:rPr lang="en-US" sz="1300" dirty="0">
                <a:solidFill>
                  <a:srgbClr val="000000"/>
                </a:solidFill>
                <a:latin typeface="Roboto" pitchFamily="34" charset="0"/>
                <a:ea typeface="Roboto" pitchFamily="34" charset="-122"/>
                <a:cs typeface="Roboto" pitchFamily="34" charset="-120"/>
              </a:rPr>
              <a:t>Arquitecturas: Transformer · Diffusion Models · VAE · GAN — todas modelan P(X) o P(Y|X)</a:t>
            </a:r>
            <a:endParaRPr lang="en-US" sz="1300" dirty="0"/>
          </a:p>
        </p:txBody>
      </p:sp>
      <p:sp>
        <p:nvSpPr>
          <p:cNvPr id="25" name="Shape 17"/>
          <p:cNvSpPr/>
          <p:nvPr/>
        </p:nvSpPr>
        <p:spPr>
          <a:xfrm>
            <a:off x="661475" y="5051623"/>
            <a:ext cx="10868745" cy="752277"/>
          </a:xfrm>
          <a:prstGeom prst="roundRect">
            <a:avLst>
              <a:gd name="adj" fmla="val 1013"/>
            </a:avLst>
          </a:prstGeom>
          <a:solidFill>
            <a:srgbClr val="F9D2D6"/>
          </a:solidFill>
          <a:ln/>
        </p:spPr>
      </p:sp>
      <p:pic>
        <p:nvPicPr>
          <p:cNvPr id="26" name="Image 6" descr="preencoded.png">    </p:cNvPr>
          <p:cNvPicPr>
            <a:picLocks noChangeAspect="1"/>
          </p:cNvPicPr>
          <p:nvPr/>
        </p:nvPicPr>
        <p:blipFill>
          <a:blip r:embed="rId12"/>
          <a:stretch>
            <a:fillRect/>
          </a:stretch>
        </p:blipFill>
        <p:spPr>
          <a:xfrm>
            <a:off x="826769" y="5272286"/>
            <a:ext cx="206667" cy="165298"/>
          </a:xfrm>
          <a:prstGeom prst="rect">
            <a:avLst/>
          </a:prstGeom>
        </p:spPr>
      </p:pic>
      <p:sp>
        <p:nvSpPr>
          <p:cNvPr id="27" name="Text 18"/>
          <p:cNvSpPr/>
          <p:nvPr/>
        </p:nvSpPr>
        <p:spPr>
          <a:xfrm>
            <a:off x="1198731" y="5208588"/>
            <a:ext cx="10166195" cy="449858"/>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000000"/>
                </a:solidFill>
                <a:latin typeface="Roboto" pitchFamily="34" charset="0"/>
                <a:ea typeface="Roboto" pitchFamily="34" charset="-122"/>
                <a:cs typeface="Roboto" pitchFamily="34" charset="-120"/>
              </a:rPr>
              <a:t>🏆</a:t>
            </a:r>
            <a:pPr algn="l" indent="0" marL="0">
              <a:lnSpc>
                <a:spcPct val="113000"/>
              </a:lnSpc>
              <a:buNone/>
            </a:pPr>
            <a:r>
              <a:rPr lang="en-US" sz="1300" dirty="0">
                <a:solidFill>
                  <a:srgbClr val="000000"/>
                </a:solidFill>
                <a:latin typeface="Roboto" pitchFamily="34" charset="0"/>
                <a:ea typeface="Roboto" pitchFamily="34" charset="-122"/>
                <a:cs typeface="Roboto" pitchFamily="34" charset="-120"/>
              </a:rPr>
              <a:t> Hito: En noviembre de 2022, ChatGPT alcanzó 100 millones de usuarios en solo 2 meses — el producto de mayor crecimiento en la historia. La IA generativa pasó de laboratorio a fenómeno global.</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661475" y="689471"/>
            <a:ext cx="1191984" cy="215205"/>
          </a:xfrm>
          <a:prstGeom prst="roundRect">
            <a:avLst>
              <a:gd name="adj" fmla="val 3541"/>
            </a:avLst>
          </a:prstGeom>
          <a:solidFill>
            <a:srgbClr val="F9D2D6"/>
          </a:solidFill>
          <a:ln/>
        </p:spPr>
      </p:sp>
      <p:sp>
        <p:nvSpPr>
          <p:cNvPr id="3" name="Text 1"/>
          <p:cNvSpPr/>
          <p:nvPr/>
        </p:nvSpPr>
        <p:spPr>
          <a:xfrm>
            <a:off x="746404" y="731937"/>
            <a:ext cx="1631711" cy="130274"/>
          </a:xfrm>
          <a:prstGeom prst="rect">
            <a:avLst/>
          </a:prstGeom>
          <a:noFill/>
          <a:ln/>
        </p:spPr>
        <p:txBody>
          <a:bodyPr wrap="none" lIns="0" tIns="0" rIns="0" bIns="0" rtlCol="0" anchor="t"/>
          <a:lstStyle/>
          <a:p>
            <a:pPr algn="l" indent="0" marL="0">
              <a:lnSpc>
                <a:spcPct val="96000"/>
              </a:lnSpc>
              <a:buNone/>
            </a:pPr>
            <a:r>
              <a:rPr lang="en-US" sz="850" dirty="0">
                <a:solidFill>
                  <a:srgbClr val="3B3535"/>
                </a:solidFill>
                <a:latin typeface="Roboto" pitchFamily="34" charset="0"/>
                <a:ea typeface="Roboto" pitchFamily="34" charset="-122"/>
                <a:cs typeface="Roboto" pitchFamily="34" charset="-120"/>
              </a:rPr>
              <a:t>CONCEPTOS CLAVE</a:t>
            </a:r>
            <a:endParaRPr lang="en-US" sz="850" dirty="0"/>
          </a:p>
        </p:txBody>
      </p:sp>
      <p:sp>
        <p:nvSpPr>
          <p:cNvPr id="4" name="Text 2"/>
          <p:cNvSpPr/>
          <p:nvPr/>
        </p:nvSpPr>
        <p:spPr>
          <a:xfrm>
            <a:off x="661475" y="938609"/>
            <a:ext cx="10868745" cy="442317"/>
          </a:xfrm>
          <a:prstGeom prst="rect">
            <a:avLst/>
          </a:prstGeom>
          <a:noFill/>
          <a:ln/>
        </p:spPr>
        <p:txBody>
          <a:bodyPr wrap="none" lIns="0" tIns="0" rIns="0" bIns="0" rtlCol="0" anchor="t"/>
          <a:lstStyle/>
          <a:p>
            <a:pPr algn="l" indent="0" marL="0">
              <a:lnSpc>
                <a:spcPct val="104000"/>
              </a:lnSpc>
              <a:buNone/>
            </a:pPr>
            <a:r>
              <a:rPr lang="en-US" sz="2750" dirty="0">
                <a:solidFill>
                  <a:srgbClr val="1F1E1E"/>
                </a:solidFill>
                <a:latin typeface="Roboto Mono Medium" pitchFamily="34" charset="0"/>
                <a:ea typeface="Roboto Mono Medium" pitchFamily="34" charset="-122"/>
                <a:cs typeface="Roboto Mono Medium" pitchFamily="34" charset="-120"/>
              </a:rPr>
              <a:t>LLMs, Foundation Models y Multimodal</a:t>
            </a:r>
            <a:endParaRPr lang="en-US" sz="2750" dirty="0"/>
          </a:p>
        </p:txBody>
      </p:sp>
      <p:sp>
        <p:nvSpPr>
          <p:cNvPr id="5" name="Text 3"/>
          <p:cNvSpPr/>
          <p:nvPr/>
        </p:nvSpPr>
        <p:spPr>
          <a:xfrm>
            <a:off x="661475" y="1414859"/>
            <a:ext cx="10868745" cy="221258"/>
          </a:xfrm>
          <a:prstGeom prst="rect">
            <a:avLst/>
          </a:prstGeom>
          <a:noFill/>
          <a:ln/>
        </p:spPr>
        <p:txBody>
          <a:bodyPr wrap="none" lIns="0" tIns="0" rIns="0" bIns="0" rtlCol="0" anchor="t"/>
          <a:lstStyle/>
          <a:p>
            <a:pPr algn="l" indent="0" marL="0">
              <a:lnSpc>
                <a:spcPct val="104000"/>
              </a:lnSpc>
              <a:buNone/>
            </a:pPr>
            <a:endParaRPr lang="en-US" sz="1350" dirty="0"/>
          </a:p>
        </p:txBody>
      </p:sp>
      <p:sp>
        <p:nvSpPr>
          <p:cNvPr id="6" name="Text 4"/>
          <p:cNvSpPr/>
          <p:nvPr/>
        </p:nvSpPr>
        <p:spPr>
          <a:xfrm>
            <a:off x="661475" y="1848148"/>
            <a:ext cx="2458182" cy="221258"/>
          </a:xfrm>
          <a:prstGeom prst="rect">
            <a:avLst/>
          </a:prstGeom>
          <a:noFill/>
          <a:ln/>
        </p:spPr>
        <p:txBody>
          <a:bodyPr wrap="none" lIns="0" tIns="0" rIns="0" bIns="0" rtlCol="0" anchor="t"/>
          <a:lstStyle/>
          <a:p>
            <a:pPr algn="l" indent="0" marL="0">
              <a:lnSpc>
                <a:spcPct val="104000"/>
              </a:lnSpc>
              <a:buNone/>
            </a:pPr>
            <a:r>
              <a:rPr lang="en-US" sz="1350" dirty="0">
                <a:solidFill>
                  <a:srgbClr val="1F1E1E"/>
                </a:solidFill>
                <a:latin typeface="Roboto Mono Medium" pitchFamily="34" charset="0"/>
                <a:ea typeface="Roboto Mono Medium" pitchFamily="34" charset="-122"/>
                <a:cs typeface="Roboto Mono Medium" pitchFamily="34" charset="-120"/>
              </a:rPr>
              <a:t>Language Models</a:t>
            </a:r>
            <a:endParaRPr lang="en-US" sz="1350" dirty="0"/>
          </a:p>
        </p:txBody>
      </p:sp>
      <p:sp>
        <p:nvSpPr>
          <p:cNvPr id="7" name="Text 5"/>
          <p:cNvSpPr/>
          <p:nvPr/>
        </p:nvSpPr>
        <p:spPr>
          <a:xfrm>
            <a:off x="661475" y="2154238"/>
            <a:ext cx="2458182" cy="724297"/>
          </a:xfrm>
          <a:prstGeom prst="rect">
            <a:avLst/>
          </a:prstGeom>
          <a:noFill/>
          <a:ln/>
        </p:spPr>
        <p:txBody>
          <a:bodyPr wrap="square" lIns="0" tIns="0" rIns="0" bIns="0" rtlCol="0" anchor="t">
            <a:normAutofit/>
          </a:bodyPr>
          <a:lstStyle/>
          <a:p>
            <a:pPr algn="l" indent="0" marL="0">
              <a:lnSpc>
                <a:spcPct val="107000"/>
              </a:lnSpc>
              <a:buNone/>
            </a:pPr>
            <a:r>
              <a:rPr lang="en-US" sz="1100" dirty="0">
                <a:solidFill>
                  <a:srgbClr val="3B3535"/>
                </a:solidFill>
                <a:latin typeface="Roboto" pitchFamily="34" charset="0"/>
                <a:ea typeface="Roboto" pitchFamily="34" charset="-122"/>
                <a:cs typeface="Roboto" pitchFamily="34" charset="-120"/>
              </a:rPr>
              <a:t>Un modelo que asigna probabilidades a secuencias de palabras. Dado un contexto, predice cuál es la siguiente palabra más probable.</a:t>
            </a:r>
            <a:endParaRPr lang="en-US" sz="1100" dirty="0"/>
          </a:p>
        </p:txBody>
      </p:sp>
      <p:sp>
        <p:nvSpPr>
          <p:cNvPr id="8" name="Shape 6"/>
          <p:cNvSpPr/>
          <p:nvPr/>
        </p:nvSpPr>
        <p:spPr>
          <a:xfrm>
            <a:off x="661475" y="3009205"/>
            <a:ext cx="2458182" cy="19050"/>
          </a:xfrm>
          <a:prstGeom prst="roundRect">
            <a:avLst>
              <a:gd name="adj" fmla="val 49999"/>
            </a:avLst>
          </a:prstGeom>
          <a:solidFill>
            <a:srgbClr val="3B3535">
              <a:alpha val="50000"/>
            </a:srgbClr>
          </a:solidFill>
          <a:ln/>
        </p:spPr>
      </p:sp>
      <p:sp>
        <p:nvSpPr>
          <p:cNvPr id="9" name="Text 7"/>
          <p:cNvSpPr/>
          <p:nvPr/>
        </p:nvSpPr>
        <p:spPr>
          <a:xfrm>
            <a:off x="661475" y="3158927"/>
            <a:ext cx="3067767" cy="181074"/>
          </a:xfrm>
          <a:prstGeom prst="rect">
            <a:avLst/>
          </a:prstGeom>
          <a:noFill/>
          <a:ln/>
        </p:spPr>
        <p:txBody>
          <a:bodyPr wrap="none" lIns="0" tIns="0" rIns="0" bIns="0" rtlCol="0" anchor="t"/>
          <a:lstStyle/>
          <a:p>
            <a:pPr algn="l" indent="0" marL="0">
              <a:lnSpc>
                <a:spcPct val="107000"/>
              </a:lnSpc>
              <a:buNone/>
            </a:pPr>
            <a:r>
              <a:rPr lang="en-US" sz="1100" b="1" dirty="0">
                <a:solidFill>
                  <a:srgbClr val="3B3535"/>
                </a:solidFill>
                <a:latin typeface="Roboto Bold" pitchFamily="34" charset="0"/>
                <a:ea typeface="Roboto Bold" pitchFamily="34" charset="-122"/>
                <a:cs typeface="Roboto Bold" pitchFamily="34" charset="-120"/>
              </a:rPr>
              <a:t>Características:</a:t>
            </a:r>
            <a:endParaRPr lang="en-US" sz="1100" dirty="0"/>
          </a:p>
        </p:txBody>
      </p:sp>
      <p:sp>
        <p:nvSpPr>
          <p:cNvPr id="10" name="Text 8"/>
          <p:cNvSpPr/>
          <p:nvPr/>
        </p:nvSpPr>
        <p:spPr>
          <a:xfrm>
            <a:off x="661475" y="3416300"/>
            <a:ext cx="2458182" cy="964704"/>
          </a:xfrm>
          <a:prstGeom prst="rect">
            <a:avLst/>
          </a:prstGeom>
          <a:noFill/>
          <a:ln/>
        </p:spPr>
        <p:txBody>
          <a:bodyPr wrap="square" lIns="0" tIns="0" rIns="0" bIns="0" rtlCol="0" anchor="t">
            <a:normAutofit/>
          </a:bodyPr>
          <a:lstStyle/>
          <a:p>
            <a:pPr algn="l" marL="223520" indent="-223520">
              <a:lnSpc>
                <a:spcPct val="107000"/>
              </a:lnSpc>
              <a:buSzPct val="100000"/>
              <a:buChar char="•"/>
            </a:pPr>
            <a:r>
              <a:rPr lang="en-US" sz="1100" dirty="0">
                <a:solidFill>
                  <a:srgbClr val="3B3535"/>
                </a:solidFill>
                <a:latin typeface="Roboto" pitchFamily="34" charset="0"/>
                <a:ea typeface="Roboto" pitchFamily="34" charset="-122"/>
                <a:cs typeface="Roboto" pitchFamily="34" charset="-120"/>
              </a:rPr>
              <a:t>Existen desde los años 1950</a:t>
            </a:r>
            <a:endParaRPr lang="en-US" sz="1100" dirty="0"/>
          </a:p>
          <a:p>
            <a:pPr algn="l" marL="223520" indent="-223520">
              <a:lnSpc>
                <a:spcPct val="107000"/>
              </a:lnSpc>
              <a:buSzPct val="100000"/>
              <a:buChar char="•"/>
            </a:pPr>
            <a:r>
              <a:rPr lang="en-US" sz="1100" dirty="0">
                <a:solidFill>
                  <a:srgbClr val="3B3535"/>
                </a:solidFill>
                <a:latin typeface="Roboto" pitchFamily="34" charset="0"/>
                <a:ea typeface="Roboto" pitchFamily="34" charset="-122"/>
                <a:cs typeface="Roboto" pitchFamily="34" charset="-120"/>
              </a:rPr>
              <a:t>Basados en la idea: P(palabra | contexto)</a:t>
            </a:r>
            <a:endParaRPr lang="en-US" sz="1100" dirty="0"/>
          </a:p>
          <a:p>
            <a:pPr algn="l" marL="223520" indent="-223520">
              <a:lnSpc>
                <a:spcPct val="107000"/>
              </a:lnSpc>
              <a:buSzPct val="100000"/>
              <a:buChar char="•"/>
            </a:pPr>
            <a:r>
              <a:rPr lang="en-US" sz="1100" dirty="0">
                <a:solidFill>
                  <a:srgbClr val="3B3535"/>
                </a:solidFill>
                <a:latin typeface="Roboto" pitchFamily="34" charset="0"/>
                <a:ea typeface="Roboto" pitchFamily="34" charset="-122"/>
                <a:cs typeface="Roboto" pitchFamily="34" charset="-120"/>
              </a:rPr>
              <a:t>Primero estadísticos (n-gramas), luego neuronales</a:t>
            </a:r>
            <a:endParaRPr lang="en-US" sz="1100" dirty="0"/>
          </a:p>
        </p:txBody>
      </p:sp>
      <p:sp>
        <p:nvSpPr>
          <p:cNvPr id="11" name="Text 9"/>
          <p:cNvSpPr/>
          <p:nvPr/>
        </p:nvSpPr>
        <p:spPr>
          <a:xfrm>
            <a:off x="661475" y="4457303"/>
            <a:ext cx="2458182" cy="362148"/>
          </a:xfrm>
          <a:prstGeom prst="rect">
            <a:avLst/>
          </a:prstGeom>
          <a:noFill/>
          <a:ln/>
        </p:spPr>
        <p:txBody>
          <a:bodyPr wrap="square" lIns="0" tIns="0" rIns="0" bIns="0" rtlCol="0" anchor="t">
            <a:normAutofit/>
          </a:bodyPr>
          <a:lstStyle/>
          <a:p>
            <a:pPr algn="l" indent="0" marL="0">
              <a:lnSpc>
                <a:spcPct val="107000"/>
              </a:lnSpc>
              <a:buNone/>
            </a:pPr>
            <a:r>
              <a:rPr lang="en-US" sz="1100" b="1" dirty="0">
                <a:solidFill>
                  <a:srgbClr val="3B3535"/>
                </a:solidFill>
                <a:latin typeface="Roboto Bold" pitchFamily="34" charset="0"/>
                <a:ea typeface="Roboto Bold" pitchFamily="34" charset="-122"/>
                <a:cs typeface="Roboto Bold" pitchFamily="34" charset="-120"/>
              </a:rPr>
              <a:t>Ejemplos:</a:t>
            </a:r>
            <a:pPr algn="l" indent="0" marL="0">
              <a:lnSpc>
                <a:spcPct val="107000"/>
              </a:lnSpc>
              <a:buNone/>
            </a:pPr>
            <a:r>
              <a:rPr lang="en-US" sz="1100" dirty="0">
                <a:solidFill>
                  <a:srgbClr val="3B3535"/>
                </a:solidFill>
                <a:latin typeface="Roboto" pitchFamily="34" charset="0"/>
                <a:ea typeface="Roboto" pitchFamily="34" charset="-122"/>
                <a:cs typeface="Roboto" pitchFamily="34" charset="-120"/>
              </a:rPr>
              <a:t> N-gramas · Shannon (1948) · Modelos de Markov · RNNs</a:t>
            </a:r>
            <a:endParaRPr lang="en-US" sz="1100" dirty="0"/>
          </a:p>
        </p:txBody>
      </p:sp>
      <p:sp>
        <p:nvSpPr>
          <p:cNvPr id="12" name="Text 10"/>
          <p:cNvSpPr/>
          <p:nvPr/>
        </p:nvSpPr>
        <p:spPr>
          <a:xfrm>
            <a:off x="3471280" y="1848148"/>
            <a:ext cx="2458182" cy="221258"/>
          </a:xfrm>
          <a:prstGeom prst="rect">
            <a:avLst/>
          </a:prstGeom>
          <a:noFill/>
          <a:ln/>
        </p:spPr>
        <p:txBody>
          <a:bodyPr wrap="none" lIns="0" tIns="0" rIns="0" bIns="0" rtlCol="0" anchor="t"/>
          <a:lstStyle/>
          <a:p>
            <a:pPr algn="l" indent="0" marL="0">
              <a:lnSpc>
                <a:spcPct val="104000"/>
              </a:lnSpc>
              <a:buNone/>
            </a:pPr>
            <a:r>
              <a:rPr lang="en-US" sz="1350" dirty="0">
                <a:solidFill>
                  <a:srgbClr val="1F1E1E"/>
                </a:solidFill>
                <a:latin typeface="Roboto Mono Medium" pitchFamily="34" charset="0"/>
                <a:ea typeface="Roboto Mono Medium" pitchFamily="34" charset="-122"/>
                <a:cs typeface="Roboto Mono Medium" pitchFamily="34" charset="-120"/>
              </a:rPr>
              <a:t>Foundation Model</a:t>
            </a:r>
            <a:endParaRPr lang="en-US" sz="1350" dirty="0"/>
          </a:p>
        </p:txBody>
      </p:sp>
      <p:sp>
        <p:nvSpPr>
          <p:cNvPr id="13" name="Text 11"/>
          <p:cNvSpPr/>
          <p:nvPr/>
        </p:nvSpPr>
        <p:spPr>
          <a:xfrm>
            <a:off x="3471280" y="2154238"/>
            <a:ext cx="2458182" cy="905371"/>
          </a:xfrm>
          <a:prstGeom prst="rect">
            <a:avLst/>
          </a:prstGeom>
          <a:noFill/>
          <a:ln/>
        </p:spPr>
        <p:txBody>
          <a:bodyPr wrap="square" lIns="0" tIns="0" rIns="0" bIns="0" rtlCol="0" anchor="t">
            <a:normAutofit/>
          </a:bodyPr>
          <a:lstStyle/>
          <a:p>
            <a:pPr algn="l" indent="0" marL="0">
              <a:lnSpc>
                <a:spcPct val="107000"/>
              </a:lnSpc>
              <a:buNone/>
            </a:pPr>
            <a:r>
              <a:rPr lang="en-US" sz="1100" dirty="0">
                <a:solidFill>
                  <a:srgbClr val="3B3535"/>
                </a:solidFill>
                <a:latin typeface="Roboto" pitchFamily="34" charset="0"/>
                <a:ea typeface="Roboto" pitchFamily="34" charset="-122"/>
                <a:cs typeface="Roboto" pitchFamily="34" charset="-120"/>
              </a:rPr>
              <a:t>Un modelo entrenado a escala masiva sobre datos generales, que puede adaptarse a múltiples tareas con poco o ningún reentrenamiento (fine-tuning o prompting).</a:t>
            </a:r>
            <a:endParaRPr lang="en-US" sz="1100" dirty="0"/>
          </a:p>
        </p:txBody>
      </p:sp>
      <p:sp>
        <p:nvSpPr>
          <p:cNvPr id="14" name="Shape 12"/>
          <p:cNvSpPr/>
          <p:nvPr/>
        </p:nvSpPr>
        <p:spPr>
          <a:xfrm>
            <a:off x="3471280" y="3190280"/>
            <a:ext cx="2458182" cy="19050"/>
          </a:xfrm>
          <a:prstGeom prst="roundRect">
            <a:avLst>
              <a:gd name="adj" fmla="val 49999"/>
            </a:avLst>
          </a:prstGeom>
          <a:solidFill>
            <a:srgbClr val="3B3535">
              <a:alpha val="50000"/>
            </a:srgbClr>
          </a:solidFill>
          <a:ln/>
        </p:spPr>
      </p:sp>
      <p:sp>
        <p:nvSpPr>
          <p:cNvPr id="15" name="Text 13"/>
          <p:cNvSpPr/>
          <p:nvPr/>
        </p:nvSpPr>
        <p:spPr>
          <a:xfrm>
            <a:off x="3471280" y="3340001"/>
            <a:ext cx="3067767" cy="181074"/>
          </a:xfrm>
          <a:prstGeom prst="rect">
            <a:avLst/>
          </a:prstGeom>
          <a:noFill/>
          <a:ln/>
        </p:spPr>
        <p:txBody>
          <a:bodyPr wrap="none" lIns="0" tIns="0" rIns="0" bIns="0" rtlCol="0" anchor="t"/>
          <a:lstStyle/>
          <a:p>
            <a:pPr algn="l" indent="0" marL="0">
              <a:lnSpc>
                <a:spcPct val="107000"/>
              </a:lnSpc>
              <a:buNone/>
            </a:pPr>
            <a:r>
              <a:rPr lang="en-US" sz="1100" b="1" dirty="0">
                <a:solidFill>
                  <a:srgbClr val="3B3535"/>
                </a:solidFill>
                <a:latin typeface="Roboto Bold" pitchFamily="34" charset="0"/>
                <a:ea typeface="Roboto Bold" pitchFamily="34" charset="-122"/>
                <a:cs typeface="Roboto Bold" pitchFamily="34" charset="-120"/>
              </a:rPr>
              <a:t>Características:</a:t>
            </a:r>
            <a:endParaRPr lang="en-US" sz="1100" dirty="0"/>
          </a:p>
        </p:txBody>
      </p:sp>
      <p:sp>
        <p:nvSpPr>
          <p:cNvPr id="16" name="Text 14"/>
          <p:cNvSpPr/>
          <p:nvPr/>
        </p:nvSpPr>
        <p:spPr>
          <a:xfrm>
            <a:off x="3471280" y="3597374"/>
            <a:ext cx="2458182" cy="783630"/>
          </a:xfrm>
          <a:prstGeom prst="rect">
            <a:avLst/>
          </a:prstGeom>
          <a:noFill/>
          <a:ln/>
        </p:spPr>
        <p:txBody>
          <a:bodyPr wrap="square" lIns="0" tIns="0" rIns="0" bIns="0" rtlCol="0" anchor="t">
            <a:normAutofit/>
          </a:bodyPr>
          <a:lstStyle/>
          <a:p>
            <a:pPr algn="l" marL="223520" indent="-223520">
              <a:lnSpc>
                <a:spcPct val="107000"/>
              </a:lnSpc>
              <a:buSzPct val="100000"/>
              <a:buChar char="•"/>
            </a:pPr>
            <a:r>
              <a:rPr lang="en-US" sz="1100" dirty="0">
                <a:solidFill>
                  <a:srgbClr val="3B3535"/>
                </a:solidFill>
                <a:latin typeface="Roboto" pitchFamily="34" charset="0"/>
                <a:ea typeface="Roboto" pitchFamily="34" charset="-122"/>
                <a:cs typeface="Roboto" pitchFamily="34" charset="-120"/>
              </a:rPr>
              <a:t>Entrenado con billones de tokens</a:t>
            </a:r>
            <a:endParaRPr lang="en-US" sz="1100" dirty="0"/>
          </a:p>
          <a:p>
            <a:pPr algn="l" marL="223520" indent="-223520">
              <a:lnSpc>
                <a:spcPct val="107000"/>
              </a:lnSpc>
              <a:buSzPct val="100000"/>
              <a:buChar char="•"/>
            </a:pPr>
            <a:r>
              <a:rPr lang="en-US" sz="1100" dirty="0">
                <a:solidFill>
                  <a:srgbClr val="3B3535"/>
                </a:solidFill>
                <a:latin typeface="Roboto" pitchFamily="34" charset="0"/>
                <a:ea typeface="Roboto" pitchFamily="34" charset="-122"/>
                <a:cs typeface="Roboto" pitchFamily="34" charset="-120"/>
              </a:rPr>
              <a:t>Generalista por naturaleza</a:t>
            </a:r>
            <a:endParaRPr lang="en-US" sz="1100" dirty="0"/>
          </a:p>
          <a:p>
            <a:pPr algn="l" marL="223520" indent="-223520">
              <a:lnSpc>
                <a:spcPct val="107000"/>
              </a:lnSpc>
              <a:buSzPct val="100000"/>
              <a:buChar char="•"/>
            </a:pPr>
            <a:r>
              <a:rPr lang="en-US" sz="1100" dirty="0">
                <a:solidFill>
                  <a:srgbClr val="3B3535"/>
                </a:solidFill>
                <a:latin typeface="Roboto" pitchFamily="34" charset="0"/>
                <a:ea typeface="Roboto" pitchFamily="34" charset="-122"/>
                <a:cs typeface="Roboto" pitchFamily="34" charset="-120"/>
              </a:rPr>
              <a:t>Base para construir aplicaciones específicas</a:t>
            </a:r>
            <a:endParaRPr lang="en-US" sz="1100" dirty="0"/>
          </a:p>
        </p:txBody>
      </p:sp>
      <p:sp>
        <p:nvSpPr>
          <p:cNvPr id="17" name="Text 15"/>
          <p:cNvSpPr/>
          <p:nvPr/>
        </p:nvSpPr>
        <p:spPr>
          <a:xfrm>
            <a:off x="3471280" y="4457303"/>
            <a:ext cx="2458182" cy="362148"/>
          </a:xfrm>
          <a:prstGeom prst="rect">
            <a:avLst/>
          </a:prstGeom>
          <a:noFill/>
          <a:ln/>
        </p:spPr>
        <p:txBody>
          <a:bodyPr wrap="square" lIns="0" tIns="0" rIns="0" bIns="0" rtlCol="0" anchor="t">
            <a:normAutofit/>
          </a:bodyPr>
          <a:lstStyle/>
          <a:p>
            <a:pPr algn="l" indent="0" marL="0">
              <a:lnSpc>
                <a:spcPct val="107000"/>
              </a:lnSpc>
              <a:buNone/>
            </a:pPr>
            <a:r>
              <a:rPr lang="en-US" sz="1100" b="1" dirty="0">
                <a:solidFill>
                  <a:srgbClr val="3B3535"/>
                </a:solidFill>
                <a:latin typeface="Roboto Bold" pitchFamily="34" charset="0"/>
                <a:ea typeface="Roboto Bold" pitchFamily="34" charset="-122"/>
                <a:cs typeface="Roboto Bold" pitchFamily="34" charset="-120"/>
              </a:rPr>
              <a:t>Ejemplos:</a:t>
            </a:r>
            <a:pPr algn="l" indent="0" marL="0">
              <a:lnSpc>
                <a:spcPct val="107000"/>
              </a:lnSpc>
              <a:buNone/>
            </a:pPr>
            <a:r>
              <a:rPr lang="en-US" sz="1100" dirty="0">
                <a:solidFill>
                  <a:srgbClr val="3B3535"/>
                </a:solidFill>
                <a:latin typeface="Roboto" pitchFamily="34" charset="0"/>
                <a:ea typeface="Roboto" pitchFamily="34" charset="-122"/>
                <a:cs typeface="Roboto" pitchFamily="34" charset="-120"/>
              </a:rPr>
              <a:t> GPT-4, Gemini, Claude, LLaMA, DALL·E, Stable Diffusion</a:t>
            </a:r>
            <a:endParaRPr lang="en-US" sz="1100" dirty="0"/>
          </a:p>
        </p:txBody>
      </p:sp>
      <p:sp>
        <p:nvSpPr>
          <p:cNvPr id="18" name="Shape 16"/>
          <p:cNvSpPr/>
          <p:nvPr/>
        </p:nvSpPr>
        <p:spPr>
          <a:xfrm>
            <a:off x="6179189" y="1763316"/>
            <a:ext cx="2661972" cy="3715841"/>
          </a:xfrm>
          <a:prstGeom prst="roundRect">
            <a:avLst>
              <a:gd name="adj" fmla="val 798"/>
            </a:avLst>
          </a:prstGeom>
          <a:solidFill>
            <a:srgbClr val="DA1B2E">
              <a:alpha val="95000"/>
            </a:srgbClr>
          </a:solidFill>
          <a:ln/>
        </p:spPr>
      </p:sp>
      <p:sp>
        <p:nvSpPr>
          <p:cNvPr id="19" name="Text 17"/>
          <p:cNvSpPr/>
          <p:nvPr/>
        </p:nvSpPr>
        <p:spPr>
          <a:xfrm>
            <a:off x="6320672" y="1848148"/>
            <a:ext cx="2379008" cy="442516"/>
          </a:xfrm>
          <a:prstGeom prst="rect">
            <a:avLst/>
          </a:prstGeom>
          <a:noFill/>
          <a:ln/>
        </p:spPr>
        <p:txBody>
          <a:bodyPr wrap="square" lIns="0" tIns="0" rIns="0" bIns="0" rtlCol="0" anchor="t">
            <a:normAutofit/>
          </a:bodyPr>
          <a:lstStyle/>
          <a:p>
            <a:pPr algn="l" indent="0" marL="0">
              <a:lnSpc>
                <a:spcPct val="104000"/>
              </a:lnSpc>
              <a:buNone/>
            </a:pPr>
            <a:r>
              <a:rPr lang="en-US" sz="1350" dirty="0">
                <a:solidFill>
                  <a:srgbClr val="FFFFFF"/>
                </a:solidFill>
                <a:latin typeface="Roboto Mono Medium" pitchFamily="34" charset="0"/>
                <a:ea typeface="Roboto Mono Medium" pitchFamily="34" charset="-122"/>
                <a:cs typeface="Roboto Mono Medium" pitchFamily="34" charset="-120"/>
              </a:rPr>
              <a:t>LLM (Large Language Model)</a:t>
            </a:r>
            <a:endParaRPr lang="en-US" sz="1350" dirty="0"/>
          </a:p>
        </p:txBody>
      </p:sp>
      <p:sp>
        <p:nvSpPr>
          <p:cNvPr id="20" name="Text 18"/>
          <p:cNvSpPr/>
          <p:nvPr/>
        </p:nvSpPr>
        <p:spPr>
          <a:xfrm>
            <a:off x="6320672" y="2375495"/>
            <a:ext cx="2379008" cy="905371"/>
          </a:xfrm>
          <a:prstGeom prst="rect">
            <a:avLst/>
          </a:prstGeom>
          <a:noFill/>
          <a:ln/>
        </p:spPr>
        <p:txBody>
          <a:bodyPr wrap="square" lIns="0" tIns="0" rIns="0" bIns="0" rtlCol="0" anchor="t">
            <a:normAutofit/>
          </a:bodyPr>
          <a:lstStyle/>
          <a:p>
            <a:pPr algn="l" indent="0" marL="0">
              <a:lnSpc>
                <a:spcPct val="107000"/>
              </a:lnSpc>
              <a:buNone/>
            </a:pPr>
            <a:r>
              <a:rPr lang="en-US" sz="1100" dirty="0">
                <a:solidFill>
                  <a:srgbClr val="FFFFFF"/>
                </a:solidFill>
                <a:latin typeface="Roboto" pitchFamily="34" charset="0"/>
                <a:ea typeface="Roboto" pitchFamily="34" charset="-122"/>
                <a:cs typeface="Roboto" pitchFamily="34" charset="-120"/>
              </a:rPr>
              <a:t>Un Foundation Model especializado en texto. Aprende la distribución del lenguaje natural y puede generar, resumir, traducir, razonar y escribir código.</a:t>
            </a:r>
            <a:endParaRPr lang="en-US" sz="1100" dirty="0"/>
          </a:p>
        </p:txBody>
      </p:sp>
      <p:sp>
        <p:nvSpPr>
          <p:cNvPr id="21" name="Shape 19"/>
          <p:cNvSpPr/>
          <p:nvPr/>
        </p:nvSpPr>
        <p:spPr>
          <a:xfrm>
            <a:off x="6320672" y="3411538"/>
            <a:ext cx="2379008" cy="19050"/>
          </a:xfrm>
          <a:prstGeom prst="roundRect">
            <a:avLst>
              <a:gd name="adj" fmla="val 49999"/>
            </a:avLst>
          </a:prstGeom>
          <a:solidFill>
            <a:srgbClr val="FFFFFF">
              <a:alpha val="50000"/>
            </a:srgbClr>
          </a:solidFill>
          <a:ln/>
        </p:spPr>
      </p:sp>
      <p:sp>
        <p:nvSpPr>
          <p:cNvPr id="22" name="Text 20"/>
          <p:cNvSpPr/>
          <p:nvPr/>
        </p:nvSpPr>
        <p:spPr>
          <a:xfrm>
            <a:off x="6320672" y="3561259"/>
            <a:ext cx="2988592" cy="181074"/>
          </a:xfrm>
          <a:prstGeom prst="rect">
            <a:avLst/>
          </a:prstGeom>
          <a:noFill/>
          <a:ln/>
        </p:spPr>
        <p:txBody>
          <a:bodyPr wrap="none" lIns="0" tIns="0" rIns="0" bIns="0" rtlCol="0" anchor="t"/>
          <a:lstStyle/>
          <a:p>
            <a:pPr algn="l" indent="0" marL="0">
              <a:lnSpc>
                <a:spcPct val="107000"/>
              </a:lnSpc>
              <a:buNone/>
            </a:pPr>
            <a:r>
              <a:rPr lang="en-US" sz="1100" b="1" dirty="0">
                <a:solidFill>
                  <a:srgbClr val="FFFFFF"/>
                </a:solidFill>
                <a:latin typeface="Roboto Bold" pitchFamily="34" charset="0"/>
                <a:ea typeface="Roboto Bold" pitchFamily="34" charset="-122"/>
                <a:cs typeface="Roboto Bold" pitchFamily="34" charset="-120"/>
              </a:rPr>
              <a:t>Características:</a:t>
            </a:r>
            <a:endParaRPr lang="en-US" sz="1100" dirty="0"/>
          </a:p>
        </p:txBody>
      </p:sp>
      <p:sp>
        <p:nvSpPr>
          <p:cNvPr id="23" name="Text 21"/>
          <p:cNvSpPr/>
          <p:nvPr/>
        </p:nvSpPr>
        <p:spPr>
          <a:xfrm>
            <a:off x="6320672" y="3818632"/>
            <a:ext cx="2379008" cy="1145778"/>
          </a:xfrm>
          <a:prstGeom prst="rect">
            <a:avLst/>
          </a:prstGeom>
          <a:noFill/>
          <a:ln/>
        </p:spPr>
        <p:txBody>
          <a:bodyPr wrap="square" lIns="0" tIns="0" rIns="0" bIns="0" rtlCol="0" anchor="t">
            <a:normAutofit/>
          </a:bodyPr>
          <a:lstStyle/>
          <a:p>
            <a:pPr algn="l" marL="223520" indent="-223520">
              <a:lnSpc>
                <a:spcPct val="107000"/>
              </a:lnSpc>
              <a:buSzPct val="100000"/>
              <a:buChar char="•"/>
            </a:pPr>
            <a:r>
              <a:rPr lang="en-US" sz="1100" dirty="0">
                <a:solidFill>
                  <a:srgbClr val="FFFFFF"/>
                </a:solidFill>
                <a:latin typeface="Roboto" pitchFamily="34" charset="0"/>
                <a:ea typeface="Roboto" pitchFamily="34" charset="-122"/>
                <a:cs typeface="Roboto" pitchFamily="34" charset="-120"/>
              </a:rPr>
              <a:t>Solo procesa y genera texto (tokens)</a:t>
            </a:r>
            <a:endParaRPr lang="en-US" sz="1100" dirty="0"/>
          </a:p>
          <a:p>
            <a:pPr algn="l" marL="223520" indent="-223520">
              <a:lnSpc>
                <a:spcPct val="107000"/>
              </a:lnSpc>
              <a:buSzPct val="100000"/>
              <a:buChar char="•"/>
            </a:pPr>
            <a:r>
              <a:rPr lang="en-US" sz="1100" dirty="0">
                <a:solidFill>
                  <a:srgbClr val="FFFFFF"/>
                </a:solidFill>
                <a:latin typeface="Roboto" pitchFamily="34" charset="0"/>
                <a:ea typeface="Roboto" pitchFamily="34" charset="-122"/>
                <a:cs typeface="Roboto" pitchFamily="34" charset="-120"/>
              </a:rPr>
              <a:t>Arquitectura Transformer con atención</a:t>
            </a:r>
            <a:endParaRPr lang="en-US" sz="1100" dirty="0"/>
          </a:p>
          <a:p>
            <a:pPr algn="l" marL="223520" indent="-223520">
              <a:lnSpc>
                <a:spcPct val="107000"/>
              </a:lnSpc>
              <a:buSzPct val="100000"/>
              <a:buChar char="•"/>
            </a:pPr>
            <a:r>
              <a:rPr lang="en-US" sz="1100" dirty="0">
                <a:solidFill>
                  <a:srgbClr val="FFFFFF"/>
                </a:solidFill>
                <a:latin typeface="Roboto" pitchFamily="34" charset="0"/>
                <a:ea typeface="Roboto" pitchFamily="34" charset="-122"/>
                <a:cs typeface="Roboto" pitchFamily="34" charset="-120"/>
              </a:rPr>
              <a:t>Escala: desde 7B hasta +1T parámetros</a:t>
            </a:r>
            <a:endParaRPr lang="en-US" sz="1100" dirty="0"/>
          </a:p>
        </p:txBody>
      </p:sp>
      <p:sp>
        <p:nvSpPr>
          <p:cNvPr id="24" name="Text 22"/>
          <p:cNvSpPr/>
          <p:nvPr/>
        </p:nvSpPr>
        <p:spPr>
          <a:xfrm>
            <a:off x="6320672" y="5040709"/>
            <a:ext cx="2379008" cy="362148"/>
          </a:xfrm>
          <a:prstGeom prst="rect">
            <a:avLst/>
          </a:prstGeom>
          <a:noFill/>
          <a:ln/>
        </p:spPr>
        <p:txBody>
          <a:bodyPr wrap="square" lIns="0" tIns="0" rIns="0" bIns="0" rtlCol="0" anchor="t">
            <a:normAutofit/>
          </a:bodyPr>
          <a:lstStyle/>
          <a:p>
            <a:pPr algn="l" indent="0" marL="0">
              <a:lnSpc>
                <a:spcPct val="107000"/>
              </a:lnSpc>
              <a:buNone/>
            </a:pPr>
            <a:r>
              <a:rPr lang="en-US" sz="1100" b="1" dirty="0">
                <a:solidFill>
                  <a:srgbClr val="FFFFFF"/>
                </a:solidFill>
                <a:latin typeface="Roboto Bold" pitchFamily="34" charset="0"/>
                <a:ea typeface="Roboto Bold" pitchFamily="34" charset="-122"/>
                <a:cs typeface="Roboto Bold" pitchFamily="34" charset="-120"/>
              </a:rPr>
              <a:t>Ejemplos:</a:t>
            </a:r>
            <a:pPr algn="l" indent="0" marL="0">
              <a:lnSpc>
                <a:spcPct val="107000"/>
              </a:lnSpc>
              <a:buNone/>
            </a:pPr>
            <a:r>
              <a:rPr lang="en-US" sz="1100" dirty="0">
                <a:solidFill>
                  <a:srgbClr val="FFFFFF"/>
                </a:solidFill>
                <a:latin typeface="Roboto" pitchFamily="34" charset="0"/>
                <a:ea typeface="Roboto" pitchFamily="34" charset="-122"/>
                <a:cs typeface="Roboto" pitchFamily="34" charset="-120"/>
              </a:rPr>
              <a:t> GPT-4, Claude 3, Gemini Pro, LLaMA 3, Mistral</a:t>
            </a:r>
            <a:endParaRPr lang="en-US" sz="1100" dirty="0"/>
          </a:p>
        </p:txBody>
      </p:sp>
      <p:sp>
        <p:nvSpPr>
          <p:cNvPr id="25" name="Text 23"/>
          <p:cNvSpPr/>
          <p:nvPr/>
        </p:nvSpPr>
        <p:spPr>
          <a:xfrm>
            <a:off x="9090889" y="1848148"/>
            <a:ext cx="2458182" cy="221258"/>
          </a:xfrm>
          <a:prstGeom prst="rect">
            <a:avLst/>
          </a:prstGeom>
          <a:noFill/>
          <a:ln/>
        </p:spPr>
        <p:txBody>
          <a:bodyPr wrap="none" lIns="0" tIns="0" rIns="0" bIns="0" rtlCol="0" anchor="t"/>
          <a:lstStyle/>
          <a:p>
            <a:pPr algn="l" indent="0" marL="0">
              <a:lnSpc>
                <a:spcPct val="104000"/>
              </a:lnSpc>
              <a:buNone/>
            </a:pPr>
            <a:r>
              <a:rPr lang="en-US" sz="1350" dirty="0">
                <a:solidFill>
                  <a:srgbClr val="1F1E1E"/>
                </a:solidFill>
                <a:latin typeface="Roboto Mono Medium" pitchFamily="34" charset="0"/>
                <a:ea typeface="Roboto Mono Medium" pitchFamily="34" charset="-122"/>
                <a:cs typeface="Roboto Mono Medium" pitchFamily="34" charset="-120"/>
              </a:rPr>
              <a:t>Modelo Multimodal</a:t>
            </a:r>
            <a:endParaRPr lang="en-US" sz="1350" dirty="0"/>
          </a:p>
        </p:txBody>
      </p:sp>
      <p:sp>
        <p:nvSpPr>
          <p:cNvPr id="26" name="Text 24"/>
          <p:cNvSpPr/>
          <p:nvPr/>
        </p:nvSpPr>
        <p:spPr>
          <a:xfrm>
            <a:off x="9090889" y="2154238"/>
            <a:ext cx="2458182" cy="905371"/>
          </a:xfrm>
          <a:prstGeom prst="rect">
            <a:avLst/>
          </a:prstGeom>
          <a:noFill/>
          <a:ln/>
        </p:spPr>
        <p:txBody>
          <a:bodyPr wrap="square" lIns="0" tIns="0" rIns="0" bIns="0" rtlCol="0" anchor="t">
            <a:normAutofit/>
          </a:bodyPr>
          <a:lstStyle/>
          <a:p>
            <a:pPr algn="l" indent="0" marL="0">
              <a:lnSpc>
                <a:spcPct val="107000"/>
              </a:lnSpc>
              <a:buNone/>
            </a:pPr>
            <a:r>
              <a:rPr lang="en-US" sz="1100" dirty="0">
                <a:solidFill>
                  <a:srgbClr val="3B3535"/>
                </a:solidFill>
                <a:latin typeface="Roboto" pitchFamily="34" charset="0"/>
                <a:ea typeface="Roboto" pitchFamily="34" charset="-122"/>
                <a:cs typeface="Roboto" pitchFamily="34" charset="-120"/>
              </a:rPr>
              <a:t>Un Foundation Model que procesa y genera múltiples tipos de datos simultáneamente: texto, imágenes, audio, video y código en un mismo modelo unificado.</a:t>
            </a:r>
            <a:endParaRPr lang="en-US" sz="1100" dirty="0"/>
          </a:p>
        </p:txBody>
      </p:sp>
      <p:sp>
        <p:nvSpPr>
          <p:cNvPr id="27" name="Shape 25"/>
          <p:cNvSpPr/>
          <p:nvPr/>
        </p:nvSpPr>
        <p:spPr>
          <a:xfrm>
            <a:off x="9090889" y="3190280"/>
            <a:ext cx="2458182" cy="19050"/>
          </a:xfrm>
          <a:prstGeom prst="roundRect">
            <a:avLst>
              <a:gd name="adj" fmla="val 49999"/>
            </a:avLst>
          </a:prstGeom>
          <a:solidFill>
            <a:srgbClr val="3B3535">
              <a:alpha val="50000"/>
            </a:srgbClr>
          </a:solidFill>
          <a:ln/>
        </p:spPr>
      </p:sp>
      <p:sp>
        <p:nvSpPr>
          <p:cNvPr id="28" name="Text 26"/>
          <p:cNvSpPr/>
          <p:nvPr/>
        </p:nvSpPr>
        <p:spPr>
          <a:xfrm>
            <a:off x="9090889" y="3340001"/>
            <a:ext cx="3067767" cy="181074"/>
          </a:xfrm>
          <a:prstGeom prst="rect">
            <a:avLst/>
          </a:prstGeom>
          <a:noFill/>
          <a:ln/>
        </p:spPr>
        <p:txBody>
          <a:bodyPr wrap="none" lIns="0" tIns="0" rIns="0" bIns="0" rtlCol="0" anchor="t"/>
          <a:lstStyle/>
          <a:p>
            <a:pPr algn="l" indent="0" marL="0">
              <a:lnSpc>
                <a:spcPct val="107000"/>
              </a:lnSpc>
              <a:buNone/>
            </a:pPr>
            <a:r>
              <a:rPr lang="en-US" sz="1100" b="1" dirty="0">
                <a:solidFill>
                  <a:srgbClr val="3B3535"/>
                </a:solidFill>
                <a:latin typeface="Roboto Bold" pitchFamily="34" charset="0"/>
                <a:ea typeface="Roboto Bold" pitchFamily="34" charset="-122"/>
                <a:cs typeface="Roboto Bold" pitchFamily="34" charset="-120"/>
              </a:rPr>
              <a:t>Características:</a:t>
            </a:r>
            <a:endParaRPr lang="en-US" sz="1100" dirty="0"/>
          </a:p>
        </p:txBody>
      </p:sp>
      <p:sp>
        <p:nvSpPr>
          <p:cNvPr id="29" name="Text 27"/>
          <p:cNvSpPr/>
          <p:nvPr/>
        </p:nvSpPr>
        <p:spPr>
          <a:xfrm>
            <a:off x="9090889" y="3597374"/>
            <a:ext cx="2458182" cy="1145778"/>
          </a:xfrm>
          <a:prstGeom prst="rect">
            <a:avLst/>
          </a:prstGeom>
          <a:noFill/>
          <a:ln/>
        </p:spPr>
        <p:txBody>
          <a:bodyPr wrap="square" lIns="0" tIns="0" rIns="0" bIns="0" rtlCol="0" anchor="t">
            <a:normAutofit/>
          </a:bodyPr>
          <a:lstStyle/>
          <a:p>
            <a:pPr algn="l" marL="223520" indent="-223520">
              <a:lnSpc>
                <a:spcPct val="107000"/>
              </a:lnSpc>
              <a:buSzPct val="100000"/>
              <a:buChar char="•"/>
            </a:pPr>
            <a:r>
              <a:rPr lang="en-US" sz="1100" dirty="0">
                <a:solidFill>
                  <a:srgbClr val="3B3535"/>
                </a:solidFill>
                <a:latin typeface="Roboto" pitchFamily="34" charset="0"/>
                <a:ea typeface="Roboto" pitchFamily="34" charset="-122"/>
                <a:cs typeface="Roboto" pitchFamily="34" charset="-120"/>
              </a:rPr>
              <a:t>Combina encoders de distintas modalidades</a:t>
            </a:r>
            <a:endParaRPr lang="en-US" sz="1100" dirty="0"/>
          </a:p>
          <a:p>
            <a:pPr algn="l" marL="223520" indent="-223520">
              <a:lnSpc>
                <a:spcPct val="107000"/>
              </a:lnSpc>
              <a:buSzPct val="100000"/>
              <a:buChar char="•"/>
            </a:pPr>
            <a:r>
              <a:rPr lang="en-US" sz="1100" dirty="0">
                <a:solidFill>
                  <a:srgbClr val="3B3535"/>
                </a:solidFill>
                <a:latin typeface="Roboto" pitchFamily="34" charset="0"/>
                <a:ea typeface="Roboto" pitchFamily="34" charset="-122"/>
                <a:cs typeface="Roboto" pitchFamily="34" charset="-120"/>
              </a:rPr>
              <a:t>Un solo modelo para ver, escuchar y hablar</a:t>
            </a:r>
            <a:endParaRPr lang="en-US" sz="1100" dirty="0"/>
          </a:p>
          <a:p>
            <a:pPr algn="l" marL="223520" indent="-223520">
              <a:lnSpc>
                <a:spcPct val="107000"/>
              </a:lnSpc>
              <a:buSzPct val="100000"/>
              <a:buChar char="•"/>
            </a:pPr>
            <a:r>
              <a:rPr lang="en-US" sz="1100" dirty="0">
                <a:solidFill>
                  <a:srgbClr val="3B3535"/>
                </a:solidFill>
                <a:latin typeface="Roboto" pitchFamily="34" charset="0"/>
                <a:ea typeface="Roboto" pitchFamily="34" charset="-122"/>
                <a:cs typeface="Roboto" pitchFamily="34" charset="-120"/>
              </a:rPr>
              <a:t>Permite razonamiento cruzado entre modalidades</a:t>
            </a:r>
            <a:endParaRPr lang="en-US" sz="1100" dirty="0"/>
          </a:p>
        </p:txBody>
      </p:sp>
      <p:sp>
        <p:nvSpPr>
          <p:cNvPr id="30" name="Text 28"/>
          <p:cNvSpPr/>
          <p:nvPr/>
        </p:nvSpPr>
        <p:spPr>
          <a:xfrm>
            <a:off x="9090889" y="4819452"/>
            <a:ext cx="2458182" cy="362148"/>
          </a:xfrm>
          <a:prstGeom prst="rect">
            <a:avLst/>
          </a:prstGeom>
          <a:noFill/>
          <a:ln/>
        </p:spPr>
        <p:txBody>
          <a:bodyPr wrap="square" lIns="0" tIns="0" rIns="0" bIns="0" rtlCol="0" anchor="t">
            <a:normAutofit/>
          </a:bodyPr>
          <a:lstStyle/>
          <a:p>
            <a:pPr algn="l" indent="0" marL="0">
              <a:lnSpc>
                <a:spcPct val="107000"/>
              </a:lnSpc>
              <a:buNone/>
            </a:pPr>
            <a:r>
              <a:rPr lang="en-US" sz="1100" b="1" dirty="0">
                <a:solidFill>
                  <a:srgbClr val="3B3535"/>
                </a:solidFill>
                <a:latin typeface="Roboto Bold" pitchFamily="34" charset="0"/>
                <a:ea typeface="Roboto Bold" pitchFamily="34" charset="-122"/>
                <a:cs typeface="Roboto Bold" pitchFamily="34" charset="-120"/>
              </a:rPr>
              <a:t>Ejemplos:</a:t>
            </a:r>
            <a:pPr algn="l" indent="0" marL="0">
              <a:lnSpc>
                <a:spcPct val="107000"/>
              </a:lnSpc>
              <a:buNone/>
            </a:pPr>
            <a:r>
              <a:rPr lang="en-US" sz="1100" dirty="0">
                <a:solidFill>
                  <a:srgbClr val="3B3535"/>
                </a:solidFill>
                <a:latin typeface="Roboto" pitchFamily="34" charset="0"/>
                <a:ea typeface="Roboto" pitchFamily="34" charset="-122"/>
                <a:cs typeface="Roboto" pitchFamily="34" charset="-120"/>
              </a:rPr>
              <a:t> GPT-4o, Gemini 1.5 Pro, Claude 3.5, LLaVA</a:t>
            </a:r>
            <a:endParaRPr lang="en-US" sz="1100" dirty="0"/>
          </a:p>
        </p:txBody>
      </p:sp>
      <p:sp>
        <p:nvSpPr>
          <p:cNvPr id="31" name="Shape 29"/>
          <p:cNvSpPr/>
          <p:nvPr/>
        </p:nvSpPr>
        <p:spPr>
          <a:xfrm>
            <a:off x="661475" y="5574506"/>
            <a:ext cx="10868745" cy="593923"/>
          </a:xfrm>
          <a:prstGeom prst="roundRect">
            <a:avLst>
              <a:gd name="adj" fmla="val 1283"/>
            </a:avLst>
          </a:prstGeom>
          <a:solidFill>
            <a:srgbClr val="F9D2D6"/>
          </a:solidFill>
          <a:ln/>
        </p:spPr>
      </p:sp>
      <p:pic>
        <p:nvPicPr>
          <p:cNvPr id="32" name="Image 0" descr="preencoded.png">    </p:cNvPr>
          <p:cNvPicPr>
            <a:picLocks noChangeAspect="1"/>
          </p:cNvPicPr>
          <p:nvPr/>
        </p:nvPicPr>
        <p:blipFill>
          <a:blip r:embed="rId1"/>
          <a:stretch>
            <a:fillRect/>
          </a:stretch>
        </p:blipFill>
        <p:spPr>
          <a:xfrm>
            <a:off x="802957" y="5754489"/>
            <a:ext cx="176903" cy="141486"/>
          </a:xfrm>
          <a:prstGeom prst="rect">
            <a:avLst/>
          </a:prstGeom>
        </p:spPr>
      </p:pic>
      <p:sp>
        <p:nvSpPr>
          <p:cNvPr id="33" name="Text 30"/>
          <p:cNvSpPr/>
          <p:nvPr/>
        </p:nvSpPr>
        <p:spPr>
          <a:xfrm>
            <a:off x="1121342" y="5694660"/>
            <a:ext cx="10267395" cy="362148"/>
          </a:xfrm>
          <a:prstGeom prst="rect">
            <a:avLst/>
          </a:prstGeom>
          <a:noFill/>
          <a:ln/>
        </p:spPr>
        <p:txBody>
          <a:bodyPr wrap="square" lIns="0" tIns="0" rIns="0" bIns="0" rtlCol="0" anchor="t">
            <a:normAutofit/>
          </a:bodyPr>
          <a:lstStyle/>
          <a:p>
            <a:pPr algn="l" indent="0" marL="0">
              <a:lnSpc>
                <a:spcPct val="107000"/>
              </a:lnSpc>
              <a:buNone/>
            </a:pPr>
            <a:r>
              <a:rPr lang="en-US" sz="1100" dirty="0">
                <a:solidFill>
                  <a:srgbClr val="000000"/>
                </a:solidFill>
                <a:latin typeface="Roboto" pitchFamily="34" charset="0"/>
                <a:ea typeface="Roboto" pitchFamily="34" charset="-122"/>
                <a:cs typeface="Roboto" pitchFamily="34" charset="-120"/>
              </a:rPr>
              <a:t>🔑</a:t>
            </a:r>
            <a:pPr algn="l" indent="0" marL="0">
              <a:lnSpc>
                <a:spcPct val="107000"/>
              </a:lnSpc>
              <a:buNone/>
            </a:pPr>
            <a:r>
              <a:rPr lang="en-US" sz="1100" dirty="0">
                <a:solidFill>
                  <a:srgbClr val="000000"/>
                </a:solidFill>
                <a:latin typeface="Roboto" pitchFamily="34" charset="0"/>
                <a:ea typeface="Roboto" pitchFamily="34" charset="-122"/>
                <a:cs typeface="Roboto" pitchFamily="34" charset="-120"/>
              </a:rPr>
              <a:t> Relación: Todo LLM es un Foundation Model, pero no todo Foundation Model es un LLM. Todo modelo Multimodal es un Foundation Model, pero va un paso más allá al integrar múltiples modalidades.</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661475" y="965795"/>
            <a:ext cx="1407680" cy="269180"/>
          </a:xfrm>
          <a:prstGeom prst="roundRect">
            <a:avLst>
              <a:gd name="adj" fmla="val 2831"/>
            </a:avLst>
          </a:prstGeom>
          <a:solidFill>
            <a:srgbClr val="F9D2D6"/>
          </a:solidFill>
          <a:ln/>
        </p:spPr>
      </p:sp>
      <p:sp>
        <p:nvSpPr>
          <p:cNvPr id="3" name="Text 1"/>
          <p:cNvSpPr/>
          <p:nvPr/>
        </p:nvSpPr>
        <p:spPr>
          <a:xfrm>
            <a:off x="767735" y="1018877"/>
            <a:ext cx="1804744" cy="163016"/>
          </a:xfrm>
          <a:prstGeom prst="rect">
            <a:avLst/>
          </a:prstGeom>
          <a:noFill/>
          <a:ln/>
        </p:spPr>
        <p:txBody>
          <a:bodyPr wrap="none" lIns="0" tIns="0" rIns="0" bIns="0" rtlCol="0" anchor="t"/>
          <a:lstStyle/>
          <a:p>
            <a:pPr algn="l" indent="0" marL="0">
              <a:lnSpc>
                <a:spcPct val="96000"/>
              </a:lnSpc>
              <a:buNone/>
            </a:pPr>
            <a:r>
              <a:rPr lang="en-US" sz="1100" dirty="0">
                <a:solidFill>
                  <a:srgbClr val="3B3535"/>
                </a:solidFill>
                <a:latin typeface="Roboto" pitchFamily="34" charset="0"/>
                <a:ea typeface="Roboto" pitchFamily="34" charset="-122"/>
                <a:cs typeface="Roboto" pitchFamily="34" charset="-120"/>
              </a:rPr>
              <a:t>CONCEPTO CLAVE</a:t>
            </a:r>
            <a:endParaRPr lang="en-US" sz="1100" dirty="0"/>
          </a:p>
        </p:txBody>
      </p:sp>
      <p:sp>
        <p:nvSpPr>
          <p:cNvPr id="4" name="Text 2"/>
          <p:cNvSpPr/>
          <p:nvPr/>
        </p:nvSpPr>
        <p:spPr>
          <a:xfrm>
            <a:off x="661475" y="1288058"/>
            <a:ext cx="10868745" cy="553740"/>
          </a:xfrm>
          <a:prstGeom prst="rect">
            <a:avLst/>
          </a:prstGeom>
          <a:noFill/>
          <a:ln/>
        </p:spPr>
        <p:txBody>
          <a:bodyPr wrap="none" lIns="0" tIns="0" rIns="0" bIns="0" rtlCol="0" anchor="t"/>
          <a:lstStyle/>
          <a:p>
            <a:pPr algn="l" indent="0" marL="0">
              <a:lnSpc>
                <a:spcPct val="104000"/>
              </a:lnSpc>
              <a:buNone/>
            </a:pPr>
            <a:r>
              <a:rPr lang="en-US" sz="3450" dirty="0">
                <a:solidFill>
                  <a:srgbClr val="1F1E1E"/>
                </a:solidFill>
                <a:latin typeface="Roboto Mono Medium" pitchFamily="34" charset="0"/>
                <a:ea typeface="Roboto Mono Medium" pitchFamily="34" charset="-122"/>
                <a:cs typeface="Roboto Mono Medium" pitchFamily="34" charset="-120"/>
              </a:rPr>
              <a:t>Por que Foundation models es relevante ?</a:t>
            </a:r>
            <a:endParaRPr lang="en-US" sz="3450" dirty="0"/>
          </a:p>
        </p:txBody>
      </p:sp>
      <p:sp>
        <p:nvSpPr>
          <p:cNvPr id="5" name="Text 3"/>
          <p:cNvSpPr/>
          <p:nvPr/>
        </p:nvSpPr>
        <p:spPr>
          <a:xfrm>
            <a:off x="661475" y="1894880"/>
            <a:ext cx="10868745" cy="276920"/>
          </a:xfrm>
          <a:prstGeom prst="rect">
            <a:avLst/>
          </a:prstGeom>
          <a:noFill/>
          <a:ln/>
        </p:spPr>
        <p:txBody>
          <a:bodyPr wrap="none" lIns="0" tIns="0" rIns="0" bIns="0" rtlCol="0" anchor="t"/>
          <a:lstStyle/>
          <a:p>
            <a:pPr algn="l" indent="0" marL="0">
              <a:lnSpc>
                <a:spcPct val="104000"/>
              </a:lnSpc>
              <a:buNone/>
            </a:pPr>
            <a:r>
              <a:rPr lang="en-US" sz="1700" dirty="0">
                <a:solidFill>
                  <a:srgbClr val="1F1E1E"/>
                </a:solidFill>
                <a:latin typeface="Roboto Mono Medium" pitchFamily="34" charset="0"/>
                <a:ea typeface="Roboto Mono Medium" pitchFamily="34" charset="-122"/>
                <a:cs typeface="Roboto Mono Medium" pitchFamily="34" charset="-120"/>
              </a:rPr>
              <a:t>IA Tradicional vs. Foundation Models</a:t>
            </a:r>
            <a:endParaRPr lang="en-US" sz="1700" dirty="0"/>
          </a:p>
        </p:txBody>
      </p:sp>
      <p:sp>
        <p:nvSpPr>
          <p:cNvPr id="6" name="Shape 4"/>
          <p:cNvSpPr/>
          <p:nvPr/>
        </p:nvSpPr>
        <p:spPr>
          <a:xfrm>
            <a:off x="533982" y="2371130"/>
            <a:ext cx="5247152" cy="3521075"/>
          </a:xfrm>
          <a:prstGeom prst="roundRect">
            <a:avLst>
              <a:gd name="adj" fmla="val 755"/>
            </a:avLst>
          </a:prstGeom>
          <a:solidFill>
            <a:srgbClr val="DA1B2E">
              <a:alpha val="95000"/>
            </a:srgbClr>
          </a:solidFill>
          <a:ln/>
        </p:spPr>
      </p:sp>
      <p:sp>
        <p:nvSpPr>
          <p:cNvPr id="7" name="Text 5"/>
          <p:cNvSpPr/>
          <p:nvPr/>
        </p:nvSpPr>
        <p:spPr>
          <a:xfrm>
            <a:off x="711182" y="2503984"/>
            <a:ext cx="4892751" cy="553839"/>
          </a:xfrm>
          <a:prstGeom prst="rect">
            <a:avLst/>
          </a:prstGeom>
          <a:noFill/>
          <a:ln/>
        </p:spPr>
        <p:txBody>
          <a:bodyPr wrap="square" lIns="0" tIns="0" rIns="0" bIns="0" rtlCol="0" anchor="t">
            <a:normAutofit/>
          </a:bodyPr>
          <a:lstStyle/>
          <a:p>
            <a:pPr algn="l" indent="0" marL="0">
              <a:lnSpc>
                <a:spcPct val="104000"/>
              </a:lnSpc>
              <a:buNone/>
            </a:pPr>
            <a:r>
              <a:rPr lang="en-US" sz="1700" dirty="0">
                <a:solidFill>
                  <a:srgbClr val="FFFFFF"/>
                </a:solidFill>
                <a:latin typeface="Roboto Mono Medium" pitchFamily="34" charset="0"/>
                <a:ea typeface="Roboto Mono Medium" pitchFamily="34" charset="-122"/>
                <a:cs typeface="Roboto Mono Medium" pitchFamily="34" charset="-120"/>
              </a:rPr>
              <a:t>IA Tradicional (Machine Learning/InHouse)</a:t>
            </a:r>
            <a:endParaRPr lang="en-US" sz="1700" dirty="0"/>
          </a:p>
        </p:txBody>
      </p:sp>
      <p:sp>
        <p:nvSpPr>
          <p:cNvPr id="8" name="Text 6"/>
          <p:cNvSpPr/>
          <p:nvPr/>
        </p:nvSpPr>
        <p:spPr>
          <a:xfrm>
            <a:off x="711182" y="3190677"/>
            <a:ext cx="4892751" cy="1627584"/>
          </a:xfrm>
          <a:prstGeom prst="rect">
            <a:avLst/>
          </a:prstGeom>
          <a:noFill/>
          <a:ln/>
        </p:spPr>
        <p:txBody>
          <a:bodyPr wrap="square" lIns="0" tIns="0" rIns="0" bIns="0" rtlCol="0" anchor="t">
            <a:normAutofit/>
          </a:bodyPr>
          <a:lstStyle/>
          <a:p>
            <a:pPr algn="l" marL="274320" indent="-274320">
              <a:lnSpc>
                <a:spcPct val="117000"/>
              </a:lnSpc>
              <a:buSzPct val="100000"/>
              <a:buChar char="•"/>
            </a:pPr>
            <a:r>
              <a:rPr lang="en-US" sz="1350" dirty="0">
                <a:solidFill>
                  <a:srgbClr val="FFFFFF"/>
                </a:solidFill>
                <a:latin typeface="Roboto" pitchFamily="34" charset="0"/>
                <a:ea typeface="Roboto" pitchFamily="34" charset="-122"/>
                <a:cs typeface="Roboto" pitchFamily="34" charset="-120"/>
              </a:rPr>
              <a:t>Un modelo por tarea específica</a:t>
            </a:r>
            <a:endParaRPr lang="en-US" sz="1350" dirty="0"/>
          </a:p>
          <a:p>
            <a:pPr algn="l" marL="274320" indent="-274320">
              <a:lnSpc>
                <a:spcPct val="117000"/>
              </a:lnSpc>
              <a:buSzPct val="100000"/>
              <a:buChar char="•"/>
            </a:pPr>
            <a:r>
              <a:rPr lang="en-US" sz="1350" dirty="0">
                <a:solidFill>
                  <a:srgbClr val="FFFFFF"/>
                </a:solidFill>
                <a:latin typeface="Roboto" pitchFamily="34" charset="0"/>
                <a:ea typeface="Roboto" pitchFamily="34" charset="-122"/>
                <a:cs typeface="Roboto" pitchFamily="34" charset="-120"/>
              </a:rPr>
              <a:t>Requiere datos etiquetados abundantes para cada caso de uso</a:t>
            </a:r>
            <a:endParaRPr lang="en-US" sz="1350" dirty="0"/>
          </a:p>
          <a:p>
            <a:pPr algn="l" marL="274320" indent="-274320">
              <a:lnSpc>
                <a:spcPct val="117000"/>
              </a:lnSpc>
              <a:buSzPct val="100000"/>
              <a:buChar char="•"/>
            </a:pPr>
            <a:r>
              <a:rPr lang="en-US" sz="1350" dirty="0">
                <a:solidFill>
                  <a:srgbClr val="FFFFFF"/>
                </a:solidFill>
                <a:latin typeface="Roboto" pitchFamily="34" charset="0"/>
                <a:ea typeface="Roboto" pitchFamily="34" charset="-122"/>
                <a:cs typeface="Roboto" pitchFamily="34" charset="-120"/>
              </a:rPr>
              <a:t>Difícil de reutilizar entre dominios distintos</a:t>
            </a:r>
            <a:endParaRPr lang="en-US" sz="1350" dirty="0"/>
          </a:p>
          <a:p>
            <a:pPr algn="l" marL="274320" indent="-274320">
              <a:lnSpc>
                <a:spcPct val="117000"/>
              </a:lnSpc>
              <a:buSzPct val="100000"/>
              <a:buChar char="•"/>
            </a:pPr>
            <a:r>
              <a:rPr lang="en-US" sz="1350" dirty="0">
                <a:solidFill>
                  <a:srgbClr val="FFFFFF"/>
                </a:solidFill>
                <a:latin typeface="Roboto" pitchFamily="34" charset="0"/>
                <a:ea typeface="Roboto" pitchFamily="34" charset="-122"/>
                <a:cs typeface="Roboto" pitchFamily="34" charset="-120"/>
              </a:rPr>
              <a:t>Ejemplo: un detector de fallos en autopartes en Pilar solo detecta eso</a:t>
            </a:r>
            <a:endParaRPr lang="en-US" sz="1350" dirty="0"/>
          </a:p>
        </p:txBody>
      </p:sp>
      <p:sp>
        <p:nvSpPr>
          <p:cNvPr id="9" name="Text 7"/>
          <p:cNvSpPr/>
          <p:nvPr/>
        </p:nvSpPr>
        <p:spPr>
          <a:xfrm>
            <a:off x="6092176" y="2503984"/>
            <a:ext cx="5444294" cy="276920"/>
          </a:xfrm>
          <a:prstGeom prst="rect">
            <a:avLst/>
          </a:prstGeom>
          <a:noFill/>
          <a:ln/>
        </p:spPr>
        <p:txBody>
          <a:bodyPr wrap="none" lIns="0" tIns="0" rIns="0" bIns="0" rtlCol="0" anchor="t"/>
          <a:lstStyle/>
          <a:p>
            <a:pPr algn="l" indent="0" marL="0">
              <a:lnSpc>
                <a:spcPct val="104000"/>
              </a:lnSpc>
              <a:buNone/>
            </a:pPr>
            <a:r>
              <a:rPr lang="en-US" sz="1700" dirty="0">
                <a:solidFill>
                  <a:srgbClr val="1F1E1E"/>
                </a:solidFill>
                <a:latin typeface="Roboto Mono Medium" pitchFamily="34" charset="0"/>
                <a:ea typeface="Roboto Mono Medium" pitchFamily="34" charset="-122"/>
                <a:cs typeface="Roboto Mono Medium" pitchFamily="34" charset="-120"/>
              </a:rPr>
              <a:t>Foundation Models</a:t>
            </a:r>
            <a:endParaRPr lang="en-US" sz="1700" dirty="0"/>
          </a:p>
        </p:txBody>
      </p:sp>
      <p:sp>
        <p:nvSpPr>
          <p:cNvPr id="10" name="Text 8"/>
          <p:cNvSpPr/>
          <p:nvPr/>
        </p:nvSpPr>
        <p:spPr>
          <a:xfrm>
            <a:off x="6092176" y="2913757"/>
            <a:ext cx="5444294" cy="1855887"/>
          </a:xfrm>
          <a:prstGeom prst="rect">
            <a:avLst/>
          </a:prstGeom>
          <a:noFill/>
          <a:ln/>
        </p:spPr>
        <p:txBody>
          <a:bodyPr wrap="square" lIns="0" tIns="0" rIns="0" bIns="0" rtlCol="0" anchor="t">
            <a:normAutofit/>
          </a:bodyPr>
          <a:lstStyle/>
          <a:p>
            <a:pPr algn="l" indent="0" marL="0">
              <a:lnSpc>
                <a:spcPct val="117000"/>
              </a:lnSpc>
              <a:spcAft>
                <a:spcPts val="900"/>
              </a:spcAft>
              <a:buNone/>
            </a:pPr>
            <a:r>
              <a:rPr lang="en-US" sz="1350" dirty="0">
                <a:solidFill>
                  <a:srgbClr val="3B3535"/>
                </a:solidFill>
                <a:latin typeface="Roboto" pitchFamily="34" charset="0"/>
                <a:ea typeface="Roboto" pitchFamily="34" charset="-122"/>
                <a:cs typeface="Roboto" pitchFamily="34" charset="-120"/>
              </a:rPr>
              <a:t>Modelos gigantescos entrenados con datos a gran escala que adquieren una </a:t>
            </a:r>
            <a:pPr algn="l" indent="0" marL="0">
              <a:lnSpc>
                <a:spcPct val="117000"/>
              </a:lnSpc>
              <a:spcAft>
                <a:spcPts val="900"/>
              </a:spcAft>
              <a:buNone/>
            </a:pPr>
            <a:r>
              <a:rPr lang="en-US" sz="1350" b="1" dirty="0">
                <a:solidFill>
                  <a:srgbClr val="3B3535"/>
                </a:solidFill>
                <a:latin typeface="Roboto Bold" pitchFamily="34" charset="0"/>
                <a:ea typeface="Roboto Bold" pitchFamily="34" charset="-122"/>
                <a:cs typeface="Roboto Bold" pitchFamily="34" charset="-120"/>
              </a:rPr>
              <a:t>comprensión general del mundo</a:t>
            </a:r>
            <a:pPr algn="l" indent="0" marL="0">
              <a:lnSpc>
                <a:spcPct val="117000"/>
              </a:lnSpc>
              <a:spcAft>
                <a:spcPts val="900"/>
              </a:spcAft>
              <a:buNone/>
            </a:pPr>
            <a:r>
              <a:rPr lang="en-US" sz="1350" dirty="0">
                <a:solidFill>
                  <a:srgbClr val="3B3535"/>
                </a:solidFill>
                <a:latin typeface="Roboto" pitchFamily="34" charset="0"/>
                <a:ea typeface="Roboto" pitchFamily="34" charset="-122"/>
                <a:cs typeface="Roboto" pitchFamily="34" charset="-120"/>
              </a:rPr>
              <a:t> y se adaptan a múltiples tareas: traducir texto, escribir código, analizar contratos legales o generar imágenes.</a:t>
            </a:r>
            <a:endParaRPr lang="en-US" sz="1350" dirty="0"/>
          </a:p>
          <a:p>
            <a:pPr algn="l" indent="0" marL="0">
              <a:lnSpc>
                <a:spcPct val="117000"/>
              </a:lnSpc>
              <a:buNone/>
            </a:pPr>
            <a:r>
              <a:rPr lang="en-US" sz="1350" dirty="0">
                <a:solidFill>
                  <a:srgbClr val="3B3535"/>
                </a:solidFill>
                <a:latin typeface="Roboto" pitchFamily="34" charset="0"/>
                <a:ea typeface="Roboto" pitchFamily="34" charset="-122"/>
                <a:cs typeface="Roboto" pitchFamily="34" charset="-120"/>
              </a:rPr>
              <a:t>Se exponen como SaaS o se pueden correr localmente. No es necesario tener un data science en tu empresa para empezar a hacer uso de los mismos.</a:t>
            </a:r>
            <a:endParaRPr lang="en-US" sz="1350" dirty="0"/>
          </a:p>
        </p:txBody>
      </p:sp>
      <p:sp>
        <p:nvSpPr>
          <p:cNvPr id="11" name="Shape 9"/>
          <p:cNvSpPr/>
          <p:nvPr/>
        </p:nvSpPr>
        <p:spPr>
          <a:xfrm>
            <a:off x="6092176" y="4919067"/>
            <a:ext cx="5444294" cy="823714"/>
          </a:xfrm>
          <a:prstGeom prst="roundRect">
            <a:avLst>
              <a:gd name="adj" fmla="val 925"/>
            </a:avLst>
          </a:prstGeom>
          <a:solidFill>
            <a:srgbClr val="F9D2D6"/>
          </a:solidFill>
          <a:ln/>
        </p:spPr>
      </p:sp>
      <p:pic>
        <p:nvPicPr>
          <p:cNvPr id="12" name="Image 0" descr="preencoded.png">    </p:cNvPr>
          <p:cNvPicPr>
            <a:picLocks noChangeAspect="1"/>
          </p:cNvPicPr>
          <p:nvPr/>
        </p:nvPicPr>
        <p:blipFill>
          <a:blip r:embed="rId1"/>
          <a:stretch>
            <a:fillRect/>
          </a:stretch>
        </p:blipFill>
        <p:spPr>
          <a:xfrm>
            <a:off x="6269377" y="5169595"/>
            <a:ext cx="221451" cy="177205"/>
          </a:xfrm>
          <a:prstGeom prst="rect">
            <a:avLst/>
          </a:prstGeom>
        </p:spPr>
      </p:pic>
      <p:sp>
        <p:nvSpPr>
          <p:cNvPr id="13" name="Text 10"/>
          <p:cNvSpPr/>
          <p:nvPr/>
        </p:nvSpPr>
        <p:spPr>
          <a:xfrm>
            <a:off x="6668028" y="5082877"/>
            <a:ext cx="4691243" cy="496094"/>
          </a:xfrm>
          <a:prstGeom prst="rect">
            <a:avLst/>
          </a:prstGeom>
          <a:noFill/>
          <a:ln/>
        </p:spPr>
        <p:txBody>
          <a:bodyPr wrap="square" lIns="0" tIns="0" rIns="0" bIns="0" rtlCol="0" anchor="t">
            <a:normAutofit/>
          </a:bodyPr>
          <a:lstStyle/>
          <a:p>
            <a:pPr algn="l" indent="0" marL="0">
              <a:lnSpc>
                <a:spcPct val="117000"/>
              </a:lnSpc>
              <a:buNone/>
            </a:pPr>
            <a:r>
              <a:rPr lang="en-US" sz="1350" dirty="0">
                <a:solidFill>
                  <a:srgbClr val="000000"/>
                </a:solidFill>
                <a:latin typeface="Roboto" pitchFamily="34" charset="0"/>
                <a:ea typeface="Roboto" pitchFamily="34" charset="-122"/>
                <a:cs typeface="Roboto" pitchFamily="34" charset="-120"/>
              </a:rPr>
              <a:t>Lectura recomendada: </a:t>
            </a:r>
            <a:pPr algn="l" indent="0" marL="0">
              <a:lnSpc>
                <a:spcPct val="117000"/>
              </a:lnSpc>
              <a:buNone/>
            </a:pPr>
            <a:r>
              <a:rPr lang="en-US" sz="1350" b="1" u="sng" dirty="0">
                <a:solidFill>
                  <a:srgbClr val="DA1B2E"/>
                </a:solidFill>
                <a:latin typeface="Roboto Bold" pitchFamily="34" charset="0"/>
                <a:ea typeface="Roboto Bold" pitchFamily="34" charset="-122"/>
                <a:cs typeface="Roboto Bold" pitchFamily="34" charset="-120"/>
                <a:hlinkClick r:id="rId2" invalidUrl="" action="" tgtFrame="" tooltip="" history="1" highlightClick="0" endSnd="0">
                  <a:extLst>
                    <a:ext uri="{A12FA001-AC4F-418D-AE19-62706E023703}">
                      <ahyp:hlinkClr xmlns:ahyp="http://schemas.microsoft.com/office/drawing/2018/hyperlinkcolor" val="tx"/>
                    </a:ext>
                  </a:extLst>
                </a:hlinkClick>
              </a:rPr>
              <a:t>On the Opportunities and Risks of Foundation Models (Stanford HAI, arXiv:2108.07258)</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661475" y="762695"/>
            <a:ext cx="10868745" cy="404912"/>
          </a:xfrm>
          <a:prstGeom prst="rect">
            <a:avLst/>
          </a:prstGeom>
          <a:noFill/>
          <a:ln/>
        </p:spPr>
        <p:txBody>
          <a:bodyPr wrap="none" lIns="0" tIns="0" rIns="0" bIns="0" rtlCol="0" anchor="t"/>
          <a:lstStyle/>
          <a:p>
            <a:pPr algn="l" indent="0" marL="0">
              <a:lnSpc>
                <a:spcPct val="104000"/>
              </a:lnSpc>
              <a:buNone/>
            </a:pPr>
            <a:r>
              <a:rPr lang="en-US" sz="2550" dirty="0">
                <a:solidFill>
                  <a:srgbClr val="1F1E1E"/>
                </a:solidFill>
                <a:latin typeface="Roboto Mono Medium" pitchFamily="34" charset="0"/>
                <a:ea typeface="Roboto Mono Medium" pitchFamily="34" charset="-122"/>
                <a:cs typeface="Roboto Mono Medium" pitchFamily="34" charset="-120"/>
              </a:rPr>
              <a:t>Paradigmas de Aprendizaje</a:t>
            </a:r>
            <a:endParaRPr lang="en-US" sz="2550" dirty="0"/>
          </a:p>
        </p:txBody>
      </p:sp>
      <p:sp>
        <p:nvSpPr>
          <p:cNvPr id="3" name="Text 1"/>
          <p:cNvSpPr/>
          <p:nvPr/>
        </p:nvSpPr>
        <p:spPr>
          <a:xfrm>
            <a:off x="661475" y="1195983"/>
            <a:ext cx="10868745" cy="202505"/>
          </a:xfrm>
          <a:prstGeom prst="rect">
            <a:avLst/>
          </a:prstGeom>
          <a:noFill/>
          <a:ln/>
        </p:spPr>
        <p:txBody>
          <a:bodyPr wrap="none" lIns="0" tIns="0" rIns="0" bIns="0" rtlCol="0" anchor="t"/>
          <a:lstStyle/>
          <a:p>
            <a:pPr algn="l" indent="0" marL="0">
              <a:lnSpc>
                <a:spcPct val="104000"/>
              </a:lnSpc>
              <a:buNone/>
            </a:pPr>
            <a:r>
              <a:rPr lang="en-US" sz="1250" dirty="0">
                <a:solidFill>
                  <a:srgbClr val="1F1E1E"/>
                </a:solidFill>
                <a:latin typeface="Roboto Mono Medium" pitchFamily="34" charset="0"/>
                <a:ea typeface="Roboto Mono Medium" pitchFamily="34" charset="-122"/>
                <a:cs typeface="Roboto Mono Medium" pitchFamily="34" charset="-120"/>
              </a:rPr>
              <a:t>¿Cómo aprenden las máquinas?</a:t>
            </a:r>
            <a:endParaRPr lang="en-US" sz="12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505049"/>
            <a:ext cx="323941" cy="323949"/>
          </a:xfrm>
          <a:prstGeom prst="rect">
            <a:avLst/>
          </a:prstGeom>
        </p:spPr>
      </p:pic>
      <p:sp>
        <p:nvSpPr>
          <p:cNvPr id="5" name="Text 2"/>
          <p:cNvSpPr/>
          <p:nvPr/>
        </p:nvSpPr>
        <p:spPr>
          <a:xfrm>
            <a:off x="1074215" y="1505049"/>
            <a:ext cx="3150910" cy="202505"/>
          </a:xfrm>
          <a:prstGeom prst="rect">
            <a:avLst/>
          </a:prstGeom>
          <a:noFill/>
          <a:ln/>
        </p:spPr>
        <p:txBody>
          <a:bodyPr wrap="none" lIns="0" tIns="0" rIns="0" bIns="0" rtlCol="0" anchor="t"/>
          <a:lstStyle/>
          <a:p>
            <a:pPr algn="l" indent="0" marL="0">
              <a:lnSpc>
                <a:spcPct val="104000"/>
              </a:lnSpc>
              <a:buNone/>
            </a:pPr>
            <a:r>
              <a:rPr lang="en-US" sz="1250" dirty="0">
                <a:solidFill>
                  <a:srgbClr val="3B3535"/>
                </a:solidFill>
                <a:latin typeface="Roboto Mono Medium" pitchFamily="34" charset="0"/>
                <a:ea typeface="Roboto Mono Medium" pitchFamily="34" charset="-122"/>
                <a:cs typeface="Roboto Mono Medium" pitchFamily="34" charset="-120"/>
              </a:rPr>
              <a:t>Supervisado</a:t>
            </a:r>
            <a:endParaRPr lang="en-US" sz="1250" dirty="0"/>
          </a:p>
        </p:txBody>
      </p:sp>
      <p:sp>
        <p:nvSpPr>
          <p:cNvPr id="6" name="Text 3"/>
          <p:cNvSpPr/>
          <p:nvPr/>
        </p:nvSpPr>
        <p:spPr>
          <a:xfrm>
            <a:off x="1074215" y="1750120"/>
            <a:ext cx="3150910" cy="1357908"/>
          </a:xfrm>
          <a:prstGeom prst="rect">
            <a:avLst/>
          </a:prstGeom>
          <a:noFill/>
          <a:ln/>
        </p:spPr>
        <p:txBody>
          <a:bodyPr wrap="square" lIns="0" tIns="0" rIns="0" bIns="0" rtlCol="0" anchor="t">
            <a:normAutofit/>
          </a:bodyPr>
          <a:lstStyle/>
          <a:p>
            <a:pPr algn="l" marL="203200" indent="-203200">
              <a:lnSpc>
                <a:spcPct val="103000"/>
              </a:lnSpc>
              <a:buSzPct val="100000"/>
              <a:buChar char="•"/>
            </a:pPr>
            <a:r>
              <a:rPr lang="en-US" sz="1000" b="1" dirty="0">
                <a:solidFill>
                  <a:srgbClr val="3B3535"/>
                </a:solidFill>
                <a:latin typeface="Roboto Bold" pitchFamily="34" charset="0"/>
                <a:ea typeface="Roboto Bold" pitchFamily="34" charset="-122"/>
                <a:cs typeface="Roboto Bold" pitchFamily="34" charset="-120"/>
              </a:rPr>
              <a:t>Definición:</a:t>
            </a:r>
            <a:pPr algn="l" marL="203200" indent="-203200">
              <a:lnSpc>
                <a:spcPct val="103000"/>
              </a:lnSpc>
              <a:buSzPct val="100000"/>
              <a:buChar char="•"/>
            </a:pPr>
            <a:r>
              <a:rPr lang="en-US" sz="1000" dirty="0">
                <a:solidFill>
                  <a:srgbClr val="3B3535"/>
                </a:solidFill>
                <a:latin typeface="Roboto" pitchFamily="34" charset="0"/>
                <a:ea typeface="Roboto" pitchFamily="34" charset="-122"/>
                <a:cs typeface="Roboto" pitchFamily="34" charset="-120"/>
              </a:rPr>
              <a:t> Requiere pares (X, Y) etiquetados por humanos.</a:t>
            </a:r>
            <a:endParaRPr lang="en-US" sz="1000" dirty="0"/>
          </a:p>
          <a:p>
            <a:pPr algn="l" marL="203200" indent="-203200">
              <a:lnSpc>
                <a:spcPct val="103000"/>
              </a:lnSpc>
              <a:buSzPct val="100000"/>
              <a:buChar char="•"/>
            </a:pPr>
            <a:r>
              <a:rPr lang="en-US" sz="1000" b="1" dirty="0">
                <a:solidFill>
                  <a:srgbClr val="3B3535"/>
                </a:solidFill>
                <a:latin typeface="Roboto Bold" pitchFamily="34" charset="0"/>
                <a:ea typeface="Roboto Bold" pitchFamily="34" charset="-122"/>
                <a:cs typeface="Roboto Bold" pitchFamily="34" charset="-120"/>
              </a:rPr>
              <a:t>Dataset:</a:t>
            </a:r>
            <a:pPr algn="l" marL="203200" indent="-203200">
              <a:lnSpc>
                <a:spcPct val="103000"/>
              </a:lnSpc>
              <a:buSzPct val="100000"/>
              <a:buChar char="•"/>
            </a:pPr>
            <a:r>
              <a:rPr lang="en-US" sz="1000" dirty="0">
                <a:solidFill>
                  <a:srgbClr val="3B3535"/>
                </a:solidFill>
                <a:latin typeface="Roboto" pitchFamily="34" charset="0"/>
                <a:ea typeface="Roboto" pitchFamily="34" charset="-122"/>
                <a:cs typeface="Roboto" pitchFamily="34" charset="-120"/>
              </a:rPr>
              <a:t> limpio, balanceado y representativo. Cuanto más grande y diverso, mejor generaliza.</a:t>
            </a:r>
            <a:endParaRPr lang="en-US" sz="1000" dirty="0"/>
          </a:p>
          <a:p>
            <a:pPr algn="l" marL="203200" indent="-203200">
              <a:lnSpc>
                <a:spcPct val="103000"/>
              </a:lnSpc>
              <a:buSzPct val="100000"/>
              <a:buChar char="•"/>
            </a:pPr>
            <a:r>
              <a:rPr lang="en-US" sz="1000" b="1" dirty="0">
                <a:solidFill>
                  <a:srgbClr val="3B3535"/>
                </a:solidFill>
                <a:latin typeface="Roboto Bold" pitchFamily="34" charset="0"/>
                <a:ea typeface="Roboto Bold" pitchFamily="34" charset="-122"/>
                <a:cs typeface="Roboto Bold" pitchFamily="34" charset="-120"/>
              </a:rPr>
              <a:t>Ejemplos:</a:t>
            </a:r>
            <a:pPr algn="l" marL="203200" indent="-203200">
              <a:lnSpc>
                <a:spcPct val="103000"/>
              </a:lnSpc>
              <a:buSzPct val="100000"/>
              <a:buChar char="•"/>
            </a:pPr>
            <a:r>
              <a:rPr lang="en-US" sz="1000" dirty="0">
                <a:solidFill>
                  <a:srgbClr val="3B3535"/>
                </a:solidFill>
                <a:latin typeface="Roboto" pitchFamily="34" charset="0"/>
                <a:ea typeface="Roboto" pitchFamily="34" charset="-122"/>
                <a:cs typeface="Roboto" pitchFamily="34" charset="-120"/>
              </a:rPr>
              <a:t> Imagen → tumor/no tumor · Transacción → fraude/normal</a:t>
            </a:r>
            <a:endParaRPr lang="en-US" sz="1000" dirty="0"/>
          </a:p>
          <a:p>
            <a:pPr algn="l" marL="203200" indent="-203200">
              <a:lnSpc>
                <a:spcPct val="103000"/>
              </a:lnSpc>
              <a:buSzPct val="100000"/>
              <a:buChar char="•"/>
            </a:pPr>
            <a:r>
              <a:rPr lang="en-US" sz="1000" b="1" dirty="0">
                <a:solidFill>
                  <a:srgbClr val="3B3535"/>
                </a:solidFill>
                <a:latin typeface="Roboto Bold" pitchFamily="34" charset="0"/>
                <a:ea typeface="Roboto Bold" pitchFamily="34" charset="-122"/>
                <a:cs typeface="Roboto Bold" pitchFamily="34" charset="-120"/>
              </a:rPr>
              <a:t>Casos:</a:t>
            </a:r>
            <a:pPr algn="l" marL="203200" indent="-203200">
              <a:lnSpc>
                <a:spcPct val="103000"/>
              </a:lnSpc>
              <a:buSzPct val="100000"/>
              <a:buChar char="•"/>
            </a:pPr>
            <a:r>
              <a:rPr lang="en-US" sz="1000" dirty="0">
                <a:solidFill>
                  <a:srgbClr val="3B3535"/>
                </a:solidFill>
                <a:latin typeface="Roboto" pitchFamily="34" charset="0"/>
                <a:ea typeface="Roboto" pitchFamily="34" charset="-122"/>
                <a:cs typeface="Roboto" pitchFamily="34" charset="-120"/>
              </a:rPr>
              <a:t> Diagnóstico médico asistido · Detección de fraude bancario</a:t>
            </a:r>
            <a:endParaRPr lang="en-US" sz="100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13923" y="1505049"/>
            <a:ext cx="323941" cy="323949"/>
          </a:xfrm>
          <a:prstGeom prst="rect">
            <a:avLst/>
          </a:prstGeom>
        </p:spPr>
      </p:pic>
      <p:sp>
        <p:nvSpPr>
          <p:cNvPr id="8" name="Text 4"/>
          <p:cNvSpPr/>
          <p:nvPr/>
        </p:nvSpPr>
        <p:spPr>
          <a:xfrm>
            <a:off x="4726663" y="1505049"/>
            <a:ext cx="3151009" cy="202505"/>
          </a:xfrm>
          <a:prstGeom prst="rect">
            <a:avLst/>
          </a:prstGeom>
          <a:noFill/>
          <a:ln/>
        </p:spPr>
        <p:txBody>
          <a:bodyPr wrap="none" lIns="0" tIns="0" rIns="0" bIns="0" rtlCol="0" anchor="t"/>
          <a:lstStyle/>
          <a:p>
            <a:pPr algn="l" indent="0" marL="0">
              <a:lnSpc>
                <a:spcPct val="104000"/>
              </a:lnSpc>
              <a:buNone/>
            </a:pPr>
            <a:r>
              <a:rPr lang="en-US" sz="1250" dirty="0">
                <a:solidFill>
                  <a:srgbClr val="3B3535"/>
                </a:solidFill>
                <a:latin typeface="Roboto Mono Medium" pitchFamily="34" charset="0"/>
                <a:ea typeface="Roboto Mono Medium" pitchFamily="34" charset="-122"/>
                <a:cs typeface="Roboto Mono Medium" pitchFamily="34" charset="-120"/>
              </a:rPr>
              <a:t>No Supervisado</a:t>
            </a:r>
            <a:endParaRPr lang="en-US" sz="1250" dirty="0"/>
          </a:p>
        </p:txBody>
      </p:sp>
      <p:sp>
        <p:nvSpPr>
          <p:cNvPr id="9" name="Text 5"/>
          <p:cNvSpPr/>
          <p:nvPr/>
        </p:nvSpPr>
        <p:spPr>
          <a:xfrm>
            <a:off x="4726663" y="1750120"/>
            <a:ext cx="3151009" cy="1357908"/>
          </a:xfrm>
          <a:prstGeom prst="rect">
            <a:avLst/>
          </a:prstGeom>
          <a:noFill/>
          <a:ln/>
        </p:spPr>
        <p:txBody>
          <a:bodyPr wrap="square" lIns="0" tIns="0" rIns="0" bIns="0" rtlCol="0" anchor="t">
            <a:normAutofit/>
          </a:bodyPr>
          <a:lstStyle/>
          <a:p>
            <a:pPr algn="l" marL="203200" indent="-203200">
              <a:lnSpc>
                <a:spcPct val="103000"/>
              </a:lnSpc>
              <a:buSzPct val="100000"/>
              <a:buChar char="•"/>
            </a:pPr>
            <a:r>
              <a:rPr lang="en-US" sz="1000" b="1" dirty="0">
                <a:solidFill>
                  <a:srgbClr val="3B3535"/>
                </a:solidFill>
                <a:latin typeface="Roboto Bold" pitchFamily="34" charset="0"/>
                <a:ea typeface="Roboto Bold" pitchFamily="34" charset="-122"/>
                <a:cs typeface="Roboto Bold" pitchFamily="34" charset="-120"/>
              </a:rPr>
              <a:t>Definición:</a:t>
            </a:r>
            <a:pPr algn="l" marL="203200" indent="-203200">
              <a:lnSpc>
                <a:spcPct val="103000"/>
              </a:lnSpc>
              <a:buSzPct val="100000"/>
              <a:buChar char="•"/>
            </a:pPr>
            <a:r>
              <a:rPr lang="en-US" sz="1000" dirty="0">
                <a:solidFill>
                  <a:srgbClr val="3B3535"/>
                </a:solidFill>
                <a:latin typeface="Roboto" pitchFamily="34" charset="0"/>
                <a:ea typeface="Roboto" pitchFamily="34" charset="-122"/>
                <a:cs typeface="Roboto" pitchFamily="34" charset="-120"/>
              </a:rPr>
              <a:t> Solo entradas X, sin etiquetas. El modelo descubre estructura latente.</a:t>
            </a:r>
            <a:endParaRPr lang="en-US" sz="1000" dirty="0"/>
          </a:p>
          <a:p>
            <a:pPr algn="l" marL="203200" indent="-203200">
              <a:lnSpc>
                <a:spcPct val="103000"/>
              </a:lnSpc>
              <a:buSzPct val="100000"/>
              <a:buChar char="•"/>
            </a:pPr>
            <a:r>
              <a:rPr lang="en-US" sz="1000" b="1" dirty="0">
                <a:solidFill>
                  <a:srgbClr val="3B3535"/>
                </a:solidFill>
                <a:latin typeface="Roboto Bold" pitchFamily="34" charset="0"/>
                <a:ea typeface="Roboto Bold" pitchFamily="34" charset="-122"/>
                <a:cs typeface="Roboto Bold" pitchFamily="34" charset="-120"/>
              </a:rPr>
              <a:t>Dataset:</a:t>
            </a:r>
            <a:pPr algn="l" marL="203200" indent="-203200">
              <a:lnSpc>
                <a:spcPct val="103000"/>
              </a:lnSpc>
              <a:buSzPct val="100000"/>
              <a:buChar char="•"/>
            </a:pPr>
            <a:r>
              <a:rPr lang="en-US" sz="1000" dirty="0">
                <a:solidFill>
                  <a:srgbClr val="3B3535"/>
                </a:solidFill>
                <a:latin typeface="Roboto" pitchFamily="34" charset="0"/>
                <a:ea typeface="Roboto" pitchFamily="34" charset="-122"/>
                <a:cs typeface="Roboto" pitchFamily="34" charset="-120"/>
              </a:rPr>
              <a:t> no requiere anotación, pero sí limpieza y normalización. Sensible a outliers y ruido.</a:t>
            </a:r>
            <a:endParaRPr lang="en-US" sz="1000" dirty="0"/>
          </a:p>
          <a:p>
            <a:pPr algn="l" marL="203200" indent="-203200">
              <a:lnSpc>
                <a:spcPct val="103000"/>
              </a:lnSpc>
              <a:buSzPct val="100000"/>
              <a:buChar char="•"/>
            </a:pPr>
            <a:r>
              <a:rPr lang="en-US" sz="1000" b="1" dirty="0">
                <a:solidFill>
                  <a:srgbClr val="3B3535"/>
                </a:solidFill>
                <a:latin typeface="Roboto Bold" pitchFamily="34" charset="0"/>
                <a:ea typeface="Roboto Bold" pitchFamily="34" charset="-122"/>
                <a:cs typeface="Roboto Bold" pitchFamily="34" charset="-120"/>
              </a:rPr>
              <a:t>Ejemplos:</a:t>
            </a:r>
            <a:pPr algn="l" marL="203200" indent="-203200">
              <a:lnSpc>
                <a:spcPct val="103000"/>
              </a:lnSpc>
              <a:buSzPct val="100000"/>
              <a:buChar char="•"/>
            </a:pPr>
            <a:r>
              <a:rPr lang="en-US" sz="1000" dirty="0">
                <a:solidFill>
                  <a:srgbClr val="3B3535"/>
                </a:solidFill>
                <a:latin typeface="Roboto" pitchFamily="34" charset="0"/>
                <a:ea typeface="Roboto" pitchFamily="34" charset="-122"/>
                <a:cs typeface="Roboto" pitchFamily="34" charset="-120"/>
              </a:rPr>
              <a:t> Agrupar clientes por comportamiento · Detectar anomalías sin etiquetas</a:t>
            </a:r>
            <a:endParaRPr lang="en-US" sz="1000" dirty="0"/>
          </a:p>
          <a:p>
            <a:pPr algn="l" marL="203200" indent="-203200">
              <a:lnSpc>
                <a:spcPct val="103000"/>
              </a:lnSpc>
              <a:buSzPct val="100000"/>
              <a:buChar char="•"/>
            </a:pPr>
            <a:r>
              <a:rPr lang="en-US" sz="1000" b="1" dirty="0">
                <a:solidFill>
                  <a:srgbClr val="3B3535"/>
                </a:solidFill>
                <a:latin typeface="Roboto Bold" pitchFamily="34" charset="0"/>
                <a:ea typeface="Roboto Bold" pitchFamily="34" charset="-122"/>
                <a:cs typeface="Roboto Bold" pitchFamily="34" charset="-120"/>
              </a:rPr>
              <a:t>Casos:</a:t>
            </a:r>
            <a:pPr algn="l" marL="203200" indent="-203200">
              <a:lnSpc>
                <a:spcPct val="103000"/>
              </a:lnSpc>
              <a:buSzPct val="100000"/>
              <a:buChar char="•"/>
            </a:pPr>
            <a:r>
              <a:rPr lang="en-US" sz="1000" dirty="0">
                <a:solidFill>
                  <a:srgbClr val="3B3535"/>
                </a:solidFill>
                <a:latin typeface="Roboto" pitchFamily="34" charset="0"/>
                <a:ea typeface="Roboto" pitchFamily="34" charset="-122"/>
                <a:cs typeface="Roboto" pitchFamily="34" charset="-120"/>
              </a:rPr>
              <a:t> Segmentación en retail · Análisis exploratorio de riesgo financiero</a:t>
            </a:r>
            <a:endParaRPr lang="en-US" sz="100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66471" y="1505049"/>
            <a:ext cx="323941" cy="323949"/>
          </a:xfrm>
          <a:prstGeom prst="rect">
            <a:avLst/>
          </a:prstGeom>
        </p:spPr>
      </p:pic>
      <p:sp>
        <p:nvSpPr>
          <p:cNvPr id="11" name="Text 6"/>
          <p:cNvSpPr/>
          <p:nvPr/>
        </p:nvSpPr>
        <p:spPr>
          <a:xfrm>
            <a:off x="8379211" y="1505049"/>
            <a:ext cx="3151009" cy="202505"/>
          </a:xfrm>
          <a:prstGeom prst="rect">
            <a:avLst/>
          </a:prstGeom>
          <a:noFill/>
          <a:ln/>
        </p:spPr>
        <p:txBody>
          <a:bodyPr wrap="none" lIns="0" tIns="0" rIns="0" bIns="0" rtlCol="0" anchor="t"/>
          <a:lstStyle/>
          <a:p>
            <a:pPr algn="l" indent="0" marL="0">
              <a:lnSpc>
                <a:spcPct val="104000"/>
              </a:lnSpc>
              <a:buNone/>
            </a:pPr>
            <a:r>
              <a:rPr lang="en-US" sz="1250" dirty="0">
                <a:solidFill>
                  <a:srgbClr val="3B3535"/>
                </a:solidFill>
                <a:latin typeface="Roboto Mono Medium" pitchFamily="34" charset="0"/>
                <a:ea typeface="Roboto Mono Medium" pitchFamily="34" charset="-122"/>
                <a:cs typeface="Roboto Mono Medium" pitchFamily="34" charset="-120"/>
              </a:rPr>
              <a:t>Self-Supervised</a:t>
            </a:r>
            <a:endParaRPr lang="en-US" sz="1250" dirty="0"/>
          </a:p>
        </p:txBody>
      </p:sp>
      <p:sp>
        <p:nvSpPr>
          <p:cNvPr id="12" name="Text 7"/>
          <p:cNvSpPr/>
          <p:nvPr/>
        </p:nvSpPr>
        <p:spPr>
          <a:xfrm>
            <a:off x="8379211" y="1750120"/>
            <a:ext cx="3151009" cy="1678781"/>
          </a:xfrm>
          <a:prstGeom prst="rect">
            <a:avLst/>
          </a:prstGeom>
          <a:noFill/>
          <a:ln/>
        </p:spPr>
        <p:txBody>
          <a:bodyPr wrap="square" lIns="0" tIns="0" rIns="0" bIns="0" rtlCol="0" anchor="t">
            <a:normAutofit/>
          </a:bodyPr>
          <a:lstStyle/>
          <a:p>
            <a:pPr algn="l" marL="203200" indent="-203200">
              <a:lnSpc>
                <a:spcPct val="103000"/>
              </a:lnSpc>
              <a:buSzPct val="100000"/>
              <a:buChar char="•"/>
            </a:pPr>
            <a:r>
              <a:rPr lang="en-US" sz="1000" b="1" dirty="0">
                <a:solidFill>
                  <a:srgbClr val="3B3535"/>
                </a:solidFill>
                <a:latin typeface="Roboto Bold" pitchFamily="34" charset="0"/>
                <a:ea typeface="Roboto Bold" pitchFamily="34" charset="-122"/>
                <a:cs typeface="Roboto Bold" pitchFamily="34" charset="-120"/>
              </a:rPr>
              <a:t>Definición:</a:t>
            </a:r>
            <a:pPr algn="l" marL="203200" indent="-203200">
              <a:lnSpc>
                <a:spcPct val="103000"/>
              </a:lnSpc>
              <a:buSzPct val="100000"/>
              <a:buChar char="•"/>
            </a:pPr>
            <a:r>
              <a:rPr lang="en-US" sz="1000" dirty="0">
                <a:solidFill>
                  <a:srgbClr val="3B3535"/>
                </a:solidFill>
                <a:latin typeface="Roboto" pitchFamily="34" charset="0"/>
                <a:ea typeface="Roboto" pitchFamily="34" charset="-122"/>
                <a:cs typeface="Roboto" pitchFamily="34" charset="-120"/>
              </a:rPr>
              <a:t> El propio dato genera las etiquetas (ej: predecir la próxima palabra). Permite usar billones de ejemplos sin anotación humana. Base del preentrenamiento de LLMs.</a:t>
            </a:r>
            <a:endParaRPr lang="en-US" sz="1000" dirty="0"/>
          </a:p>
          <a:p>
            <a:pPr algn="l" marL="203200" indent="-203200">
              <a:lnSpc>
                <a:spcPct val="103000"/>
              </a:lnSpc>
              <a:buSzPct val="100000"/>
              <a:buChar char="•"/>
            </a:pPr>
            <a:r>
              <a:rPr lang="en-US" sz="1000" b="1" dirty="0">
                <a:solidFill>
                  <a:srgbClr val="3B3535"/>
                </a:solidFill>
                <a:latin typeface="Roboto Bold" pitchFamily="34" charset="0"/>
                <a:ea typeface="Roboto Bold" pitchFamily="34" charset="-122"/>
                <a:cs typeface="Roboto Bold" pitchFamily="34" charset="-120"/>
              </a:rPr>
              <a:t>Dataset:</a:t>
            </a:r>
            <a:pPr algn="l" marL="203200" indent="-203200">
              <a:lnSpc>
                <a:spcPct val="103000"/>
              </a:lnSpc>
              <a:buSzPct val="100000"/>
              <a:buChar char="•"/>
            </a:pPr>
            <a:r>
              <a:rPr lang="en-US" sz="1000" dirty="0">
                <a:solidFill>
                  <a:srgbClr val="3B3535"/>
                </a:solidFill>
                <a:latin typeface="Roboto" pitchFamily="34" charset="0"/>
                <a:ea typeface="Roboto" pitchFamily="34" charset="-122"/>
                <a:cs typeface="Roboto" pitchFamily="34" charset="-120"/>
              </a:rPr>
              <a:t> masivo, diverso, sin curar necesariamente.</a:t>
            </a:r>
            <a:endParaRPr lang="en-US" sz="1000" dirty="0"/>
          </a:p>
          <a:p>
            <a:pPr algn="l" marL="203200" indent="-203200">
              <a:lnSpc>
                <a:spcPct val="103000"/>
              </a:lnSpc>
              <a:buSzPct val="100000"/>
              <a:buChar char="•"/>
            </a:pPr>
            <a:r>
              <a:rPr lang="en-US" sz="1000" b="1" dirty="0">
                <a:solidFill>
                  <a:srgbClr val="3B3535"/>
                </a:solidFill>
                <a:latin typeface="Roboto Bold" pitchFamily="34" charset="0"/>
                <a:ea typeface="Roboto Bold" pitchFamily="34" charset="-122"/>
                <a:cs typeface="Roboto Bold" pitchFamily="34" charset="-120"/>
              </a:rPr>
              <a:t>Ejemplos:</a:t>
            </a:r>
            <a:pPr algn="l" marL="203200" indent="-203200">
              <a:lnSpc>
                <a:spcPct val="103000"/>
              </a:lnSpc>
              <a:buSzPct val="100000"/>
              <a:buChar char="•"/>
            </a:pPr>
            <a:r>
              <a:rPr lang="en-US" sz="1000" dirty="0">
                <a:solidFill>
                  <a:srgbClr val="3B3535"/>
                </a:solidFill>
                <a:latin typeface="Roboto" pitchFamily="34" charset="0"/>
                <a:ea typeface="Roboto" pitchFamily="34" charset="-122"/>
                <a:cs typeface="Roboto" pitchFamily="34" charset="-120"/>
              </a:rPr>
              <a:t> Predecir próxima palabra · Embeddings de imágenes sin etiquetas</a:t>
            </a:r>
            <a:endParaRPr lang="en-US" sz="1000" dirty="0"/>
          </a:p>
          <a:p>
            <a:pPr algn="l" marL="203200" indent="-203200">
              <a:lnSpc>
                <a:spcPct val="103000"/>
              </a:lnSpc>
              <a:buSzPct val="100000"/>
              <a:buChar char="•"/>
            </a:pPr>
            <a:r>
              <a:rPr lang="en-US" sz="1000" b="1" dirty="0">
                <a:solidFill>
                  <a:srgbClr val="3B3535"/>
                </a:solidFill>
                <a:latin typeface="Roboto Bold" pitchFamily="34" charset="0"/>
                <a:ea typeface="Roboto Bold" pitchFamily="34" charset="-122"/>
                <a:cs typeface="Roboto Bold" pitchFamily="34" charset="-120"/>
              </a:rPr>
              <a:t>Casos:</a:t>
            </a:r>
            <a:pPr algn="l" marL="203200" indent="-203200">
              <a:lnSpc>
                <a:spcPct val="103000"/>
              </a:lnSpc>
              <a:buSzPct val="100000"/>
              <a:buChar char="•"/>
            </a:pPr>
            <a:r>
              <a:rPr lang="en-US" sz="1000" dirty="0">
                <a:solidFill>
                  <a:srgbClr val="3B3535"/>
                </a:solidFill>
                <a:latin typeface="Roboto" pitchFamily="34" charset="0"/>
                <a:ea typeface="Roboto" pitchFamily="34" charset="-122"/>
                <a:cs typeface="Roboto" pitchFamily="34" charset="-120"/>
              </a:rPr>
              <a:t> Entrenamiento de LLMs · Búsqueda semántica corporativa</a:t>
            </a:r>
            <a:endParaRPr lang="en-US" sz="100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3570982"/>
            <a:ext cx="323941" cy="323949"/>
          </a:xfrm>
          <a:prstGeom prst="rect">
            <a:avLst/>
          </a:prstGeom>
        </p:spPr>
      </p:pic>
      <p:sp>
        <p:nvSpPr>
          <p:cNvPr id="14" name="Text 8"/>
          <p:cNvSpPr/>
          <p:nvPr/>
        </p:nvSpPr>
        <p:spPr>
          <a:xfrm>
            <a:off x="1074215" y="3570982"/>
            <a:ext cx="3150910" cy="202505"/>
          </a:xfrm>
          <a:prstGeom prst="rect">
            <a:avLst/>
          </a:prstGeom>
          <a:noFill/>
          <a:ln/>
        </p:spPr>
        <p:txBody>
          <a:bodyPr wrap="none" lIns="0" tIns="0" rIns="0" bIns="0" rtlCol="0" anchor="t"/>
          <a:lstStyle/>
          <a:p>
            <a:pPr algn="l" indent="0" marL="0">
              <a:lnSpc>
                <a:spcPct val="104000"/>
              </a:lnSpc>
              <a:buNone/>
            </a:pPr>
            <a:r>
              <a:rPr lang="en-US" sz="1250" dirty="0">
                <a:solidFill>
                  <a:srgbClr val="3B3535"/>
                </a:solidFill>
                <a:latin typeface="Roboto Mono Medium" pitchFamily="34" charset="0"/>
                <a:ea typeface="Roboto Mono Medium" pitchFamily="34" charset="-122"/>
                <a:cs typeface="Roboto Mono Medium" pitchFamily="34" charset="-120"/>
              </a:rPr>
              <a:t>Semi-Supervisado</a:t>
            </a:r>
            <a:endParaRPr lang="en-US" sz="1250" dirty="0"/>
          </a:p>
        </p:txBody>
      </p:sp>
      <p:sp>
        <p:nvSpPr>
          <p:cNvPr id="15" name="Text 9"/>
          <p:cNvSpPr/>
          <p:nvPr/>
        </p:nvSpPr>
        <p:spPr>
          <a:xfrm>
            <a:off x="1074215" y="3816052"/>
            <a:ext cx="3150910" cy="1678781"/>
          </a:xfrm>
          <a:prstGeom prst="rect">
            <a:avLst/>
          </a:prstGeom>
          <a:noFill/>
          <a:ln/>
        </p:spPr>
        <p:txBody>
          <a:bodyPr wrap="square" lIns="0" tIns="0" rIns="0" bIns="0" rtlCol="0" anchor="t">
            <a:normAutofit/>
          </a:bodyPr>
          <a:lstStyle/>
          <a:p>
            <a:pPr algn="l" marL="203200" indent="-203200">
              <a:lnSpc>
                <a:spcPct val="103000"/>
              </a:lnSpc>
              <a:buSzPct val="100000"/>
              <a:buChar char="•"/>
            </a:pPr>
            <a:r>
              <a:rPr lang="en-US" sz="1000" b="1" dirty="0">
                <a:solidFill>
                  <a:srgbClr val="3B3535"/>
                </a:solidFill>
                <a:latin typeface="Roboto Bold" pitchFamily="34" charset="0"/>
                <a:ea typeface="Roboto Bold" pitchFamily="34" charset="-122"/>
                <a:cs typeface="Roboto Bold" pitchFamily="34" charset="-120"/>
              </a:rPr>
              <a:t>Definición:</a:t>
            </a:r>
            <a:pPr algn="l" marL="203200" indent="-203200">
              <a:lnSpc>
                <a:spcPct val="103000"/>
              </a:lnSpc>
              <a:buSzPct val="100000"/>
              <a:buChar char="•"/>
            </a:pPr>
            <a:r>
              <a:rPr lang="en-US" sz="1000" dirty="0">
                <a:solidFill>
                  <a:srgbClr val="3B3535"/>
                </a:solidFill>
                <a:latin typeface="Roboto" pitchFamily="34" charset="0"/>
                <a:ea typeface="Roboto" pitchFamily="34" charset="-122"/>
                <a:cs typeface="Roboto" pitchFamily="34" charset="-120"/>
              </a:rPr>
              <a:t> Combina pocos datos etiquetados con muchos sin etiquetar. Ideal cuando etiquetar es costoso o escaso. El modelo propaga etiquetas a datos similares.</a:t>
            </a:r>
            <a:endParaRPr lang="en-US" sz="1000" dirty="0"/>
          </a:p>
          <a:p>
            <a:pPr algn="l" marL="203200" indent="-203200">
              <a:lnSpc>
                <a:spcPct val="103000"/>
              </a:lnSpc>
              <a:buSzPct val="100000"/>
              <a:buChar char="•"/>
            </a:pPr>
            <a:r>
              <a:rPr lang="en-US" sz="1000" b="1" dirty="0">
                <a:solidFill>
                  <a:srgbClr val="3B3535"/>
                </a:solidFill>
                <a:latin typeface="Roboto Bold" pitchFamily="34" charset="0"/>
                <a:ea typeface="Roboto Bold" pitchFamily="34" charset="-122"/>
                <a:cs typeface="Roboto Bold" pitchFamily="34" charset="-120"/>
              </a:rPr>
              <a:t>Dataset:</a:t>
            </a:r>
            <a:pPr algn="l" marL="203200" indent="-203200">
              <a:lnSpc>
                <a:spcPct val="103000"/>
              </a:lnSpc>
              <a:buSzPct val="100000"/>
              <a:buChar char="•"/>
            </a:pPr>
            <a:r>
              <a:rPr lang="en-US" sz="1000" dirty="0">
                <a:solidFill>
                  <a:srgbClr val="3B3535"/>
                </a:solidFill>
                <a:latin typeface="Roboto" pitchFamily="34" charset="0"/>
                <a:ea typeface="Roboto" pitchFamily="34" charset="-122"/>
                <a:cs typeface="Roboto" pitchFamily="34" charset="-120"/>
              </a:rPr>
              <a:t> 5–10% etiquetado + 90–95% sin etiquetar.</a:t>
            </a:r>
            <a:endParaRPr lang="en-US" sz="1000" dirty="0"/>
          </a:p>
          <a:p>
            <a:pPr algn="l" marL="203200" indent="-203200">
              <a:lnSpc>
                <a:spcPct val="103000"/>
              </a:lnSpc>
              <a:buSzPct val="100000"/>
              <a:buChar char="•"/>
            </a:pPr>
            <a:r>
              <a:rPr lang="en-US" sz="1000" b="1" dirty="0">
                <a:solidFill>
                  <a:srgbClr val="3B3535"/>
                </a:solidFill>
                <a:latin typeface="Roboto Bold" pitchFamily="34" charset="0"/>
                <a:ea typeface="Roboto Bold" pitchFamily="34" charset="-122"/>
                <a:cs typeface="Roboto Bold" pitchFamily="34" charset="-120"/>
              </a:rPr>
              <a:t>Ejemplos:</a:t>
            </a:r>
            <a:pPr algn="l" marL="203200" indent="-203200">
              <a:lnSpc>
                <a:spcPct val="103000"/>
              </a:lnSpc>
              <a:buSzPct val="100000"/>
              <a:buChar char="•"/>
            </a:pPr>
            <a:r>
              <a:rPr lang="en-US" sz="1000" dirty="0">
                <a:solidFill>
                  <a:srgbClr val="3B3535"/>
                </a:solidFill>
                <a:latin typeface="Roboto" pitchFamily="34" charset="0"/>
                <a:ea typeface="Roboto" pitchFamily="34" charset="-122"/>
                <a:cs typeface="Roboto" pitchFamily="34" charset="-120"/>
              </a:rPr>
              <a:t> 5% imágenes etiquetadas + 95% sin etiquetar</a:t>
            </a:r>
            <a:endParaRPr lang="en-US" sz="1000" dirty="0"/>
          </a:p>
          <a:p>
            <a:pPr algn="l" marL="203200" indent="-203200">
              <a:lnSpc>
                <a:spcPct val="103000"/>
              </a:lnSpc>
              <a:buSzPct val="100000"/>
              <a:buChar char="•"/>
            </a:pPr>
            <a:r>
              <a:rPr lang="en-US" sz="1000" b="1" dirty="0">
                <a:solidFill>
                  <a:srgbClr val="3B3535"/>
                </a:solidFill>
                <a:latin typeface="Roboto Bold" pitchFamily="34" charset="0"/>
                <a:ea typeface="Roboto Bold" pitchFamily="34" charset="-122"/>
                <a:cs typeface="Roboto Bold" pitchFamily="34" charset="-120"/>
              </a:rPr>
              <a:t>Casos:</a:t>
            </a:r>
            <a:pPr algn="l" marL="203200" indent="-203200">
              <a:lnSpc>
                <a:spcPct val="103000"/>
              </a:lnSpc>
              <a:buSzPct val="100000"/>
              <a:buChar char="•"/>
            </a:pPr>
            <a:r>
              <a:rPr lang="en-US" sz="1000" dirty="0">
                <a:solidFill>
                  <a:srgbClr val="3B3535"/>
                </a:solidFill>
                <a:latin typeface="Roboto" pitchFamily="34" charset="0"/>
                <a:ea typeface="Roboto" pitchFamily="34" charset="-122"/>
                <a:cs typeface="Roboto" pitchFamily="34" charset="-120"/>
              </a:rPr>
              <a:t> Speech recognition en idiomas con pocos recursos · Sistemas médicos con poco dataset anotado</a:t>
            </a:r>
            <a:endParaRPr lang="en-US" sz="1000" dirty="0"/>
          </a:p>
        </p:txBody>
      </p:sp>
      <p:pic>
        <p:nvPicPr>
          <p:cNvPr id="1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13923" y="3570982"/>
            <a:ext cx="323941" cy="323949"/>
          </a:xfrm>
          <a:prstGeom prst="rect">
            <a:avLst/>
          </a:prstGeom>
        </p:spPr>
      </p:pic>
      <p:sp>
        <p:nvSpPr>
          <p:cNvPr id="17" name="Text 10"/>
          <p:cNvSpPr/>
          <p:nvPr/>
        </p:nvSpPr>
        <p:spPr>
          <a:xfrm>
            <a:off x="4726663" y="3570982"/>
            <a:ext cx="3151009" cy="202505"/>
          </a:xfrm>
          <a:prstGeom prst="rect">
            <a:avLst/>
          </a:prstGeom>
          <a:noFill/>
          <a:ln/>
        </p:spPr>
        <p:txBody>
          <a:bodyPr wrap="none" lIns="0" tIns="0" rIns="0" bIns="0" rtlCol="0" anchor="t"/>
          <a:lstStyle/>
          <a:p>
            <a:pPr algn="l" indent="0" marL="0">
              <a:lnSpc>
                <a:spcPct val="104000"/>
              </a:lnSpc>
              <a:buNone/>
            </a:pPr>
            <a:r>
              <a:rPr lang="en-US" sz="1250" dirty="0">
                <a:solidFill>
                  <a:srgbClr val="3B3535"/>
                </a:solidFill>
                <a:latin typeface="Roboto Mono Medium" pitchFamily="34" charset="0"/>
                <a:ea typeface="Roboto Mono Medium" pitchFamily="34" charset="-122"/>
                <a:cs typeface="Roboto Mono Medium" pitchFamily="34" charset="-120"/>
              </a:rPr>
              <a:t>Reinforcement Learning</a:t>
            </a:r>
            <a:endParaRPr lang="en-US" sz="1250" dirty="0"/>
          </a:p>
        </p:txBody>
      </p:sp>
      <p:sp>
        <p:nvSpPr>
          <p:cNvPr id="18" name="Text 11"/>
          <p:cNvSpPr/>
          <p:nvPr/>
        </p:nvSpPr>
        <p:spPr>
          <a:xfrm>
            <a:off x="4726663" y="3816052"/>
            <a:ext cx="3151009" cy="1493540"/>
          </a:xfrm>
          <a:prstGeom prst="rect">
            <a:avLst/>
          </a:prstGeom>
          <a:noFill/>
          <a:ln/>
        </p:spPr>
        <p:txBody>
          <a:bodyPr wrap="square" lIns="0" tIns="0" rIns="0" bIns="0" rtlCol="0" anchor="t">
            <a:normAutofit/>
          </a:bodyPr>
          <a:lstStyle/>
          <a:p>
            <a:pPr algn="l" marL="203200" indent="-203200">
              <a:lnSpc>
                <a:spcPct val="103000"/>
              </a:lnSpc>
              <a:buSzPct val="100000"/>
              <a:buChar char="•"/>
            </a:pPr>
            <a:r>
              <a:rPr lang="en-US" sz="1000" b="1" dirty="0">
                <a:solidFill>
                  <a:srgbClr val="3B3535"/>
                </a:solidFill>
                <a:latin typeface="Roboto Bold" pitchFamily="34" charset="0"/>
                <a:ea typeface="Roboto Bold" pitchFamily="34" charset="-122"/>
                <a:cs typeface="Roboto Bold" pitchFamily="34" charset="-120"/>
              </a:rPr>
              <a:t>Definición:</a:t>
            </a:r>
            <a:pPr algn="l" marL="203200" indent="-203200">
              <a:lnSpc>
                <a:spcPct val="103000"/>
              </a:lnSpc>
              <a:buSzPct val="100000"/>
              <a:buChar char="•"/>
            </a:pPr>
            <a:r>
              <a:rPr lang="en-US" sz="1000" dirty="0">
                <a:solidFill>
                  <a:srgbClr val="3B3535"/>
                </a:solidFill>
                <a:latin typeface="Roboto" pitchFamily="34" charset="0"/>
                <a:ea typeface="Roboto" pitchFamily="34" charset="-122"/>
                <a:cs typeface="Roboto" pitchFamily="34" charset="-120"/>
              </a:rPr>
              <a:t> No hay dataset fijo: el agente genera su propio set de experiencias interactuando con el entorno. La calidad del entorno de simulación es crítica. Requiere función de recompensa bien diseñada.</a:t>
            </a:r>
            <a:endParaRPr lang="en-US" sz="1000" dirty="0"/>
          </a:p>
          <a:p>
            <a:pPr algn="l" marL="203200" indent="-203200">
              <a:lnSpc>
                <a:spcPct val="103000"/>
              </a:lnSpc>
              <a:buSzPct val="100000"/>
              <a:buChar char="•"/>
            </a:pPr>
            <a:r>
              <a:rPr lang="en-US" sz="1000" b="1" dirty="0">
                <a:solidFill>
                  <a:srgbClr val="3B3535"/>
                </a:solidFill>
                <a:latin typeface="Roboto Bold" pitchFamily="34" charset="0"/>
                <a:ea typeface="Roboto Bold" pitchFamily="34" charset="-122"/>
                <a:cs typeface="Roboto Bold" pitchFamily="34" charset="-120"/>
              </a:rPr>
              <a:t>Ejemplos:</a:t>
            </a:r>
            <a:pPr algn="l" marL="203200" indent="-203200">
              <a:lnSpc>
                <a:spcPct val="103000"/>
              </a:lnSpc>
              <a:buSzPct val="100000"/>
              <a:buChar char="•"/>
            </a:pPr>
            <a:r>
              <a:rPr lang="en-US" sz="1000" dirty="0">
                <a:solidFill>
                  <a:srgbClr val="3B3535"/>
                </a:solidFill>
                <a:latin typeface="Roboto" pitchFamily="34" charset="0"/>
                <a:ea typeface="Roboto" pitchFamily="34" charset="-122"/>
                <a:cs typeface="Roboto" pitchFamily="34" charset="-120"/>
              </a:rPr>
              <a:t> Agente aprende a jugar Go · Optimización dinámica de precios</a:t>
            </a:r>
            <a:endParaRPr lang="en-US" sz="1000" dirty="0"/>
          </a:p>
          <a:p>
            <a:pPr algn="l" marL="203200" indent="-203200">
              <a:lnSpc>
                <a:spcPct val="103000"/>
              </a:lnSpc>
              <a:buSzPct val="100000"/>
              <a:buChar char="•"/>
            </a:pPr>
            <a:r>
              <a:rPr lang="en-US" sz="1000" b="1" dirty="0">
                <a:solidFill>
                  <a:srgbClr val="3B3535"/>
                </a:solidFill>
                <a:latin typeface="Roboto Bold" pitchFamily="34" charset="0"/>
                <a:ea typeface="Roboto Bold" pitchFamily="34" charset="-122"/>
                <a:cs typeface="Roboto Bold" pitchFamily="34" charset="-120"/>
              </a:rPr>
              <a:t>Casos:</a:t>
            </a:r>
            <a:pPr algn="l" marL="203200" indent="-203200">
              <a:lnSpc>
                <a:spcPct val="103000"/>
              </a:lnSpc>
              <a:buSzPct val="100000"/>
              <a:buChar char="•"/>
            </a:pPr>
            <a:r>
              <a:rPr lang="en-US" sz="1000" dirty="0">
                <a:solidFill>
                  <a:srgbClr val="3B3535"/>
                </a:solidFill>
                <a:latin typeface="Roboto" pitchFamily="34" charset="0"/>
                <a:ea typeface="Roboto" pitchFamily="34" charset="-122"/>
                <a:cs typeface="Roboto" pitchFamily="34" charset="-120"/>
              </a:rPr>
              <a:t> Optimización de inventario · Control autónomo en robótica industrial</a:t>
            </a:r>
            <a:endParaRPr lang="en-US" sz="1000" dirty="0"/>
          </a:p>
        </p:txBody>
      </p:sp>
      <p:pic>
        <p:nvPicPr>
          <p:cNvPr id="1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966471" y="3570982"/>
            <a:ext cx="323941" cy="323949"/>
          </a:xfrm>
          <a:prstGeom prst="rect">
            <a:avLst/>
          </a:prstGeom>
        </p:spPr>
      </p:pic>
      <p:sp>
        <p:nvSpPr>
          <p:cNvPr id="20" name="Text 12"/>
          <p:cNvSpPr/>
          <p:nvPr/>
        </p:nvSpPr>
        <p:spPr>
          <a:xfrm>
            <a:off x="8379211" y="3570982"/>
            <a:ext cx="3151009" cy="202505"/>
          </a:xfrm>
          <a:prstGeom prst="rect">
            <a:avLst/>
          </a:prstGeom>
          <a:noFill/>
          <a:ln/>
        </p:spPr>
        <p:txBody>
          <a:bodyPr wrap="none" lIns="0" tIns="0" rIns="0" bIns="0" rtlCol="0" anchor="t"/>
          <a:lstStyle/>
          <a:p>
            <a:pPr algn="l" indent="0" marL="0">
              <a:lnSpc>
                <a:spcPct val="104000"/>
              </a:lnSpc>
              <a:buNone/>
            </a:pPr>
            <a:r>
              <a:rPr lang="en-US" sz="1250" dirty="0">
                <a:solidFill>
                  <a:srgbClr val="3B3535"/>
                </a:solidFill>
                <a:latin typeface="Roboto Mono Medium" pitchFamily="34" charset="0"/>
                <a:ea typeface="Roboto Mono Medium" pitchFamily="34" charset="-122"/>
                <a:cs typeface="Roboto Mono Medium" pitchFamily="34" charset="-120"/>
              </a:rPr>
              <a:t>Active Learning</a:t>
            </a:r>
            <a:endParaRPr lang="en-US" sz="1250" dirty="0"/>
          </a:p>
        </p:txBody>
      </p:sp>
      <p:sp>
        <p:nvSpPr>
          <p:cNvPr id="21" name="Text 13"/>
          <p:cNvSpPr/>
          <p:nvPr/>
        </p:nvSpPr>
        <p:spPr>
          <a:xfrm>
            <a:off x="8379211" y="3816052"/>
            <a:ext cx="3151009" cy="1678781"/>
          </a:xfrm>
          <a:prstGeom prst="rect">
            <a:avLst/>
          </a:prstGeom>
          <a:noFill/>
          <a:ln/>
        </p:spPr>
        <p:txBody>
          <a:bodyPr wrap="square" lIns="0" tIns="0" rIns="0" bIns="0" rtlCol="0" anchor="t">
            <a:normAutofit/>
          </a:bodyPr>
          <a:lstStyle/>
          <a:p>
            <a:pPr algn="l" marL="203200" indent="-203200">
              <a:lnSpc>
                <a:spcPct val="103000"/>
              </a:lnSpc>
              <a:buSzPct val="100000"/>
              <a:buChar char="•"/>
            </a:pPr>
            <a:r>
              <a:rPr lang="en-US" sz="1000" b="1" dirty="0">
                <a:solidFill>
                  <a:srgbClr val="3B3535"/>
                </a:solidFill>
                <a:latin typeface="Roboto Bold" pitchFamily="34" charset="0"/>
                <a:ea typeface="Roboto Bold" pitchFamily="34" charset="-122"/>
                <a:cs typeface="Roboto Bold" pitchFamily="34" charset="-120"/>
              </a:rPr>
              <a:t>Definición:</a:t>
            </a:r>
            <a:pPr algn="l" marL="203200" indent="-203200">
              <a:lnSpc>
                <a:spcPct val="103000"/>
              </a:lnSpc>
              <a:buSzPct val="100000"/>
              <a:buChar char="•"/>
            </a:pPr>
            <a:r>
              <a:rPr lang="en-US" sz="1000" dirty="0">
                <a:solidFill>
                  <a:srgbClr val="3B3535"/>
                </a:solidFill>
                <a:latin typeface="Roboto" pitchFamily="34" charset="0"/>
                <a:ea typeface="Roboto" pitchFamily="34" charset="-122"/>
                <a:cs typeface="Roboto" pitchFamily="34" charset="-120"/>
              </a:rPr>
              <a:t> El modelo selecciona activamente qué ejemplos necesita que un humano etiquete, priorizando los más inciertos o informativos. Reduce el costo de anotación hasta un 90%.</a:t>
            </a:r>
            <a:endParaRPr lang="en-US" sz="1000" dirty="0"/>
          </a:p>
          <a:p>
            <a:pPr algn="l" marL="203200" indent="-203200">
              <a:lnSpc>
                <a:spcPct val="103000"/>
              </a:lnSpc>
              <a:buSzPct val="100000"/>
              <a:buChar char="•"/>
            </a:pPr>
            <a:r>
              <a:rPr lang="en-US" sz="1000" b="1" dirty="0">
                <a:solidFill>
                  <a:srgbClr val="3B3535"/>
                </a:solidFill>
                <a:latin typeface="Roboto Bold" pitchFamily="34" charset="0"/>
                <a:ea typeface="Roboto Bold" pitchFamily="34" charset="-122"/>
                <a:cs typeface="Roboto Bold" pitchFamily="34" charset="-120"/>
              </a:rPr>
              <a:t>Dataset:</a:t>
            </a:r>
            <a:pPr algn="l" marL="203200" indent="-203200">
              <a:lnSpc>
                <a:spcPct val="103000"/>
              </a:lnSpc>
              <a:buSzPct val="100000"/>
              <a:buChar char="•"/>
            </a:pPr>
            <a:r>
              <a:rPr lang="en-US" sz="1000" dirty="0">
                <a:solidFill>
                  <a:srgbClr val="3B3535"/>
                </a:solidFill>
                <a:latin typeface="Roboto" pitchFamily="34" charset="0"/>
                <a:ea typeface="Roboto" pitchFamily="34" charset="-122"/>
                <a:cs typeface="Roboto" pitchFamily="34" charset="-120"/>
              </a:rPr>
              <a:t> pequeño pero estratégicamente seleccionado.</a:t>
            </a:r>
            <a:endParaRPr lang="en-US" sz="1000" dirty="0"/>
          </a:p>
          <a:p>
            <a:pPr algn="l" marL="203200" indent="-203200">
              <a:lnSpc>
                <a:spcPct val="103000"/>
              </a:lnSpc>
              <a:buSzPct val="100000"/>
              <a:buChar char="•"/>
            </a:pPr>
            <a:r>
              <a:rPr lang="en-US" sz="1000" b="1" dirty="0">
                <a:solidFill>
                  <a:srgbClr val="3B3535"/>
                </a:solidFill>
                <a:latin typeface="Roboto Bold" pitchFamily="34" charset="0"/>
                <a:ea typeface="Roboto Bold" pitchFamily="34" charset="-122"/>
                <a:cs typeface="Roboto Bold" pitchFamily="34" charset="-120"/>
              </a:rPr>
              <a:t>Ejemplos:</a:t>
            </a:r>
            <a:pPr algn="l" marL="203200" indent="-203200">
              <a:lnSpc>
                <a:spcPct val="103000"/>
              </a:lnSpc>
              <a:buSzPct val="100000"/>
              <a:buChar char="•"/>
            </a:pPr>
            <a:r>
              <a:rPr lang="en-US" sz="1000" dirty="0">
                <a:solidFill>
                  <a:srgbClr val="3B3535"/>
                </a:solidFill>
                <a:latin typeface="Roboto" pitchFamily="34" charset="0"/>
                <a:ea typeface="Roboto" pitchFamily="34" charset="-122"/>
                <a:cs typeface="Roboto" pitchFamily="34" charset="-120"/>
              </a:rPr>
              <a:t> Modelo selecciona qué radiografías etiquetar · Sistema pide revisar casos ambiguos</a:t>
            </a:r>
            <a:endParaRPr lang="en-US" sz="1000" dirty="0"/>
          </a:p>
          <a:p>
            <a:pPr algn="l" marL="203200" indent="-203200">
              <a:lnSpc>
                <a:spcPct val="103000"/>
              </a:lnSpc>
              <a:buSzPct val="100000"/>
              <a:buChar char="•"/>
            </a:pPr>
            <a:r>
              <a:rPr lang="en-US" sz="1000" b="1" dirty="0">
                <a:solidFill>
                  <a:srgbClr val="3B3535"/>
                </a:solidFill>
                <a:latin typeface="Roboto Bold" pitchFamily="34" charset="0"/>
                <a:ea typeface="Roboto Bold" pitchFamily="34" charset="-122"/>
                <a:cs typeface="Roboto Bold" pitchFamily="34" charset="-120"/>
              </a:rPr>
              <a:t>Casos:</a:t>
            </a:r>
            <a:pPr algn="l" marL="203200" indent="-203200">
              <a:lnSpc>
                <a:spcPct val="103000"/>
              </a:lnSpc>
              <a:buSzPct val="100000"/>
              <a:buChar char="•"/>
            </a:pPr>
            <a:r>
              <a:rPr lang="en-US" sz="1000" dirty="0">
                <a:solidFill>
                  <a:srgbClr val="3B3535"/>
                </a:solidFill>
                <a:latin typeface="Roboto" pitchFamily="34" charset="0"/>
                <a:ea typeface="Roboto" pitchFamily="34" charset="-122"/>
                <a:cs typeface="Roboto" pitchFamily="34" charset="-120"/>
              </a:rPr>
              <a:t> Diagnóstico asistido con validación experta · Clasificación legal con revisión mínima</a:t>
            </a:r>
            <a:endParaRPr lang="en-US" sz="1000" dirty="0"/>
          </a:p>
        </p:txBody>
      </p:sp>
      <p:sp>
        <p:nvSpPr>
          <p:cNvPr id="22" name="Shape 14"/>
          <p:cNvSpPr/>
          <p:nvPr/>
        </p:nvSpPr>
        <p:spPr>
          <a:xfrm>
            <a:off x="661475" y="5574705"/>
            <a:ext cx="10868745" cy="520502"/>
          </a:xfrm>
          <a:prstGeom prst="roundRect">
            <a:avLst>
              <a:gd name="adj" fmla="val 1464"/>
            </a:avLst>
          </a:prstGeom>
          <a:solidFill>
            <a:srgbClr val="F9D2D6"/>
          </a:solidFill>
          <a:ln/>
        </p:spPr>
      </p:sp>
      <p:pic>
        <p:nvPicPr>
          <p:cNvPr id="23" name="Image 6" descr="preencoded.png">    </p:cNvPr>
          <p:cNvPicPr>
            <a:picLocks noChangeAspect="1"/>
          </p:cNvPicPr>
          <p:nvPr/>
        </p:nvPicPr>
        <p:blipFill>
          <a:blip r:embed="rId13"/>
          <a:stretch>
            <a:fillRect/>
          </a:stretch>
        </p:blipFill>
        <p:spPr>
          <a:xfrm>
            <a:off x="791051" y="5737523"/>
            <a:ext cx="161921" cy="129580"/>
          </a:xfrm>
          <a:prstGeom prst="rect">
            <a:avLst/>
          </a:prstGeom>
        </p:spPr>
      </p:pic>
      <p:sp>
        <p:nvSpPr>
          <p:cNvPr id="24" name="Text 15"/>
          <p:cNvSpPr/>
          <p:nvPr/>
        </p:nvSpPr>
        <p:spPr>
          <a:xfrm>
            <a:off x="1082549" y="5678091"/>
            <a:ext cx="10318095" cy="320873"/>
          </a:xfrm>
          <a:prstGeom prst="rect">
            <a:avLst/>
          </a:prstGeom>
          <a:noFill/>
          <a:ln/>
        </p:spPr>
        <p:txBody>
          <a:bodyPr wrap="square" lIns="0" tIns="0" rIns="0" bIns="0" rtlCol="0" anchor="t">
            <a:normAutofit/>
          </a:bodyPr>
          <a:lstStyle/>
          <a:p>
            <a:pPr algn="l" indent="0" marL="0">
              <a:lnSpc>
                <a:spcPct val="103000"/>
              </a:lnSpc>
              <a:buNone/>
            </a:pPr>
            <a:r>
              <a:rPr lang="en-US" sz="1000" dirty="0">
                <a:solidFill>
                  <a:srgbClr val="000000"/>
                </a:solidFill>
                <a:latin typeface="Roboto" pitchFamily="34" charset="0"/>
                <a:ea typeface="Roboto" pitchFamily="34" charset="-122"/>
                <a:cs typeface="Roboto" pitchFamily="34" charset="-120"/>
              </a:rPr>
              <a:t>💡</a:t>
            </a:r>
            <a:pPr algn="l" indent="0" marL="0">
              <a:lnSpc>
                <a:spcPct val="103000"/>
              </a:lnSpc>
              <a:buNone/>
            </a:pPr>
            <a:r>
              <a:rPr lang="en-US" sz="1000" dirty="0">
                <a:solidFill>
                  <a:srgbClr val="000000"/>
                </a:solidFill>
                <a:latin typeface="Roboto" pitchFamily="34" charset="0"/>
                <a:ea typeface="Roboto" pitchFamily="34" charset="-122"/>
                <a:cs typeface="Roboto" pitchFamily="34" charset="-120"/>
              </a:rPr>
              <a:t> Regla general: Supervisado maximiza precisión si tienes datos etiquetados. Self-supervised escala sin límite. RL aprende sin datos previos. Active Learning minimiza el costo humano de etiquetado.</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661475" y="649684"/>
            <a:ext cx="885208" cy="178594"/>
          </a:xfrm>
          <a:prstGeom prst="roundRect">
            <a:avLst>
              <a:gd name="adj" fmla="val 4267"/>
            </a:avLst>
          </a:prstGeom>
          <a:solidFill>
            <a:srgbClr val="F9D2D6"/>
          </a:solidFill>
          <a:ln/>
        </p:spPr>
      </p:sp>
      <p:sp>
        <p:nvSpPr>
          <p:cNvPr id="3" name="Text 1"/>
          <p:cNvSpPr/>
          <p:nvPr/>
        </p:nvSpPr>
        <p:spPr>
          <a:xfrm>
            <a:off x="732018" y="684907"/>
            <a:ext cx="1353707" cy="108148"/>
          </a:xfrm>
          <a:prstGeom prst="rect">
            <a:avLst/>
          </a:prstGeom>
          <a:noFill/>
          <a:ln/>
        </p:spPr>
        <p:txBody>
          <a:bodyPr wrap="none" lIns="0" tIns="0" rIns="0" bIns="0" rtlCol="0" anchor="t"/>
          <a:lstStyle/>
          <a:p>
            <a:pPr algn="l" indent="0" marL="0">
              <a:lnSpc>
                <a:spcPct val="96000"/>
              </a:lnSpc>
              <a:buNone/>
            </a:pPr>
            <a:r>
              <a:rPr lang="en-US" sz="700" dirty="0">
                <a:solidFill>
                  <a:srgbClr val="3B3535"/>
                </a:solidFill>
                <a:latin typeface="Roboto" pitchFamily="34" charset="0"/>
                <a:ea typeface="Roboto" pitchFamily="34" charset="-122"/>
                <a:cs typeface="Roboto" pitchFamily="34" charset="-120"/>
              </a:rPr>
              <a:t>ES TODO ESCALA</a:t>
            </a:r>
            <a:endParaRPr lang="en-US" sz="700" dirty="0"/>
          </a:p>
        </p:txBody>
      </p:sp>
      <p:sp>
        <p:nvSpPr>
          <p:cNvPr id="4" name="Text 2"/>
          <p:cNvSpPr/>
          <p:nvPr/>
        </p:nvSpPr>
        <p:spPr>
          <a:xfrm>
            <a:off x="661475" y="851595"/>
            <a:ext cx="10868745" cy="367407"/>
          </a:xfrm>
          <a:prstGeom prst="rect">
            <a:avLst/>
          </a:prstGeom>
          <a:noFill/>
          <a:ln/>
        </p:spPr>
        <p:txBody>
          <a:bodyPr wrap="none" lIns="0" tIns="0" rIns="0" bIns="0" rtlCol="0" anchor="t"/>
          <a:lstStyle/>
          <a:p>
            <a:pPr algn="l" indent="0" marL="0">
              <a:lnSpc>
                <a:spcPct val="104000"/>
              </a:lnSpc>
              <a:buNone/>
            </a:pPr>
            <a:r>
              <a:rPr lang="en-US" sz="2300" dirty="0">
                <a:solidFill>
                  <a:srgbClr val="1F1E1E"/>
                </a:solidFill>
                <a:latin typeface="Roboto Mono Medium" pitchFamily="34" charset="0"/>
                <a:ea typeface="Roboto Mono Medium" pitchFamily="34" charset="-122"/>
                <a:cs typeface="Roboto Mono Medium" pitchFamily="34" charset="-120"/>
              </a:rPr>
              <a:t>La Escala es Masiva</a:t>
            </a:r>
            <a:endParaRPr lang="en-US" sz="2300" dirty="0"/>
          </a:p>
        </p:txBody>
      </p:sp>
      <p:sp>
        <p:nvSpPr>
          <p:cNvPr id="5" name="Text 3"/>
          <p:cNvSpPr/>
          <p:nvPr/>
        </p:nvSpPr>
        <p:spPr>
          <a:xfrm>
            <a:off x="661475" y="1242318"/>
            <a:ext cx="10868745" cy="183654"/>
          </a:xfrm>
          <a:prstGeom prst="rect">
            <a:avLst/>
          </a:prstGeom>
          <a:noFill/>
          <a:ln/>
        </p:spPr>
        <p:txBody>
          <a:bodyPr wrap="none" lIns="0" tIns="0" rIns="0" bIns="0" rtlCol="0" anchor="t"/>
          <a:lstStyle/>
          <a:p>
            <a:pPr algn="l" indent="0" marL="0">
              <a:lnSpc>
                <a:spcPct val="104000"/>
              </a:lnSpc>
              <a:buNone/>
            </a:pPr>
            <a:r>
              <a:rPr lang="en-US" sz="1150" dirty="0">
                <a:solidFill>
                  <a:srgbClr val="1F1E1E"/>
                </a:solidFill>
                <a:latin typeface="Roboto Mono Medium" pitchFamily="34" charset="0"/>
                <a:ea typeface="Roboto Mono Medium" pitchFamily="34" charset="-122"/>
                <a:cs typeface="Roboto Mono Medium" pitchFamily="34" charset="-120"/>
              </a:rPr>
              <a:t>Tokens de entrenamiento por modelo — 2020 a 2024</a:t>
            </a:r>
            <a:endParaRPr lang="en-US" sz="1150" dirty="0"/>
          </a:p>
        </p:txBody>
      </p:sp>
      <p:sp>
        <p:nvSpPr>
          <p:cNvPr id="6" name="Shape 4"/>
          <p:cNvSpPr/>
          <p:nvPr/>
        </p:nvSpPr>
        <p:spPr>
          <a:xfrm>
            <a:off x="6089498" y="1513681"/>
            <a:ext cx="12700" cy="4313138"/>
          </a:xfrm>
          <a:prstGeom prst="roundRect">
            <a:avLst>
              <a:gd name="adj" fmla="val 49999"/>
            </a:avLst>
          </a:prstGeom>
          <a:solidFill>
            <a:srgbClr val="D8D4D4"/>
          </a:solidFill>
          <a:ln/>
        </p:spPr>
      </p:sp>
      <p:sp>
        <p:nvSpPr>
          <p:cNvPr id="7" name="Shape 5"/>
          <p:cNvSpPr/>
          <p:nvPr/>
        </p:nvSpPr>
        <p:spPr>
          <a:xfrm>
            <a:off x="5623578" y="1639590"/>
            <a:ext cx="352714" cy="12700"/>
          </a:xfrm>
          <a:prstGeom prst="roundRect">
            <a:avLst>
              <a:gd name="adj" fmla="val 49999"/>
            </a:avLst>
          </a:prstGeom>
          <a:solidFill>
            <a:srgbClr val="D8D4D4"/>
          </a:solidFill>
          <a:ln/>
        </p:spPr>
      </p:sp>
      <p:sp>
        <p:nvSpPr>
          <p:cNvPr id="8" name="Shape 6"/>
          <p:cNvSpPr/>
          <p:nvPr/>
        </p:nvSpPr>
        <p:spPr>
          <a:xfrm>
            <a:off x="5963592" y="1513681"/>
            <a:ext cx="264511" cy="264517"/>
          </a:xfrm>
          <a:prstGeom prst="roundRect">
            <a:avLst>
              <a:gd name="adj" fmla="val 2881"/>
            </a:avLst>
          </a:prstGeom>
          <a:solidFill>
            <a:srgbClr val="F2EEEE"/>
          </a:solidFill>
          <a:ln w="6350">
            <a:solidFill>
              <a:srgbClr val="D8D4D4"/>
            </a:solidFill>
            <a:prstDash val="solid"/>
          </a:ln>
        </p:spPr>
      </p:sp>
      <p:sp>
        <p:nvSpPr>
          <p:cNvPr id="9" name="Text 7"/>
          <p:cNvSpPr/>
          <p:nvPr/>
        </p:nvSpPr>
        <p:spPr>
          <a:xfrm>
            <a:off x="661475" y="1554063"/>
            <a:ext cx="4846516" cy="183654"/>
          </a:xfrm>
          <a:prstGeom prst="rect">
            <a:avLst/>
          </a:prstGeom>
          <a:noFill/>
          <a:ln/>
        </p:spPr>
        <p:txBody>
          <a:bodyPr wrap="none" lIns="0" tIns="0" rIns="0" bIns="0" rtlCol="0" anchor="t"/>
          <a:lstStyle/>
          <a:p>
            <a:pPr algn="r" indent="0" marL="0">
              <a:lnSpc>
                <a:spcPct val="104000"/>
              </a:lnSpc>
              <a:buNone/>
            </a:pPr>
            <a:r>
              <a:rPr lang="en-US" sz="1150" dirty="0">
                <a:solidFill>
                  <a:srgbClr val="3B3535"/>
                </a:solidFill>
                <a:latin typeface="Roboto Mono Medium" pitchFamily="34" charset="0"/>
                <a:ea typeface="Roboto Mono Medium" pitchFamily="34" charset="-122"/>
                <a:cs typeface="Roboto Mono Medium" pitchFamily="34" charset="-120"/>
              </a:rPr>
              <a:t>2020 — 300B tokens</a:t>
            </a:r>
            <a:endParaRPr lang="en-US" sz="1150" dirty="0"/>
          </a:p>
        </p:txBody>
      </p:sp>
      <p:sp>
        <p:nvSpPr>
          <p:cNvPr id="10" name="Text 8"/>
          <p:cNvSpPr/>
          <p:nvPr/>
        </p:nvSpPr>
        <p:spPr>
          <a:xfrm>
            <a:off x="661475" y="1772741"/>
            <a:ext cx="4846516" cy="140791"/>
          </a:xfrm>
          <a:prstGeom prst="rect">
            <a:avLst/>
          </a:prstGeom>
          <a:noFill/>
          <a:ln/>
        </p:spPr>
        <p:txBody>
          <a:bodyPr wrap="none" lIns="0" tIns="0" rIns="0" bIns="0" rtlCol="0" anchor="t"/>
          <a:lstStyle/>
          <a:p>
            <a:pPr algn="r" indent="0" marL="0">
              <a:lnSpc>
                <a:spcPct val="100000"/>
              </a:lnSpc>
              <a:buNone/>
            </a:pPr>
            <a:r>
              <a:rPr lang="en-US" sz="900" dirty="0">
                <a:solidFill>
                  <a:srgbClr val="3B3535"/>
                </a:solidFill>
                <a:latin typeface="Roboto" pitchFamily="34" charset="0"/>
                <a:ea typeface="Roboto" pitchFamily="34" charset="-122"/>
                <a:cs typeface="Roboto" pitchFamily="34" charset="-120"/>
              </a:rPr>
              <a:t>GPT-3 · OpenAI · ≈45 TB de texto</a:t>
            </a:r>
            <a:endParaRPr lang="en-US" sz="900" dirty="0"/>
          </a:p>
        </p:txBody>
      </p:sp>
      <p:sp>
        <p:nvSpPr>
          <p:cNvPr id="11" name="Shape 9"/>
          <p:cNvSpPr/>
          <p:nvPr/>
        </p:nvSpPr>
        <p:spPr>
          <a:xfrm>
            <a:off x="6215403" y="2226866"/>
            <a:ext cx="352714" cy="12700"/>
          </a:xfrm>
          <a:prstGeom prst="roundRect">
            <a:avLst>
              <a:gd name="adj" fmla="val 49999"/>
            </a:avLst>
          </a:prstGeom>
          <a:solidFill>
            <a:srgbClr val="D8D4D4"/>
          </a:solidFill>
          <a:ln/>
        </p:spPr>
      </p:sp>
      <p:sp>
        <p:nvSpPr>
          <p:cNvPr id="12" name="Shape 10"/>
          <p:cNvSpPr/>
          <p:nvPr/>
        </p:nvSpPr>
        <p:spPr>
          <a:xfrm>
            <a:off x="5963592" y="2100957"/>
            <a:ext cx="264511" cy="264517"/>
          </a:xfrm>
          <a:prstGeom prst="roundRect">
            <a:avLst>
              <a:gd name="adj" fmla="val 2881"/>
            </a:avLst>
          </a:prstGeom>
          <a:solidFill>
            <a:srgbClr val="F2EEEE"/>
          </a:solidFill>
          <a:ln w="6350">
            <a:solidFill>
              <a:srgbClr val="D8D4D4"/>
            </a:solidFill>
            <a:prstDash val="solid"/>
          </a:ln>
        </p:spPr>
      </p:sp>
      <p:sp>
        <p:nvSpPr>
          <p:cNvPr id="13" name="Text 11"/>
          <p:cNvSpPr/>
          <p:nvPr/>
        </p:nvSpPr>
        <p:spPr>
          <a:xfrm>
            <a:off x="6683704" y="2141339"/>
            <a:ext cx="4846516" cy="183654"/>
          </a:xfrm>
          <a:prstGeom prst="rect">
            <a:avLst/>
          </a:prstGeom>
          <a:noFill/>
          <a:ln/>
        </p:spPr>
        <p:txBody>
          <a:bodyPr wrap="none" lIns="0" tIns="0" rIns="0" bIns="0" rtlCol="0" anchor="t"/>
          <a:lstStyle/>
          <a:p>
            <a:pPr algn="l" indent="0" marL="0">
              <a:lnSpc>
                <a:spcPct val="104000"/>
              </a:lnSpc>
              <a:buNone/>
            </a:pPr>
            <a:r>
              <a:rPr lang="en-US" sz="1150" dirty="0">
                <a:solidFill>
                  <a:srgbClr val="3B3535"/>
                </a:solidFill>
                <a:latin typeface="Roboto Mono Medium" pitchFamily="34" charset="0"/>
                <a:ea typeface="Roboto Mono Medium" pitchFamily="34" charset="-122"/>
                <a:cs typeface="Roboto Mono Medium" pitchFamily="34" charset="-120"/>
              </a:rPr>
              <a:t>2022 — 780B tokens</a:t>
            </a:r>
            <a:endParaRPr lang="en-US" sz="1150" dirty="0"/>
          </a:p>
        </p:txBody>
      </p:sp>
      <p:sp>
        <p:nvSpPr>
          <p:cNvPr id="14" name="Text 12"/>
          <p:cNvSpPr/>
          <p:nvPr/>
        </p:nvSpPr>
        <p:spPr>
          <a:xfrm>
            <a:off x="6683704" y="2360017"/>
            <a:ext cx="4846516" cy="140791"/>
          </a:xfrm>
          <a:prstGeom prst="rect">
            <a:avLst/>
          </a:prstGeom>
          <a:noFill/>
          <a:ln/>
        </p:spPr>
        <p:txBody>
          <a:bodyPr wrap="none" lIns="0" tIns="0" rIns="0" bIns="0" rtlCol="0" anchor="t"/>
          <a:lstStyle/>
          <a:p>
            <a:pPr algn="l" indent="0" marL="0">
              <a:lnSpc>
                <a:spcPct val="100000"/>
              </a:lnSpc>
              <a:buNone/>
            </a:pPr>
            <a:r>
              <a:rPr lang="en-US" sz="900" dirty="0">
                <a:solidFill>
                  <a:srgbClr val="3B3535"/>
                </a:solidFill>
                <a:latin typeface="Roboto" pitchFamily="34" charset="0"/>
                <a:ea typeface="Roboto" pitchFamily="34" charset="-122"/>
                <a:cs typeface="Roboto" pitchFamily="34" charset="-120"/>
              </a:rPr>
              <a:t>PaLM · Google · Tokens de alta calidad multilingüe</a:t>
            </a:r>
            <a:endParaRPr lang="en-US" sz="900" dirty="0"/>
          </a:p>
        </p:txBody>
      </p:sp>
      <p:sp>
        <p:nvSpPr>
          <p:cNvPr id="15" name="Shape 13"/>
          <p:cNvSpPr/>
          <p:nvPr/>
        </p:nvSpPr>
        <p:spPr>
          <a:xfrm>
            <a:off x="5623578" y="2775843"/>
            <a:ext cx="352714" cy="12700"/>
          </a:xfrm>
          <a:prstGeom prst="roundRect">
            <a:avLst>
              <a:gd name="adj" fmla="val 49999"/>
            </a:avLst>
          </a:prstGeom>
          <a:solidFill>
            <a:srgbClr val="D8D4D4"/>
          </a:solidFill>
          <a:ln/>
        </p:spPr>
      </p:sp>
      <p:sp>
        <p:nvSpPr>
          <p:cNvPr id="16" name="Shape 14"/>
          <p:cNvSpPr/>
          <p:nvPr/>
        </p:nvSpPr>
        <p:spPr>
          <a:xfrm>
            <a:off x="5963592" y="2649934"/>
            <a:ext cx="264511" cy="264517"/>
          </a:xfrm>
          <a:prstGeom prst="roundRect">
            <a:avLst>
              <a:gd name="adj" fmla="val 2881"/>
            </a:avLst>
          </a:prstGeom>
          <a:solidFill>
            <a:srgbClr val="F2EEEE"/>
          </a:solidFill>
          <a:ln w="6350">
            <a:solidFill>
              <a:srgbClr val="D8D4D4"/>
            </a:solidFill>
            <a:prstDash val="solid"/>
          </a:ln>
        </p:spPr>
      </p:sp>
      <p:sp>
        <p:nvSpPr>
          <p:cNvPr id="17" name="Text 15"/>
          <p:cNvSpPr/>
          <p:nvPr/>
        </p:nvSpPr>
        <p:spPr>
          <a:xfrm>
            <a:off x="661475" y="2690316"/>
            <a:ext cx="4846516" cy="183654"/>
          </a:xfrm>
          <a:prstGeom prst="rect">
            <a:avLst/>
          </a:prstGeom>
          <a:noFill/>
          <a:ln/>
        </p:spPr>
        <p:txBody>
          <a:bodyPr wrap="none" lIns="0" tIns="0" rIns="0" bIns="0" rtlCol="0" anchor="t"/>
          <a:lstStyle/>
          <a:p>
            <a:pPr algn="r" indent="0" marL="0">
              <a:lnSpc>
                <a:spcPct val="104000"/>
              </a:lnSpc>
              <a:buNone/>
            </a:pPr>
            <a:r>
              <a:rPr lang="en-US" sz="1150" dirty="0">
                <a:solidFill>
                  <a:srgbClr val="3B3535"/>
                </a:solidFill>
                <a:latin typeface="Roboto Mono Medium" pitchFamily="34" charset="0"/>
                <a:ea typeface="Roboto Mono Medium" pitchFamily="34" charset="-122"/>
                <a:cs typeface="Roboto Mono Medium" pitchFamily="34" charset="-120"/>
              </a:rPr>
              <a:t>2022 — 1.4T tokens</a:t>
            </a:r>
            <a:endParaRPr lang="en-US" sz="1150" dirty="0"/>
          </a:p>
        </p:txBody>
      </p:sp>
      <p:sp>
        <p:nvSpPr>
          <p:cNvPr id="18" name="Text 16"/>
          <p:cNvSpPr/>
          <p:nvPr/>
        </p:nvSpPr>
        <p:spPr>
          <a:xfrm>
            <a:off x="661475" y="2908995"/>
            <a:ext cx="4846516" cy="140791"/>
          </a:xfrm>
          <a:prstGeom prst="rect">
            <a:avLst/>
          </a:prstGeom>
          <a:noFill/>
          <a:ln/>
        </p:spPr>
        <p:txBody>
          <a:bodyPr wrap="none" lIns="0" tIns="0" rIns="0" bIns="0" rtlCol="0" anchor="t"/>
          <a:lstStyle/>
          <a:p>
            <a:pPr algn="r" indent="0" marL="0">
              <a:lnSpc>
                <a:spcPct val="100000"/>
              </a:lnSpc>
              <a:buNone/>
            </a:pPr>
            <a:r>
              <a:rPr lang="en-US" sz="900" dirty="0">
                <a:solidFill>
                  <a:srgbClr val="3B3535"/>
                </a:solidFill>
                <a:latin typeface="Roboto" pitchFamily="34" charset="0"/>
                <a:ea typeface="Roboto" pitchFamily="34" charset="-122"/>
                <a:cs typeface="Roboto" pitchFamily="34" charset="-120"/>
              </a:rPr>
              <a:t>Chinchilla · DeepMind · Demostró que más datos &gt; más parámetros</a:t>
            </a:r>
            <a:endParaRPr lang="en-US" sz="900" dirty="0"/>
          </a:p>
        </p:txBody>
      </p:sp>
      <p:sp>
        <p:nvSpPr>
          <p:cNvPr id="19" name="Shape 17"/>
          <p:cNvSpPr/>
          <p:nvPr/>
        </p:nvSpPr>
        <p:spPr>
          <a:xfrm>
            <a:off x="6215403" y="3324820"/>
            <a:ext cx="352714" cy="12700"/>
          </a:xfrm>
          <a:prstGeom prst="roundRect">
            <a:avLst>
              <a:gd name="adj" fmla="val 49999"/>
            </a:avLst>
          </a:prstGeom>
          <a:solidFill>
            <a:srgbClr val="D8D4D4"/>
          </a:solidFill>
          <a:ln/>
        </p:spPr>
      </p:sp>
      <p:sp>
        <p:nvSpPr>
          <p:cNvPr id="20" name="Shape 18"/>
          <p:cNvSpPr/>
          <p:nvPr/>
        </p:nvSpPr>
        <p:spPr>
          <a:xfrm>
            <a:off x="5963592" y="3198912"/>
            <a:ext cx="264511" cy="264517"/>
          </a:xfrm>
          <a:prstGeom prst="roundRect">
            <a:avLst>
              <a:gd name="adj" fmla="val 2881"/>
            </a:avLst>
          </a:prstGeom>
          <a:solidFill>
            <a:srgbClr val="F2EEEE"/>
          </a:solidFill>
          <a:ln w="6350">
            <a:solidFill>
              <a:srgbClr val="D8D4D4"/>
            </a:solidFill>
            <a:prstDash val="solid"/>
          </a:ln>
        </p:spPr>
      </p:sp>
      <p:sp>
        <p:nvSpPr>
          <p:cNvPr id="21" name="Text 19"/>
          <p:cNvSpPr/>
          <p:nvPr/>
        </p:nvSpPr>
        <p:spPr>
          <a:xfrm>
            <a:off x="6683704" y="3239294"/>
            <a:ext cx="4846516" cy="183654"/>
          </a:xfrm>
          <a:prstGeom prst="rect">
            <a:avLst/>
          </a:prstGeom>
          <a:noFill/>
          <a:ln/>
        </p:spPr>
        <p:txBody>
          <a:bodyPr wrap="none" lIns="0" tIns="0" rIns="0" bIns="0" rtlCol="0" anchor="t"/>
          <a:lstStyle/>
          <a:p>
            <a:pPr algn="l" indent="0" marL="0">
              <a:lnSpc>
                <a:spcPct val="104000"/>
              </a:lnSpc>
              <a:buNone/>
            </a:pPr>
            <a:r>
              <a:rPr lang="en-US" sz="1150" dirty="0">
                <a:solidFill>
                  <a:srgbClr val="3B3535"/>
                </a:solidFill>
                <a:latin typeface="Roboto Mono Medium" pitchFamily="34" charset="0"/>
                <a:ea typeface="Roboto Mono Medium" pitchFamily="34" charset="-122"/>
                <a:cs typeface="Roboto Mono Medium" pitchFamily="34" charset="-120"/>
              </a:rPr>
              <a:t>2023 — 1.4T tokens</a:t>
            </a:r>
            <a:endParaRPr lang="en-US" sz="1150" dirty="0"/>
          </a:p>
        </p:txBody>
      </p:sp>
      <p:sp>
        <p:nvSpPr>
          <p:cNvPr id="22" name="Text 20"/>
          <p:cNvSpPr/>
          <p:nvPr/>
        </p:nvSpPr>
        <p:spPr>
          <a:xfrm>
            <a:off x="6683704" y="3457972"/>
            <a:ext cx="4846516" cy="140791"/>
          </a:xfrm>
          <a:prstGeom prst="rect">
            <a:avLst/>
          </a:prstGeom>
          <a:noFill/>
          <a:ln/>
        </p:spPr>
        <p:txBody>
          <a:bodyPr wrap="none" lIns="0" tIns="0" rIns="0" bIns="0" rtlCol="0" anchor="t"/>
          <a:lstStyle/>
          <a:p>
            <a:pPr algn="l" indent="0" marL="0">
              <a:lnSpc>
                <a:spcPct val="100000"/>
              </a:lnSpc>
              <a:buNone/>
            </a:pPr>
            <a:r>
              <a:rPr lang="en-US" sz="900" dirty="0">
                <a:solidFill>
                  <a:srgbClr val="3B3535"/>
                </a:solidFill>
                <a:latin typeface="Roboto" pitchFamily="34" charset="0"/>
                <a:ea typeface="Roboto" pitchFamily="34" charset="-122"/>
                <a:cs typeface="Roboto" pitchFamily="34" charset="-120"/>
              </a:rPr>
              <a:t>LLaMA · Meta · Primer modelo open-source competitivo</a:t>
            </a:r>
            <a:endParaRPr lang="en-US" sz="900" dirty="0"/>
          </a:p>
        </p:txBody>
      </p:sp>
      <p:sp>
        <p:nvSpPr>
          <p:cNvPr id="23" name="Shape 21"/>
          <p:cNvSpPr/>
          <p:nvPr/>
        </p:nvSpPr>
        <p:spPr>
          <a:xfrm>
            <a:off x="5623578" y="3873798"/>
            <a:ext cx="352714" cy="12700"/>
          </a:xfrm>
          <a:prstGeom prst="roundRect">
            <a:avLst>
              <a:gd name="adj" fmla="val 49999"/>
            </a:avLst>
          </a:prstGeom>
          <a:solidFill>
            <a:srgbClr val="D8D4D4"/>
          </a:solidFill>
          <a:ln/>
        </p:spPr>
      </p:sp>
      <p:sp>
        <p:nvSpPr>
          <p:cNvPr id="24" name="Shape 22"/>
          <p:cNvSpPr/>
          <p:nvPr/>
        </p:nvSpPr>
        <p:spPr>
          <a:xfrm>
            <a:off x="5963592" y="3747889"/>
            <a:ext cx="264511" cy="264517"/>
          </a:xfrm>
          <a:prstGeom prst="roundRect">
            <a:avLst>
              <a:gd name="adj" fmla="val 2881"/>
            </a:avLst>
          </a:prstGeom>
          <a:solidFill>
            <a:srgbClr val="F2EEEE"/>
          </a:solidFill>
          <a:ln w="6350">
            <a:solidFill>
              <a:srgbClr val="D8D4D4"/>
            </a:solidFill>
            <a:prstDash val="solid"/>
          </a:ln>
        </p:spPr>
      </p:sp>
      <p:sp>
        <p:nvSpPr>
          <p:cNvPr id="25" name="Text 23"/>
          <p:cNvSpPr/>
          <p:nvPr/>
        </p:nvSpPr>
        <p:spPr>
          <a:xfrm>
            <a:off x="661475" y="3788271"/>
            <a:ext cx="4846516" cy="183654"/>
          </a:xfrm>
          <a:prstGeom prst="rect">
            <a:avLst/>
          </a:prstGeom>
          <a:noFill/>
          <a:ln/>
        </p:spPr>
        <p:txBody>
          <a:bodyPr wrap="none" lIns="0" tIns="0" rIns="0" bIns="0" rtlCol="0" anchor="t"/>
          <a:lstStyle/>
          <a:p>
            <a:pPr algn="r" indent="0" marL="0">
              <a:lnSpc>
                <a:spcPct val="104000"/>
              </a:lnSpc>
              <a:buNone/>
            </a:pPr>
            <a:r>
              <a:rPr lang="en-US" sz="1150" dirty="0">
                <a:solidFill>
                  <a:srgbClr val="3B3535"/>
                </a:solidFill>
                <a:latin typeface="Roboto Mono Medium" pitchFamily="34" charset="0"/>
                <a:ea typeface="Roboto Mono Medium" pitchFamily="34" charset="-122"/>
                <a:cs typeface="Roboto Mono Medium" pitchFamily="34" charset="-120"/>
              </a:rPr>
              <a:t>2023 — 2T tokens</a:t>
            </a:r>
            <a:endParaRPr lang="en-US" sz="1150" dirty="0"/>
          </a:p>
        </p:txBody>
      </p:sp>
      <p:sp>
        <p:nvSpPr>
          <p:cNvPr id="26" name="Text 24"/>
          <p:cNvSpPr/>
          <p:nvPr/>
        </p:nvSpPr>
        <p:spPr>
          <a:xfrm>
            <a:off x="661475" y="4006949"/>
            <a:ext cx="4846516" cy="140791"/>
          </a:xfrm>
          <a:prstGeom prst="rect">
            <a:avLst/>
          </a:prstGeom>
          <a:noFill/>
          <a:ln/>
        </p:spPr>
        <p:txBody>
          <a:bodyPr wrap="none" lIns="0" tIns="0" rIns="0" bIns="0" rtlCol="0" anchor="t"/>
          <a:lstStyle/>
          <a:p>
            <a:pPr algn="r" indent="0" marL="0">
              <a:lnSpc>
                <a:spcPct val="100000"/>
              </a:lnSpc>
              <a:buNone/>
            </a:pPr>
            <a:r>
              <a:rPr lang="en-US" sz="900" dirty="0">
                <a:solidFill>
                  <a:srgbClr val="3B3535"/>
                </a:solidFill>
                <a:latin typeface="Roboto" pitchFamily="34" charset="0"/>
                <a:ea typeface="Roboto" pitchFamily="34" charset="-122"/>
                <a:cs typeface="Roboto" pitchFamily="34" charset="-120"/>
              </a:rPr>
              <a:t>LLaMA-2 · Meta · Versión mejorada con RLHF</a:t>
            </a:r>
            <a:endParaRPr lang="en-US" sz="900" dirty="0"/>
          </a:p>
        </p:txBody>
      </p:sp>
      <p:sp>
        <p:nvSpPr>
          <p:cNvPr id="27" name="Shape 25"/>
          <p:cNvSpPr/>
          <p:nvPr/>
        </p:nvSpPr>
        <p:spPr>
          <a:xfrm>
            <a:off x="6215403" y="4422775"/>
            <a:ext cx="352714" cy="12700"/>
          </a:xfrm>
          <a:prstGeom prst="roundRect">
            <a:avLst>
              <a:gd name="adj" fmla="val 49999"/>
            </a:avLst>
          </a:prstGeom>
          <a:solidFill>
            <a:srgbClr val="D8D4D4"/>
          </a:solidFill>
          <a:ln/>
        </p:spPr>
      </p:sp>
      <p:sp>
        <p:nvSpPr>
          <p:cNvPr id="28" name="Shape 26"/>
          <p:cNvSpPr/>
          <p:nvPr/>
        </p:nvSpPr>
        <p:spPr>
          <a:xfrm>
            <a:off x="5963592" y="4296866"/>
            <a:ext cx="264511" cy="264517"/>
          </a:xfrm>
          <a:prstGeom prst="roundRect">
            <a:avLst>
              <a:gd name="adj" fmla="val 2881"/>
            </a:avLst>
          </a:prstGeom>
          <a:solidFill>
            <a:srgbClr val="F2EEEE"/>
          </a:solidFill>
          <a:ln w="6350">
            <a:solidFill>
              <a:srgbClr val="D8D4D4"/>
            </a:solidFill>
            <a:prstDash val="solid"/>
          </a:ln>
        </p:spPr>
      </p:sp>
      <p:sp>
        <p:nvSpPr>
          <p:cNvPr id="29" name="Text 27"/>
          <p:cNvSpPr/>
          <p:nvPr/>
        </p:nvSpPr>
        <p:spPr>
          <a:xfrm>
            <a:off x="6683704" y="4337248"/>
            <a:ext cx="4846516" cy="183654"/>
          </a:xfrm>
          <a:prstGeom prst="rect">
            <a:avLst/>
          </a:prstGeom>
          <a:noFill/>
          <a:ln/>
        </p:spPr>
        <p:txBody>
          <a:bodyPr wrap="none" lIns="0" tIns="0" rIns="0" bIns="0" rtlCol="0" anchor="t"/>
          <a:lstStyle/>
          <a:p>
            <a:pPr algn="l" indent="0" marL="0">
              <a:lnSpc>
                <a:spcPct val="104000"/>
              </a:lnSpc>
              <a:buNone/>
            </a:pPr>
            <a:r>
              <a:rPr lang="en-US" sz="1150" dirty="0">
                <a:solidFill>
                  <a:srgbClr val="3B3535"/>
                </a:solidFill>
                <a:latin typeface="Roboto Mono Medium" pitchFamily="34" charset="0"/>
                <a:ea typeface="Roboto Mono Medium" pitchFamily="34" charset="-122"/>
                <a:cs typeface="Roboto Mono Medium" pitchFamily="34" charset="-120"/>
              </a:rPr>
              <a:t>2023 — 6T tokens</a:t>
            </a:r>
            <a:endParaRPr lang="en-US" sz="1150" dirty="0"/>
          </a:p>
        </p:txBody>
      </p:sp>
      <p:sp>
        <p:nvSpPr>
          <p:cNvPr id="30" name="Text 28"/>
          <p:cNvSpPr/>
          <p:nvPr/>
        </p:nvSpPr>
        <p:spPr>
          <a:xfrm>
            <a:off x="6683704" y="4555927"/>
            <a:ext cx="4846516" cy="140791"/>
          </a:xfrm>
          <a:prstGeom prst="rect">
            <a:avLst/>
          </a:prstGeom>
          <a:noFill/>
          <a:ln/>
        </p:spPr>
        <p:txBody>
          <a:bodyPr wrap="none" lIns="0" tIns="0" rIns="0" bIns="0" rtlCol="0" anchor="t"/>
          <a:lstStyle/>
          <a:p>
            <a:pPr algn="l" indent="0" marL="0">
              <a:lnSpc>
                <a:spcPct val="100000"/>
              </a:lnSpc>
              <a:buNone/>
            </a:pPr>
            <a:r>
              <a:rPr lang="en-US" sz="900" dirty="0">
                <a:solidFill>
                  <a:srgbClr val="3B3535"/>
                </a:solidFill>
                <a:latin typeface="Roboto" pitchFamily="34" charset="0"/>
                <a:ea typeface="Roboto" pitchFamily="34" charset="-122"/>
                <a:cs typeface="Roboto" pitchFamily="34" charset="-120"/>
              </a:rPr>
              <a:t>GPT-4 · OpenAI · ~6 trillion tokens (estimado)</a:t>
            </a:r>
            <a:endParaRPr lang="en-US" sz="900" dirty="0"/>
          </a:p>
        </p:txBody>
      </p:sp>
      <p:sp>
        <p:nvSpPr>
          <p:cNvPr id="31" name="Shape 29"/>
          <p:cNvSpPr/>
          <p:nvPr/>
        </p:nvSpPr>
        <p:spPr>
          <a:xfrm>
            <a:off x="5623578" y="4971752"/>
            <a:ext cx="352714" cy="12700"/>
          </a:xfrm>
          <a:prstGeom prst="roundRect">
            <a:avLst>
              <a:gd name="adj" fmla="val 49999"/>
            </a:avLst>
          </a:prstGeom>
          <a:solidFill>
            <a:srgbClr val="D8D4D4"/>
          </a:solidFill>
          <a:ln/>
        </p:spPr>
      </p:sp>
      <p:sp>
        <p:nvSpPr>
          <p:cNvPr id="32" name="Shape 30"/>
          <p:cNvSpPr/>
          <p:nvPr/>
        </p:nvSpPr>
        <p:spPr>
          <a:xfrm>
            <a:off x="5963592" y="4845844"/>
            <a:ext cx="264511" cy="264517"/>
          </a:xfrm>
          <a:prstGeom prst="roundRect">
            <a:avLst>
              <a:gd name="adj" fmla="val 2881"/>
            </a:avLst>
          </a:prstGeom>
          <a:solidFill>
            <a:srgbClr val="F2EEEE"/>
          </a:solidFill>
          <a:ln w="6350">
            <a:solidFill>
              <a:srgbClr val="D8D4D4"/>
            </a:solidFill>
            <a:prstDash val="solid"/>
          </a:ln>
        </p:spPr>
      </p:sp>
      <p:sp>
        <p:nvSpPr>
          <p:cNvPr id="33" name="Text 31"/>
          <p:cNvSpPr/>
          <p:nvPr/>
        </p:nvSpPr>
        <p:spPr>
          <a:xfrm>
            <a:off x="661475" y="4886226"/>
            <a:ext cx="4846516" cy="183654"/>
          </a:xfrm>
          <a:prstGeom prst="rect">
            <a:avLst/>
          </a:prstGeom>
          <a:noFill/>
          <a:ln/>
        </p:spPr>
        <p:txBody>
          <a:bodyPr wrap="none" lIns="0" tIns="0" rIns="0" bIns="0" rtlCol="0" anchor="t"/>
          <a:lstStyle/>
          <a:p>
            <a:pPr algn="r" indent="0" marL="0">
              <a:lnSpc>
                <a:spcPct val="104000"/>
              </a:lnSpc>
              <a:buNone/>
            </a:pPr>
            <a:r>
              <a:rPr lang="en-US" sz="1150" dirty="0">
                <a:solidFill>
                  <a:srgbClr val="3B3535"/>
                </a:solidFill>
                <a:latin typeface="Roboto Mono Medium" pitchFamily="34" charset="0"/>
                <a:ea typeface="Roboto Mono Medium" pitchFamily="34" charset="-122"/>
                <a:cs typeface="Roboto Mono Medium" pitchFamily="34" charset="-120"/>
              </a:rPr>
              <a:t>2024 — 15T tokens</a:t>
            </a:r>
            <a:endParaRPr lang="en-US" sz="1150" dirty="0"/>
          </a:p>
        </p:txBody>
      </p:sp>
      <p:sp>
        <p:nvSpPr>
          <p:cNvPr id="34" name="Text 32"/>
          <p:cNvSpPr/>
          <p:nvPr/>
        </p:nvSpPr>
        <p:spPr>
          <a:xfrm>
            <a:off x="661475" y="5104904"/>
            <a:ext cx="4846516" cy="140791"/>
          </a:xfrm>
          <a:prstGeom prst="rect">
            <a:avLst/>
          </a:prstGeom>
          <a:noFill/>
          <a:ln/>
        </p:spPr>
        <p:txBody>
          <a:bodyPr wrap="none" lIns="0" tIns="0" rIns="0" bIns="0" rtlCol="0" anchor="t"/>
          <a:lstStyle/>
          <a:p>
            <a:pPr algn="r" indent="0" marL="0">
              <a:lnSpc>
                <a:spcPct val="100000"/>
              </a:lnSpc>
              <a:buNone/>
            </a:pPr>
            <a:r>
              <a:rPr lang="en-US" sz="900" dirty="0">
                <a:solidFill>
                  <a:srgbClr val="3B3535"/>
                </a:solidFill>
                <a:latin typeface="Roboto" pitchFamily="34" charset="0"/>
                <a:ea typeface="Roboto" pitchFamily="34" charset="-122"/>
                <a:cs typeface="Roboto" pitchFamily="34" charset="-120"/>
              </a:rPr>
              <a:t>LLaMA-3 · Meta · Estado del arte open-source</a:t>
            </a:r>
            <a:endParaRPr lang="en-US" sz="900" dirty="0"/>
          </a:p>
        </p:txBody>
      </p:sp>
      <p:sp>
        <p:nvSpPr>
          <p:cNvPr id="35" name="Shape 33"/>
          <p:cNvSpPr/>
          <p:nvPr/>
        </p:nvSpPr>
        <p:spPr>
          <a:xfrm>
            <a:off x="661475" y="5892602"/>
            <a:ext cx="10868745" cy="318393"/>
          </a:xfrm>
          <a:prstGeom prst="roundRect">
            <a:avLst>
              <a:gd name="adj" fmla="val 2393"/>
            </a:avLst>
          </a:prstGeom>
          <a:solidFill>
            <a:srgbClr val="F9D2D6"/>
          </a:solidFill>
          <a:ln/>
        </p:spPr>
      </p:sp>
      <p:pic>
        <p:nvPicPr>
          <p:cNvPr id="36" name="Image 0" descr="preencoded.png">    </p:cNvPr>
          <p:cNvPicPr>
            <a:picLocks noChangeAspect="1"/>
          </p:cNvPicPr>
          <p:nvPr/>
        </p:nvPicPr>
        <p:blipFill>
          <a:blip r:embed="rId1"/>
          <a:stretch>
            <a:fillRect/>
          </a:stretch>
        </p:blipFill>
        <p:spPr>
          <a:xfrm>
            <a:off x="779046" y="6039545"/>
            <a:ext cx="146939" cy="117574"/>
          </a:xfrm>
          <a:prstGeom prst="rect">
            <a:avLst/>
          </a:prstGeom>
        </p:spPr>
      </p:pic>
      <p:sp>
        <p:nvSpPr>
          <p:cNvPr id="37" name="Text 34"/>
          <p:cNvSpPr/>
          <p:nvPr/>
        </p:nvSpPr>
        <p:spPr>
          <a:xfrm>
            <a:off x="1043557" y="5980410"/>
            <a:ext cx="10978677" cy="140791"/>
          </a:xfrm>
          <a:prstGeom prst="rect">
            <a:avLst/>
          </a:prstGeom>
          <a:noFill/>
          <a:ln/>
        </p:spPr>
        <p:txBody>
          <a:bodyPr wrap="none" lIns="0" tIns="0" rIns="0" bIns="0" rtlCol="0" anchor="t"/>
          <a:lstStyle/>
          <a:p>
            <a:pPr algn="l" indent="0" marL="0">
              <a:lnSpc>
                <a:spcPct val="100000"/>
              </a:lnSpc>
              <a:buNone/>
            </a:pPr>
            <a:r>
              <a:rPr lang="en-US" sz="900" dirty="0">
                <a:solidFill>
                  <a:srgbClr val="000000"/>
                </a:solidFill>
                <a:latin typeface="Roboto" pitchFamily="34" charset="0"/>
                <a:ea typeface="Roboto" pitchFamily="34" charset="-122"/>
                <a:cs typeface="Roboto" pitchFamily="34" charset="-120"/>
              </a:rPr>
              <a:t>💡</a:t>
            </a:r>
            <a:pPr algn="l" indent="0" marL="0">
              <a:lnSpc>
                <a:spcPct val="100000"/>
              </a:lnSpc>
              <a:buNone/>
            </a:pPr>
            <a:r>
              <a:rPr lang="en-US" sz="900" dirty="0">
                <a:solidFill>
                  <a:srgbClr val="000000"/>
                </a:solidFill>
                <a:latin typeface="Roboto" pitchFamily="34" charset="0"/>
                <a:ea typeface="Roboto" pitchFamily="34" charset="-122"/>
                <a:cs typeface="Roboto" pitchFamily="34" charset="-120"/>
              </a:rPr>
              <a:t> Self-supervised learning no requiere etiquetas humanas: el texto genera sus propios objetivos (predecir la próxima palabra), permitiendo entrenar con volúmenes masivos sin costo de etiquetado.</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661475" y="1094581"/>
            <a:ext cx="10868745" cy="553740"/>
          </a:xfrm>
          <a:prstGeom prst="rect">
            <a:avLst/>
          </a:prstGeom>
          <a:noFill/>
          <a:ln/>
        </p:spPr>
        <p:txBody>
          <a:bodyPr wrap="none" lIns="0" tIns="0" rIns="0" bIns="0" rtlCol="0" anchor="t"/>
          <a:lstStyle/>
          <a:p>
            <a:pPr algn="l" indent="0" marL="0">
              <a:lnSpc>
                <a:spcPct val="104000"/>
              </a:lnSpc>
              <a:buNone/>
            </a:pPr>
            <a:r>
              <a:rPr lang="en-US" sz="3450" dirty="0">
                <a:solidFill>
                  <a:srgbClr val="1F1E1E"/>
                </a:solidFill>
                <a:latin typeface="Roboto Mono Medium" pitchFamily="34" charset="0"/>
                <a:ea typeface="Roboto Mono Medium" pitchFamily="34" charset="-122"/>
                <a:cs typeface="Roboto Mono Medium" pitchFamily="34" charset="-120"/>
              </a:rPr>
              <a:t>¿Con qué datos se entrenan?</a:t>
            </a:r>
            <a:endParaRPr lang="en-US" sz="3450" dirty="0"/>
          </a:p>
        </p:txBody>
      </p:sp>
      <p:sp>
        <p:nvSpPr>
          <p:cNvPr id="3" name="Text 1"/>
          <p:cNvSpPr/>
          <p:nvPr/>
        </p:nvSpPr>
        <p:spPr>
          <a:xfrm>
            <a:off x="661475" y="1701403"/>
            <a:ext cx="10868745" cy="276920"/>
          </a:xfrm>
          <a:prstGeom prst="rect">
            <a:avLst/>
          </a:prstGeom>
          <a:noFill/>
          <a:ln/>
        </p:spPr>
        <p:txBody>
          <a:bodyPr wrap="none" lIns="0" tIns="0" rIns="0" bIns="0" rtlCol="0" anchor="t"/>
          <a:lstStyle/>
          <a:p>
            <a:pPr algn="l" indent="0" marL="0">
              <a:lnSpc>
                <a:spcPct val="104000"/>
              </a:lnSpc>
              <a:buNone/>
            </a:pPr>
            <a:r>
              <a:rPr lang="en-US" sz="1700" dirty="0">
                <a:solidFill>
                  <a:srgbClr val="1F1E1E"/>
                </a:solidFill>
                <a:latin typeface="Roboto Mono Medium" pitchFamily="34" charset="0"/>
                <a:ea typeface="Roboto Mono Medium" pitchFamily="34" charset="-122"/>
                <a:cs typeface="Roboto Mono Medium" pitchFamily="34" charset="-120"/>
              </a:rPr>
              <a:t>Fuentes de datos de los Foundation Models</a:t>
            </a:r>
            <a:endParaRPr lang="en-US" sz="17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177653"/>
            <a:ext cx="443001" cy="443012"/>
          </a:xfrm>
          <a:prstGeom prst="rect">
            <a:avLst/>
          </a:prstGeom>
        </p:spPr>
      </p:pic>
      <p:sp>
        <p:nvSpPr>
          <p:cNvPr id="5" name="Text 2"/>
          <p:cNvSpPr/>
          <p:nvPr/>
        </p:nvSpPr>
        <p:spPr>
          <a:xfrm>
            <a:off x="1270564" y="2177653"/>
            <a:ext cx="2903068" cy="276920"/>
          </a:xfrm>
          <a:prstGeom prst="rect">
            <a:avLst/>
          </a:prstGeom>
          <a:noFill/>
          <a:ln/>
        </p:spPr>
        <p:txBody>
          <a:bodyPr wrap="none" lIns="0" tIns="0" rIns="0" bIns="0" rtlCol="0" anchor="t"/>
          <a:lstStyle/>
          <a:p>
            <a:pPr algn="l" indent="0" marL="0">
              <a:lnSpc>
                <a:spcPct val="104000"/>
              </a:lnSpc>
              <a:buNone/>
            </a:pPr>
            <a:r>
              <a:rPr lang="en-US" sz="1700" dirty="0">
                <a:solidFill>
                  <a:srgbClr val="3B3535"/>
                </a:solidFill>
                <a:latin typeface="Roboto Mono Medium" pitchFamily="34" charset="0"/>
                <a:ea typeface="Roboto Mono Medium" pitchFamily="34" charset="-122"/>
                <a:cs typeface="Roboto Mono Medium" pitchFamily="34" charset="-120"/>
              </a:rPr>
              <a:t>Web pública</a:t>
            </a:r>
            <a:endParaRPr lang="en-US" sz="1700" dirty="0"/>
          </a:p>
        </p:txBody>
      </p:sp>
      <p:sp>
        <p:nvSpPr>
          <p:cNvPr id="6" name="Text 3"/>
          <p:cNvSpPr/>
          <p:nvPr/>
        </p:nvSpPr>
        <p:spPr>
          <a:xfrm>
            <a:off x="1270564" y="2534245"/>
            <a:ext cx="2903068" cy="496094"/>
          </a:xfrm>
          <a:prstGeom prst="rect">
            <a:avLst/>
          </a:prstGeom>
          <a:noFill/>
          <a:ln/>
        </p:spPr>
        <p:txBody>
          <a:bodyPr wrap="square" lIns="0" tIns="0" rIns="0" bIns="0" rtlCol="0" anchor="t">
            <a:normAutofit/>
          </a:bodyPr>
          <a:lstStyle/>
          <a:p>
            <a:pPr algn="l" indent="0" marL="0">
              <a:lnSpc>
                <a:spcPct val="117000"/>
              </a:lnSpc>
              <a:buNone/>
            </a:pPr>
            <a:r>
              <a:rPr lang="en-US" sz="1350" dirty="0">
                <a:solidFill>
                  <a:srgbClr val="3B3535"/>
                </a:solidFill>
                <a:latin typeface="Roboto" pitchFamily="34" charset="0"/>
                <a:ea typeface="Roboto" pitchFamily="34" charset="-122"/>
                <a:cs typeface="Roboto" pitchFamily="34" charset="-120"/>
              </a:rPr>
              <a:t>Common Crawl, C4, OpenWebText — Escala masiva, diversidad temática</a:t>
            </a:r>
            <a:endParaRPr lang="en-US" sz="13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39720" y="2177653"/>
            <a:ext cx="443001" cy="443012"/>
          </a:xfrm>
          <a:prstGeom prst="rect">
            <a:avLst/>
          </a:prstGeom>
        </p:spPr>
      </p:pic>
      <p:sp>
        <p:nvSpPr>
          <p:cNvPr id="8" name="Text 4"/>
          <p:cNvSpPr/>
          <p:nvPr/>
        </p:nvSpPr>
        <p:spPr>
          <a:xfrm>
            <a:off x="4948808" y="2177653"/>
            <a:ext cx="2903068" cy="276920"/>
          </a:xfrm>
          <a:prstGeom prst="rect">
            <a:avLst/>
          </a:prstGeom>
          <a:noFill/>
          <a:ln/>
        </p:spPr>
        <p:txBody>
          <a:bodyPr wrap="none" lIns="0" tIns="0" rIns="0" bIns="0" rtlCol="0" anchor="t"/>
          <a:lstStyle/>
          <a:p>
            <a:pPr algn="l" indent="0" marL="0">
              <a:lnSpc>
                <a:spcPct val="104000"/>
              </a:lnSpc>
              <a:buNone/>
            </a:pPr>
            <a:r>
              <a:rPr lang="en-US" sz="1700" dirty="0">
                <a:solidFill>
                  <a:srgbClr val="3B3535"/>
                </a:solidFill>
                <a:latin typeface="Roboto Mono Medium" pitchFamily="34" charset="0"/>
                <a:ea typeface="Roboto Mono Medium" pitchFamily="34" charset="-122"/>
                <a:cs typeface="Roboto Mono Medium" pitchFamily="34" charset="-120"/>
              </a:rPr>
              <a:t>Libros digitalizados</a:t>
            </a:r>
            <a:endParaRPr lang="en-US" sz="1700" dirty="0"/>
          </a:p>
        </p:txBody>
      </p:sp>
      <p:sp>
        <p:nvSpPr>
          <p:cNvPr id="9" name="Text 5"/>
          <p:cNvSpPr/>
          <p:nvPr/>
        </p:nvSpPr>
        <p:spPr>
          <a:xfrm>
            <a:off x="4948808" y="2534245"/>
            <a:ext cx="2903068" cy="496094"/>
          </a:xfrm>
          <a:prstGeom prst="rect">
            <a:avLst/>
          </a:prstGeom>
          <a:noFill/>
          <a:ln/>
        </p:spPr>
        <p:txBody>
          <a:bodyPr wrap="square" lIns="0" tIns="0" rIns="0" bIns="0" rtlCol="0" anchor="t">
            <a:normAutofit/>
          </a:bodyPr>
          <a:lstStyle/>
          <a:p>
            <a:pPr algn="l" indent="0" marL="0">
              <a:lnSpc>
                <a:spcPct val="117000"/>
              </a:lnSpc>
              <a:buNone/>
            </a:pPr>
            <a:r>
              <a:rPr lang="en-US" sz="1350" dirty="0">
                <a:solidFill>
                  <a:srgbClr val="3B3535"/>
                </a:solidFill>
                <a:latin typeface="Roboto" pitchFamily="34" charset="0"/>
                <a:ea typeface="Roboto" pitchFamily="34" charset="-122"/>
                <a:cs typeface="Roboto" pitchFamily="34" charset="-120"/>
              </a:rPr>
              <a:t>BooksCorpus, Project Gutenberg — Lenguaje estructurado y coherente</a:t>
            </a:r>
            <a:endParaRPr lang="en-US" sz="1350" dirty="0"/>
          </a:p>
        </p:txBody>
      </p:sp>
      <p:pic>
        <p:nvPicPr>
          <p:cNvPr id="10" name="Image 2" descr="preencoded.png">    </p:cNvPr>
          <p:cNvPicPr>
            <a:picLocks noChangeAspect="1"/>
          </p:cNvPicPr>
          <p:nvPr/>
        </p:nvPicPr>
        <p:blipFill>
          <a:blip r:embed="rId5"/>
          <a:stretch>
            <a:fillRect/>
          </a:stretch>
        </p:blipFill>
        <p:spPr>
          <a:xfrm>
            <a:off x="8017964" y="2177653"/>
            <a:ext cx="443001" cy="443012"/>
          </a:xfrm>
          <a:prstGeom prst="rect">
            <a:avLst/>
          </a:prstGeom>
        </p:spPr>
      </p:pic>
      <p:sp>
        <p:nvSpPr>
          <p:cNvPr id="11" name="Text 6"/>
          <p:cNvSpPr/>
          <p:nvPr/>
        </p:nvSpPr>
        <p:spPr>
          <a:xfrm>
            <a:off x="8627053" y="2177653"/>
            <a:ext cx="2903068" cy="276920"/>
          </a:xfrm>
          <a:prstGeom prst="rect">
            <a:avLst/>
          </a:prstGeom>
          <a:noFill/>
          <a:ln/>
        </p:spPr>
        <p:txBody>
          <a:bodyPr wrap="none" lIns="0" tIns="0" rIns="0" bIns="0" rtlCol="0" anchor="t"/>
          <a:lstStyle/>
          <a:p>
            <a:pPr algn="l" indent="0" marL="0">
              <a:lnSpc>
                <a:spcPct val="104000"/>
              </a:lnSpc>
              <a:buNone/>
            </a:pPr>
            <a:r>
              <a:rPr lang="en-US" sz="1700" dirty="0">
                <a:solidFill>
                  <a:srgbClr val="3B3535"/>
                </a:solidFill>
                <a:latin typeface="Roboto Mono Medium" pitchFamily="34" charset="0"/>
                <a:ea typeface="Roboto Mono Medium" pitchFamily="34" charset="-122"/>
                <a:cs typeface="Roboto Mono Medium" pitchFamily="34" charset="-120"/>
              </a:rPr>
              <a:t>Enciclopedias</a:t>
            </a:r>
            <a:endParaRPr lang="en-US" sz="1700" dirty="0"/>
          </a:p>
        </p:txBody>
      </p:sp>
      <p:sp>
        <p:nvSpPr>
          <p:cNvPr id="12" name="Text 7"/>
          <p:cNvSpPr/>
          <p:nvPr/>
        </p:nvSpPr>
        <p:spPr>
          <a:xfrm>
            <a:off x="8627053" y="2534245"/>
            <a:ext cx="2903068" cy="496094"/>
          </a:xfrm>
          <a:prstGeom prst="rect">
            <a:avLst/>
          </a:prstGeom>
          <a:noFill/>
          <a:ln/>
        </p:spPr>
        <p:txBody>
          <a:bodyPr wrap="square" lIns="0" tIns="0" rIns="0" bIns="0" rtlCol="0" anchor="t">
            <a:normAutofit/>
          </a:bodyPr>
          <a:lstStyle/>
          <a:p>
            <a:pPr algn="l" indent="0" marL="0">
              <a:lnSpc>
                <a:spcPct val="117000"/>
              </a:lnSpc>
              <a:buNone/>
            </a:pPr>
            <a:r>
              <a:rPr lang="en-US" sz="1350" dirty="0">
                <a:solidFill>
                  <a:srgbClr val="3B3535"/>
                </a:solidFill>
                <a:latin typeface="Roboto" pitchFamily="34" charset="0"/>
                <a:ea typeface="Roboto" pitchFamily="34" charset="-122"/>
                <a:cs typeface="Roboto" pitchFamily="34" charset="-120"/>
              </a:rPr>
              <a:t>Wikipedia dump oficial — Conocimiento factual organizado</a:t>
            </a:r>
            <a:endParaRPr lang="en-US" sz="1350" dirty="0"/>
          </a:p>
        </p:txBody>
      </p:sp>
      <p:pic>
        <p:nvPicPr>
          <p:cNvPr id="13"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3296146"/>
            <a:ext cx="443001" cy="443012"/>
          </a:xfrm>
          <a:prstGeom prst="rect">
            <a:avLst/>
          </a:prstGeom>
        </p:spPr>
      </p:pic>
      <p:sp>
        <p:nvSpPr>
          <p:cNvPr id="14" name="Text 8"/>
          <p:cNvSpPr/>
          <p:nvPr/>
        </p:nvSpPr>
        <p:spPr>
          <a:xfrm>
            <a:off x="1270564" y="3296146"/>
            <a:ext cx="2903068" cy="276920"/>
          </a:xfrm>
          <a:prstGeom prst="rect">
            <a:avLst/>
          </a:prstGeom>
          <a:noFill/>
          <a:ln/>
        </p:spPr>
        <p:txBody>
          <a:bodyPr wrap="none" lIns="0" tIns="0" rIns="0" bIns="0" rtlCol="0" anchor="t"/>
          <a:lstStyle/>
          <a:p>
            <a:pPr algn="l" indent="0" marL="0">
              <a:lnSpc>
                <a:spcPct val="104000"/>
              </a:lnSpc>
              <a:buNone/>
            </a:pPr>
            <a:r>
              <a:rPr lang="en-US" sz="1700" dirty="0">
                <a:solidFill>
                  <a:srgbClr val="3B3535"/>
                </a:solidFill>
                <a:latin typeface="Roboto Mono Medium" pitchFamily="34" charset="0"/>
                <a:ea typeface="Roboto Mono Medium" pitchFamily="34" charset="-122"/>
                <a:cs typeface="Roboto Mono Medium" pitchFamily="34" charset="-120"/>
              </a:rPr>
              <a:t>Código fuente</a:t>
            </a:r>
            <a:endParaRPr lang="en-US" sz="1700" dirty="0"/>
          </a:p>
        </p:txBody>
      </p:sp>
      <p:sp>
        <p:nvSpPr>
          <p:cNvPr id="15" name="Text 9"/>
          <p:cNvSpPr/>
          <p:nvPr/>
        </p:nvSpPr>
        <p:spPr>
          <a:xfrm>
            <a:off x="1270564" y="3652738"/>
            <a:ext cx="2903068" cy="496094"/>
          </a:xfrm>
          <a:prstGeom prst="rect">
            <a:avLst/>
          </a:prstGeom>
          <a:noFill/>
          <a:ln/>
        </p:spPr>
        <p:txBody>
          <a:bodyPr wrap="square" lIns="0" tIns="0" rIns="0" bIns="0" rtlCol="0" anchor="t">
            <a:normAutofit/>
          </a:bodyPr>
          <a:lstStyle/>
          <a:p>
            <a:pPr algn="l" indent="0" marL="0">
              <a:lnSpc>
                <a:spcPct val="117000"/>
              </a:lnSpc>
              <a:buNone/>
            </a:pPr>
            <a:r>
              <a:rPr lang="en-US" sz="1350" dirty="0">
                <a:solidFill>
                  <a:srgbClr val="3B3535"/>
                </a:solidFill>
                <a:latin typeface="Roboto" pitchFamily="34" charset="0"/>
                <a:ea typeface="Roboto" pitchFamily="34" charset="-122"/>
                <a:cs typeface="Roboto" pitchFamily="34" charset="-120"/>
              </a:rPr>
              <a:t>GitHub, The Stack — Entrenamiento para generación de código</a:t>
            </a:r>
            <a:endParaRPr lang="en-US" sz="1350" dirty="0"/>
          </a:p>
        </p:txBody>
      </p:sp>
      <p:pic>
        <p:nvPicPr>
          <p:cNvPr id="16"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339720" y="3296146"/>
            <a:ext cx="443001" cy="443012"/>
          </a:xfrm>
          <a:prstGeom prst="rect">
            <a:avLst/>
          </a:prstGeom>
        </p:spPr>
      </p:pic>
      <p:sp>
        <p:nvSpPr>
          <p:cNvPr id="17" name="Text 10"/>
          <p:cNvSpPr/>
          <p:nvPr/>
        </p:nvSpPr>
        <p:spPr>
          <a:xfrm>
            <a:off x="4948808" y="3296146"/>
            <a:ext cx="2903068" cy="276920"/>
          </a:xfrm>
          <a:prstGeom prst="rect">
            <a:avLst/>
          </a:prstGeom>
          <a:noFill/>
          <a:ln/>
        </p:spPr>
        <p:txBody>
          <a:bodyPr wrap="none" lIns="0" tIns="0" rIns="0" bIns="0" rtlCol="0" anchor="t"/>
          <a:lstStyle/>
          <a:p>
            <a:pPr algn="l" indent="0" marL="0">
              <a:lnSpc>
                <a:spcPct val="104000"/>
              </a:lnSpc>
              <a:buNone/>
            </a:pPr>
            <a:r>
              <a:rPr lang="en-US" sz="1700" dirty="0">
                <a:solidFill>
                  <a:srgbClr val="3B3535"/>
                </a:solidFill>
                <a:latin typeface="Roboto Mono Medium" pitchFamily="34" charset="0"/>
                <a:ea typeface="Roboto Mono Medium" pitchFamily="34" charset="-122"/>
                <a:cs typeface="Roboto Mono Medium" pitchFamily="34" charset="-120"/>
              </a:rPr>
              <a:t>Artículos y Papers</a:t>
            </a:r>
            <a:endParaRPr lang="en-US" sz="1700" dirty="0"/>
          </a:p>
        </p:txBody>
      </p:sp>
      <p:sp>
        <p:nvSpPr>
          <p:cNvPr id="18" name="Text 11"/>
          <p:cNvSpPr/>
          <p:nvPr/>
        </p:nvSpPr>
        <p:spPr>
          <a:xfrm>
            <a:off x="4948808" y="3652738"/>
            <a:ext cx="2903068" cy="496094"/>
          </a:xfrm>
          <a:prstGeom prst="rect">
            <a:avLst/>
          </a:prstGeom>
          <a:noFill/>
          <a:ln/>
        </p:spPr>
        <p:txBody>
          <a:bodyPr wrap="square" lIns="0" tIns="0" rIns="0" bIns="0" rtlCol="0" anchor="t">
            <a:normAutofit/>
          </a:bodyPr>
          <a:lstStyle/>
          <a:p>
            <a:pPr algn="l" indent="0" marL="0">
              <a:lnSpc>
                <a:spcPct val="117000"/>
              </a:lnSpc>
              <a:buNone/>
            </a:pPr>
            <a:r>
              <a:rPr lang="en-US" sz="1350" dirty="0">
                <a:solidFill>
                  <a:srgbClr val="3B3535"/>
                </a:solidFill>
                <a:latin typeface="Roboto" pitchFamily="34" charset="0"/>
                <a:ea typeface="Roboto" pitchFamily="34" charset="-122"/>
                <a:cs typeface="Roboto" pitchFamily="34" charset="-120"/>
              </a:rPr>
              <a:t>arXiv, datasets académicos curados — Lenguaje técnico y especializado</a:t>
            </a:r>
            <a:endParaRPr lang="en-US" sz="1350" dirty="0"/>
          </a:p>
        </p:txBody>
      </p:sp>
      <p:pic>
        <p:nvPicPr>
          <p:cNvPr id="19"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017964" y="3296146"/>
            <a:ext cx="443001" cy="443012"/>
          </a:xfrm>
          <a:prstGeom prst="rect">
            <a:avLst/>
          </a:prstGeom>
        </p:spPr>
      </p:pic>
      <p:sp>
        <p:nvSpPr>
          <p:cNvPr id="20" name="Text 12"/>
          <p:cNvSpPr/>
          <p:nvPr/>
        </p:nvSpPr>
        <p:spPr>
          <a:xfrm>
            <a:off x="8627053" y="3296146"/>
            <a:ext cx="2903068" cy="276920"/>
          </a:xfrm>
          <a:prstGeom prst="rect">
            <a:avLst/>
          </a:prstGeom>
          <a:noFill/>
          <a:ln/>
        </p:spPr>
        <p:txBody>
          <a:bodyPr wrap="none" lIns="0" tIns="0" rIns="0" bIns="0" rtlCol="0" anchor="t"/>
          <a:lstStyle/>
          <a:p>
            <a:pPr algn="l" indent="0" marL="0">
              <a:lnSpc>
                <a:spcPct val="104000"/>
              </a:lnSpc>
              <a:buNone/>
            </a:pPr>
            <a:r>
              <a:rPr lang="en-US" sz="1700" dirty="0">
                <a:solidFill>
                  <a:srgbClr val="3B3535"/>
                </a:solidFill>
                <a:latin typeface="Roboto Mono Medium" pitchFamily="34" charset="0"/>
                <a:ea typeface="Roboto Mono Medium" pitchFamily="34" charset="-122"/>
                <a:cs typeface="Roboto Mono Medium" pitchFamily="34" charset="-120"/>
              </a:rPr>
              <a:t>Foros y QA</a:t>
            </a:r>
            <a:endParaRPr lang="en-US" sz="1700" dirty="0"/>
          </a:p>
        </p:txBody>
      </p:sp>
      <p:sp>
        <p:nvSpPr>
          <p:cNvPr id="21" name="Text 13"/>
          <p:cNvSpPr/>
          <p:nvPr/>
        </p:nvSpPr>
        <p:spPr>
          <a:xfrm>
            <a:off x="8627053" y="3652738"/>
            <a:ext cx="2903068" cy="744141"/>
          </a:xfrm>
          <a:prstGeom prst="rect">
            <a:avLst/>
          </a:prstGeom>
          <a:noFill/>
          <a:ln/>
        </p:spPr>
        <p:txBody>
          <a:bodyPr wrap="square" lIns="0" tIns="0" rIns="0" bIns="0" rtlCol="0" anchor="t">
            <a:normAutofit/>
          </a:bodyPr>
          <a:lstStyle/>
          <a:p>
            <a:pPr algn="l" indent="0" marL="0">
              <a:lnSpc>
                <a:spcPct val="117000"/>
              </a:lnSpc>
              <a:buNone/>
            </a:pPr>
            <a:r>
              <a:rPr lang="en-US" sz="1350" dirty="0">
                <a:solidFill>
                  <a:srgbClr val="3B3535"/>
                </a:solidFill>
                <a:latin typeface="Roboto" pitchFamily="34" charset="0"/>
                <a:ea typeface="Roboto" pitchFamily="34" charset="-122"/>
                <a:cs typeface="Roboto" pitchFamily="34" charset="-120"/>
              </a:rPr>
              <a:t>Stack Overflow, Reddit — Conversación natural y resolución de problemas</a:t>
            </a:r>
            <a:endParaRPr lang="en-US" sz="1350" dirty="0"/>
          </a:p>
        </p:txBody>
      </p:sp>
      <p:pic>
        <p:nvPicPr>
          <p:cNvPr id="22" name="Image 6" descr="preencoded.pn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61475" y="4662686"/>
            <a:ext cx="443001" cy="443012"/>
          </a:xfrm>
          <a:prstGeom prst="rect">
            <a:avLst/>
          </a:prstGeom>
        </p:spPr>
      </p:pic>
      <p:sp>
        <p:nvSpPr>
          <p:cNvPr id="23" name="Text 14"/>
          <p:cNvSpPr/>
          <p:nvPr/>
        </p:nvSpPr>
        <p:spPr>
          <a:xfrm>
            <a:off x="1270564" y="4662686"/>
            <a:ext cx="2903068" cy="276920"/>
          </a:xfrm>
          <a:prstGeom prst="rect">
            <a:avLst/>
          </a:prstGeom>
          <a:noFill/>
          <a:ln/>
        </p:spPr>
        <p:txBody>
          <a:bodyPr wrap="none" lIns="0" tIns="0" rIns="0" bIns="0" rtlCol="0" anchor="t"/>
          <a:lstStyle/>
          <a:p>
            <a:pPr algn="l" indent="0" marL="0">
              <a:lnSpc>
                <a:spcPct val="104000"/>
              </a:lnSpc>
              <a:buNone/>
            </a:pPr>
            <a:r>
              <a:rPr lang="en-US" sz="1700" dirty="0">
                <a:solidFill>
                  <a:srgbClr val="3B3535"/>
                </a:solidFill>
                <a:latin typeface="Roboto Mono Medium" pitchFamily="34" charset="0"/>
                <a:ea typeface="Roboto Mono Medium" pitchFamily="34" charset="-122"/>
                <a:cs typeface="Roboto Mono Medium" pitchFamily="34" charset="-120"/>
              </a:rPr>
              <a:t>Datos licenciados</a:t>
            </a:r>
            <a:endParaRPr lang="en-US" sz="1700" dirty="0"/>
          </a:p>
        </p:txBody>
      </p:sp>
      <p:sp>
        <p:nvSpPr>
          <p:cNvPr id="24" name="Text 15"/>
          <p:cNvSpPr/>
          <p:nvPr/>
        </p:nvSpPr>
        <p:spPr>
          <a:xfrm>
            <a:off x="1270564" y="5019278"/>
            <a:ext cx="2903068" cy="744141"/>
          </a:xfrm>
          <a:prstGeom prst="rect">
            <a:avLst/>
          </a:prstGeom>
          <a:noFill/>
          <a:ln/>
        </p:spPr>
        <p:txBody>
          <a:bodyPr wrap="square" lIns="0" tIns="0" rIns="0" bIns="0" rtlCol="0" anchor="t">
            <a:normAutofit/>
          </a:bodyPr>
          <a:lstStyle/>
          <a:p>
            <a:pPr algn="l" indent="0" marL="0">
              <a:lnSpc>
                <a:spcPct val="117000"/>
              </a:lnSpc>
              <a:buNone/>
            </a:pPr>
            <a:r>
              <a:rPr lang="en-US" sz="1350" dirty="0">
                <a:solidFill>
                  <a:srgbClr val="3B3535"/>
                </a:solidFill>
                <a:latin typeface="Roboto" pitchFamily="34" charset="0"/>
                <a:ea typeface="Roboto" pitchFamily="34" charset="-122"/>
                <a:cs typeface="Roboto" pitchFamily="34" charset="-120"/>
              </a:rPr>
              <a:t>Contratos con publishers, bases privadas — Calidad controlada, menor riesgo legal</a:t>
            </a:r>
            <a:endParaRPr lang="en-US" sz="1350" dirty="0"/>
          </a:p>
        </p:txBody>
      </p:sp>
      <p:pic>
        <p:nvPicPr>
          <p:cNvPr id="25" name="Image 7" descr="preencoded.png">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339720" y="4662686"/>
            <a:ext cx="443001" cy="443012"/>
          </a:xfrm>
          <a:prstGeom prst="rect">
            <a:avLst/>
          </a:prstGeom>
        </p:spPr>
      </p:pic>
      <p:sp>
        <p:nvSpPr>
          <p:cNvPr id="26" name="Text 16"/>
          <p:cNvSpPr/>
          <p:nvPr/>
        </p:nvSpPr>
        <p:spPr>
          <a:xfrm>
            <a:off x="4948808" y="4662686"/>
            <a:ext cx="2903068" cy="276920"/>
          </a:xfrm>
          <a:prstGeom prst="rect">
            <a:avLst/>
          </a:prstGeom>
          <a:noFill/>
          <a:ln/>
        </p:spPr>
        <p:txBody>
          <a:bodyPr wrap="none" lIns="0" tIns="0" rIns="0" bIns="0" rtlCol="0" anchor="t"/>
          <a:lstStyle/>
          <a:p>
            <a:pPr algn="l" indent="0" marL="0">
              <a:lnSpc>
                <a:spcPct val="104000"/>
              </a:lnSpc>
              <a:buNone/>
            </a:pPr>
            <a:r>
              <a:rPr lang="en-US" sz="1700" dirty="0">
                <a:solidFill>
                  <a:srgbClr val="3B3535"/>
                </a:solidFill>
                <a:latin typeface="Roboto Mono Medium" pitchFamily="34" charset="0"/>
                <a:ea typeface="Roboto Mono Medium" pitchFamily="34" charset="-122"/>
                <a:cs typeface="Roboto Mono Medium" pitchFamily="34" charset="-120"/>
              </a:rPr>
              <a:t>Datos humanos curados</a:t>
            </a:r>
            <a:endParaRPr lang="en-US" sz="1700" dirty="0"/>
          </a:p>
        </p:txBody>
      </p:sp>
      <p:sp>
        <p:nvSpPr>
          <p:cNvPr id="27" name="Text 17"/>
          <p:cNvSpPr/>
          <p:nvPr/>
        </p:nvSpPr>
        <p:spPr>
          <a:xfrm>
            <a:off x="4948808" y="5019278"/>
            <a:ext cx="2903068" cy="744141"/>
          </a:xfrm>
          <a:prstGeom prst="rect">
            <a:avLst/>
          </a:prstGeom>
          <a:noFill/>
          <a:ln/>
        </p:spPr>
        <p:txBody>
          <a:bodyPr wrap="square" lIns="0" tIns="0" rIns="0" bIns="0" rtlCol="0" anchor="t">
            <a:normAutofit/>
          </a:bodyPr>
          <a:lstStyle/>
          <a:p>
            <a:pPr algn="l" indent="0" marL="0">
              <a:lnSpc>
                <a:spcPct val="117000"/>
              </a:lnSpc>
              <a:buNone/>
            </a:pPr>
            <a:r>
              <a:rPr lang="en-US" sz="1350" dirty="0">
                <a:solidFill>
                  <a:srgbClr val="3B3535"/>
                </a:solidFill>
                <a:latin typeface="Roboto" pitchFamily="34" charset="0"/>
                <a:ea typeface="Roboto" pitchFamily="34" charset="-122"/>
                <a:cs typeface="Roboto" pitchFamily="34" charset="-120"/>
              </a:rPr>
              <a:t>Datasets internos de fine-tuning — Alineación, seguridad y comportamiento</a:t>
            </a:r>
            <a:endParaRPr lang="en-US" sz="13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661475" y="856952"/>
            <a:ext cx="1245859" cy="251420"/>
          </a:xfrm>
          <a:prstGeom prst="roundRect">
            <a:avLst>
              <a:gd name="adj" fmla="val 3031"/>
            </a:avLst>
          </a:prstGeom>
          <a:solidFill>
            <a:srgbClr val="F9D2D6"/>
          </a:solidFill>
          <a:ln/>
        </p:spPr>
      </p:sp>
      <p:sp>
        <p:nvSpPr>
          <p:cNvPr id="3" name="Text 1"/>
          <p:cNvSpPr/>
          <p:nvPr/>
        </p:nvSpPr>
        <p:spPr>
          <a:xfrm>
            <a:off x="760691" y="906562"/>
            <a:ext cx="1657011"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ES TODO ESCALA</a:t>
            </a:r>
            <a:endParaRPr lang="en-US" sz="1000" dirty="0"/>
          </a:p>
        </p:txBody>
      </p:sp>
      <p:sp>
        <p:nvSpPr>
          <p:cNvPr id="4" name="Text 2"/>
          <p:cNvSpPr/>
          <p:nvPr/>
        </p:nvSpPr>
        <p:spPr>
          <a:xfrm>
            <a:off x="661475" y="1154609"/>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La escala es masiva …</a:t>
            </a:r>
            <a:endParaRPr lang="en-US" sz="3250" dirty="0"/>
          </a:p>
        </p:txBody>
      </p:sp>
      <p:sp>
        <p:nvSpPr>
          <p:cNvPr id="5" name="Text 3"/>
          <p:cNvSpPr/>
          <p:nvPr/>
        </p:nvSpPr>
        <p:spPr>
          <a:xfrm>
            <a:off x="661475" y="1717576"/>
            <a:ext cx="10868745" cy="258465"/>
          </a:xfrm>
          <a:prstGeom prst="rect">
            <a:avLst/>
          </a:prstGeom>
          <a:noFill/>
          <a:ln/>
        </p:spPr>
        <p:txBody>
          <a:bodyPr wrap="none" lIns="0" tIns="0" rIns="0" bIns="0" rtlCol="0" anchor="t"/>
          <a:lstStyle/>
          <a:p>
            <a:pPr algn="l" indent="0" marL="0">
              <a:lnSpc>
                <a:spcPct val="104000"/>
              </a:lnSpc>
              <a:buNone/>
            </a:pPr>
            <a:r>
              <a:rPr lang="en-US" sz="1600" dirty="0">
                <a:solidFill>
                  <a:srgbClr val="1F1E1E"/>
                </a:solidFill>
                <a:latin typeface="Roboto Mono Medium" pitchFamily="34" charset="0"/>
                <a:ea typeface="Roboto Mono Medium" pitchFamily="34" charset="-122"/>
                <a:cs typeface="Roboto Mono Medium" pitchFamily="34" charset="-120"/>
              </a:rPr>
              <a:t>Escala, datos y poder de cómputo</a:t>
            </a:r>
            <a:endParaRPr lang="en-US" sz="1600" dirty="0"/>
          </a:p>
        </p:txBody>
      </p:sp>
      <p:sp>
        <p:nvSpPr>
          <p:cNvPr id="6" name="Shape 4"/>
          <p:cNvSpPr/>
          <p:nvPr/>
        </p:nvSpPr>
        <p:spPr>
          <a:xfrm>
            <a:off x="661475" y="2149673"/>
            <a:ext cx="10868745" cy="3851374"/>
          </a:xfrm>
          <a:prstGeom prst="roundRect">
            <a:avLst>
              <a:gd name="adj" fmla="val 198"/>
            </a:avLst>
          </a:prstGeom>
          <a:noFill/>
          <a:ln w="6350">
            <a:solidFill>
              <a:srgbClr val="000000">
                <a:alpha val="8000"/>
              </a:srgbClr>
            </a:solidFill>
            <a:prstDash val="solid"/>
          </a:ln>
        </p:spPr>
      </p:sp>
      <p:sp>
        <p:nvSpPr>
          <p:cNvPr id="7" name="Shape 5"/>
          <p:cNvSpPr/>
          <p:nvPr/>
        </p:nvSpPr>
        <p:spPr>
          <a:xfrm>
            <a:off x="667825" y="2156023"/>
            <a:ext cx="10856046" cy="376535"/>
          </a:xfrm>
          <a:prstGeom prst="rect">
            <a:avLst/>
          </a:prstGeom>
          <a:solidFill>
            <a:srgbClr val="FFFFFF">
              <a:alpha val="4000"/>
            </a:srgbClr>
          </a:solidFill>
          <a:ln/>
        </p:spPr>
      </p:sp>
      <p:sp>
        <p:nvSpPr>
          <p:cNvPr id="8" name="Text 6"/>
          <p:cNvSpPr/>
          <p:nvPr/>
        </p:nvSpPr>
        <p:spPr>
          <a:xfrm>
            <a:off x="833218" y="2231827"/>
            <a:ext cx="4618220" cy="224929"/>
          </a:xfrm>
          <a:prstGeom prst="rect">
            <a:avLst/>
          </a:prstGeom>
          <a:noFill/>
          <a:ln/>
        </p:spPr>
        <p:txBody>
          <a:bodyPr wrap="none" lIns="0" tIns="0" rIns="0" bIns="0" rtlCol="0" anchor="t"/>
          <a:lstStyle/>
          <a:p>
            <a:pPr algn="l" indent="0" marL="0">
              <a:lnSpc>
                <a:spcPct val="113000"/>
              </a:lnSpc>
              <a:buNone/>
            </a:pPr>
            <a:r>
              <a:rPr lang="en-US" sz="1300" b="1" dirty="0">
                <a:solidFill>
                  <a:srgbClr val="FFFFFF"/>
                </a:solidFill>
                <a:latin typeface="Roboto Bold" pitchFamily="34" charset="0"/>
                <a:ea typeface="Roboto Bold" pitchFamily="34" charset="-122"/>
                <a:cs typeface="Roboto Bold" pitchFamily="34" charset="-120"/>
              </a:rPr>
              <a:t>Dimensión</a:t>
            </a:r>
            <a:endParaRPr lang="en-US" sz="1300" dirty="0"/>
          </a:p>
        </p:txBody>
      </p:sp>
      <p:sp>
        <p:nvSpPr>
          <p:cNvPr id="9" name="Text 7"/>
          <p:cNvSpPr/>
          <p:nvPr/>
        </p:nvSpPr>
        <p:spPr>
          <a:xfrm>
            <a:off x="5178792" y="2231827"/>
            <a:ext cx="3529420" cy="224929"/>
          </a:xfrm>
          <a:prstGeom prst="rect">
            <a:avLst/>
          </a:prstGeom>
          <a:noFill/>
          <a:ln/>
        </p:spPr>
        <p:txBody>
          <a:bodyPr wrap="none" lIns="0" tIns="0" rIns="0" bIns="0" rtlCol="0" anchor="t"/>
          <a:lstStyle/>
          <a:p>
            <a:pPr algn="l" indent="0" marL="0">
              <a:lnSpc>
                <a:spcPct val="113000"/>
              </a:lnSpc>
              <a:buNone/>
            </a:pPr>
            <a:r>
              <a:rPr lang="en-US" sz="1300" b="1" dirty="0">
                <a:solidFill>
                  <a:srgbClr val="FFFFFF"/>
                </a:solidFill>
                <a:latin typeface="Roboto Bold" pitchFamily="34" charset="0"/>
                <a:ea typeface="Roboto Bold" pitchFamily="34" charset="-122"/>
                <a:cs typeface="Roboto Bold" pitchFamily="34" charset="-120"/>
              </a:rPr>
              <a:t>Valor aproximado</a:t>
            </a:r>
            <a:endParaRPr lang="en-US" sz="1300" dirty="0"/>
          </a:p>
        </p:txBody>
      </p:sp>
      <p:sp>
        <p:nvSpPr>
          <p:cNvPr id="10" name="Text 8"/>
          <p:cNvSpPr/>
          <p:nvPr/>
        </p:nvSpPr>
        <p:spPr>
          <a:xfrm>
            <a:off x="8435566" y="2231827"/>
            <a:ext cx="3532595" cy="224929"/>
          </a:xfrm>
          <a:prstGeom prst="rect">
            <a:avLst/>
          </a:prstGeom>
          <a:noFill/>
          <a:ln/>
        </p:spPr>
        <p:txBody>
          <a:bodyPr wrap="none" lIns="0" tIns="0" rIns="0" bIns="0" rtlCol="0" anchor="t"/>
          <a:lstStyle/>
          <a:p>
            <a:pPr algn="l" indent="0" marL="0">
              <a:lnSpc>
                <a:spcPct val="113000"/>
              </a:lnSpc>
              <a:buNone/>
            </a:pPr>
            <a:r>
              <a:rPr lang="en-US" sz="1300" b="1" dirty="0">
                <a:solidFill>
                  <a:srgbClr val="FFFFFF"/>
                </a:solidFill>
                <a:latin typeface="Roboto Bold" pitchFamily="34" charset="0"/>
                <a:ea typeface="Roboto Bold" pitchFamily="34" charset="-122"/>
                <a:cs typeface="Roboto Bold" pitchFamily="34" charset="-120"/>
              </a:rPr>
              <a:t>Contexto real</a:t>
            </a:r>
            <a:endParaRPr lang="en-US" sz="1300" dirty="0"/>
          </a:p>
        </p:txBody>
      </p:sp>
      <p:sp>
        <p:nvSpPr>
          <p:cNvPr id="11" name="Shape 9"/>
          <p:cNvSpPr/>
          <p:nvPr/>
        </p:nvSpPr>
        <p:spPr>
          <a:xfrm>
            <a:off x="667825" y="2532559"/>
            <a:ext cx="10856046" cy="601464"/>
          </a:xfrm>
          <a:prstGeom prst="rect">
            <a:avLst/>
          </a:prstGeom>
          <a:solidFill>
            <a:srgbClr val="000000">
              <a:alpha val="4000"/>
            </a:srgbClr>
          </a:solidFill>
          <a:ln/>
        </p:spPr>
      </p:sp>
      <p:sp>
        <p:nvSpPr>
          <p:cNvPr id="12" name="Text 10"/>
          <p:cNvSpPr/>
          <p:nvPr/>
        </p:nvSpPr>
        <p:spPr>
          <a:xfrm>
            <a:off x="833218" y="2608362"/>
            <a:ext cx="4618220"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Parámetros</a:t>
            </a:r>
            <a:endParaRPr lang="en-US" sz="1300" dirty="0"/>
          </a:p>
        </p:txBody>
      </p:sp>
      <p:sp>
        <p:nvSpPr>
          <p:cNvPr id="13" name="Text 11"/>
          <p:cNvSpPr/>
          <p:nvPr/>
        </p:nvSpPr>
        <p:spPr>
          <a:xfrm>
            <a:off x="5178792" y="2608362"/>
            <a:ext cx="3529420" cy="224929"/>
          </a:xfrm>
          <a:prstGeom prst="rect">
            <a:avLst/>
          </a:prstGeom>
          <a:noFill/>
          <a:ln/>
        </p:spPr>
        <p:txBody>
          <a:bodyPr wrap="none" lIns="0" tIns="0" rIns="0" bIns="0" rtlCol="0" anchor="t"/>
          <a:lstStyle/>
          <a:p>
            <a:pPr algn="l" indent="0" marL="0">
              <a:lnSpc>
                <a:spcPct val="113000"/>
              </a:lnSpc>
              <a:buNone/>
            </a:pPr>
            <a:r>
              <a:rPr lang="en-US" sz="1300" b="1" dirty="0">
                <a:solidFill>
                  <a:srgbClr val="3B3535"/>
                </a:solidFill>
                <a:latin typeface="Roboto Bold" pitchFamily="34" charset="0"/>
                <a:ea typeface="Roboto Bold" pitchFamily="34" charset="-122"/>
                <a:cs typeface="Roboto Bold" pitchFamily="34" charset="-120"/>
              </a:rPr>
              <a:t>405 mil millones</a:t>
            </a:r>
            <a:endParaRPr lang="en-US" sz="1300" dirty="0"/>
          </a:p>
        </p:txBody>
      </p:sp>
      <p:sp>
        <p:nvSpPr>
          <p:cNvPr id="14" name="Text 12"/>
          <p:cNvSpPr/>
          <p:nvPr/>
        </p:nvSpPr>
        <p:spPr>
          <a:xfrm>
            <a:off x="8435566" y="2608362"/>
            <a:ext cx="2923010" cy="449858"/>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Uno de los modelos open-weight más grandes</a:t>
            </a:r>
            <a:endParaRPr lang="en-US" sz="1300" dirty="0"/>
          </a:p>
        </p:txBody>
      </p:sp>
      <p:sp>
        <p:nvSpPr>
          <p:cNvPr id="15" name="Shape 13"/>
          <p:cNvSpPr/>
          <p:nvPr/>
        </p:nvSpPr>
        <p:spPr>
          <a:xfrm>
            <a:off x="667825" y="3134023"/>
            <a:ext cx="10856046" cy="601464"/>
          </a:xfrm>
          <a:prstGeom prst="rect">
            <a:avLst/>
          </a:prstGeom>
          <a:solidFill>
            <a:srgbClr val="FFFFFF">
              <a:alpha val="4000"/>
            </a:srgbClr>
          </a:solidFill>
          <a:ln/>
        </p:spPr>
      </p:sp>
      <p:sp>
        <p:nvSpPr>
          <p:cNvPr id="16" name="Text 14"/>
          <p:cNvSpPr/>
          <p:nvPr/>
        </p:nvSpPr>
        <p:spPr>
          <a:xfrm>
            <a:off x="833218" y="3209826"/>
            <a:ext cx="4618220"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Tokens entrenados</a:t>
            </a:r>
            <a:endParaRPr lang="en-US" sz="1300" dirty="0"/>
          </a:p>
        </p:txBody>
      </p:sp>
      <p:sp>
        <p:nvSpPr>
          <p:cNvPr id="17" name="Text 15"/>
          <p:cNvSpPr/>
          <p:nvPr/>
        </p:nvSpPr>
        <p:spPr>
          <a:xfrm>
            <a:off x="5178792" y="3209826"/>
            <a:ext cx="3529420" cy="224929"/>
          </a:xfrm>
          <a:prstGeom prst="rect">
            <a:avLst/>
          </a:prstGeom>
          <a:noFill/>
          <a:ln/>
        </p:spPr>
        <p:txBody>
          <a:bodyPr wrap="none" lIns="0" tIns="0" rIns="0" bIns="0" rtlCol="0" anchor="t"/>
          <a:lstStyle/>
          <a:p>
            <a:pPr algn="l" indent="0" marL="0">
              <a:lnSpc>
                <a:spcPct val="113000"/>
              </a:lnSpc>
              <a:buNone/>
            </a:pPr>
            <a:r>
              <a:rPr lang="en-US" sz="1300" b="1" dirty="0">
                <a:solidFill>
                  <a:srgbClr val="3B3535"/>
                </a:solidFill>
                <a:latin typeface="Roboto Bold" pitchFamily="34" charset="0"/>
                <a:ea typeface="Roboto Bold" pitchFamily="34" charset="-122"/>
                <a:cs typeface="Roboto Bold" pitchFamily="34" charset="-120"/>
              </a:rPr>
              <a:t>~15 trillones</a:t>
            </a:r>
            <a:endParaRPr lang="en-US" sz="1300" dirty="0"/>
          </a:p>
        </p:txBody>
      </p:sp>
      <p:sp>
        <p:nvSpPr>
          <p:cNvPr id="18" name="Text 16"/>
          <p:cNvSpPr/>
          <p:nvPr/>
        </p:nvSpPr>
        <p:spPr>
          <a:xfrm>
            <a:off x="8435566" y="3209826"/>
            <a:ext cx="2923010" cy="449858"/>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Web filtrada + libros + código + datos sintéticos</a:t>
            </a:r>
            <a:endParaRPr lang="en-US" sz="1300" dirty="0"/>
          </a:p>
        </p:txBody>
      </p:sp>
      <p:sp>
        <p:nvSpPr>
          <p:cNvPr id="19" name="Shape 17"/>
          <p:cNvSpPr/>
          <p:nvPr/>
        </p:nvSpPr>
        <p:spPr>
          <a:xfrm>
            <a:off x="667825" y="3735487"/>
            <a:ext cx="10856046" cy="376535"/>
          </a:xfrm>
          <a:prstGeom prst="rect">
            <a:avLst/>
          </a:prstGeom>
          <a:solidFill>
            <a:srgbClr val="000000">
              <a:alpha val="4000"/>
            </a:srgbClr>
          </a:solidFill>
          <a:ln/>
        </p:spPr>
      </p:sp>
      <p:sp>
        <p:nvSpPr>
          <p:cNvPr id="20" name="Text 18"/>
          <p:cNvSpPr/>
          <p:nvPr/>
        </p:nvSpPr>
        <p:spPr>
          <a:xfrm>
            <a:off x="833218" y="3811290"/>
            <a:ext cx="4618220"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GPUs utilizadas</a:t>
            </a:r>
            <a:endParaRPr lang="en-US" sz="1300" dirty="0"/>
          </a:p>
        </p:txBody>
      </p:sp>
      <p:sp>
        <p:nvSpPr>
          <p:cNvPr id="21" name="Text 19"/>
          <p:cNvSpPr/>
          <p:nvPr/>
        </p:nvSpPr>
        <p:spPr>
          <a:xfrm>
            <a:off x="5178792" y="3811290"/>
            <a:ext cx="3529420" cy="224929"/>
          </a:xfrm>
          <a:prstGeom prst="rect">
            <a:avLst/>
          </a:prstGeom>
          <a:noFill/>
          <a:ln/>
        </p:spPr>
        <p:txBody>
          <a:bodyPr wrap="none" lIns="0" tIns="0" rIns="0" bIns="0" rtlCol="0" anchor="t"/>
          <a:lstStyle/>
          <a:p>
            <a:pPr algn="l" indent="0" marL="0">
              <a:lnSpc>
                <a:spcPct val="113000"/>
              </a:lnSpc>
              <a:buNone/>
            </a:pPr>
            <a:r>
              <a:rPr lang="en-US" sz="1300" b="1" dirty="0">
                <a:solidFill>
                  <a:srgbClr val="3B3535"/>
                </a:solidFill>
                <a:latin typeface="Roboto Bold" pitchFamily="34" charset="0"/>
                <a:ea typeface="Roboto Bold" pitchFamily="34" charset="-122"/>
                <a:cs typeface="Roboto Bold" pitchFamily="34" charset="-120"/>
              </a:rPr>
              <a:t>~16.000 H100 (estimado público)</a:t>
            </a:r>
            <a:endParaRPr lang="en-US" sz="1300" dirty="0"/>
          </a:p>
        </p:txBody>
      </p:sp>
      <p:sp>
        <p:nvSpPr>
          <p:cNvPr id="22" name="Text 20"/>
          <p:cNvSpPr/>
          <p:nvPr/>
        </p:nvSpPr>
        <p:spPr>
          <a:xfrm>
            <a:off x="8435566" y="3811290"/>
            <a:ext cx="3532595"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Cluster hyperscale dedicado</a:t>
            </a:r>
            <a:endParaRPr lang="en-US" sz="1300" dirty="0"/>
          </a:p>
        </p:txBody>
      </p:sp>
      <p:sp>
        <p:nvSpPr>
          <p:cNvPr id="23" name="Shape 21"/>
          <p:cNvSpPr/>
          <p:nvPr/>
        </p:nvSpPr>
        <p:spPr>
          <a:xfrm>
            <a:off x="667825" y="4112022"/>
            <a:ext cx="10856046" cy="376535"/>
          </a:xfrm>
          <a:prstGeom prst="rect">
            <a:avLst/>
          </a:prstGeom>
          <a:solidFill>
            <a:srgbClr val="FFFFFF">
              <a:alpha val="4000"/>
            </a:srgbClr>
          </a:solidFill>
          <a:ln/>
        </p:spPr>
      </p:sp>
      <p:sp>
        <p:nvSpPr>
          <p:cNvPr id="24" name="Text 22"/>
          <p:cNvSpPr/>
          <p:nvPr/>
        </p:nvSpPr>
        <p:spPr>
          <a:xfrm>
            <a:off x="833218" y="4187825"/>
            <a:ext cx="4618220"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Duración 24/7</a:t>
            </a:r>
            <a:endParaRPr lang="en-US" sz="1300" dirty="0"/>
          </a:p>
        </p:txBody>
      </p:sp>
      <p:sp>
        <p:nvSpPr>
          <p:cNvPr id="25" name="Text 23"/>
          <p:cNvSpPr/>
          <p:nvPr/>
        </p:nvSpPr>
        <p:spPr>
          <a:xfrm>
            <a:off x="5178792" y="4187825"/>
            <a:ext cx="3529420" cy="224929"/>
          </a:xfrm>
          <a:prstGeom prst="rect">
            <a:avLst/>
          </a:prstGeom>
          <a:noFill/>
          <a:ln/>
        </p:spPr>
        <p:txBody>
          <a:bodyPr wrap="none" lIns="0" tIns="0" rIns="0" bIns="0" rtlCol="0" anchor="t"/>
          <a:lstStyle/>
          <a:p>
            <a:pPr algn="l" indent="0" marL="0">
              <a:lnSpc>
                <a:spcPct val="113000"/>
              </a:lnSpc>
              <a:buNone/>
            </a:pPr>
            <a:r>
              <a:rPr lang="en-US" sz="1300" b="1" dirty="0">
                <a:solidFill>
                  <a:srgbClr val="3B3535"/>
                </a:solidFill>
                <a:latin typeface="Roboto Bold" pitchFamily="34" charset="0"/>
                <a:ea typeface="Roboto Bold" pitchFamily="34" charset="-122"/>
                <a:cs typeface="Roboto Bold" pitchFamily="34" charset="-120"/>
              </a:rPr>
              <a:t>~2–3 meses</a:t>
            </a:r>
            <a:endParaRPr lang="en-US" sz="1300" dirty="0"/>
          </a:p>
        </p:txBody>
      </p:sp>
      <p:sp>
        <p:nvSpPr>
          <p:cNvPr id="26" name="Text 24"/>
          <p:cNvSpPr/>
          <p:nvPr/>
        </p:nvSpPr>
        <p:spPr>
          <a:xfrm>
            <a:off x="8435566" y="4187825"/>
            <a:ext cx="3532595"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Entrenamiento continuo industrial</a:t>
            </a:r>
            <a:endParaRPr lang="en-US" sz="1300" dirty="0"/>
          </a:p>
        </p:txBody>
      </p:sp>
      <p:sp>
        <p:nvSpPr>
          <p:cNvPr id="27" name="Shape 25"/>
          <p:cNvSpPr/>
          <p:nvPr/>
        </p:nvSpPr>
        <p:spPr>
          <a:xfrm>
            <a:off x="667825" y="4488557"/>
            <a:ext cx="10856046" cy="376535"/>
          </a:xfrm>
          <a:prstGeom prst="rect">
            <a:avLst/>
          </a:prstGeom>
          <a:solidFill>
            <a:srgbClr val="000000">
              <a:alpha val="4000"/>
            </a:srgbClr>
          </a:solidFill>
          <a:ln/>
        </p:spPr>
      </p:sp>
      <p:sp>
        <p:nvSpPr>
          <p:cNvPr id="28" name="Text 26"/>
          <p:cNvSpPr/>
          <p:nvPr/>
        </p:nvSpPr>
        <p:spPr>
          <a:xfrm>
            <a:off x="833218" y="4564360"/>
            <a:ext cx="4618220"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GPU-horas totales</a:t>
            </a:r>
            <a:endParaRPr lang="en-US" sz="1300" dirty="0"/>
          </a:p>
        </p:txBody>
      </p:sp>
      <p:sp>
        <p:nvSpPr>
          <p:cNvPr id="29" name="Text 27"/>
          <p:cNvSpPr/>
          <p:nvPr/>
        </p:nvSpPr>
        <p:spPr>
          <a:xfrm>
            <a:off x="5178792" y="4564360"/>
            <a:ext cx="3529420" cy="224929"/>
          </a:xfrm>
          <a:prstGeom prst="rect">
            <a:avLst/>
          </a:prstGeom>
          <a:noFill/>
          <a:ln/>
        </p:spPr>
        <p:txBody>
          <a:bodyPr wrap="none" lIns="0" tIns="0" rIns="0" bIns="0" rtlCol="0" anchor="t"/>
          <a:lstStyle/>
          <a:p>
            <a:pPr algn="l" indent="0" marL="0">
              <a:lnSpc>
                <a:spcPct val="113000"/>
              </a:lnSpc>
              <a:buNone/>
            </a:pPr>
            <a:r>
              <a:rPr lang="en-US" sz="1300" b="1" dirty="0">
                <a:solidFill>
                  <a:srgbClr val="3B3535"/>
                </a:solidFill>
                <a:latin typeface="Roboto Bold" pitchFamily="34" charset="0"/>
                <a:ea typeface="Roboto Bold" pitchFamily="34" charset="-122"/>
                <a:cs typeface="Roboto Bold" pitchFamily="34" charset="-120"/>
              </a:rPr>
              <a:t>~30–50 millones GPU-horas</a:t>
            </a:r>
            <a:endParaRPr lang="en-US" sz="1300" dirty="0"/>
          </a:p>
        </p:txBody>
      </p:sp>
      <p:sp>
        <p:nvSpPr>
          <p:cNvPr id="30" name="Text 28"/>
          <p:cNvSpPr/>
          <p:nvPr/>
        </p:nvSpPr>
        <p:spPr>
          <a:xfrm>
            <a:off x="8435566" y="4564360"/>
            <a:ext cx="3532595"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16.000 × ~75 días × 24h ≈ 28.8M</a:t>
            </a:r>
            <a:endParaRPr lang="en-US" sz="1300" dirty="0"/>
          </a:p>
        </p:txBody>
      </p:sp>
      <p:sp>
        <p:nvSpPr>
          <p:cNvPr id="31" name="Shape 29"/>
          <p:cNvSpPr/>
          <p:nvPr/>
        </p:nvSpPr>
        <p:spPr>
          <a:xfrm>
            <a:off x="667825" y="4865092"/>
            <a:ext cx="10856046" cy="376535"/>
          </a:xfrm>
          <a:prstGeom prst="rect">
            <a:avLst/>
          </a:prstGeom>
          <a:solidFill>
            <a:srgbClr val="FFFFFF">
              <a:alpha val="4000"/>
            </a:srgbClr>
          </a:solidFill>
          <a:ln/>
        </p:spPr>
      </p:sp>
      <p:sp>
        <p:nvSpPr>
          <p:cNvPr id="32" name="Text 30"/>
          <p:cNvSpPr/>
          <p:nvPr/>
        </p:nvSpPr>
        <p:spPr>
          <a:xfrm>
            <a:off x="833218" y="4940895"/>
            <a:ext cx="4618220"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Consumo eléctrico estimado</a:t>
            </a:r>
            <a:endParaRPr lang="en-US" sz="1300" dirty="0"/>
          </a:p>
        </p:txBody>
      </p:sp>
      <p:sp>
        <p:nvSpPr>
          <p:cNvPr id="33" name="Text 31"/>
          <p:cNvSpPr/>
          <p:nvPr/>
        </p:nvSpPr>
        <p:spPr>
          <a:xfrm>
            <a:off x="5178792" y="4940895"/>
            <a:ext cx="3529420" cy="224929"/>
          </a:xfrm>
          <a:prstGeom prst="rect">
            <a:avLst/>
          </a:prstGeom>
          <a:noFill/>
          <a:ln/>
        </p:spPr>
        <p:txBody>
          <a:bodyPr wrap="none" lIns="0" tIns="0" rIns="0" bIns="0" rtlCol="0" anchor="t"/>
          <a:lstStyle/>
          <a:p>
            <a:pPr algn="l" indent="0" marL="0">
              <a:lnSpc>
                <a:spcPct val="113000"/>
              </a:lnSpc>
              <a:buNone/>
            </a:pPr>
            <a:r>
              <a:rPr lang="en-US" sz="1300" b="1" dirty="0">
                <a:solidFill>
                  <a:srgbClr val="3B3535"/>
                </a:solidFill>
                <a:latin typeface="Roboto Bold" pitchFamily="34" charset="0"/>
                <a:ea typeface="Roboto Bold" pitchFamily="34" charset="-122"/>
                <a:cs typeface="Roboto Bold" pitchFamily="34" charset="-120"/>
              </a:rPr>
              <a:t>~20–30 GWh</a:t>
            </a:r>
            <a:endParaRPr lang="en-US" sz="1300" dirty="0"/>
          </a:p>
        </p:txBody>
      </p:sp>
      <p:sp>
        <p:nvSpPr>
          <p:cNvPr id="34" name="Text 32"/>
          <p:cNvSpPr/>
          <p:nvPr/>
        </p:nvSpPr>
        <p:spPr>
          <a:xfrm>
            <a:off x="8435566" y="4940895"/>
            <a:ext cx="3532595"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~11 MW constantes durante ~3 meses</a:t>
            </a:r>
            <a:endParaRPr lang="en-US" sz="1300" dirty="0"/>
          </a:p>
        </p:txBody>
      </p:sp>
      <p:sp>
        <p:nvSpPr>
          <p:cNvPr id="35" name="Shape 33"/>
          <p:cNvSpPr/>
          <p:nvPr/>
        </p:nvSpPr>
        <p:spPr>
          <a:xfrm>
            <a:off x="667825" y="5241627"/>
            <a:ext cx="10856046" cy="376535"/>
          </a:xfrm>
          <a:prstGeom prst="rect">
            <a:avLst/>
          </a:prstGeom>
          <a:solidFill>
            <a:srgbClr val="000000">
              <a:alpha val="4000"/>
            </a:srgbClr>
          </a:solidFill>
          <a:ln/>
        </p:spPr>
      </p:sp>
      <p:sp>
        <p:nvSpPr>
          <p:cNvPr id="36" name="Text 34"/>
          <p:cNvSpPr/>
          <p:nvPr/>
        </p:nvSpPr>
        <p:spPr>
          <a:xfrm>
            <a:off x="833218" y="5317430"/>
            <a:ext cx="4618220"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Costo electricidad</a:t>
            </a:r>
            <a:endParaRPr lang="en-US" sz="1300" dirty="0"/>
          </a:p>
        </p:txBody>
      </p:sp>
      <p:sp>
        <p:nvSpPr>
          <p:cNvPr id="37" name="Text 35"/>
          <p:cNvSpPr/>
          <p:nvPr/>
        </p:nvSpPr>
        <p:spPr>
          <a:xfrm>
            <a:off x="5178792" y="5317430"/>
            <a:ext cx="3529420" cy="224929"/>
          </a:xfrm>
          <a:prstGeom prst="rect">
            <a:avLst/>
          </a:prstGeom>
          <a:noFill/>
          <a:ln/>
        </p:spPr>
        <p:txBody>
          <a:bodyPr wrap="none" lIns="0" tIns="0" rIns="0" bIns="0" rtlCol="0" anchor="t"/>
          <a:lstStyle/>
          <a:p>
            <a:pPr algn="l" indent="0" marL="0">
              <a:lnSpc>
                <a:spcPct val="113000"/>
              </a:lnSpc>
              <a:buNone/>
            </a:pPr>
            <a:r>
              <a:rPr lang="en-US" sz="1300" b="1" dirty="0">
                <a:solidFill>
                  <a:srgbClr val="3B3535"/>
                </a:solidFill>
                <a:latin typeface="Roboto Bold" pitchFamily="34" charset="0"/>
                <a:ea typeface="Roboto Bold" pitchFamily="34" charset="-122"/>
                <a:cs typeface="Roboto Bold" pitchFamily="34" charset="-120"/>
              </a:rPr>
              <a:t>~USD 1M – 3M</a:t>
            </a:r>
            <a:endParaRPr lang="en-US" sz="1300" dirty="0"/>
          </a:p>
        </p:txBody>
      </p:sp>
      <p:sp>
        <p:nvSpPr>
          <p:cNvPr id="38" name="Text 36"/>
          <p:cNvSpPr/>
          <p:nvPr/>
        </p:nvSpPr>
        <p:spPr>
          <a:xfrm>
            <a:off x="8435566" y="5317430"/>
            <a:ext cx="3532595"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Dependiendo del costo por kWh</a:t>
            </a:r>
            <a:endParaRPr lang="en-US" sz="1300" dirty="0"/>
          </a:p>
        </p:txBody>
      </p:sp>
      <p:sp>
        <p:nvSpPr>
          <p:cNvPr id="39" name="Shape 37"/>
          <p:cNvSpPr/>
          <p:nvPr/>
        </p:nvSpPr>
        <p:spPr>
          <a:xfrm>
            <a:off x="667825" y="5618162"/>
            <a:ext cx="10856046" cy="376535"/>
          </a:xfrm>
          <a:prstGeom prst="rect">
            <a:avLst/>
          </a:prstGeom>
          <a:solidFill>
            <a:srgbClr val="FFFFFF">
              <a:alpha val="4000"/>
            </a:srgbClr>
          </a:solidFill>
          <a:ln/>
        </p:spPr>
      </p:sp>
      <p:sp>
        <p:nvSpPr>
          <p:cNvPr id="40" name="Text 38"/>
          <p:cNvSpPr/>
          <p:nvPr/>
        </p:nvSpPr>
        <p:spPr>
          <a:xfrm>
            <a:off x="833218" y="5693966"/>
            <a:ext cx="4618220"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Costo total estimado</a:t>
            </a:r>
            <a:endParaRPr lang="en-US" sz="1300" dirty="0"/>
          </a:p>
        </p:txBody>
      </p:sp>
      <p:sp>
        <p:nvSpPr>
          <p:cNvPr id="41" name="Text 39"/>
          <p:cNvSpPr/>
          <p:nvPr/>
        </p:nvSpPr>
        <p:spPr>
          <a:xfrm>
            <a:off x="5178792" y="5693966"/>
            <a:ext cx="3529420" cy="224929"/>
          </a:xfrm>
          <a:prstGeom prst="rect">
            <a:avLst/>
          </a:prstGeom>
          <a:noFill/>
          <a:ln/>
        </p:spPr>
        <p:txBody>
          <a:bodyPr wrap="none" lIns="0" tIns="0" rIns="0" bIns="0" rtlCol="0" anchor="t"/>
          <a:lstStyle/>
          <a:p>
            <a:pPr algn="l" indent="0" marL="0">
              <a:lnSpc>
                <a:spcPct val="113000"/>
              </a:lnSpc>
              <a:buNone/>
            </a:pPr>
            <a:r>
              <a:rPr lang="en-US" sz="1300" b="1" dirty="0">
                <a:solidFill>
                  <a:srgbClr val="3B3535"/>
                </a:solidFill>
                <a:latin typeface="Roboto Bold" pitchFamily="34" charset="0"/>
                <a:ea typeface="Roboto Bold" pitchFamily="34" charset="-122"/>
                <a:cs typeface="Roboto Bold" pitchFamily="34" charset="-120"/>
              </a:rPr>
              <a:t>~USD 100M+ (infraestructura incluida)</a:t>
            </a:r>
            <a:endParaRPr lang="en-US" sz="1300" dirty="0"/>
          </a:p>
        </p:txBody>
      </p:sp>
      <p:sp>
        <p:nvSpPr>
          <p:cNvPr id="42" name="Text 40"/>
          <p:cNvSpPr/>
          <p:nvPr/>
        </p:nvSpPr>
        <p:spPr>
          <a:xfrm>
            <a:off x="8435566" y="5693966"/>
            <a:ext cx="3532595"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Hardware + energía + ingeniería + datos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661475" y="788591"/>
            <a:ext cx="10868745" cy="627559"/>
          </a:xfrm>
          <a:prstGeom prst="rect">
            <a:avLst/>
          </a:prstGeom>
          <a:noFill/>
          <a:ln/>
        </p:spPr>
        <p:txBody>
          <a:bodyPr wrap="none" lIns="0" tIns="0" rIns="0" bIns="0" rtlCol="0" anchor="t"/>
          <a:lstStyle/>
          <a:p>
            <a:pPr algn="l" indent="0" marL="0">
              <a:lnSpc>
                <a:spcPct val="104000"/>
              </a:lnSpc>
              <a:buNone/>
            </a:pPr>
            <a:r>
              <a:rPr lang="en-US" sz="3950" dirty="0">
                <a:solidFill>
                  <a:srgbClr val="1F1E1E"/>
                </a:solidFill>
                <a:latin typeface="Roboto Mono Medium" pitchFamily="34" charset="0"/>
                <a:ea typeface="Roboto Mono Medium" pitchFamily="34" charset="-122"/>
                <a:cs typeface="Roboto Mono Medium" pitchFamily="34" charset="-120"/>
              </a:rPr>
              <a:t>El Ecosistema Actual</a:t>
            </a:r>
            <a:endParaRPr lang="en-US" sz="3950" dirty="0"/>
          </a:p>
        </p:txBody>
      </p:sp>
      <p:sp>
        <p:nvSpPr>
          <p:cNvPr id="3" name="Text 1"/>
          <p:cNvSpPr/>
          <p:nvPr/>
        </p:nvSpPr>
        <p:spPr>
          <a:xfrm>
            <a:off x="661475" y="1484412"/>
            <a:ext cx="10868745" cy="313730"/>
          </a:xfrm>
          <a:prstGeom prst="rect">
            <a:avLst/>
          </a:prstGeom>
          <a:noFill/>
          <a:ln/>
        </p:spPr>
        <p:txBody>
          <a:bodyPr wrap="none" lIns="0" tIns="0" rIns="0" bIns="0" rtlCol="0" anchor="t"/>
          <a:lstStyle/>
          <a:p>
            <a:pPr algn="l" indent="0" marL="0">
              <a:lnSpc>
                <a:spcPct val="104000"/>
              </a:lnSpc>
              <a:buNone/>
            </a:pPr>
            <a:r>
              <a:rPr lang="en-US" sz="1950" dirty="0">
                <a:solidFill>
                  <a:srgbClr val="1F1E1E"/>
                </a:solidFill>
                <a:latin typeface="Roboto Mono Medium" pitchFamily="34" charset="0"/>
                <a:ea typeface="Roboto Mono Medium" pitchFamily="34" charset="-122"/>
                <a:cs typeface="Roboto Mono Medium" pitchFamily="34" charset="-120"/>
              </a:rPr>
              <a:t>Actores, modelos y competencia global</a:t>
            </a:r>
            <a:endParaRPr lang="en-US" sz="1950" dirty="0"/>
          </a:p>
        </p:txBody>
      </p:sp>
      <p:pic>
        <p:nvPicPr>
          <p:cNvPr id="4" name="Image 0" descr="preencoded.png">    </p:cNvPr>
          <p:cNvPicPr>
            <a:picLocks noChangeAspect="1"/>
          </p:cNvPicPr>
          <p:nvPr/>
        </p:nvPicPr>
        <p:blipFill>
          <a:blip r:embed="rId1"/>
          <a:stretch>
            <a:fillRect/>
          </a:stretch>
        </p:blipFill>
        <p:spPr>
          <a:xfrm>
            <a:off x="661475" y="2054126"/>
            <a:ext cx="478123" cy="478135"/>
          </a:xfrm>
          <a:prstGeom prst="rect">
            <a:avLst/>
          </a:prstGeom>
        </p:spPr>
      </p:pic>
      <p:sp>
        <p:nvSpPr>
          <p:cNvPr id="5" name="Text 2"/>
          <p:cNvSpPr/>
          <p:nvPr/>
        </p:nvSpPr>
        <p:spPr>
          <a:xfrm>
            <a:off x="1352913" y="2054126"/>
            <a:ext cx="1865762" cy="627459"/>
          </a:xfrm>
          <a:prstGeom prst="rect">
            <a:avLst/>
          </a:prstGeom>
          <a:noFill/>
          <a:ln/>
        </p:spPr>
        <p:txBody>
          <a:bodyPr wrap="square" lIns="0" tIns="0" rIns="0" bIns="0" rtlCol="0" anchor="t">
            <a:normAutofit/>
          </a:bodyPr>
          <a:lstStyle/>
          <a:p>
            <a:pPr algn="l" indent="0" marL="0">
              <a:lnSpc>
                <a:spcPct val="104000"/>
              </a:lnSpc>
              <a:buNone/>
            </a:pPr>
            <a:r>
              <a:rPr lang="en-US" sz="1950" dirty="0">
                <a:solidFill>
                  <a:srgbClr val="3B3535"/>
                </a:solidFill>
                <a:latin typeface="Roboto Mono Medium" pitchFamily="34" charset="0"/>
                <a:ea typeface="Roboto Mono Medium" pitchFamily="34" charset="-122"/>
                <a:cs typeface="Roboto Mono Medium" pitchFamily="34" charset="-120"/>
              </a:rPr>
              <a:t>OpenAI — GPT-4 / o3</a:t>
            </a:r>
            <a:endParaRPr lang="en-US" sz="1950" dirty="0"/>
          </a:p>
        </p:txBody>
      </p:sp>
      <p:sp>
        <p:nvSpPr>
          <p:cNvPr id="6" name="Text 3"/>
          <p:cNvSpPr/>
          <p:nvPr/>
        </p:nvSpPr>
        <p:spPr>
          <a:xfrm>
            <a:off x="1352913" y="2783979"/>
            <a:ext cx="1865762" cy="3268762"/>
          </a:xfrm>
          <a:prstGeom prst="rect">
            <a:avLst/>
          </a:prstGeom>
          <a:noFill/>
          <a:ln/>
        </p:spPr>
        <p:txBody>
          <a:bodyPr wrap="square" lIns="0" tIns="0" rIns="0" bIns="0" rtlCol="0" anchor="t">
            <a:normAutofit/>
          </a:bodyPr>
          <a:lstStyle/>
          <a:p>
            <a:pPr algn="l" indent="0" marL="0">
              <a:lnSpc>
                <a:spcPct val="123000"/>
              </a:lnSpc>
              <a:buNone/>
            </a:pPr>
            <a:r>
              <a:rPr lang="en-US" sz="1550" dirty="0">
                <a:solidFill>
                  <a:srgbClr val="3B3535"/>
                </a:solidFill>
                <a:latin typeface="Roboto" pitchFamily="34" charset="0"/>
                <a:ea typeface="Roboto" pitchFamily="34" charset="-122"/>
                <a:cs typeface="Roboto" pitchFamily="34" charset="-120"/>
              </a:rPr>
              <a:t>Pioneros en la democratización de los LLMs con ChatGPT. Respaldados por Microsoft. Sus modelos de la serie GPT y o3 (razonamiento) marcan el estándar del sector.</a:t>
            </a:r>
            <a:endParaRPr lang="en-US" sz="1550" dirty="0"/>
          </a:p>
        </p:txBody>
      </p:sp>
      <p:pic>
        <p:nvPicPr>
          <p:cNvPr id="7" name="Image 1" descr="preencoded.png">    </p:cNvPr>
          <p:cNvPicPr>
            <a:picLocks noChangeAspect="1"/>
          </p:cNvPicPr>
          <p:nvPr/>
        </p:nvPicPr>
        <p:blipFill>
          <a:blip r:embed="rId2"/>
          <a:stretch>
            <a:fillRect/>
          </a:stretch>
        </p:blipFill>
        <p:spPr>
          <a:xfrm>
            <a:off x="3431990" y="2054126"/>
            <a:ext cx="478123" cy="478135"/>
          </a:xfrm>
          <a:prstGeom prst="rect">
            <a:avLst/>
          </a:prstGeom>
        </p:spPr>
      </p:pic>
      <p:sp>
        <p:nvSpPr>
          <p:cNvPr id="8" name="Text 4"/>
          <p:cNvSpPr/>
          <p:nvPr/>
        </p:nvSpPr>
        <p:spPr>
          <a:xfrm>
            <a:off x="4123428" y="2054126"/>
            <a:ext cx="1865762" cy="941189"/>
          </a:xfrm>
          <a:prstGeom prst="rect">
            <a:avLst/>
          </a:prstGeom>
          <a:noFill/>
          <a:ln/>
        </p:spPr>
        <p:txBody>
          <a:bodyPr wrap="square" lIns="0" tIns="0" rIns="0" bIns="0" rtlCol="0" anchor="t">
            <a:normAutofit/>
          </a:bodyPr>
          <a:lstStyle/>
          <a:p>
            <a:pPr algn="l" indent="0" marL="0">
              <a:lnSpc>
                <a:spcPct val="104000"/>
              </a:lnSpc>
              <a:buNone/>
            </a:pPr>
            <a:r>
              <a:rPr lang="en-US" sz="1950" dirty="0">
                <a:solidFill>
                  <a:srgbClr val="3B3535"/>
                </a:solidFill>
                <a:latin typeface="Roboto Mono Medium" pitchFamily="34" charset="0"/>
                <a:ea typeface="Roboto Mono Medium" pitchFamily="34" charset="-122"/>
                <a:cs typeface="Roboto Mono Medium" pitchFamily="34" charset="-120"/>
              </a:rPr>
              <a:t>Google DeepMind — Gemini</a:t>
            </a:r>
            <a:endParaRPr lang="en-US" sz="1950" dirty="0"/>
          </a:p>
        </p:txBody>
      </p:sp>
      <p:sp>
        <p:nvSpPr>
          <p:cNvPr id="9" name="Text 5"/>
          <p:cNvSpPr/>
          <p:nvPr/>
        </p:nvSpPr>
        <p:spPr>
          <a:xfrm>
            <a:off x="4123428" y="3097709"/>
            <a:ext cx="1865762" cy="2971602"/>
          </a:xfrm>
          <a:prstGeom prst="rect">
            <a:avLst/>
          </a:prstGeom>
          <a:noFill/>
          <a:ln/>
        </p:spPr>
        <p:txBody>
          <a:bodyPr wrap="square" lIns="0" tIns="0" rIns="0" bIns="0" rtlCol="0" anchor="t">
            <a:normAutofit/>
          </a:bodyPr>
          <a:lstStyle/>
          <a:p>
            <a:pPr algn="l" indent="0" marL="0">
              <a:lnSpc>
                <a:spcPct val="123000"/>
              </a:lnSpc>
              <a:buNone/>
            </a:pPr>
            <a:r>
              <a:rPr lang="en-US" sz="1550" dirty="0">
                <a:solidFill>
                  <a:srgbClr val="3B3535"/>
                </a:solidFill>
                <a:latin typeface="Roboto" pitchFamily="34" charset="0"/>
                <a:ea typeface="Roboto" pitchFamily="34" charset="-122"/>
                <a:cs typeface="Roboto" pitchFamily="34" charset="-120"/>
              </a:rPr>
              <a:t>Nativa multimodal desde el diseño. Integrada en el ecosistema Google (Search, Workspace). Lidera en capacidades de razonamiento científico y contextos largos.</a:t>
            </a:r>
            <a:endParaRPr lang="en-US" sz="1550" dirty="0"/>
          </a:p>
        </p:txBody>
      </p:sp>
      <p:pic>
        <p:nvPicPr>
          <p:cNvPr id="10" name="Image 2" descr="preencoded.png">    </p:cNvPr>
          <p:cNvPicPr>
            <a:picLocks noChangeAspect="1"/>
          </p:cNvPicPr>
          <p:nvPr/>
        </p:nvPicPr>
        <p:blipFill>
          <a:blip r:embed="rId3"/>
          <a:stretch>
            <a:fillRect/>
          </a:stretch>
        </p:blipFill>
        <p:spPr>
          <a:xfrm>
            <a:off x="6202505" y="2054126"/>
            <a:ext cx="478123" cy="478135"/>
          </a:xfrm>
          <a:prstGeom prst="rect">
            <a:avLst/>
          </a:prstGeom>
        </p:spPr>
      </p:pic>
      <p:sp>
        <p:nvSpPr>
          <p:cNvPr id="11" name="Text 6"/>
          <p:cNvSpPr/>
          <p:nvPr/>
        </p:nvSpPr>
        <p:spPr>
          <a:xfrm>
            <a:off x="6893943" y="2054126"/>
            <a:ext cx="1865762" cy="627459"/>
          </a:xfrm>
          <a:prstGeom prst="rect">
            <a:avLst/>
          </a:prstGeom>
          <a:noFill/>
          <a:ln/>
        </p:spPr>
        <p:txBody>
          <a:bodyPr wrap="square" lIns="0" tIns="0" rIns="0" bIns="0" rtlCol="0" anchor="t">
            <a:normAutofit/>
          </a:bodyPr>
          <a:lstStyle/>
          <a:p>
            <a:pPr algn="l" indent="0" marL="0">
              <a:lnSpc>
                <a:spcPct val="104000"/>
              </a:lnSpc>
              <a:buNone/>
            </a:pPr>
            <a:r>
              <a:rPr lang="en-US" sz="1950" dirty="0">
                <a:solidFill>
                  <a:srgbClr val="3B3535"/>
                </a:solidFill>
                <a:latin typeface="Roboto Mono Medium" pitchFamily="34" charset="0"/>
                <a:ea typeface="Roboto Mono Medium" pitchFamily="34" charset="-122"/>
                <a:cs typeface="Roboto Mono Medium" pitchFamily="34" charset="-120"/>
              </a:rPr>
              <a:t>Anthropic — Claude</a:t>
            </a:r>
            <a:endParaRPr lang="en-US" sz="1950" dirty="0"/>
          </a:p>
        </p:txBody>
      </p:sp>
      <p:sp>
        <p:nvSpPr>
          <p:cNvPr id="12" name="Text 7"/>
          <p:cNvSpPr/>
          <p:nvPr/>
        </p:nvSpPr>
        <p:spPr>
          <a:xfrm>
            <a:off x="6893943" y="2783979"/>
            <a:ext cx="1865762" cy="3268762"/>
          </a:xfrm>
          <a:prstGeom prst="rect">
            <a:avLst/>
          </a:prstGeom>
          <a:noFill/>
          <a:ln/>
        </p:spPr>
        <p:txBody>
          <a:bodyPr wrap="square" lIns="0" tIns="0" rIns="0" bIns="0" rtlCol="0" anchor="t">
            <a:normAutofit/>
          </a:bodyPr>
          <a:lstStyle/>
          <a:p>
            <a:pPr algn="l" indent="0" marL="0">
              <a:lnSpc>
                <a:spcPct val="123000"/>
              </a:lnSpc>
              <a:buNone/>
            </a:pPr>
            <a:r>
              <a:rPr lang="en-US" sz="1550" dirty="0">
                <a:solidFill>
                  <a:srgbClr val="3B3535"/>
                </a:solidFill>
                <a:latin typeface="Roboto" pitchFamily="34" charset="0"/>
                <a:ea typeface="Roboto" pitchFamily="34" charset="-122"/>
                <a:cs typeface="Roboto" pitchFamily="34" charset="-120"/>
              </a:rPr>
              <a:t>Fundada por ex-investigadores de OpenAI con foco en seguridad y alineación. Claude destaca por su ventana de contexto extendida y su comportamiento fiable en tareas complejas.</a:t>
            </a:r>
            <a:endParaRPr lang="en-US" sz="1550" dirty="0"/>
          </a:p>
        </p:txBody>
      </p:sp>
      <p:pic>
        <p:nvPicPr>
          <p:cNvPr id="13" name="Image 3" descr="preencoded.png">    </p:cNvPr>
          <p:cNvPicPr>
            <a:picLocks noChangeAspect="1"/>
          </p:cNvPicPr>
          <p:nvPr/>
        </p:nvPicPr>
        <p:blipFill>
          <a:blip r:embed="rId4"/>
          <a:stretch>
            <a:fillRect/>
          </a:stretch>
        </p:blipFill>
        <p:spPr>
          <a:xfrm>
            <a:off x="8973020" y="2054126"/>
            <a:ext cx="478123" cy="478135"/>
          </a:xfrm>
          <a:prstGeom prst="rect">
            <a:avLst/>
          </a:prstGeom>
        </p:spPr>
      </p:pic>
      <p:sp>
        <p:nvSpPr>
          <p:cNvPr id="14" name="Text 8"/>
          <p:cNvSpPr/>
          <p:nvPr/>
        </p:nvSpPr>
        <p:spPr>
          <a:xfrm>
            <a:off x="9664458" y="2054126"/>
            <a:ext cx="1865762" cy="627459"/>
          </a:xfrm>
          <a:prstGeom prst="rect">
            <a:avLst/>
          </a:prstGeom>
          <a:noFill/>
          <a:ln/>
        </p:spPr>
        <p:txBody>
          <a:bodyPr wrap="square" lIns="0" tIns="0" rIns="0" bIns="0" rtlCol="0" anchor="t">
            <a:normAutofit/>
          </a:bodyPr>
          <a:lstStyle/>
          <a:p>
            <a:pPr algn="l" indent="0" marL="0">
              <a:lnSpc>
                <a:spcPct val="104000"/>
              </a:lnSpc>
              <a:buNone/>
            </a:pPr>
            <a:r>
              <a:rPr lang="en-US" sz="1950" dirty="0">
                <a:solidFill>
                  <a:srgbClr val="3B3535"/>
                </a:solidFill>
                <a:latin typeface="Roboto Mono Medium" pitchFamily="34" charset="0"/>
                <a:ea typeface="Roboto Mono Medium" pitchFamily="34" charset="-122"/>
                <a:cs typeface="Roboto Mono Medium" pitchFamily="34" charset="-120"/>
              </a:rPr>
              <a:t>Meta AI — Llama</a:t>
            </a:r>
            <a:endParaRPr lang="en-US" sz="1950" dirty="0"/>
          </a:p>
        </p:txBody>
      </p:sp>
      <p:sp>
        <p:nvSpPr>
          <p:cNvPr id="15" name="Text 9"/>
          <p:cNvSpPr/>
          <p:nvPr/>
        </p:nvSpPr>
        <p:spPr>
          <a:xfrm>
            <a:off x="9664458" y="2783979"/>
            <a:ext cx="1865762" cy="3268762"/>
          </a:xfrm>
          <a:prstGeom prst="rect">
            <a:avLst/>
          </a:prstGeom>
          <a:noFill/>
          <a:ln/>
        </p:spPr>
        <p:txBody>
          <a:bodyPr wrap="square" lIns="0" tIns="0" rIns="0" bIns="0" rtlCol="0" anchor="t">
            <a:normAutofit/>
          </a:bodyPr>
          <a:lstStyle/>
          <a:p>
            <a:pPr algn="l" indent="0" marL="0">
              <a:lnSpc>
                <a:spcPct val="123000"/>
              </a:lnSpc>
              <a:buNone/>
            </a:pPr>
            <a:r>
              <a:rPr lang="en-US" sz="1550" dirty="0">
                <a:solidFill>
                  <a:srgbClr val="3B3535"/>
                </a:solidFill>
                <a:latin typeface="Roboto" pitchFamily="34" charset="0"/>
                <a:ea typeface="Roboto" pitchFamily="34" charset="-122"/>
                <a:cs typeface="Roboto" pitchFamily="34" charset="-120"/>
              </a:rPr>
              <a:t>Apuesta por el open-source con la familia Llama. Permite que empresas, investigadores y startups ejecuten modelos potentes en sus propias infraestructuras sin dependencia de APIs externas.</a:t>
            </a:r>
            <a:endParaRPr lang="en-US" sz="15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661475" y="716657"/>
            <a:ext cx="10868745" cy="590649"/>
          </a:xfrm>
          <a:prstGeom prst="rect">
            <a:avLst/>
          </a:prstGeom>
          <a:noFill/>
          <a:ln/>
        </p:spPr>
        <p:txBody>
          <a:bodyPr wrap="none" lIns="0" tIns="0" rIns="0" bIns="0" rtlCol="0" anchor="t"/>
          <a:lstStyle/>
          <a:p>
            <a:pPr algn="l" indent="0" marL="0">
              <a:lnSpc>
                <a:spcPct val="104000"/>
              </a:lnSpc>
              <a:buNone/>
            </a:pPr>
            <a:r>
              <a:rPr lang="en-US" sz="3700" dirty="0">
                <a:solidFill>
                  <a:srgbClr val="1F1E1E"/>
                </a:solidFill>
                <a:latin typeface="Roboto Mono Medium" pitchFamily="34" charset="0"/>
                <a:ea typeface="Roboto Mono Medium" pitchFamily="34" charset="-122"/>
                <a:cs typeface="Roboto Mono Medium" pitchFamily="34" charset="-120"/>
              </a:rPr>
              <a:t>Conclusiones Clave</a:t>
            </a:r>
            <a:endParaRPr lang="en-US" sz="3700" dirty="0"/>
          </a:p>
        </p:txBody>
      </p:sp>
      <p:sp>
        <p:nvSpPr>
          <p:cNvPr id="3" name="Text 1"/>
          <p:cNvSpPr/>
          <p:nvPr/>
        </p:nvSpPr>
        <p:spPr>
          <a:xfrm>
            <a:off x="661475" y="1367730"/>
            <a:ext cx="10868745" cy="295275"/>
          </a:xfrm>
          <a:prstGeom prst="rect">
            <a:avLst/>
          </a:prstGeom>
          <a:noFill/>
          <a:ln/>
        </p:spPr>
        <p:txBody>
          <a:bodyPr wrap="none" lIns="0" tIns="0" rIns="0" bIns="0" rtlCol="0" anchor="t"/>
          <a:lstStyle/>
          <a:p>
            <a:pPr algn="l" indent="0" marL="0">
              <a:lnSpc>
                <a:spcPct val="104000"/>
              </a:lnSpc>
              <a:buNone/>
            </a:pPr>
            <a:r>
              <a:rPr lang="en-US" sz="1850" dirty="0">
                <a:solidFill>
                  <a:srgbClr val="1F1E1E"/>
                </a:solidFill>
                <a:latin typeface="Roboto Mono Medium" pitchFamily="34" charset="0"/>
                <a:ea typeface="Roboto Mono Medium" pitchFamily="34" charset="-122"/>
                <a:cs typeface="Roboto Mono Medium" pitchFamily="34" charset="-120"/>
              </a:rPr>
              <a:t>Lo que debes llevarte de esta sesión</a:t>
            </a:r>
            <a:endParaRPr lang="en-US" sz="1850" dirty="0"/>
          </a:p>
        </p:txBody>
      </p:sp>
      <p:sp>
        <p:nvSpPr>
          <p:cNvPr id="4" name="Shape 2"/>
          <p:cNvSpPr/>
          <p:nvPr/>
        </p:nvSpPr>
        <p:spPr>
          <a:xfrm>
            <a:off x="661475" y="1889820"/>
            <a:ext cx="425241" cy="425252"/>
          </a:xfrm>
          <a:prstGeom prst="roundRect">
            <a:avLst>
              <a:gd name="adj" fmla="val 1792"/>
            </a:avLst>
          </a:prstGeom>
          <a:solidFill>
            <a:srgbClr val="F2EEEE"/>
          </a:solidFill>
          <a:ln w="6350">
            <a:solidFill>
              <a:srgbClr val="D8D4D4"/>
            </a:solidFill>
            <a:prstDash val="solid"/>
          </a:ln>
        </p:spPr>
      </p:sp>
      <p:sp>
        <p:nvSpPr>
          <p:cNvPr id="5" name="Text 3"/>
          <p:cNvSpPr/>
          <p:nvPr/>
        </p:nvSpPr>
        <p:spPr>
          <a:xfrm>
            <a:off x="732365" y="1925241"/>
            <a:ext cx="283461" cy="354409"/>
          </a:xfrm>
          <a:prstGeom prst="rect">
            <a:avLst/>
          </a:prstGeom>
          <a:noFill/>
          <a:ln/>
        </p:spPr>
        <p:txBody>
          <a:bodyPr wrap="none" lIns="0" tIns="0" rIns="0" bIns="0" rtlCol="0" anchor="ctr"/>
          <a:lstStyle/>
          <a:p>
            <a:pPr algn="ctr" indent="0" marL="0">
              <a:lnSpc>
                <a:spcPct val="100000"/>
              </a:lnSpc>
              <a:buNone/>
            </a:pPr>
            <a:r>
              <a:rPr lang="en-US" sz="2200" dirty="0">
                <a:solidFill>
                  <a:srgbClr val="3B3535"/>
                </a:solidFill>
                <a:latin typeface="Roboto Mono Medium" pitchFamily="34" charset="0"/>
                <a:ea typeface="Roboto Mono Medium" pitchFamily="34" charset="-122"/>
                <a:cs typeface="Roboto Mono Medium" pitchFamily="34" charset="-120"/>
              </a:rPr>
              <a:t>1</a:t>
            </a:r>
            <a:endParaRPr lang="en-US" sz="2200" dirty="0"/>
          </a:p>
        </p:txBody>
      </p:sp>
      <p:sp>
        <p:nvSpPr>
          <p:cNvPr id="6" name="Text 4"/>
          <p:cNvSpPr/>
          <p:nvPr/>
        </p:nvSpPr>
        <p:spPr>
          <a:xfrm>
            <a:off x="1237921" y="1954709"/>
            <a:ext cx="4763373" cy="590550"/>
          </a:xfrm>
          <a:prstGeom prst="rect">
            <a:avLst/>
          </a:prstGeom>
          <a:noFill/>
          <a:ln/>
        </p:spPr>
        <p:txBody>
          <a:bodyPr wrap="square" lIns="0" tIns="0" rIns="0" bIns="0" rtlCol="0" anchor="t">
            <a:normAutofit/>
          </a:bodyPr>
          <a:lstStyle/>
          <a:p>
            <a:pPr algn="l" indent="0" marL="0">
              <a:lnSpc>
                <a:spcPct val="104000"/>
              </a:lnSpc>
              <a:buNone/>
            </a:pPr>
            <a:r>
              <a:rPr lang="en-US" sz="1850" dirty="0">
                <a:solidFill>
                  <a:srgbClr val="3B3535"/>
                </a:solidFill>
                <a:latin typeface="Roboto Mono Medium" pitchFamily="34" charset="0"/>
                <a:ea typeface="Roboto Mono Medium" pitchFamily="34" charset="-122"/>
                <a:cs typeface="Roboto Mono Medium" pitchFamily="34" charset="-120"/>
              </a:rPr>
              <a:t>La IA aprende de datos, no de reglas escritas a mano</a:t>
            </a:r>
            <a:endParaRPr lang="en-US" sz="1850" dirty="0"/>
          </a:p>
        </p:txBody>
      </p:sp>
      <p:sp>
        <p:nvSpPr>
          <p:cNvPr id="7" name="Text 5"/>
          <p:cNvSpPr/>
          <p:nvPr/>
        </p:nvSpPr>
        <p:spPr>
          <a:xfrm>
            <a:off x="1237921" y="2635945"/>
            <a:ext cx="4763373" cy="816471"/>
          </a:xfrm>
          <a:prstGeom prst="rect">
            <a:avLst/>
          </a:prstGeom>
          <a:noFill/>
          <a:ln/>
        </p:spPr>
        <p:txBody>
          <a:bodyPr wrap="square" lIns="0" tIns="0" rIns="0" bIns="0" rtlCol="0" anchor="t">
            <a:normAutofit/>
          </a:bodyPr>
          <a:lstStyle/>
          <a:p>
            <a:pPr algn="l" indent="0" marL="0">
              <a:lnSpc>
                <a:spcPct val="120000"/>
              </a:lnSpc>
              <a:buNone/>
            </a:pPr>
            <a:r>
              <a:rPr lang="en-US" sz="1450" dirty="0">
                <a:solidFill>
                  <a:srgbClr val="3B3535"/>
                </a:solidFill>
                <a:latin typeface="Roboto" pitchFamily="34" charset="0"/>
                <a:ea typeface="Roboto" pitchFamily="34" charset="-122"/>
                <a:cs typeface="Roboto" pitchFamily="34" charset="-120"/>
              </a:rPr>
              <a:t>Cambiar este paradigma mental es el primer paso para entender por qué los sistemas modernos son tan potentes y, a la vez, tan impredecibles.</a:t>
            </a:r>
            <a:endParaRPr lang="en-US" sz="1450" dirty="0"/>
          </a:p>
        </p:txBody>
      </p:sp>
      <p:sp>
        <p:nvSpPr>
          <p:cNvPr id="8" name="Shape 6"/>
          <p:cNvSpPr/>
          <p:nvPr/>
        </p:nvSpPr>
        <p:spPr>
          <a:xfrm>
            <a:off x="6190301" y="1889820"/>
            <a:ext cx="425241" cy="425252"/>
          </a:xfrm>
          <a:prstGeom prst="roundRect">
            <a:avLst>
              <a:gd name="adj" fmla="val 1792"/>
            </a:avLst>
          </a:prstGeom>
          <a:solidFill>
            <a:srgbClr val="F2EEEE"/>
          </a:solidFill>
          <a:ln w="6350">
            <a:solidFill>
              <a:srgbClr val="D8D4D4"/>
            </a:solidFill>
            <a:prstDash val="solid"/>
          </a:ln>
        </p:spPr>
      </p:sp>
      <p:sp>
        <p:nvSpPr>
          <p:cNvPr id="9" name="Text 7"/>
          <p:cNvSpPr/>
          <p:nvPr/>
        </p:nvSpPr>
        <p:spPr>
          <a:xfrm>
            <a:off x="6261191" y="1925241"/>
            <a:ext cx="283461" cy="354409"/>
          </a:xfrm>
          <a:prstGeom prst="rect">
            <a:avLst/>
          </a:prstGeom>
          <a:noFill/>
          <a:ln/>
        </p:spPr>
        <p:txBody>
          <a:bodyPr wrap="none" lIns="0" tIns="0" rIns="0" bIns="0" rtlCol="0" anchor="ctr"/>
          <a:lstStyle/>
          <a:p>
            <a:pPr algn="ctr" indent="0" marL="0">
              <a:lnSpc>
                <a:spcPct val="100000"/>
              </a:lnSpc>
              <a:buNone/>
            </a:pPr>
            <a:r>
              <a:rPr lang="en-US" sz="2200" dirty="0">
                <a:solidFill>
                  <a:srgbClr val="3B3535"/>
                </a:solidFill>
                <a:latin typeface="Roboto Mono Medium" pitchFamily="34" charset="0"/>
                <a:ea typeface="Roboto Mono Medium" pitchFamily="34" charset="-122"/>
                <a:cs typeface="Roboto Mono Medium" pitchFamily="34" charset="-120"/>
              </a:rPr>
              <a:t>2</a:t>
            </a:r>
            <a:endParaRPr lang="en-US" sz="2200" dirty="0"/>
          </a:p>
        </p:txBody>
      </p:sp>
      <p:sp>
        <p:nvSpPr>
          <p:cNvPr id="10" name="Text 8"/>
          <p:cNvSpPr/>
          <p:nvPr/>
        </p:nvSpPr>
        <p:spPr>
          <a:xfrm>
            <a:off x="6766748" y="1954709"/>
            <a:ext cx="4763472" cy="590550"/>
          </a:xfrm>
          <a:prstGeom prst="rect">
            <a:avLst/>
          </a:prstGeom>
          <a:noFill/>
          <a:ln/>
        </p:spPr>
        <p:txBody>
          <a:bodyPr wrap="square" lIns="0" tIns="0" rIns="0" bIns="0" rtlCol="0" anchor="t">
            <a:normAutofit/>
          </a:bodyPr>
          <a:lstStyle/>
          <a:p>
            <a:pPr algn="l" indent="0" marL="0">
              <a:lnSpc>
                <a:spcPct val="104000"/>
              </a:lnSpc>
              <a:buNone/>
            </a:pPr>
            <a:r>
              <a:rPr lang="en-US" sz="1850" dirty="0">
                <a:solidFill>
                  <a:srgbClr val="3B3535"/>
                </a:solidFill>
                <a:latin typeface="Roboto Mono Medium" pitchFamily="34" charset="0"/>
                <a:ea typeface="Roboto Mono Medium" pitchFamily="34" charset="-122"/>
                <a:cs typeface="Roboto Mono Medium" pitchFamily="34" charset="-120"/>
              </a:rPr>
              <a:t>Los Foundation Models han cambiado las reglas del juego</a:t>
            </a:r>
            <a:endParaRPr lang="en-US" sz="1850" dirty="0"/>
          </a:p>
        </p:txBody>
      </p:sp>
      <p:sp>
        <p:nvSpPr>
          <p:cNvPr id="11" name="Text 9"/>
          <p:cNvSpPr/>
          <p:nvPr/>
        </p:nvSpPr>
        <p:spPr>
          <a:xfrm>
            <a:off x="6766748" y="2635945"/>
            <a:ext cx="4763472" cy="816471"/>
          </a:xfrm>
          <a:prstGeom prst="rect">
            <a:avLst/>
          </a:prstGeom>
          <a:noFill/>
          <a:ln/>
        </p:spPr>
        <p:txBody>
          <a:bodyPr wrap="square" lIns="0" tIns="0" rIns="0" bIns="0" rtlCol="0" anchor="t">
            <a:normAutofit/>
          </a:bodyPr>
          <a:lstStyle/>
          <a:p>
            <a:pPr algn="l" indent="0" marL="0">
              <a:lnSpc>
                <a:spcPct val="120000"/>
              </a:lnSpc>
              <a:buNone/>
            </a:pPr>
            <a:r>
              <a:rPr lang="en-US" sz="1450" dirty="0">
                <a:solidFill>
                  <a:srgbClr val="3B3535"/>
                </a:solidFill>
                <a:latin typeface="Roboto" pitchFamily="34" charset="0"/>
                <a:ea typeface="Roboto" pitchFamily="34" charset="-122"/>
                <a:cs typeface="Roboto" pitchFamily="34" charset="-120"/>
              </a:rPr>
              <a:t>Un único modelo entrenado a escala masiva puede adaptarse a miles de tareas. La IA ha pasado de ser artesanal a ser una plataforma horizontal.</a:t>
            </a:r>
            <a:endParaRPr lang="en-US" sz="1450" dirty="0"/>
          </a:p>
        </p:txBody>
      </p:sp>
      <p:sp>
        <p:nvSpPr>
          <p:cNvPr id="12" name="Shape 10"/>
          <p:cNvSpPr/>
          <p:nvPr/>
        </p:nvSpPr>
        <p:spPr>
          <a:xfrm>
            <a:off x="661475" y="3754834"/>
            <a:ext cx="425241" cy="425252"/>
          </a:xfrm>
          <a:prstGeom prst="roundRect">
            <a:avLst>
              <a:gd name="adj" fmla="val 1792"/>
            </a:avLst>
          </a:prstGeom>
          <a:solidFill>
            <a:srgbClr val="F2EEEE"/>
          </a:solidFill>
          <a:ln w="6350">
            <a:solidFill>
              <a:srgbClr val="D8D4D4"/>
            </a:solidFill>
            <a:prstDash val="solid"/>
          </a:ln>
        </p:spPr>
      </p:sp>
      <p:sp>
        <p:nvSpPr>
          <p:cNvPr id="13" name="Text 11"/>
          <p:cNvSpPr/>
          <p:nvPr/>
        </p:nvSpPr>
        <p:spPr>
          <a:xfrm>
            <a:off x="732365" y="3790255"/>
            <a:ext cx="283461" cy="354409"/>
          </a:xfrm>
          <a:prstGeom prst="rect">
            <a:avLst/>
          </a:prstGeom>
          <a:noFill/>
          <a:ln/>
        </p:spPr>
        <p:txBody>
          <a:bodyPr wrap="none" lIns="0" tIns="0" rIns="0" bIns="0" rtlCol="0" anchor="ctr"/>
          <a:lstStyle/>
          <a:p>
            <a:pPr algn="ctr" indent="0" marL="0">
              <a:lnSpc>
                <a:spcPct val="100000"/>
              </a:lnSpc>
              <a:buNone/>
            </a:pPr>
            <a:r>
              <a:rPr lang="en-US" sz="2200" dirty="0">
                <a:solidFill>
                  <a:srgbClr val="3B3535"/>
                </a:solidFill>
                <a:latin typeface="Roboto Mono Medium" pitchFamily="34" charset="0"/>
                <a:ea typeface="Roboto Mono Medium" pitchFamily="34" charset="-122"/>
                <a:cs typeface="Roboto Mono Medium" pitchFamily="34" charset="-120"/>
              </a:rPr>
              <a:t>3</a:t>
            </a:r>
            <a:endParaRPr lang="en-US" sz="2200" dirty="0"/>
          </a:p>
        </p:txBody>
      </p:sp>
      <p:sp>
        <p:nvSpPr>
          <p:cNvPr id="14" name="Text 12"/>
          <p:cNvSpPr/>
          <p:nvPr/>
        </p:nvSpPr>
        <p:spPr>
          <a:xfrm>
            <a:off x="1237921" y="3819723"/>
            <a:ext cx="4763373" cy="590550"/>
          </a:xfrm>
          <a:prstGeom prst="rect">
            <a:avLst/>
          </a:prstGeom>
          <a:noFill/>
          <a:ln/>
        </p:spPr>
        <p:txBody>
          <a:bodyPr wrap="square" lIns="0" tIns="0" rIns="0" bIns="0" rtlCol="0" anchor="t">
            <a:normAutofit/>
          </a:bodyPr>
          <a:lstStyle/>
          <a:p>
            <a:pPr algn="l" indent="0" marL="0">
              <a:lnSpc>
                <a:spcPct val="104000"/>
              </a:lnSpc>
              <a:buNone/>
            </a:pPr>
            <a:r>
              <a:rPr lang="en-US" sz="1850" dirty="0">
                <a:solidFill>
                  <a:srgbClr val="3B3535"/>
                </a:solidFill>
                <a:latin typeface="Roboto Mono Medium" pitchFamily="34" charset="0"/>
                <a:ea typeface="Roboto Mono Medium" pitchFamily="34" charset="-122"/>
                <a:cs typeface="Roboto Mono Medium" pitchFamily="34" charset="-120"/>
              </a:rPr>
              <a:t>La escala importa, pero también la alineación y la seguridad</a:t>
            </a:r>
            <a:endParaRPr lang="en-US" sz="1850" dirty="0"/>
          </a:p>
        </p:txBody>
      </p:sp>
      <p:sp>
        <p:nvSpPr>
          <p:cNvPr id="15" name="Text 13"/>
          <p:cNvSpPr/>
          <p:nvPr/>
        </p:nvSpPr>
        <p:spPr>
          <a:xfrm>
            <a:off x="1237921" y="4500959"/>
            <a:ext cx="4763373" cy="816471"/>
          </a:xfrm>
          <a:prstGeom prst="rect">
            <a:avLst/>
          </a:prstGeom>
          <a:noFill/>
          <a:ln/>
        </p:spPr>
        <p:txBody>
          <a:bodyPr wrap="square" lIns="0" tIns="0" rIns="0" bIns="0" rtlCol="0" anchor="t">
            <a:normAutofit/>
          </a:bodyPr>
          <a:lstStyle/>
          <a:p>
            <a:pPr algn="l" indent="0" marL="0">
              <a:lnSpc>
                <a:spcPct val="120000"/>
              </a:lnSpc>
              <a:buNone/>
            </a:pPr>
            <a:r>
              <a:rPr lang="en-US" sz="1450" dirty="0">
                <a:solidFill>
                  <a:srgbClr val="3B3535"/>
                </a:solidFill>
                <a:latin typeface="Roboto" pitchFamily="34" charset="0"/>
                <a:ea typeface="Roboto" pitchFamily="34" charset="-122"/>
                <a:cs typeface="Roboto" pitchFamily="34" charset="-120"/>
              </a:rPr>
              <a:t>Más parámetros y más datos no lo resuelven todo. La fiabilidad, el control y los valores integrados en el modelo son igual de críticos para aplicaciones reales.</a:t>
            </a:r>
            <a:endParaRPr lang="en-US" sz="1450" dirty="0"/>
          </a:p>
        </p:txBody>
      </p:sp>
      <p:sp>
        <p:nvSpPr>
          <p:cNvPr id="16" name="Shape 14"/>
          <p:cNvSpPr/>
          <p:nvPr/>
        </p:nvSpPr>
        <p:spPr>
          <a:xfrm>
            <a:off x="6190301" y="3754834"/>
            <a:ext cx="425241" cy="425252"/>
          </a:xfrm>
          <a:prstGeom prst="roundRect">
            <a:avLst>
              <a:gd name="adj" fmla="val 1792"/>
            </a:avLst>
          </a:prstGeom>
          <a:solidFill>
            <a:srgbClr val="F2EEEE"/>
          </a:solidFill>
          <a:ln w="6350">
            <a:solidFill>
              <a:srgbClr val="D8D4D4"/>
            </a:solidFill>
            <a:prstDash val="solid"/>
          </a:ln>
        </p:spPr>
      </p:sp>
      <p:sp>
        <p:nvSpPr>
          <p:cNvPr id="17" name="Text 15"/>
          <p:cNvSpPr/>
          <p:nvPr/>
        </p:nvSpPr>
        <p:spPr>
          <a:xfrm>
            <a:off x="6261191" y="3790255"/>
            <a:ext cx="283461" cy="354409"/>
          </a:xfrm>
          <a:prstGeom prst="rect">
            <a:avLst/>
          </a:prstGeom>
          <a:noFill/>
          <a:ln/>
        </p:spPr>
        <p:txBody>
          <a:bodyPr wrap="none" lIns="0" tIns="0" rIns="0" bIns="0" rtlCol="0" anchor="ctr"/>
          <a:lstStyle/>
          <a:p>
            <a:pPr algn="ctr" indent="0" marL="0">
              <a:lnSpc>
                <a:spcPct val="100000"/>
              </a:lnSpc>
              <a:buNone/>
            </a:pPr>
            <a:r>
              <a:rPr lang="en-US" sz="2200" dirty="0">
                <a:solidFill>
                  <a:srgbClr val="3B3535"/>
                </a:solidFill>
                <a:latin typeface="Roboto Mono Medium" pitchFamily="34" charset="0"/>
                <a:ea typeface="Roboto Mono Medium" pitchFamily="34" charset="-122"/>
                <a:cs typeface="Roboto Mono Medium" pitchFamily="34" charset="-120"/>
              </a:rPr>
              <a:t>4</a:t>
            </a:r>
            <a:endParaRPr lang="en-US" sz="2200" dirty="0"/>
          </a:p>
        </p:txBody>
      </p:sp>
      <p:sp>
        <p:nvSpPr>
          <p:cNvPr id="18" name="Text 16"/>
          <p:cNvSpPr/>
          <p:nvPr/>
        </p:nvSpPr>
        <p:spPr>
          <a:xfrm>
            <a:off x="6766748" y="3819723"/>
            <a:ext cx="4763472" cy="590550"/>
          </a:xfrm>
          <a:prstGeom prst="rect">
            <a:avLst/>
          </a:prstGeom>
          <a:noFill/>
          <a:ln/>
        </p:spPr>
        <p:txBody>
          <a:bodyPr wrap="square" lIns="0" tIns="0" rIns="0" bIns="0" rtlCol="0" anchor="t">
            <a:normAutofit/>
          </a:bodyPr>
          <a:lstStyle/>
          <a:p>
            <a:pPr algn="l" indent="0" marL="0">
              <a:lnSpc>
                <a:spcPct val="104000"/>
              </a:lnSpc>
              <a:buNone/>
            </a:pPr>
            <a:r>
              <a:rPr lang="en-US" sz="1850" dirty="0">
                <a:solidFill>
                  <a:srgbClr val="3B3535"/>
                </a:solidFill>
                <a:latin typeface="Roboto Mono Medium" pitchFamily="34" charset="0"/>
                <a:ea typeface="Roboto Mono Medium" pitchFamily="34" charset="-122"/>
                <a:cs typeface="Roboto Mono Medium" pitchFamily="34" charset="-120"/>
              </a:rPr>
              <a:t>Los agentes y la multimodalidad definen el próximo horizonte</a:t>
            </a:r>
            <a:endParaRPr lang="en-US" sz="1850" dirty="0"/>
          </a:p>
        </p:txBody>
      </p:sp>
      <p:sp>
        <p:nvSpPr>
          <p:cNvPr id="19" name="Text 17"/>
          <p:cNvSpPr/>
          <p:nvPr/>
        </p:nvSpPr>
        <p:spPr>
          <a:xfrm>
            <a:off x="6766748" y="4500959"/>
            <a:ext cx="4763472" cy="816471"/>
          </a:xfrm>
          <a:prstGeom prst="rect">
            <a:avLst/>
          </a:prstGeom>
          <a:noFill/>
          <a:ln/>
        </p:spPr>
        <p:txBody>
          <a:bodyPr wrap="square" lIns="0" tIns="0" rIns="0" bIns="0" rtlCol="0" anchor="t">
            <a:normAutofit/>
          </a:bodyPr>
          <a:lstStyle/>
          <a:p>
            <a:pPr algn="l" indent="0" marL="0">
              <a:lnSpc>
                <a:spcPct val="120000"/>
              </a:lnSpc>
              <a:buNone/>
            </a:pPr>
            <a:r>
              <a:rPr lang="en-US" sz="1450" dirty="0">
                <a:solidFill>
                  <a:srgbClr val="3B3535"/>
                </a:solidFill>
                <a:latin typeface="Roboto" pitchFamily="34" charset="0"/>
                <a:ea typeface="Roboto" pitchFamily="34" charset="-122"/>
                <a:cs typeface="Roboto" pitchFamily="34" charset="-120"/>
              </a:rPr>
              <a:t>La IA está dejando de ser un chat para convertirse en un colaborador autónomo capaz de actuar en el mundo. Prepararse para ese salto es urgente.</a:t>
            </a:r>
            <a:endParaRPr lang="en-US" sz="1450" dirty="0"/>
          </a:p>
        </p:txBody>
      </p:sp>
      <p:sp>
        <p:nvSpPr>
          <p:cNvPr id="20" name="Shape 18"/>
          <p:cNvSpPr/>
          <p:nvPr/>
        </p:nvSpPr>
        <p:spPr>
          <a:xfrm>
            <a:off x="661475" y="5487491"/>
            <a:ext cx="10868745" cy="653852"/>
          </a:xfrm>
          <a:prstGeom prst="roundRect">
            <a:avLst>
              <a:gd name="adj" fmla="val 1165"/>
            </a:avLst>
          </a:prstGeom>
          <a:solidFill>
            <a:srgbClr val="F9D2D6"/>
          </a:solidFill>
          <a:ln/>
        </p:spPr>
      </p:sp>
      <p:pic>
        <p:nvPicPr>
          <p:cNvPr id="21" name="Image 0" descr="preencoded.png">    </p:cNvPr>
          <p:cNvPicPr>
            <a:picLocks noChangeAspect="1"/>
          </p:cNvPicPr>
          <p:nvPr/>
        </p:nvPicPr>
        <p:blipFill>
          <a:blip r:embed="rId1"/>
          <a:stretch>
            <a:fillRect/>
          </a:stretch>
        </p:blipFill>
        <p:spPr>
          <a:xfrm>
            <a:off x="850482" y="5742484"/>
            <a:ext cx="236234" cy="189012"/>
          </a:xfrm>
          <a:prstGeom prst="rect">
            <a:avLst/>
          </a:prstGeom>
        </p:spPr>
      </p:pic>
      <p:sp>
        <p:nvSpPr>
          <p:cNvPr id="22" name="Text 19"/>
          <p:cNvSpPr/>
          <p:nvPr/>
        </p:nvSpPr>
        <p:spPr>
          <a:xfrm>
            <a:off x="1275723" y="5685929"/>
            <a:ext cx="10675075" cy="272157"/>
          </a:xfrm>
          <a:prstGeom prst="rect">
            <a:avLst/>
          </a:prstGeom>
          <a:noFill/>
          <a:ln/>
        </p:spPr>
        <p:txBody>
          <a:bodyPr wrap="none" lIns="0" tIns="0" rIns="0" bIns="0" rtlCol="0" anchor="t"/>
          <a:lstStyle/>
          <a:p>
            <a:pPr algn="l" indent="0" marL="0">
              <a:lnSpc>
                <a:spcPct val="120000"/>
              </a:lnSpc>
              <a:buNone/>
            </a:pPr>
            <a:r>
              <a:rPr lang="en-US" sz="1450" dirty="0">
                <a:solidFill>
                  <a:srgbClr val="000000"/>
                </a:solidFill>
                <a:latin typeface="Roboto" pitchFamily="34" charset="0"/>
                <a:ea typeface="Roboto" pitchFamily="34" charset="-122"/>
                <a:cs typeface="Roboto" pitchFamily="34" charset="-120"/>
              </a:rPr>
              <a:t>💬</a:t>
            </a:r>
            <a:pPr algn="l" indent="0" marL="0">
              <a:lnSpc>
                <a:spcPct val="120000"/>
              </a:lnSpc>
              <a:buNone/>
            </a:pPr>
            <a:r>
              <a:rPr lang="en-US" sz="1450" dirty="0">
                <a:solidFill>
                  <a:srgbClr val="000000"/>
                </a:solidFill>
                <a:latin typeface="Roboto" pitchFamily="34" charset="0"/>
                <a:ea typeface="Roboto" pitchFamily="34" charset="-122"/>
                <a:cs typeface="Roboto" pitchFamily="34" charset="-120"/>
              </a:rPr>
              <a:t> </a:t>
            </a:r>
            <a:pPr algn="l" indent="0" marL="0">
              <a:lnSpc>
                <a:spcPct val="120000"/>
              </a:lnSpc>
              <a:buNone/>
            </a:pPr>
            <a:r>
              <a:rPr lang="en-US" sz="1450" b="1" dirty="0">
                <a:solidFill>
                  <a:srgbClr val="000000"/>
                </a:solidFill>
                <a:latin typeface="Roboto Bold" pitchFamily="34" charset="0"/>
                <a:ea typeface="Roboto Bold" pitchFamily="34" charset="-122"/>
                <a:cs typeface="Roboto Bold" pitchFamily="34" charset="-120"/>
              </a:rPr>
              <a:t>¿Preguntas?</a:t>
            </a:r>
            <a:pPr algn="l" indent="0" marL="0">
              <a:lnSpc>
                <a:spcPct val="120000"/>
              </a:lnSpc>
              <a:buNone/>
            </a:pPr>
            <a:r>
              <a:rPr lang="en-US" sz="1450" dirty="0">
                <a:solidFill>
                  <a:srgbClr val="000000"/>
                </a:solidFill>
                <a:latin typeface="Roboto" pitchFamily="34" charset="0"/>
                <a:ea typeface="Roboto" pitchFamily="34" charset="-122"/>
                <a:cs typeface="Roboto" pitchFamily="34" charset="-120"/>
              </a:rPr>
              <a:t> Este es el momento. No hay preguntas técnicas demasiado básicas ni demasiado avanzadas.</a:t>
            </a:r>
            <a:endParaRPr lang="en-US" sz="14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661475" y="3059807"/>
            <a:ext cx="10868745" cy="738287"/>
          </a:xfrm>
          <a:prstGeom prst="rect">
            <a:avLst/>
          </a:prstGeom>
          <a:noFill/>
          <a:ln/>
        </p:spPr>
        <p:txBody>
          <a:bodyPr wrap="none" lIns="0" tIns="0" rIns="0" bIns="0" rtlCol="0" anchor="t"/>
          <a:lstStyle/>
          <a:p>
            <a:pPr algn="l" indent="0" marL="0">
              <a:lnSpc>
                <a:spcPct val="104000"/>
              </a:lnSpc>
              <a:buNone/>
            </a:pPr>
            <a:r>
              <a:rPr lang="en-US" sz="4650" dirty="0">
                <a:solidFill>
                  <a:srgbClr val="1F1E1E"/>
                </a:solidFill>
                <a:latin typeface="Roboto Mono Medium" pitchFamily="34" charset="0"/>
                <a:ea typeface="Roboto Mono Medium" pitchFamily="34" charset="-122"/>
                <a:cs typeface="Roboto Mono Medium" pitchFamily="34" charset="-120"/>
              </a:rPr>
              <a:t>Anexo</a:t>
            </a:r>
            <a:endParaRPr lang="en-US" sz="46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661475" y="701675"/>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Modelos Discriminativos vs Generativos</a:t>
            </a:r>
            <a:endParaRPr lang="en-US" sz="3250" dirty="0"/>
          </a:p>
        </p:txBody>
      </p:sp>
      <p:pic>
        <p:nvPicPr>
          <p:cNvPr id="3" name="Image 0" descr="preencoded.png">    </p:cNvPr>
          <p:cNvPicPr>
            <a:picLocks noChangeAspect="1"/>
          </p:cNvPicPr>
          <p:nvPr/>
        </p:nvPicPr>
        <p:blipFill>
          <a:blip r:embed="rId1"/>
          <a:stretch>
            <a:fillRect/>
          </a:stretch>
        </p:blipFill>
        <p:spPr>
          <a:xfrm>
            <a:off x="661475" y="1522214"/>
            <a:ext cx="3662866" cy="1249462"/>
          </a:xfrm>
          <a:prstGeom prst="rect">
            <a:avLst/>
          </a:prstGeom>
        </p:spPr>
      </p:pic>
      <p:sp>
        <p:nvSpPr>
          <p:cNvPr id="4" name="Text 1"/>
          <p:cNvSpPr/>
          <p:nvPr/>
        </p:nvSpPr>
        <p:spPr>
          <a:xfrm>
            <a:off x="6303904" y="1496219"/>
            <a:ext cx="5232666" cy="1349573"/>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La imagen ilustra la distinción fundamental entre los modelos discriminativos, que se enfocan en dibujar fronteras de decisión para clasificar datos existentes, y los modelos generativos, que aprenden la distribución subyacente de los datos para crear nuevas instancias. Ambos son enfoques clave en el aprendizaje automático para diferentes tipos de tareas.</a:t>
            </a:r>
            <a:endParaRPr lang="en-US" sz="1300" dirty="0"/>
          </a:p>
        </p:txBody>
      </p:sp>
      <p:sp>
        <p:nvSpPr>
          <p:cNvPr id="5" name="Shape 2"/>
          <p:cNvSpPr/>
          <p:nvPr/>
        </p:nvSpPr>
        <p:spPr>
          <a:xfrm>
            <a:off x="661475" y="3080147"/>
            <a:ext cx="10868745" cy="2193627"/>
          </a:xfrm>
          <a:prstGeom prst="roundRect">
            <a:avLst>
              <a:gd name="adj" fmla="val 347"/>
            </a:avLst>
          </a:prstGeom>
          <a:noFill/>
          <a:ln w="6350">
            <a:solidFill>
              <a:srgbClr val="000000">
                <a:alpha val="8000"/>
              </a:srgbClr>
            </a:solidFill>
            <a:prstDash val="solid"/>
          </a:ln>
        </p:spPr>
      </p:sp>
      <p:sp>
        <p:nvSpPr>
          <p:cNvPr id="6" name="Shape 3"/>
          <p:cNvSpPr/>
          <p:nvPr/>
        </p:nvSpPr>
        <p:spPr>
          <a:xfrm>
            <a:off x="667825" y="3086497"/>
            <a:ext cx="10856046" cy="376535"/>
          </a:xfrm>
          <a:prstGeom prst="rect">
            <a:avLst/>
          </a:prstGeom>
          <a:solidFill>
            <a:srgbClr val="FFFFFF">
              <a:alpha val="4000"/>
            </a:srgbClr>
          </a:solidFill>
          <a:ln/>
        </p:spPr>
      </p:sp>
      <p:sp>
        <p:nvSpPr>
          <p:cNvPr id="7" name="Text 4"/>
          <p:cNvSpPr/>
          <p:nvPr/>
        </p:nvSpPr>
        <p:spPr>
          <a:xfrm>
            <a:off x="833218" y="3162300"/>
            <a:ext cx="3895131"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Atributo</a:t>
            </a:r>
            <a:endParaRPr lang="en-US" sz="1300" dirty="0"/>
          </a:p>
        </p:txBody>
      </p:sp>
      <p:sp>
        <p:nvSpPr>
          <p:cNvPr id="8" name="Text 5"/>
          <p:cNvSpPr/>
          <p:nvPr/>
        </p:nvSpPr>
        <p:spPr>
          <a:xfrm>
            <a:off x="4455703" y="3162300"/>
            <a:ext cx="3890964"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Discriminativo</a:t>
            </a:r>
            <a:endParaRPr lang="en-US" sz="1300" dirty="0"/>
          </a:p>
        </p:txBody>
      </p:sp>
      <p:sp>
        <p:nvSpPr>
          <p:cNvPr id="9" name="Text 6"/>
          <p:cNvSpPr/>
          <p:nvPr/>
        </p:nvSpPr>
        <p:spPr>
          <a:xfrm>
            <a:off x="8074021" y="3162300"/>
            <a:ext cx="3894139"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Generativo</a:t>
            </a:r>
            <a:endParaRPr lang="en-US" sz="1300" dirty="0"/>
          </a:p>
        </p:txBody>
      </p:sp>
      <p:sp>
        <p:nvSpPr>
          <p:cNvPr id="10" name="Shape 7"/>
          <p:cNvSpPr/>
          <p:nvPr/>
        </p:nvSpPr>
        <p:spPr>
          <a:xfrm>
            <a:off x="667825" y="3463032"/>
            <a:ext cx="10856046" cy="601464"/>
          </a:xfrm>
          <a:prstGeom prst="rect">
            <a:avLst/>
          </a:prstGeom>
          <a:solidFill>
            <a:srgbClr val="000000">
              <a:alpha val="4000"/>
            </a:srgbClr>
          </a:solidFill>
          <a:ln/>
        </p:spPr>
      </p:sp>
      <p:sp>
        <p:nvSpPr>
          <p:cNvPr id="11" name="Text 8"/>
          <p:cNvSpPr/>
          <p:nvPr/>
        </p:nvSpPr>
        <p:spPr>
          <a:xfrm>
            <a:off x="833218" y="3538835"/>
            <a:ext cx="3895131" cy="224929"/>
          </a:xfrm>
          <a:prstGeom prst="rect">
            <a:avLst/>
          </a:prstGeom>
          <a:noFill/>
          <a:ln/>
        </p:spPr>
        <p:txBody>
          <a:bodyPr wrap="none" lIns="0" tIns="0" rIns="0" bIns="0" rtlCol="0" anchor="t"/>
          <a:lstStyle/>
          <a:p>
            <a:pPr algn="l" indent="0" marL="0">
              <a:lnSpc>
                <a:spcPct val="113000"/>
              </a:lnSpc>
              <a:buNone/>
            </a:pPr>
            <a:r>
              <a:rPr lang="en-US" sz="1300" b="1" dirty="0">
                <a:solidFill>
                  <a:srgbClr val="3B3535"/>
                </a:solidFill>
                <a:latin typeface="Roboto Bold" pitchFamily="34" charset="0"/>
                <a:ea typeface="Roboto Bold" pitchFamily="34" charset="-122"/>
                <a:cs typeface="Roboto Bold" pitchFamily="34" charset="-120"/>
              </a:rPr>
              <a:t>¿Qué aprenden?</a:t>
            </a:r>
            <a:endParaRPr lang="en-US" sz="1300" dirty="0"/>
          </a:p>
        </p:txBody>
      </p:sp>
      <p:sp>
        <p:nvSpPr>
          <p:cNvPr id="12" name="Text 9"/>
          <p:cNvSpPr/>
          <p:nvPr/>
        </p:nvSpPr>
        <p:spPr>
          <a:xfrm>
            <a:off x="4455703" y="3538835"/>
            <a:ext cx="3281380" cy="449858"/>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p(y|x) — La probabilidad de una etiqueta dado un input</a:t>
            </a:r>
            <a:endParaRPr lang="en-US" sz="1300" dirty="0"/>
          </a:p>
        </p:txBody>
      </p:sp>
      <p:sp>
        <p:nvSpPr>
          <p:cNvPr id="13" name="Text 10"/>
          <p:cNvSpPr/>
          <p:nvPr/>
        </p:nvSpPr>
        <p:spPr>
          <a:xfrm>
            <a:off x="8074021" y="3538835"/>
            <a:ext cx="3284555" cy="449858"/>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p(x) o p(x,y) — La distribución completa de los datos</a:t>
            </a:r>
            <a:endParaRPr lang="en-US" sz="1300" dirty="0"/>
          </a:p>
        </p:txBody>
      </p:sp>
      <p:sp>
        <p:nvSpPr>
          <p:cNvPr id="14" name="Shape 11"/>
          <p:cNvSpPr/>
          <p:nvPr/>
        </p:nvSpPr>
        <p:spPr>
          <a:xfrm>
            <a:off x="667825" y="4064496"/>
            <a:ext cx="10856046" cy="601464"/>
          </a:xfrm>
          <a:prstGeom prst="rect">
            <a:avLst/>
          </a:prstGeom>
          <a:solidFill>
            <a:srgbClr val="FFFFFF">
              <a:alpha val="4000"/>
            </a:srgbClr>
          </a:solidFill>
          <a:ln/>
        </p:spPr>
      </p:sp>
      <p:sp>
        <p:nvSpPr>
          <p:cNvPr id="15" name="Text 12"/>
          <p:cNvSpPr/>
          <p:nvPr/>
        </p:nvSpPr>
        <p:spPr>
          <a:xfrm>
            <a:off x="833218" y="4140299"/>
            <a:ext cx="3895131" cy="224929"/>
          </a:xfrm>
          <a:prstGeom prst="rect">
            <a:avLst/>
          </a:prstGeom>
          <a:noFill/>
          <a:ln/>
        </p:spPr>
        <p:txBody>
          <a:bodyPr wrap="none" lIns="0" tIns="0" rIns="0" bIns="0" rtlCol="0" anchor="t"/>
          <a:lstStyle/>
          <a:p>
            <a:pPr algn="l" indent="0" marL="0">
              <a:lnSpc>
                <a:spcPct val="113000"/>
              </a:lnSpc>
              <a:buNone/>
            </a:pPr>
            <a:r>
              <a:rPr lang="en-US" sz="1300" b="1" dirty="0">
                <a:solidFill>
                  <a:srgbClr val="3B3535"/>
                </a:solidFill>
                <a:latin typeface="Roboto Bold" pitchFamily="34" charset="0"/>
                <a:ea typeface="Roboto Bold" pitchFamily="34" charset="-122"/>
                <a:cs typeface="Roboto Bold" pitchFamily="34" charset="-120"/>
              </a:rPr>
              <a:t>¿Qué responden?</a:t>
            </a:r>
            <a:endParaRPr lang="en-US" sz="1300" dirty="0"/>
          </a:p>
        </p:txBody>
      </p:sp>
      <p:sp>
        <p:nvSpPr>
          <p:cNvPr id="16" name="Text 13"/>
          <p:cNvSpPr/>
          <p:nvPr/>
        </p:nvSpPr>
        <p:spPr>
          <a:xfrm>
            <a:off x="4455703" y="4140299"/>
            <a:ext cx="3890964"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"¿A qué clase pertenece este dato?"</a:t>
            </a:r>
            <a:endParaRPr lang="en-US" sz="1300" dirty="0"/>
          </a:p>
        </p:txBody>
      </p:sp>
      <p:sp>
        <p:nvSpPr>
          <p:cNvPr id="17" name="Text 14"/>
          <p:cNvSpPr/>
          <p:nvPr/>
        </p:nvSpPr>
        <p:spPr>
          <a:xfrm>
            <a:off x="8074021" y="4140299"/>
            <a:ext cx="3284555" cy="449858"/>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"¿Cómo se ve un dato típico de esta distribución?"</a:t>
            </a:r>
            <a:endParaRPr lang="en-US" sz="1300" dirty="0"/>
          </a:p>
        </p:txBody>
      </p:sp>
      <p:sp>
        <p:nvSpPr>
          <p:cNvPr id="18" name="Shape 15"/>
          <p:cNvSpPr/>
          <p:nvPr/>
        </p:nvSpPr>
        <p:spPr>
          <a:xfrm>
            <a:off x="667825" y="4665960"/>
            <a:ext cx="10856046" cy="601464"/>
          </a:xfrm>
          <a:prstGeom prst="rect">
            <a:avLst/>
          </a:prstGeom>
          <a:solidFill>
            <a:srgbClr val="000000">
              <a:alpha val="4000"/>
            </a:srgbClr>
          </a:solidFill>
          <a:ln/>
        </p:spPr>
      </p:sp>
      <p:sp>
        <p:nvSpPr>
          <p:cNvPr id="19" name="Text 16"/>
          <p:cNvSpPr/>
          <p:nvPr/>
        </p:nvSpPr>
        <p:spPr>
          <a:xfrm>
            <a:off x="833218" y="4741763"/>
            <a:ext cx="3895131" cy="224929"/>
          </a:xfrm>
          <a:prstGeom prst="rect">
            <a:avLst/>
          </a:prstGeom>
          <a:noFill/>
          <a:ln/>
        </p:spPr>
        <p:txBody>
          <a:bodyPr wrap="none" lIns="0" tIns="0" rIns="0" bIns="0" rtlCol="0" anchor="t"/>
          <a:lstStyle/>
          <a:p>
            <a:pPr algn="l" indent="0" marL="0">
              <a:lnSpc>
                <a:spcPct val="113000"/>
              </a:lnSpc>
              <a:buNone/>
            </a:pPr>
            <a:r>
              <a:rPr lang="en-US" sz="1300" b="1" dirty="0">
                <a:solidFill>
                  <a:srgbClr val="3B3535"/>
                </a:solidFill>
                <a:latin typeface="Roboto Bold" pitchFamily="34" charset="0"/>
                <a:ea typeface="Roboto Bold" pitchFamily="34" charset="-122"/>
                <a:cs typeface="Roboto Bold" pitchFamily="34" charset="-120"/>
              </a:rPr>
              <a:t>Ejemplos</a:t>
            </a:r>
            <a:endParaRPr lang="en-US" sz="1300" dirty="0"/>
          </a:p>
        </p:txBody>
      </p:sp>
      <p:sp>
        <p:nvSpPr>
          <p:cNvPr id="20" name="Text 17"/>
          <p:cNvSpPr/>
          <p:nvPr/>
        </p:nvSpPr>
        <p:spPr>
          <a:xfrm>
            <a:off x="4455703" y="4741763"/>
            <a:ext cx="3281380" cy="449858"/>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Clasificación de tumores · Detección de fraude · Diagnóstico por imagen</a:t>
            </a:r>
            <a:endParaRPr lang="en-US" sz="1300" dirty="0"/>
          </a:p>
        </p:txBody>
      </p:sp>
      <p:sp>
        <p:nvSpPr>
          <p:cNvPr id="21" name="Text 18"/>
          <p:cNvSpPr/>
          <p:nvPr/>
        </p:nvSpPr>
        <p:spPr>
          <a:xfrm>
            <a:off x="8074021" y="4741763"/>
            <a:ext cx="3284555" cy="449858"/>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Generación de MRI sintéticas · GPT-4 · Stable Diffusion</a:t>
            </a:r>
            <a:endParaRPr lang="en-US" sz="1300" dirty="0"/>
          </a:p>
        </p:txBody>
      </p:sp>
      <p:sp>
        <p:nvSpPr>
          <p:cNvPr id="22" name="Shape 19"/>
          <p:cNvSpPr/>
          <p:nvPr/>
        </p:nvSpPr>
        <p:spPr>
          <a:xfrm>
            <a:off x="661475" y="5403949"/>
            <a:ext cx="10868745" cy="752277"/>
          </a:xfrm>
          <a:prstGeom prst="roundRect">
            <a:avLst>
              <a:gd name="adj" fmla="val 1013"/>
            </a:avLst>
          </a:prstGeom>
          <a:solidFill>
            <a:srgbClr val="F9D2D6"/>
          </a:solidFill>
          <a:ln/>
        </p:spPr>
      </p:sp>
      <p:pic>
        <p:nvPicPr>
          <p:cNvPr id="23" name="Image 1" descr="preencoded.png">    </p:cNvPr>
          <p:cNvPicPr>
            <a:picLocks noChangeAspect="1"/>
          </p:cNvPicPr>
          <p:nvPr/>
        </p:nvPicPr>
        <p:blipFill>
          <a:blip r:embed="rId2"/>
          <a:stretch>
            <a:fillRect/>
          </a:stretch>
        </p:blipFill>
        <p:spPr>
          <a:xfrm>
            <a:off x="826769" y="5624612"/>
            <a:ext cx="206667" cy="165298"/>
          </a:xfrm>
          <a:prstGeom prst="rect">
            <a:avLst/>
          </a:prstGeom>
        </p:spPr>
      </p:pic>
      <p:sp>
        <p:nvSpPr>
          <p:cNvPr id="24" name="Text 20"/>
          <p:cNvSpPr/>
          <p:nvPr/>
        </p:nvSpPr>
        <p:spPr>
          <a:xfrm>
            <a:off x="1198731" y="5560913"/>
            <a:ext cx="10166195" cy="449858"/>
          </a:xfrm>
          <a:prstGeom prst="rect">
            <a:avLst/>
          </a:prstGeom>
          <a:noFill/>
          <a:ln/>
        </p:spPr>
        <p:txBody>
          <a:bodyPr wrap="square" lIns="0" tIns="0" rIns="0" bIns="0" rtlCol="0" anchor="t">
            <a:normAutofit/>
          </a:bodyPr>
          <a:lstStyle/>
          <a:p>
            <a:pPr algn="l" indent="0" marL="0">
              <a:lnSpc>
                <a:spcPct val="113000"/>
              </a:lnSpc>
              <a:buNone/>
            </a:pPr>
            <a:r>
              <a:rPr lang="en-US" sz="1300" b="1" dirty="0">
                <a:solidFill>
                  <a:srgbClr val="000000"/>
                </a:solidFill>
                <a:latin typeface="Roboto Bold" pitchFamily="34" charset="0"/>
                <a:ea typeface="Roboto Bold" pitchFamily="34" charset="-122"/>
                <a:cs typeface="Roboto Bold" pitchFamily="34" charset="-120"/>
              </a:rPr>
              <a:t>Conexión moderna: </a:t>
            </a:r>
            <a:pPr algn="l" indent="0" marL="0">
              <a:lnSpc>
                <a:spcPct val="113000"/>
              </a:lnSpc>
              <a:buNone/>
            </a:pPr>
            <a:r>
              <a:rPr lang="en-US" sz="1300" dirty="0">
                <a:solidFill>
                  <a:srgbClr val="000000"/>
                </a:solidFill>
                <a:latin typeface="Roboto" pitchFamily="34" charset="0"/>
                <a:ea typeface="Roboto" pitchFamily="34" charset="-122"/>
                <a:cs typeface="Roboto" pitchFamily="34" charset="-120"/>
              </a:rPr>
              <a:t>Los LLMs son modelos generativos, pero pueden resolver tareas discriminativas mediante prompting. Esto es lo que hace que los Foundation Models sean tan poderosos.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661475" y="812998"/>
            <a:ext cx="10868745" cy="590649"/>
          </a:xfrm>
          <a:prstGeom prst="rect">
            <a:avLst/>
          </a:prstGeom>
          <a:noFill/>
          <a:ln/>
        </p:spPr>
        <p:txBody>
          <a:bodyPr wrap="none" lIns="0" tIns="0" rIns="0" bIns="0" rtlCol="0" anchor="t"/>
          <a:lstStyle/>
          <a:p>
            <a:pPr algn="l" indent="0" marL="0">
              <a:lnSpc>
                <a:spcPct val="104000"/>
              </a:lnSpc>
              <a:buNone/>
            </a:pPr>
            <a:r>
              <a:rPr lang="en-US" sz="3700" dirty="0">
                <a:solidFill>
                  <a:srgbClr val="1F1E1E"/>
                </a:solidFill>
                <a:latin typeface="Roboto Mono Medium" pitchFamily="34" charset="0"/>
                <a:ea typeface="Roboto Mono Medium" pitchFamily="34" charset="-122"/>
                <a:cs typeface="Roboto Mono Medium" pitchFamily="34" charset="-120"/>
              </a:rPr>
              <a:t>El Desafío del Mundo Real</a:t>
            </a:r>
            <a:endParaRPr lang="en-US" sz="3700" dirty="0"/>
          </a:p>
        </p:txBody>
      </p:sp>
      <p:sp>
        <p:nvSpPr>
          <p:cNvPr id="3" name="Text 1"/>
          <p:cNvSpPr/>
          <p:nvPr/>
        </p:nvSpPr>
        <p:spPr>
          <a:xfrm>
            <a:off x="661475" y="1464072"/>
            <a:ext cx="10868745" cy="295275"/>
          </a:xfrm>
          <a:prstGeom prst="rect">
            <a:avLst/>
          </a:prstGeom>
          <a:noFill/>
          <a:ln/>
        </p:spPr>
        <p:txBody>
          <a:bodyPr wrap="none" lIns="0" tIns="0" rIns="0" bIns="0" rtlCol="0" anchor="t"/>
          <a:lstStyle/>
          <a:p>
            <a:pPr algn="l" indent="0" marL="0">
              <a:lnSpc>
                <a:spcPct val="104000"/>
              </a:lnSpc>
              <a:buNone/>
            </a:pPr>
            <a:r>
              <a:rPr lang="en-US" sz="1850" dirty="0">
                <a:solidFill>
                  <a:srgbClr val="1F1E1E"/>
                </a:solidFill>
                <a:latin typeface="Roboto Mono Medium" pitchFamily="34" charset="0"/>
                <a:ea typeface="Roboto Mono Medium" pitchFamily="34" charset="-122"/>
                <a:cs typeface="Roboto Mono Medium" pitchFamily="34" charset="-120"/>
              </a:rPr>
              <a:t>De la teoría a la práctica</a:t>
            </a:r>
            <a:endParaRPr lang="en-US" sz="1850" dirty="0"/>
          </a:p>
        </p:txBody>
      </p:sp>
      <p:sp>
        <p:nvSpPr>
          <p:cNvPr id="4" name="Shape 2"/>
          <p:cNvSpPr/>
          <p:nvPr/>
        </p:nvSpPr>
        <p:spPr>
          <a:xfrm>
            <a:off x="525350" y="1986161"/>
            <a:ext cx="5476043" cy="2962672"/>
          </a:xfrm>
          <a:prstGeom prst="roundRect">
            <a:avLst>
              <a:gd name="adj" fmla="val 957"/>
            </a:avLst>
          </a:prstGeom>
          <a:solidFill>
            <a:srgbClr val="000000">
              <a:alpha val="95000"/>
            </a:srgbClr>
          </a:solidFill>
          <a:ln/>
        </p:spPr>
      </p:sp>
      <p:sp>
        <p:nvSpPr>
          <p:cNvPr id="5" name="Text 3"/>
          <p:cNvSpPr/>
          <p:nvPr/>
        </p:nvSpPr>
        <p:spPr>
          <a:xfrm>
            <a:off x="714357" y="2137370"/>
            <a:ext cx="5098029" cy="295275"/>
          </a:xfrm>
          <a:prstGeom prst="rect">
            <a:avLst/>
          </a:prstGeom>
          <a:noFill/>
          <a:ln/>
        </p:spPr>
        <p:txBody>
          <a:bodyPr wrap="none" lIns="0" tIns="0" rIns="0" bIns="0" rtlCol="0" anchor="t"/>
          <a:lstStyle/>
          <a:p>
            <a:pPr algn="l" indent="0" marL="0">
              <a:lnSpc>
                <a:spcPct val="104000"/>
              </a:lnSpc>
              <a:buNone/>
            </a:pPr>
            <a:r>
              <a:rPr lang="en-US" sz="1850" dirty="0">
                <a:solidFill>
                  <a:srgbClr val="FFFFFF"/>
                </a:solidFill>
                <a:latin typeface="Roboto Mono Medium" pitchFamily="34" charset="0"/>
                <a:ea typeface="Roboto Mono Medium" pitchFamily="34" charset="-122"/>
                <a:cs typeface="Roboto Mono Medium" pitchFamily="34" charset="-120"/>
              </a:rPr>
              <a:t>Entorno Ideal (Laboratorio)</a:t>
            </a:r>
            <a:endParaRPr lang="en-US" sz="1850" dirty="0"/>
          </a:p>
        </p:txBody>
      </p:sp>
      <p:sp>
        <p:nvSpPr>
          <p:cNvPr id="6" name="Text 4"/>
          <p:cNvSpPr/>
          <p:nvPr/>
        </p:nvSpPr>
        <p:spPr>
          <a:xfrm>
            <a:off x="714357" y="2583855"/>
            <a:ext cx="5098029" cy="544314"/>
          </a:xfrm>
          <a:prstGeom prst="rect">
            <a:avLst/>
          </a:prstGeom>
          <a:noFill/>
          <a:ln/>
        </p:spPr>
        <p:txBody>
          <a:bodyPr wrap="square" lIns="0" tIns="0" rIns="0" bIns="0" rtlCol="0" anchor="t">
            <a:normAutofit/>
          </a:bodyPr>
          <a:lstStyle/>
          <a:p>
            <a:pPr algn="l" indent="0" marL="0">
              <a:lnSpc>
                <a:spcPct val="120000"/>
              </a:lnSpc>
              <a:buNone/>
            </a:pPr>
            <a:r>
              <a:rPr lang="en-US" sz="1450" dirty="0">
                <a:solidFill>
                  <a:srgbClr val="FFFFFF"/>
                </a:solidFill>
                <a:latin typeface="Roboto" pitchFamily="34" charset="0"/>
                <a:ea typeface="Roboto" pitchFamily="34" charset="-122"/>
                <a:cs typeface="Roboto" pitchFamily="34" charset="-120"/>
              </a:rPr>
              <a:t>Totalmente observable, determinista, episódico, estático, discreto, conocido y de agente único.</a:t>
            </a:r>
            <a:endParaRPr lang="en-US" sz="1450" dirty="0"/>
          </a:p>
        </p:txBody>
      </p:sp>
      <p:sp>
        <p:nvSpPr>
          <p:cNvPr id="7" name="Shape 5"/>
          <p:cNvSpPr/>
          <p:nvPr/>
        </p:nvSpPr>
        <p:spPr>
          <a:xfrm>
            <a:off x="714357" y="3345458"/>
            <a:ext cx="5098029" cy="25400"/>
          </a:xfrm>
          <a:prstGeom prst="roundRect">
            <a:avLst>
              <a:gd name="adj" fmla="val 49999"/>
            </a:avLst>
          </a:prstGeom>
          <a:solidFill>
            <a:srgbClr val="FFFFFF">
              <a:alpha val="50000"/>
            </a:srgbClr>
          </a:solidFill>
          <a:ln/>
        </p:spPr>
      </p:sp>
      <p:sp>
        <p:nvSpPr>
          <p:cNvPr id="8" name="Text 6"/>
          <p:cNvSpPr/>
          <p:nvPr/>
        </p:nvSpPr>
        <p:spPr>
          <a:xfrm>
            <a:off x="714357" y="3588147"/>
            <a:ext cx="5098029" cy="1224657"/>
          </a:xfrm>
          <a:prstGeom prst="rect">
            <a:avLst/>
          </a:prstGeom>
          <a:noFill/>
          <a:ln/>
        </p:spPr>
        <p:txBody>
          <a:bodyPr wrap="square" lIns="0" tIns="0" rIns="0" bIns="0" rtlCol="0" anchor="t">
            <a:normAutofit/>
          </a:bodyPr>
          <a:lstStyle/>
          <a:p>
            <a:pPr algn="l" indent="0" marL="0">
              <a:lnSpc>
                <a:spcPct val="120000"/>
              </a:lnSpc>
              <a:spcAft>
                <a:spcPts val="1050"/>
              </a:spcAft>
              <a:buNone/>
            </a:pPr>
            <a:r>
              <a:rPr lang="en-US" sz="1450" b="1" dirty="0">
                <a:solidFill>
                  <a:srgbClr val="FFFFFF"/>
                </a:solidFill>
                <a:latin typeface="Roboto Bold" pitchFamily="34" charset="0"/>
                <a:ea typeface="Roboto Bold" pitchFamily="34" charset="-122"/>
                <a:cs typeface="Roboto Bold" pitchFamily="34" charset="-120"/>
              </a:rPr>
              <a:t>Ejemplo:</a:t>
            </a:r>
            <a:pPr algn="l" indent="0" marL="0">
              <a:lnSpc>
                <a:spcPct val="120000"/>
              </a:lnSpc>
              <a:spcAft>
                <a:spcPts val="1050"/>
              </a:spcAft>
              <a:buNone/>
            </a:pPr>
            <a:r>
              <a:rPr lang="en-US" sz="1450" dirty="0">
                <a:solidFill>
                  <a:srgbClr val="FFFFFF"/>
                </a:solidFill>
                <a:latin typeface="Roboto" pitchFamily="34" charset="0"/>
                <a:ea typeface="Roboto" pitchFamily="34" charset="-122"/>
                <a:cs typeface="Roboto" pitchFamily="34" charset="-120"/>
              </a:rPr>
              <a:t> Resolver un Sudoku o jugar al Tres en Raya (Tic-Tac-Toe).</a:t>
            </a:r>
            <a:endParaRPr lang="en-US" sz="1450" dirty="0"/>
          </a:p>
          <a:p>
            <a:pPr algn="l" indent="0" marL="0">
              <a:lnSpc>
                <a:spcPct val="120000"/>
              </a:lnSpc>
              <a:buNone/>
            </a:pPr>
            <a:r>
              <a:rPr lang="en-US" sz="1450" b="1" dirty="0">
                <a:solidFill>
                  <a:srgbClr val="FFFFFF"/>
                </a:solidFill>
                <a:latin typeface="Roboto Bold" pitchFamily="34" charset="0"/>
                <a:ea typeface="Roboto Bold" pitchFamily="34" charset="-122"/>
                <a:cs typeface="Roboto Bold" pitchFamily="34" charset="-120"/>
              </a:rPr>
              <a:t>Resultado:</a:t>
            </a:r>
            <a:pPr algn="l" indent="0" marL="0">
              <a:lnSpc>
                <a:spcPct val="120000"/>
              </a:lnSpc>
              <a:buNone/>
            </a:pPr>
            <a:r>
              <a:rPr lang="en-US" sz="1450" dirty="0">
                <a:solidFill>
                  <a:srgbClr val="FFFFFF"/>
                </a:solidFill>
                <a:latin typeface="Roboto" pitchFamily="34" charset="0"/>
                <a:ea typeface="Roboto" pitchFamily="34" charset="-122"/>
                <a:cs typeface="Roboto" pitchFamily="34" charset="-120"/>
              </a:rPr>
              <a:t> Problemas resueltos hace décadas con algoritmos simples.</a:t>
            </a:r>
            <a:endParaRPr lang="en-US" sz="1450" dirty="0"/>
          </a:p>
        </p:txBody>
      </p:sp>
      <p:sp>
        <p:nvSpPr>
          <p:cNvPr id="9" name="Shape 7"/>
          <p:cNvSpPr/>
          <p:nvPr/>
        </p:nvSpPr>
        <p:spPr>
          <a:xfrm>
            <a:off x="6196651" y="1986161"/>
            <a:ext cx="5476043" cy="2962672"/>
          </a:xfrm>
          <a:prstGeom prst="roundRect">
            <a:avLst>
              <a:gd name="adj" fmla="val 957"/>
            </a:avLst>
          </a:prstGeom>
          <a:solidFill>
            <a:srgbClr val="DA1B2E">
              <a:alpha val="95000"/>
            </a:srgbClr>
          </a:solidFill>
          <a:ln/>
        </p:spPr>
      </p:sp>
      <p:sp>
        <p:nvSpPr>
          <p:cNvPr id="10" name="Text 8"/>
          <p:cNvSpPr/>
          <p:nvPr/>
        </p:nvSpPr>
        <p:spPr>
          <a:xfrm>
            <a:off x="6385658" y="2137370"/>
            <a:ext cx="5098029" cy="295275"/>
          </a:xfrm>
          <a:prstGeom prst="rect">
            <a:avLst/>
          </a:prstGeom>
          <a:noFill/>
          <a:ln/>
        </p:spPr>
        <p:txBody>
          <a:bodyPr wrap="none" lIns="0" tIns="0" rIns="0" bIns="0" rtlCol="0" anchor="t"/>
          <a:lstStyle/>
          <a:p>
            <a:pPr algn="l" indent="0" marL="0">
              <a:lnSpc>
                <a:spcPct val="104000"/>
              </a:lnSpc>
              <a:buNone/>
            </a:pPr>
            <a:r>
              <a:rPr lang="en-US" sz="1850" dirty="0">
                <a:solidFill>
                  <a:srgbClr val="FFFFFF"/>
                </a:solidFill>
                <a:latin typeface="Roboto Mono Medium" pitchFamily="34" charset="0"/>
                <a:ea typeface="Roboto Mono Medium" pitchFamily="34" charset="-122"/>
                <a:cs typeface="Roboto Mono Medium" pitchFamily="34" charset="-120"/>
              </a:rPr>
              <a:t>Entorno Real (El campo de batalla)</a:t>
            </a:r>
            <a:endParaRPr lang="en-US" sz="1850" dirty="0"/>
          </a:p>
        </p:txBody>
      </p:sp>
      <p:sp>
        <p:nvSpPr>
          <p:cNvPr id="11" name="Text 9"/>
          <p:cNvSpPr/>
          <p:nvPr/>
        </p:nvSpPr>
        <p:spPr>
          <a:xfrm>
            <a:off x="6385658" y="2583855"/>
            <a:ext cx="5098029" cy="544314"/>
          </a:xfrm>
          <a:prstGeom prst="rect">
            <a:avLst/>
          </a:prstGeom>
          <a:noFill/>
          <a:ln/>
        </p:spPr>
        <p:txBody>
          <a:bodyPr wrap="square" lIns="0" tIns="0" rIns="0" bIns="0" rtlCol="0" anchor="t">
            <a:normAutofit/>
          </a:bodyPr>
          <a:lstStyle/>
          <a:p>
            <a:pPr algn="l" indent="0" marL="0">
              <a:lnSpc>
                <a:spcPct val="120000"/>
              </a:lnSpc>
              <a:buNone/>
            </a:pPr>
            <a:r>
              <a:rPr lang="en-US" sz="1450" dirty="0">
                <a:solidFill>
                  <a:srgbClr val="FFFFFF"/>
                </a:solidFill>
                <a:latin typeface="Roboto" pitchFamily="34" charset="0"/>
                <a:ea typeface="Roboto" pitchFamily="34" charset="-122"/>
                <a:cs typeface="Roboto" pitchFamily="34" charset="-120"/>
              </a:rPr>
              <a:t>Parcialmente observable, estocástico, secuencial, dinámico, continuo, multiagente y desconocido.</a:t>
            </a:r>
            <a:endParaRPr lang="en-US" sz="1450" dirty="0"/>
          </a:p>
        </p:txBody>
      </p:sp>
      <p:sp>
        <p:nvSpPr>
          <p:cNvPr id="12" name="Shape 10"/>
          <p:cNvSpPr/>
          <p:nvPr/>
        </p:nvSpPr>
        <p:spPr>
          <a:xfrm>
            <a:off x="6385658" y="3345458"/>
            <a:ext cx="5098029" cy="25400"/>
          </a:xfrm>
          <a:prstGeom prst="roundRect">
            <a:avLst>
              <a:gd name="adj" fmla="val 49999"/>
            </a:avLst>
          </a:prstGeom>
          <a:solidFill>
            <a:srgbClr val="FFFFFF">
              <a:alpha val="50000"/>
            </a:srgbClr>
          </a:solidFill>
          <a:ln/>
        </p:spPr>
      </p:sp>
      <p:sp>
        <p:nvSpPr>
          <p:cNvPr id="13" name="Text 11"/>
          <p:cNvSpPr/>
          <p:nvPr/>
        </p:nvSpPr>
        <p:spPr>
          <a:xfrm>
            <a:off x="6385658" y="3588147"/>
            <a:ext cx="5098029" cy="1224657"/>
          </a:xfrm>
          <a:prstGeom prst="rect">
            <a:avLst/>
          </a:prstGeom>
          <a:noFill/>
          <a:ln/>
        </p:spPr>
        <p:txBody>
          <a:bodyPr wrap="square" lIns="0" tIns="0" rIns="0" bIns="0" rtlCol="0" anchor="t">
            <a:normAutofit/>
          </a:bodyPr>
          <a:lstStyle/>
          <a:p>
            <a:pPr algn="l" indent="0" marL="0">
              <a:lnSpc>
                <a:spcPct val="120000"/>
              </a:lnSpc>
              <a:spcAft>
                <a:spcPts val="1050"/>
              </a:spcAft>
              <a:buNone/>
            </a:pPr>
            <a:r>
              <a:rPr lang="en-US" sz="1450" b="1" dirty="0">
                <a:solidFill>
                  <a:srgbClr val="FFFFFF"/>
                </a:solidFill>
                <a:latin typeface="Roboto Bold" pitchFamily="34" charset="0"/>
                <a:ea typeface="Roboto Bold" pitchFamily="34" charset="-122"/>
                <a:cs typeface="Roboto Bold" pitchFamily="34" charset="-120"/>
              </a:rPr>
              <a:t>Ejemplo:</a:t>
            </a:r>
            <a:pPr algn="l" indent="0" marL="0">
              <a:lnSpc>
                <a:spcPct val="120000"/>
              </a:lnSpc>
              <a:spcAft>
                <a:spcPts val="1050"/>
              </a:spcAft>
              <a:buNone/>
            </a:pPr>
            <a:r>
              <a:rPr lang="en-US" sz="1450" dirty="0">
                <a:solidFill>
                  <a:srgbClr val="FFFFFF"/>
                </a:solidFill>
                <a:latin typeface="Roboto" pitchFamily="34" charset="0"/>
                <a:ea typeface="Roboto" pitchFamily="34" charset="-122"/>
                <a:cs typeface="Roboto" pitchFamily="34" charset="-120"/>
              </a:rPr>
              <a:t> Conducción autónoma en una ciudad con tráfico impredecible o robótica de rescate.</a:t>
            </a:r>
            <a:endParaRPr lang="en-US" sz="1450" dirty="0"/>
          </a:p>
          <a:p>
            <a:pPr algn="l" indent="0" marL="0">
              <a:lnSpc>
                <a:spcPct val="120000"/>
              </a:lnSpc>
              <a:buNone/>
            </a:pPr>
            <a:r>
              <a:rPr lang="en-US" sz="1450" b="1" dirty="0">
                <a:solidFill>
                  <a:srgbClr val="FFFFFF"/>
                </a:solidFill>
                <a:latin typeface="Roboto Bold" pitchFamily="34" charset="0"/>
                <a:ea typeface="Roboto Bold" pitchFamily="34" charset="-122"/>
                <a:cs typeface="Roboto Bold" pitchFamily="34" charset="-120"/>
              </a:rPr>
              <a:t>Resultado:</a:t>
            </a:r>
            <a:pPr algn="l" indent="0" marL="0">
              <a:lnSpc>
                <a:spcPct val="120000"/>
              </a:lnSpc>
              <a:buNone/>
            </a:pPr>
            <a:r>
              <a:rPr lang="en-US" sz="1450" dirty="0">
                <a:solidFill>
                  <a:srgbClr val="FFFFFF"/>
                </a:solidFill>
                <a:latin typeface="Roboto" pitchFamily="34" charset="0"/>
                <a:ea typeface="Roboto" pitchFamily="34" charset="-122"/>
                <a:cs typeface="Roboto" pitchFamily="34" charset="-120"/>
              </a:rPr>
              <a:t> Requiere agentes que aprenden, planifican con incertidumbre y optimizan utilidades.</a:t>
            </a:r>
            <a:endParaRPr lang="en-US" sz="1450" dirty="0"/>
          </a:p>
        </p:txBody>
      </p:sp>
      <p:sp>
        <p:nvSpPr>
          <p:cNvPr id="14" name="Shape 12"/>
          <p:cNvSpPr/>
          <p:nvPr/>
        </p:nvSpPr>
        <p:spPr>
          <a:xfrm>
            <a:off x="661475" y="5118894"/>
            <a:ext cx="10868745" cy="926009"/>
          </a:xfrm>
          <a:prstGeom prst="roundRect">
            <a:avLst>
              <a:gd name="adj" fmla="val 823"/>
            </a:avLst>
          </a:prstGeom>
          <a:solidFill>
            <a:srgbClr val="F9D2D6"/>
          </a:solidFill>
          <a:ln/>
        </p:spPr>
      </p:sp>
      <p:pic>
        <p:nvPicPr>
          <p:cNvPr id="15" name="Image 0" descr="preencoded.png">    </p:cNvPr>
          <p:cNvPicPr>
            <a:picLocks noChangeAspect="1"/>
          </p:cNvPicPr>
          <p:nvPr/>
        </p:nvPicPr>
        <p:blipFill>
          <a:blip r:embed="rId1"/>
          <a:stretch>
            <a:fillRect/>
          </a:stretch>
        </p:blipFill>
        <p:spPr>
          <a:xfrm>
            <a:off x="850482" y="5373886"/>
            <a:ext cx="236234" cy="189012"/>
          </a:xfrm>
          <a:prstGeom prst="rect">
            <a:avLst/>
          </a:prstGeom>
        </p:spPr>
      </p:pic>
      <p:sp>
        <p:nvSpPr>
          <p:cNvPr id="16" name="Text 13"/>
          <p:cNvSpPr/>
          <p:nvPr/>
        </p:nvSpPr>
        <p:spPr>
          <a:xfrm>
            <a:off x="1275723" y="5317331"/>
            <a:ext cx="10065490" cy="544314"/>
          </a:xfrm>
          <a:prstGeom prst="rect">
            <a:avLst/>
          </a:prstGeom>
          <a:noFill/>
          <a:ln/>
        </p:spPr>
        <p:txBody>
          <a:bodyPr wrap="square" lIns="0" tIns="0" rIns="0" bIns="0" rtlCol="0" anchor="t">
            <a:normAutofit/>
          </a:bodyPr>
          <a:lstStyle/>
          <a:p>
            <a:pPr algn="l" indent="0" marL="0">
              <a:lnSpc>
                <a:spcPct val="120000"/>
              </a:lnSpc>
              <a:buNone/>
            </a:pPr>
            <a:r>
              <a:rPr lang="en-US" sz="1450" dirty="0">
                <a:solidFill>
                  <a:srgbClr val="000000"/>
                </a:solidFill>
                <a:latin typeface="Roboto" pitchFamily="34" charset="0"/>
                <a:ea typeface="Roboto" pitchFamily="34" charset="-122"/>
                <a:cs typeface="Roboto" pitchFamily="34" charset="-120"/>
              </a:rPr>
              <a:t>¿Por qué ganarle al campeón mundial de ajedrez (1997) fue 'fácil' comparado con lograr que un coche se conduzca solo bajo la lluvia? </a:t>
            </a:r>
            <a:pPr algn="l" indent="0" marL="0">
              <a:lnSpc>
                <a:spcPct val="120000"/>
              </a:lnSpc>
              <a:buNone/>
            </a:pPr>
            <a:r>
              <a:rPr lang="en-US" sz="1450" b="1" dirty="0">
                <a:solidFill>
                  <a:srgbClr val="000000"/>
                </a:solidFill>
                <a:latin typeface="Roboto Bold" pitchFamily="34" charset="0"/>
                <a:ea typeface="Roboto Bold" pitchFamily="34" charset="-122"/>
                <a:cs typeface="Roboto Bold" pitchFamily="34" charset="-120"/>
              </a:rPr>
              <a:t>El entorno lo explica todo.</a:t>
            </a:r>
            <a:endParaRPr lang="en-US" sz="14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Shape 0"/>
          <p:cNvSpPr/>
          <p:nvPr/>
        </p:nvSpPr>
        <p:spPr>
          <a:xfrm>
            <a:off x="661475" y="865485"/>
            <a:ext cx="1081953" cy="251420"/>
          </a:xfrm>
          <a:prstGeom prst="roundRect">
            <a:avLst>
              <a:gd name="adj" fmla="val 3031"/>
            </a:avLst>
          </a:prstGeom>
          <a:solidFill>
            <a:srgbClr val="F9D2D6"/>
          </a:solidFill>
          <a:ln/>
        </p:spPr>
      </p:sp>
      <p:sp>
        <p:nvSpPr>
          <p:cNvPr id="4" name="Text 1"/>
          <p:cNvSpPr/>
          <p:nvPr/>
        </p:nvSpPr>
        <p:spPr>
          <a:xfrm>
            <a:off x="760691" y="915095"/>
            <a:ext cx="1493106"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TEMA CRÍTICO</a:t>
            </a:r>
            <a:endParaRPr lang="en-US" sz="1000" dirty="0"/>
          </a:p>
        </p:txBody>
      </p:sp>
      <p:sp>
        <p:nvSpPr>
          <p:cNvPr id="5" name="Text 2"/>
          <p:cNvSpPr/>
          <p:nvPr/>
        </p:nvSpPr>
        <p:spPr>
          <a:xfrm>
            <a:off x="661475" y="1163141"/>
            <a:ext cx="6296860" cy="1033463"/>
          </a:xfrm>
          <a:prstGeom prst="rect">
            <a:avLst/>
          </a:prstGeom>
          <a:noFill/>
          <a:ln/>
        </p:spPr>
        <p:txBody>
          <a:bodyPr wrap="square" lIns="0" tIns="0" rIns="0" bIns="0" rtlCol="0" anchor="t">
            <a:normAutofit/>
          </a:bodyPr>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El Futuro: Agentes Autónomos e IA Multimodal</a:t>
            </a:r>
            <a:endParaRPr lang="en-US" sz="3250" dirty="0"/>
          </a:p>
        </p:txBody>
      </p:sp>
      <p:sp>
        <p:nvSpPr>
          <p:cNvPr id="6" name="Text 3"/>
          <p:cNvSpPr/>
          <p:nvPr/>
        </p:nvSpPr>
        <p:spPr>
          <a:xfrm>
            <a:off x="661475" y="2485926"/>
            <a:ext cx="2946723" cy="258465"/>
          </a:xfrm>
          <a:prstGeom prst="rect">
            <a:avLst/>
          </a:prstGeom>
          <a:noFill/>
          <a:ln/>
        </p:spPr>
        <p:txBody>
          <a:bodyPr wrap="none" lIns="0" tIns="0" rIns="0" bIns="0" rtlCol="0" anchor="t"/>
          <a:lstStyle/>
          <a:p>
            <a:pPr algn="l" indent="0" marL="0">
              <a:lnSpc>
                <a:spcPct val="104000"/>
              </a:lnSpc>
              <a:buNone/>
            </a:pPr>
            <a:r>
              <a:rPr lang="en-US" sz="1600" dirty="0">
                <a:solidFill>
                  <a:srgbClr val="1F1E1E"/>
                </a:solidFill>
                <a:latin typeface="Roboto Mono Medium" pitchFamily="34" charset="0"/>
                <a:ea typeface="Roboto Mono Medium" pitchFamily="34" charset="-122"/>
                <a:cs typeface="Roboto Mono Medium" pitchFamily="34" charset="-120"/>
              </a:rPr>
              <a:t>Agentes Autónomos</a:t>
            </a:r>
            <a:endParaRPr lang="en-US" sz="1600" dirty="0"/>
          </a:p>
        </p:txBody>
      </p:sp>
      <p:sp>
        <p:nvSpPr>
          <p:cNvPr id="7" name="Text 4"/>
          <p:cNvSpPr/>
          <p:nvPr/>
        </p:nvSpPr>
        <p:spPr>
          <a:xfrm>
            <a:off x="661475" y="2860080"/>
            <a:ext cx="2946723" cy="3028255"/>
          </a:xfrm>
          <a:prstGeom prst="rect">
            <a:avLst/>
          </a:prstGeom>
          <a:noFill/>
          <a:ln/>
        </p:spPr>
        <p:txBody>
          <a:bodyPr wrap="square" lIns="0" tIns="0" rIns="0" bIns="0" rtlCol="0" anchor="t">
            <a:normAutofit/>
          </a:bodyPr>
          <a:lstStyle/>
          <a:p>
            <a:pPr algn="l" indent="0" marL="0">
              <a:lnSpc>
                <a:spcPct val="113000"/>
              </a:lnSpc>
              <a:spcAft>
                <a:spcPts val="800"/>
              </a:spcAft>
              <a:buNone/>
            </a:pPr>
            <a:r>
              <a:rPr lang="en-US" sz="1300" dirty="0">
                <a:solidFill>
                  <a:srgbClr val="3B3535"/>
                </a:solidFill>
                <a:latin typeface="Roboto" pitchFamily="34" charset="0"/>
                <a:ea typeface="Roboto" pitchFamily="34" charset="-122"/>
                <a:cs typeface="Roboto" pitchFamily="34" charset="-120"/>
              </a:rPr>
              <a:t>Los LLMs están evolucionando de herramientas de pregunta-respuesta a </a:t>
            </a:r>
            <a:pPr algn="l" indent="0" marL="0">
              <a:lnSpc>
                <a:spcPct val="113000"/>
              </a:lnSpc>
              <a:spcAft>
                <a:spcPts val="800"/>
              </a:spcAft>
              <a:buNone/>
            </a:pPr>
            <a:r>
              <a:rPr lang="en-US" sz="1300" b="1" dirty="0">
                <a:solidFill>
                  <a:srgbClr val="3B3535"/>
                </a:solidFill>
                <a:latin typeface="Roboto Bold" pitchFamily="34" charset="0"/>
                <a:ea typeface="Roboto Bold" pitchFamily="34" charset="-122"/>
                <a:cs typeface="Roboto Bold" pitchFamily="34" charset="-120"/>
              </a:rPr>
              <a:t>agentes</a:t>
            </a:r>
            <a:pPr algn="l" indent="0" marL="0">
              <a:lnSpc>
                <a:spcPct val="113000"/>
              </a:lnSpc>
              <a:spcAft>
                <a:spcPts val="800"/>
              </a:spcAft>
              <a:buNone/>
            </a:pPr>
            <a:r>
              <a:rPr lang="en-US" sz="1300" dirty="0">
                <a:solidFill>
                  <a:srgbClr val="3B3535"/>
                </a:solidFill>
                <a:latin typeface="Roboto" pitchFamily="34" charset="0"/>
                <a:ea typeface="Roboto" pitchFamily="34" charset="-122"/>
                <a:cs typeface="Roboto" pitchFamily="34" charset="-120"/>
              </a:rPr>
              <a:t> capaces de planificar, usar herramientas externas (APIs, navegadores, código) y ejecutar tareas de varios pasos de forma autónoma.</a:t>
            </a:r>
            <a:endParaRPr lang="en-US" sz="1300" dirty="0"/>
          </a:p>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Frameworks como </a:t>
            </a:r>
            <a:pPr algn="l" indent="0" marL="0">
              <a:lnSpc>
                <a:spcPct val="113000"/>
              </a:lnSpc>
              <a:buNone/>
            </a:pPr>
            <a:r>
              <a:rPr lang="en-US" sz="1300" b="1" dirty="0">
                <a:solidFill>
                  <a:srgbClr val="3B3535"/>
                </a:solidFill>
                <a:latin typeface="Roboto Bold" pitchFamily="34" charset="0"/>
                <a:ea typeface="Roboto Bold" pitchFamily="34" charset="-122"/>
                <a:cs typeface="Roboto Bold" pitchFamily="34" charset="-120"/>
              </a:rPr>
              <a:t>LangGraph, AutoGen o OpenAI Agents</a:t>
            </a:r>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 permiten orquestar múltiples agentes que colaboran para resolver problemas complejos: desde investigar un mercado hasta gestionar un flujo de trabajo empresarial completo.</a:t>
            </a:r>
            <a:endParaRPr lang="en-US" sz="1300" dirty="0"/>
          </a:p>
        </p:txBody>
      </p:sp>
      <p:sp>
        <p:nvSpPr>
          <p:cNvPr id="8" name="Shape 5"/>
          <p:cNvSpPr/>
          <p:nvPr/>
        </p:nvSpPr>
        <p:spPr>
          <a:xfrm>
            <a:off x="3898902" y="2370237"/>
            <a:ext cx="3184842" cy="3622278"/>
          </a:xfrm>
          <a:prstGeom prst="roundRect">
            <a:avLst>
              <a:gd name="adj" fmla="val 779"/>
            </a:avLst>
          </a:prstGeom>
          <a:solidFill>
            <a:srgbClr val="DA1B2E">
              <a:alpha val="95000"/>
            </a:srgbClr>
          </a:solidFill>
          <a:ln/>
        </p:spPr>
      </p:sp>
      <p:sp>
        <p:nvSpPr>
          <p:cNvPr id="9" name="Text 6"/>
          <p:cNvSpPr/>
          <p:nvPr/>
        </p:nvSpPr>
        <p:spPr>
          <a:xfrm>
            <a:off x="4064196" y="2485926"/>
            <a:ext cx="2854254" cy="258465"/>
          </a:xfrm>
          <a:prstGeom prst="rect">
            <a:avLst/>
          </a:prstGeom>
          <a:noFill/>
          <a:ln/>
        </p:spPr>
        <p:txBody>
          <a:bodyPr wrap="none" lIns="0" tIns="0" rIns="0" bIns="0" rtlCol="0" anchor="t"/>
          <a:lstStyle/>
          <a:p>
            <a:pPr algn="l" indent="0" marL="0">
              <a:lnSpc>
                <a:spcPct val="104000"/>
              </a:lnSpc>
              <a:buNone/>
            </a:pPr>
            <a:r>
              <a:rPr lang="en-US" sz="1600" dirty="0">
                <a:solidFill>
                  <a:srgbClr val="FFFFFF"/>
                </a:solidFill>
                <a:latin typeface="Roboto Mono Medium" pitchFamily="34" charset="0"/>
                <a:ea typeface="Roboto Mono Medium" pitchFamily="34" charset="-122"/>
                <a:cs typeface="Roboto Mono Medium" pitchFamily="34" charset="-120"/>
              </a:rPr>
              <a:t>IA Multimodal</a:t>
            </a:r>
            <a:endParaRPr lang="en-US" sz="1600" dirty="0"/>
          </a:p>
        </p:txBody>
      </p:sp>
      <p:sp>
        <p:nvSpPr>
          <p:cNvPr id="10" name="Text 7"/>
          <p:cNvSpPr/>
          <p:nvPr/>
        </p:nvSpPr>
        <p:spPr>
          <a:xfrm>
            <a:off x="4064196" y="2860080"/>
            <a:ext cx="2854254" cy="899716"/>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FFFFFF"/>
                </a:solidFill>
                <a:latin typeface="Roboto" pitchFamily="34" charset="0"/>
                <a:ea typeface="Roboto" pitchFamily="34" charset="-122"/>
                <a:cs typeface="Roboto" pitchFamily="34" charset="-120"/>
              </a:rPr>
              <a:t>Los modelos ya no se limitan al texto. Los sistemas multimodales procesan y generan simultáneamente </a:t>
            </a:r>
            <a:pPr algn="l" indent="0" marL="0">
              <a:lnSpc>
                <a:spcPct val="113000"/>
              </a:lnSpc>
              <a:buNone/>
            </a:pPr>
            <a:r>
              <a:rPr lang="en-US" sz="1300" b="1" dirty="0">
                <a:solidFill>
                  <a:srgbClr val="FFFFFF"/>
                </a:solidFill>
                <a:latin typeface="Roboto Bold" pitchFamily="34" charset="0"/>
                <a:ea typeface="Roboto Bold" pitchFamily="34" charset="-122"/>
                <a:cs typeface="Roboto Bold" pitchFamily="34" charset="-120"/>
              </a:rPr>
              <a:t>texto, imágenes, audio, vídeo y código</a:t>
            </a:r>
            <a:pPr algn="l" indent="0" marL="0">
              <a:lnSpc>
                <a:spcPct val="113000"/>
              </a:lnSpc>
              <a:buNone/>
            </a:pPr>
            <a:r>
              <a:rPr lang="en-US" sz="1300" dirty="0">
                <a:solidFill>
                  <a:srgbClr val="FFFFFF"/>
                </a:solidFill>
                <a:latin typeface="Roboto" pitchFamily="34" charset="0"/>
                <a:ea typeface="Roboto" pitchFamily="34" charset="-122"/>
                <a:cs typeface="Roboto" pitchFamily="34" charset="-120"/>
              </a:rPr>
              <a:t>.</a:t>
            </a:r>
            <a:endParaRPr lang="en-US" sz="1300" dirty="0"/>
          </a:p>
        </p:txBody>
      </p:sp>
      <p:sp>
        <p:nvSpPr>
          <p:cNvPr id="11" name="Text 8"/>
          <p:cNvSpPr/>
          <p:nvPr/>
        </p:nvSpPr>
        <p:spPr>
          <a:xfrm>
            <a:off x="4064196" y="3863975"/>
            <a:ext cx="2854254" cy="1655465"/>
          </a:xfrm>
          <a:prstGeom prst="rect">
            <a:avLst/>
          </a:prstGeom>
          <a:noFill/>
          <a:ln/>
        </p:spPr>
        <p:txBody>
          <a:bodyPr wrap="square" lIns="0" tIns="0" rIns="0" bIns="0" rtlCol="0" anchor="t">
            <a:normAutofit/>
          </a:bodyPr>
          <a:lstStyle/>
          <a:p>
            <a:pPr algn="l" marL="264160" indent="-264160">
              <a:lnSpc>
                <a:spcPct val="113000"/>
              </a:lnSpc>
              <a:buSzPct val="100000"/>
              <a:buChar char="•"/>
            </a:pPr>
            <a:r>
              <a:rPr lang="en-US" sz="1300" dirty="0">
                <a:solidFill>
                  <a:srgbClr val="FFFFFF"/>
                </a:solidFill>
                <a:latin typeface="Roboto" pitchFamily="34" charset="0"/>
                <a:ea typeface="Roboto" pitchFamily="34" charset="-122"/>
                <a:cs typeface="Roboto" pitchFamily="34" charset="-120"/>
              </a:rPr>
              <a:t>GPT-4o y Gemini 1.5 Pro: texto + visión + audio en tiempo real</a:t>
            </a:r>
            <a:endParaRPr lang="en-US" sz="1300" dirty="0"/>
          </a:p>
          <a:p>
            <a:pPr algn="l" marL="264160" indent="-264160">
              <a:lnSpc>
                <a:spcPct val="113000"/>
              </a:lnSpc>
              <a:buSzPct val="100000"/>
              <a:buChar char="•"/>
            </a:pPr>
            <a:r>
              <a:rPr lang="en-US" sz="1300" dirty="0">
                <a:solidFill>
                  <a:srgbClr val="FFFFFF"/>
                </a:solidFill>
                <a:latin typeface="Roboto" pitchFamily="34" charset="0"/>
                <a:ea typeface="Roboto" pitchFamily="34" charset="-122"/>
                <a:cs typeface="Roboto" pitchFamily="34" charset="-120"/>
              </a:rPr>
              <a:t>Sora (OpenAI): generación de vídeo fotorrealista</a:t>
            </a:r>
            <a:endParaRPr lang="en-US" sz="1300" dirty="0"/>
          </a:p>
          <a:p>
            <a:pPr algn="l" marL="264160" indent="-264160">
              <a:lnSpc>
                <a:spcPct val="113000"/>
              </a:lnSpc>
              <a:buSzPct val="100000"/>
              <a:buChar char="•"/>
            </a:pPr>
            <a:r>
              <a:rPr lang="en-US" sz="1300" dirty="0">
                <a:solidFill>
                  <a:srgbClr val="FFFFFF"/>
                </a:solidFill>
                <a:latin typeface="Roboto" pitchFamily="34" charset="0"/>
                <a:ea typeface="Roboto" pitchFamily="34" charset="-122"/>
                <a:cs typeface="Roboto" pitchFamily="34" charset="-120"/>
              </a:rPr>
              <a:t>Implicaciones: diagnóstico médico por imagen, accesibilidad, educación inmersiva</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661475" y="783332"/>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Tipos de Agentes en IA</a:t>
            </a:r>
            <a:endParaRPr lang="en-US" sz="3250" dirty="0"/>
          </a:p>
        </p:txBody>
      </p:sp>
      <p:sp>
        <p:nvSpPr>
          <p:cNvPr id="3" name="Text 1"/>
          <p:cNvSpPr/>
          <p:nvPr/>
        </p:nvSpPr>
        <p:spPr>
          <a:xfrm>
            <a:off x="661475" y="1346299"/>
            <a:ext cx="10868745" cy="258465"/>
          </a:xfrm>
          <a:prstGeom prst="rect">
            <a:avLst/>
          </a:prstGeom>
          <a:noFill/>
          <a:ln/>
        </p:spPr>
        <p:txBody>
          <a:bodyPr wrap="none" lIns="0" tIns="0" rIns="0" bIns="0" rtlCol="0" anchor="t"/>
          <a:lstStyle/>
          <a:p>
            <a:pPr algn="l" indent="0" marL="0">
              <a:lnSpc>
                <a:spcPct val="104000"/>
              </a:lnSpc>
              <a:buNone/>
            </a:pPr>
            <a:r>
              <a:rPr lang="en-US" sz="1600" dirty="0">
                <a:solidFill>
                  <a:srgbClr val="1F1E1E"/>
                </a:solidFill>
                <a:latin typeface="Roboto Mono Medium" pitchFamily="34" charset="0"/>
                <a:ea typeface="Roboto Mono Medium" pitchFamily="34" charset="-122"/>
                <a:cs typeface="Roboto Mono Medium" pitchFamily="34" charset="-120"/>
              </a:rPr>
              <a:t>De la reacción simple al aprendizaje autónomo</a:t>
            </a:r>
            <a:endParaRPr lang="en-US" sz="1600" dirty="0"/>
          </a:p>
        </p:txBody>
      </p:sp>
      <p:sp>
        <p:nvSpPr>
          <p:cNvPr id="4" name="Shape 2"/>
          <p:cNvSpPr/>
          <p:nvPr/>
        </p:nvSpPr>
        <p:spPr>
          <a:xfrm>
            <a:off x="661475" y="1778397"/>
            <a:ext cx="10868745" cy="4296271"/>
          </a:xfrm>
          <a:prstGeom prst="roundRect">
            <a:avLst>
              <a:gd name="adj" fmla="val 177"/>
            </a:avLst>
          </a:prstGeom>
          <a:noFill/>
          <a:ln w="6350">
            <a:solidFill>
              <a:srgbClr val="000000">
                <a:alpha val="8000"/>
              </a:srgbClr>
            </a:solidFill>
            <a:prstDash val="solid"/>
          </a:ln>
        </p:spPr>
      </p:sp>
      <p:sp>
        <p:nvSpPr>
          <p:cNvPr id="5" name="Shape 3"/>
          <p:cNvSpPr/>
          <p:nvPr/>
        </p:nvSpPr>
        <p:spPr>
          <a:xfrm>
            <a:off x="667825" y="1784747"/>
            <a:ext cx="10856046" cy="376535"/>
          </a:xfrm>
          <a:prstGeom prst="rect">
            <a:avLst/>
          </a:prstGeom>
          <a:solidFill>
            <a:srgbClr val="FFFFFF">
              <a:alpha val="4000"/>
            </a:srgbClr>
          </a:solidFill>
          <a:ln/>
        </p:spPr>
      </p:sp>
      <p:sp>
        <p:nvSpPr>
          <p:cNvPr id="6" name="Text 4"/>
          <p:cNvSpPr/>
          <p:nvPr/>
        </p:nvSpPr>
        <p:spPr>
          <a:xfrm>
            <a:off x="833317" y="1860550"/>
            <a:ext cx="2989783" cy="224929"/>
          </a:xfrm>
          <a:prstGeom prst="rect">
            <a:avLst/>
          </a:prstGeom>
          <a:noFill/>
          <a:ln/>
        </p:spPr>
        <p:txBody>
          <a:bodyPr wrap="none" lIns="0" tIns="0" rIns="0" bIns="0" rtlCol="0" anchor="t"/>
          <a:lstStyle/>
          <a:p>
            <a:pPr algn="l" indent="0" marL="0">
              <a:lnSpc>
                <a:spcPct val="113000"/>
              </a:lnSpc>
              <a:buNone/>
            </a:pPr>
            <a:r>
              <a:rPr lang="en-US" sz="1300" b="1" dirty="0">
                <a:solidFill>
                  <a:srgbClr val="3B3535"/>
                </a:solidFill>
                <a:latin typeface="Roboto Bold" pitchFamily="34" charset="0"/>
                <a:ea typeface="Roboto Bold" pitchFamily="34" charset="-122"/>
                <a:cs typeface="Roboto Bold" pitchFamily="34" charset="-120"/>
              </a:rPr>
              <a:t>Tipo de Agente</a:t>
            </a:r>
            <a:endParaRPr lang="en-US" sz="1300" dirty="0"/>
          </a:p>
        </p:txBody>
      </p:sp>
      <p:sp>
        <p:nvSpPr>
          <p:cNvPr id="7" name="Text 5"/>
          <p:cNvSpPr/>
          <p:nvPr/>
        </p:nvSpPr>
        <p:spPr>
          <a:xfrm>
            <a:off x="3550454" y="1860550"/>
            <a:ext cx="2986608" cy="224929"/>
          </a:xfrm>
          <a:prstGeom prst="rect">
            <a:avLst/>
          </a:prstGeom>
          <a:noFill/>
          <a:ln/>
        </p:spPr>
        <p:txBody>
          <a:bodyPr wrap="none" lIns="0" tIns="0" rIns="0" bIns="0" rtlCol="0" anchor="t"/>
          <a:lstStyle/>
          <a:p>
            <a:pPr algn="l" indent="0" marL="0">
              <a:lnSpc>
                <a:spcPct val="113000"/>
              </a:lnSpc>
              <a:buNone/>
            </a:pPr>
            <a:r>
              <a:rPr lang="en-US" sz="1300" b="1" dirty="0">
                <a:solidFill>
                  <a:srgbClr val="3B3535"/>
                </a:solidFill>
                <a:latin typeface="Roboto Bold" pitchFamily="34" charset="0"/>
                <a:ea typeface="Roboto Bold" pitchFamily="34" charset="-122"/>
                <a:cs typeface="Roboto Bold" pitchFamily="34" charset="-120"/>
              </a:rPr>
              <a:t>Base de Decisión</a:t>
            </a:r>
            <a:endParaRPr lang="en-US" sz="1300" dirty="0"/>
          </a:p>
        </p:txBody>
      </p:sp>
      <p:sp>
        <p:nvSpPr>
          <p:cNvPr id="8" name="Text 6"/>
          <p:cNvSpPr/>
          <p:nvPr/>
        </p:nvSpPr>
        <p:spPr>
          <a:xfrm>
            <a:off x="6264416" y="1860550"/>
            <a:ext cx="2986608" cy="224929"/>
          </a:xfrm>
          <a:prstGeom prst="rect">
            <a:avLst/>
          </a:prstGeom>
          <a:noFill/>
          <a:ln/>
        </p:spPr>
        <p:txBody>
          <a:bodyPr wrap="none" lIns="0" tIns="0" rIns="0" bIns="0" rtlCol="0" anchor="t"/>
          <a:lstStyle/>
          <a:p>
            <a:pPr algn="l" indent="0" marL="0">
              <a:lnSpc>
                <a:spcPct val="113000"/>
              </a:lnSpc>
              <a:buNone/>
            </a:pPr>
            <a:r>
              <a:rPr lang="en-US" sz="1300" b="1" dirty="0">
                <a:solidFill>
                  <a:srgbClr val="3B3535"/>
                </a:solidFill>
                <a:latin typeface="Roboto Bold" pitchFamily="34" charset="0"/>
                <a:ea typeface="Roboto Bold" pitchFamily="34" charset="-122"/>
                <a:cs typeface="Roboto Bold" pitchFamily="34" charset="-120"/>
              </a:rPr>
              <a:t>Capacidad Clave</a:t>
            </a:r>
            <a:endParaRPr lang="en-US" sz="1300" dirty="0"/>
          </a:p>
        </p:txBody>
      </p:sp>
      <p:sp>
        <p:nvSpPr>
          <p:cNvPr id="9" name="Text 7"/>
          <p:cNvSpPr/>
          <p:nvPr/>
        </p:nvSpPr>
        <p:spPr>
          <a:xfrm>
            <a:off x="8978378" y="1860550"/>
            <a:ext cx="2989783" cy="224929"/>
          </a:xfrm>
          <a:prstGeom prst="rect">
            <a:avLst/>
          </a:prstGeom>
          <a:noFill/>
          <a:ln/>
        </p:spPr>
        <p:txBody>
          <a:bodyPr wrap="none" lIns="0" tIns="0" rIns="0" bIns="0" rtlCol="0" anchor="t"/>
          <a:lstStyle/>
          <a:p>
            <a:pPr algn="l" indent="0" marL="0">
              <a:lnSpc>
                <a:spcPct val="113000"/>
              </a:lnSpc>
              <a:buNone/>
            </a:pPr>
            <a:r>
              <a:rPr lang="en-US" sz="1300" b="1" dirty="0">
                <a:solidFill>
                  <a:srgbClr val="3B3535"/>
                </a:solidFill>
                <a:latin typeface="Roboto Bold" pitchFamily="34" charset="0"/>
                <a:ea typeface="Roboto Bold" pitchFamily="34" charset="-122"/>
                <a:cs typeface="Roboto Bold" pitchFamily="34" charset="-120"/>
              </a:rPr>
              <a:t>Limitación Principal</a:t>
            </a:r>
            <a:endParaRPr lang="en-US" sz="1300" dirty="0"/>
          </a:p>
        </p:txBody>
      </p:sp>
      <p:sp>
        <p:nvSpPr>
          <p:cNvPr id="10" name="Shape 8"/>
          <p:cNvSpPr/>
          <p:nvPr/>
        </p:nvSpPr>
        <p:spPr>
          <a:xfrm>
            <a:off x="667825" y="2161282"/>
            <a:ext cx="10856046" cy="826393"/>
          </a:xfrm>
          <a:prstGeom prst="rect">
            <a:avLst/>
          </a:prstGeom>
          <a:solidFill>
            <a:srgbClr val="000000">
              <a:alpha val="4000"/>
            </a:srgbClr>
          </a:solidFill>
          <a:ln/>
        </p:spPr>
      </p:sp>
      <p:sp>
        <p:nvSpPr>
          <p:cNvPr id="11" name="Text 9"/>
          <p:cNvSpPr/>
          <p:nvPr/>
        </p:nvSpPr>
        <p:spPr>
          <a:xfrm>
            <a:off x="833317" y="2237085"/>
            <a:ext cx="2989783"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Reactivo Simple</a:t>
            </a:r>
            <a:endParaRPr lang="en-US" sz="1300" dirty="0"/>
          </a:p>
        </p:txBody>
      </p:sp>
      <p:sp>
        <p:nvSpPr>
          <p:cNvPr id="12" name="Text 10"/>
          <p:cNvSpPr/>
          <p:nvPr/>
        </p:nvSpPr>
        <p:spPr>
          <a:xfrm>
            <a:off x="3550454" y="2237085"/>
            <a:ext cx="2377023" cy="449858"/>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Percepción actual (Condición ➔ Acción)</a:t>
            </a:r>
            <a:endParaRPr lang="en-US" sz="1300" dirty="0"/>
          </a:p>
        </p:txBody>
      </p:sp>
      <p:sp>
        <p:nvSpPr>
          <p:cNvPr id="13" name="Text 11"/>
          <p:cNvSpPr/>
          <p:nvPr/>
        </p:nvSpPr>
        <p:spPr>
          <a:xfrm>
            <a:off x="6264416" y="2237085"/>
            <a:ext cx="2986608"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Rápido y directo</a:t>
            </a:r>
            <a:endParaRPr lang="en-US" sz="1300" dirty="0"/>
          </a:p>
        </p:txBody>
      </p:sp>
      <p:sp>
        <p:nvSpPr>
          <p:cNvPr id="14" name="Text 12"/>
          <p:cNvSpPr/>
          <p:nvPr/>
        </p:nvSpPr>
        <p:spPr>
          <a:xfrm>
            <a:off x="8978378" y="2237085"/>
            <a:ext cx="2380198" cy="674787"/>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Sin memoria; falla si no puede ver todo el entorno en el momento.</a:t>
            </a:r>
            <a:endParaRPr lang="en-US" sz="1300" dirty="0"/>
          </a:p>
        </p:txBody>
      </p:sp>
      <p:sp>
        <p:nvSpPr>
          <p:cNvPr id="15" name="Shape 13"/>
          <p:cNvSpPr/>
          <p:nvPr/>
        </p:nvSpPr>
        <p:spPr>
          <a:xfrm>
            <a:off x="667825" y="2987675"/>
            <a:ext cx="10856046" cy="601464"/>
          </a:xfrm>
          <a:prstGeom prst="rect">
            <a:avLst/>
          </a:prstGeom>
          <a:solidFill>
            <a:srgbClr val="FFFFFF">
              <a:alpha val="4000"/>
            </a:srgbClr>
          </a:solidFill>
          <a:ln/>
        </p:spPr>
      </p:sp>
      <p:sp>
        <p:nvSpPr>
          <p:cNvPr id="16" name="Text 14"/>
          <p:cNvSpPr/>
          <p:nvPr/>
        </p:nvSpPr>
        <p:spPr>
          <a:xfrm>
            <a:off x="833317" y="3063478"/>
            <a:ext cx="2989783"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Basado en Modelos</a:t>
            </a:r>
            <a:endParaRPr lang="en-US" sz="1300" dirty="0"/>
          </a:p>
        </p:txBody>
      </p:sp>
      <p:sp>
        <p:nvSpPr>
          <p:cNvPr id="17" name="Text 15"/>
          <p:cNvSpPr/>
          <p:nvPr/>
        </p:nvSpPr>
        <p:spPr>
          <a:xfrm>
            <a:off x="3550454" y="3063478"/>
            <a:ext cx="2377023" cy="449858"/>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Percepción + Estado Interno (Memoria)</a:t>
            </a:r>
            <a:endParaRPr lang="en-US" sz="1300" dirty="0"/>
          </a:p>
        </p:txBody>
      </p:sp>
      <p:sp>
        <p:nvSpPr>
          <p:cNvPr id="18" name="Text 16"/>
          <p:cNvSpPr/>
          <p:nvPr/>
        </p:nvSpPr>
        <p:spPr>
          <a:xfrm>
            <a:off x="6264416" y="3063478"/>
            <a:ext cx="2377023" cy="449858"/>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Entiende el contexto continuo y recuerda lo que ya no ve</a:t>
            </a:r>
            <a:endParaRPr lang="en-US" sz="1300" dirty="0"/>
          </a:p>
        </p:txBody>
      </p:sp>
      <p:sp>
        <p:nvSpPr>
          <p:cNvPr id="19" name="Text 17"/>
          <p:cNvSpPr/>
          <p:nvPr/>
        </p:nvSpPr>
        <p:spPr>
          <a:xfrm>
            <a:off x="8978378" y="3063478"/>
            <a:ext cx="2380198" cy="449858"/>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No planifica hacia el futuro; solo reacciona a la situación actual.</a:t>
            </a:r>
            <a:endParaRPr lang="en-US" sz="1300" dirty="0"/>
          </a:p>
        </p:txBody>
      </p:sp>
      <p:sp>
        <p:nvSpPr>
          <p:cNvPr id="20" name="Shape 18"/>
          <p:cNvSpPr/>
          <p:nvPr/>
        </p:nvSpPr>
        <p:spPr>
          <a:xfrm>
            <a:off x="667825" y="3589139"/>
            <a:ext cx="10856046" cy="826393"/>
          </a:xfrm>
          <a:prstGeom prst="rect">
            <a:avLst/>
          </a:prstGeom>
          <a:solidFill>
            <a:srgbClr val="000000">
              <a:alpha val="4000"/>
            </a:srgbClr>
          </a:solidFill>
          <a:ln/>
        </p:spPr>
      </p:sp>
      <p:sp>
        <p:nvSpPr>
          <p:cNvPr id="21" name="Text 19"/>
          <p:cNvSpPr/>
          <p:nvPr/>
        </p:nvSpPr>
        <p:spPr>
          <a:xfrm>
            <a:off x="833317" y="3664942"/>
            <a:ext cx="2989783"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Basado en Objetivos</a:t>
            </a:r>
            <a:endParaRPr lang="en-US" sz="1300" dirty="0"/>
          </a:p>
        </p:txBody>
      </p:sp>
      <p:sp>
        <p:nvSpPr>
          <p:cNvPr id="22" name="Text 20"/>
          <p:cNvSpPr/>
          <p:nvPr/>
        </p:nvSpPr>
        <p:spPr>
          <a:xfrm>
            <a:off x="3550454" y="3664942"/>
            <a:ext cx="2986608"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Estado Interno + Metas a futuro</a:t>
            </a:r>
            <a:endParaRPr lang="en-US" sz="1300" dirty="0"/>
          </a:p>
        </p:txBody>
      </p:sp>
      <p:sp>
        <p:nvSpPr>
          <p:cNvPr id="23" name="Text 21"/>
          <p:cNvSpPr/>
          <p:nvPr/>
        </p:nvSpPr>
        <p:spPr>
          <a:xfrm>
            <a:off x="6264416" y="3664942"/>
            <a:ext cx="2377023" cy="674787"/>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Planifica secuencias de acciones para lograr un resultado</a:t>
            </a:r>
            <a:endParaRPr lang="en-US" sz="1300" dirty="0"/>
          </a:p>
        </p:txBody>
      </p:sp>
      <p:sp>
        <p:nvSpPr>
          <p:cNvPr id="24" name="Text 22"/>
          <p:cNvSpPr/>
          <p:nvPr/>
        </p:nvSpPr>
        <p:spPr>
          <a:xfrm>
            <a:off x="8978378" y="3664942"/>
            <a:ext cx="2380198" cy="674787"/>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No distingue si un camino es eficiente o costoso, solo si llega a la meta.</a:t>
            </a:r>
            <a:endParaRPr lang="en-US" sz="1300" dirty="0"/>
          </a:p>
        </p:txBody>
      </p:sp>
      <p:sp>
        <p:nvSpPr>
          <p:cNvPr id="25" name="Shape 23"/>
          <p:cNvSpPr/>
          <p:nvPr/>
        </p:nvSpPr>
        <p:spPr>
          <a:xfrm>
            <a:off x="667825" y="4415532"/>
            <a:ext cx="10856046" cy="826393"/>
          </a:xfrm>
          <a:prstGeom prst="rect">
            <a:avLst/>
          </a:prstGeom>
          <a:solidFill>
            <a:srgbClr val="FFFFFF">
              <a:alpha val="4000"/>
            </a:srgbClr>
          </a:solidFill>
          <a:ln/>
        </p:spPr>
      </p:sp>
      <p:sp>
        <p:nvSpPr>
          <p:cNvPr id="26" name="Text 24"/>
          <p:cNvSpPr/>
          <p:nvPr/>
        </p:nvSpPr>
        <p:spPr>
          <a:xfrm>
            <a:off x="833317" y="4491335"/>
            <a:ext cx="2989783"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Basado en Utilidad</a:t>
            </a:r>
            <a:endParaRPr lang="en-US" sz="1300" dirty="0"/>
          </a:p>
        </p:txBody>
      </p:sp>
      <p:sp>
        <p:nvSpPr>
          <p:cNvPr id="27" name="Text 25"/>
          <p:cNvSpPr/>
          <p:nvPr/>
        </p:nvSpPr>
        <p:spPr>
          <a:xfrm>
            <a:off x="3550454" y="4491335"/>
            <a:ext cx="2377023" cy="449858"/>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Metas + Función de "Felicidad/Eficiencia"</a:t>
            </a:r>
            <a:endParaRPr lang="en-US" sz="1300" dirty="0"/>
          </a:p>
        </p:txBody>
      </p:sp>
      <p:sp>
        <p:nvSpPr>
          <p:cNvPr id="28" name="Text 26"/>
          <p:cNvSpPr/>
          <p:nvPr/>
        </p:nvSpPr>
        <p:spPr>
          <a:xfrm>
            <a:off x="6264416" y="4491335"/>
            <a:ext cx="2377023" cy="449858"/>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Optimiza; evalúa y elige la mejor opción posible</a:t>
            </a:r>
            <a:endParaRPr lang="en-US" sz="1300" dirty="0"/>
          </a:p>
        </p:txBody>
      </p:sp>
      <p:sp>
        <p:nvSpPr>
          <p:cNvPr id="29" name="Text 27"/>
          <p:cNvSpPr/>
          <p:nvPr/>
        </p:nvSpPr>
        <p:spPr>
          <a:xfrm>
            <a:off x="8978378" y="4491335"/>
            <a:ext cx="2380198" cy="674787"/>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No sabe adaptarse de forma autónoma a entornos o reglas totalmente nuevas.</a:t>
            </a:r>
            <a:endParaRPr lang="en-US" sz="1300" dirty="0"/>
          </a:p>
        </p:txBody>
      </p:sp>
      <p:sp>
        <p:nvSpPr>
          <p:cNvPr id="30" name="Shape 28"/>
          <p:cNvSpPr/>
          <p:nvPr/>
        </p:nvSpPr>
        <p:spPr>
          <a:xfrm>
            <a:off x="667825" y="5241925"/>
            <a:ext cx="10856046" cy="826393"/>
          </a:xfrm>
          <a:prstGeom prst="rect">
            <a:avLst/>
          </a:prstGeom>
          <a:solidFill>
            <a:srgbClr val="000000">
              <a:alpha val="4000"/>
            </a:srgbClr>
          </a:solidFill>
          <a:ln/>
        </p:spPr>
      </p:sp>
      <p:sp>
        <p:nvSpPr>
          <p:cNvPr id="31" name="Text 29"/>
          <p:cNvSpPr/>
          <p:nvPr/>
        </p:nvSpPr>
        <p:spPr>
          <a:xfrm>
            <a:off x="833317" y="5317728"/>
            <a:ext cx="2989783" cy="224929"/>
          </a:xfrm>
          <a:prstGeom prst="rect">
            <a:avLst/>
          </a:prstGeom>
          <a:noFill/>
          <a:ln/>
        </p:spPr>
        <p:txBody>
          <a:bodyPr wrap="none" lIns="0" tIns="0" rIns="0" bIns="0" rtlCol="0" anchor="t"/>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Que Aprende</a:t>
            </a:r>
            <a:endParaRPr lang="en-US" sz="1300" dirty="0"/>
          </a:p>
        </p:txBody>
      </p:sp>
      <p:sp>
        <p:nvSpPr>
          <p:cNvPr id="32" name="Text 30"/>
          <p:cNvSpPr/>
          <p:nvPr/>
        </p:nvSpPr>
        <p:spPr>
          <a:xfrm>
            <a:off x="3550454" y="5317728"/>
            <a:ext cx="2377023" cy="449858"/>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Utilidad + Evaluación (Crítico) y Exploración</a:t>
            </a:r>
            <a:endParaRPr lang="en-US" sz="1300" dirty="0"/>
          </a:p>
        </p:txBody>
      </p:sp>
      <p:sp>
        <p:nvSpPr>
          <p:cNvPr id="33" name="Text 31"/>
          <p:cNvSpPr/>
          <p:nvPr/>
        </p:nvSpPr>
        <p:spPr>
          <a:xfrm>
            <a:off x="6264416" y="5317728"/>
            <a:ext cx="2377023" cy="674787"/>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Evoluciona, corrige errores pasados y se adapta a lo desconocido</a:t>
            </a:r>
            <a:endParaRPr lang="en-US" sz="1300" dirty="0"/>
          </a:p>
        </p:txBody>
      </p:sp>
      <p:sp>
        <p:nvSpPr>
          <p:cNvPr id="34" name="Text 32"/>
          <p:cNvSpPr/>
          <p:nvPr/>
        </p:nvSpPr>
        <p:spPr>
          <a:xfrm>
            <a:off x="8978378" y="5317728"/>
            <a:ext cx="2380198" cy="674787"/>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3B3535"/>
                </a:solidFill>
                <a:latin typeface="Roboto" pitchFamily="34" charset="0"/>
                <a:ea typeface="Roboto" pitchFamily="34" charset="-122"/>
                <a:cs typeface="Roboto" pitchFamily="34" charset="-120"/>
              </a:rPr>
              <a:t>Mayor complejidad de diseño y requiere procesamiento de entrenamiento.</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661475" y="679053"/>
            <a:ext cx="10868745" cy="419894"/>
          </a:xfrm>
          <a:prstGeom prst="rect">
            <a:avLst/>
          </a:prstGeom>
          <a:noFill/>
          <a:ln/>
        </p:spPr>
        <p:txBody>
          <a:bodyPr wrap="none" lIns="0" tIns="0" rIns="0" bIns="0" rtlCol="0" anchor="t"/>
          <a:lstStyle/>
          <a:p>
            <a:pPr algn="l" indent="0" marL="0">
              <a:lnSpc>
                <a:spcPct val="104000"/>
              </a:lnSpc>
              <a:buNone/>
            </a:pPr>
            <a:r>
              <a:rPr lang="en-US" sz="2600" dirty="0">
                <a:solidFill>
                  <a:srgbClr val="1F1E1E"/>
                </a:solidFill>
                <a:latin typeface="Roboto Mono Medium" pitchFamily="34" charset="0"/>
                <a:ea typeface="Roboto Mono Medium" pitchFamily="34" charset="-122"/>
                <a:cs typeface="Roboto Mono Medium" pitchFamily="34" charset="-120"/>
              </a:rPr>
              <a:t>Dimensiones del Entorno</a:t>
            </a:r>
            <a:endParaRPr lang="en-US" sz="2600" dirty="0"/>
          </a:p>
        </p:txBody>
      </p:sp>
      <p:sp>
        <p:nvSpPr>
          <p:cNvPr id="3" name="Text 1"/>
          <p:cNvSpPr/>
          <p:nvPr/>
        </p:nvSpPr>
        <p:spPr>
          <a:xfrm>
            <a:off x="661475" y="1129506"/>
            <a:ext cx="10868745" cy="209947"/>
          </a:xfrm>
          <a:prstGeom prst="rect">
            <a:avLst/>
          </a:prstGeom>
          <a:noFill/>
          <a:ln/>
        </p:spPr>
        <p:txBody>
          <a:bodyPr wrap="none" lIns="0" tIns="0" rIns="0" bIns="0" rtlCol="0" anchor="t"/>
          <a:lstStyle/>
          <a:p>
            <a:pPr algn="l" indent="0" marL="0">
              <a:lnSpc>
                <a:spcPct val="104000"/>
              </a:lnSpc>
              <a:buNone/>
            </a:pPr>
            <a:r>
              <a:rPr lang="en-US" sz="1300" dirty="0">
                <a:solidFill>
                  <a:srgbClr val="1F1E1E"/>
                </a:solidFill>
                <a:latin typeface="Roboto Mono Medium" pitchFamily="34" charset="0"/>
                <a:ea typeface="Roboto Mono Medium" pitchFamily="34" charset="-122"/>
                <a:cs typeface="Roboto Mono Medium" pitchFamily="34" charset="-120"/>
              </a:rPr>
              <a:t>Simple (Laboratorio) vs. Complejo (Mundo Real)</a:t>
            </a:r>
            <a:endParaRPr lang="en-US" sz="1300" dirty="0"/>
          </a:p>
        </p:txBody>
      </p:sp>
      <p:sp>
        <p:nvSpPr>
          <p:cNvPr id="4" name="Shape 2"/>
          <p:cNvSpPr/>
          <p:nvPr/>
        </p:nvSpPr>
        <p:spPr>
          <a:xfrm>
            <a:off x="661475" y="1454051"/>
            <a:ext cx="10868745" cy="4724896"/>
          </a:xfrm>
          <a:prstGeom prst="roundRect">
            <a:avLst>
              <a:gd name="adj" fmla="val 161"/>
            </a:avLst>
          </a:prstGeom>
          <a:noFill/>
          <a:ln w="6350">
            <a:solidFill>
              <a:srgbClr val="000000">
                <a:alpha val="8000"/>
              </a:srgbClr>
            </a:solidFill>
            <a:prstDash val="solid"/>
          </a:ln>
        </p:spPr>
      </p:sp>
      <p:sp>
        <p:nvSpPr>
          <p:cNvPr id="5" name="Shape 3"/>
          <p:cNvSpPr/>
          <p:nvPr/>
        </p:nvSpPr>
        <p:spPr>
          <a:xfrm>
            <a:off x="667825" y="1460401"/>
            <a:ext cx="10856046" cy="272951"/>
          </a:xfrm>
          <a:prstGeom prst="rect">
            <a:avLst/>
          </a:prstGeom>
          <a:solidFill>
            <a:srgbClr val="FFFFFF">
              <a:alpha val="4000"/>
            </a:srgbClr>
          </a:solidFill>
          <a:ln/>
        </p:spPr>
      </p:sp>
      <p:sp>
        <p:nvSpPr>
          <p:cNvPr id="6" name="Text 4"/>
          <p:cNvSpPr/>
          <p:nvPr/>
        </p:nvSpPr>
        <p:spPr>
          <a:xfrm>
            <a:off x="802362" y="1512590"/>
            <a:ext cx="3051694" cy="168573"/>
          </a:xfrm>
          <a:prstGeom prst="rect">
            <a:avLst/>
          </a:prstGeom>
          <a:noFill/>
          <a:ln/>
        </p:spPr>
        <p:txBody>
          <a:bodyPr wrap="none" lIns="0" tIns="0" rIns="0" bIns="0" rtlCol="0" anchor="t"/>
          <a:lstStyle/>
          <a:p>
            <a:pPr algn="l" indent="0" marL="0">
              <a:lnSpc>
                <a:spcPct val="105000"/>
              </a:lnSpc>
              <a:buNone/>
            </a:pPr>
            <a:r>
              <a:rPr lang="en-US" sz="1050" b="1" dirty="0">
                <a:solidFill>
                  <a:srgbClr val="3B3535"/>
                </a:solidFill>
                <a:latin typeface="Roboto Bold" pitchFamily="34" charset="0"/>
                <a:ea typeface="Roboto Bold" pitchFamily="34" charset="-122"/>
                <a:cs typeface="Roboto Bold" pitchFamily="34" charset="-120"/>
              </a:rPr>
              <a:t>Dimensión</a:t>
            </a:r>
            <a:endParaRPr lang="en-US" sz="1050" dirty="0"/>
          </a:p>
        </p:txBody>
      </p:sp>
      <p:sp>
        <p:nvSpPr>
          <p:cNvPr id="7" name="Text 5"/>
          <p:cNvSpPr/>
          <p:nvPr/>
        </p:nvSpPr>
        <p:spPr>
          <a:xfrm>
            <a:off x="3519499" y="1512590"/>
            <a:ext cx="3048519" cy="168573"/>
          </a:xfrm>
          <a:prstGeom prst="rect">
            <a:avLst/>
          </a:prstGeom>
          <a:noFill/>
          <a:ln/>
        </p:spPr>
        <p:txBody>
          <a:bodyPr wrap="none" lIns="0" tIns="0" rIns="0" bIns="0" rtlCol="0" anchor="t"/>
          <a:lstStyle/>
          <a:p>
            <a:pPr algn="l" indent="0" marL="0">
              <a:lnSpc>
                <a:spcPct val="105000"/>
              </a:lnSpc>
              <a:buNone/>
            </a:pPr>
            <a:r>
              <a:rPr lang="en-US" sz="1050" b="1" dirty="0">
                <a:solidFill>
                  <a:srgbClr val="3B3535"/>
                </a:solidFill>
                <a:latin typeface="Roboto Bold" pitchFamily="34" charset="0"/>
                <a:ea typeface="Roboto Bold" pitchFamily="34" charset="-122"/>
                <a:cs typeface="Roboto Bold" pitchFamily="34" charset="-120"/>
              </a:rPr>
              <a:t>Entorno Simple (Laboratorio)</a:t>
            </a:r>
            <a:endParaRPr lang="en-US" sz="1050" dirty="0"/>
          </a:p>
        </p:txBody>
      </p:sp>
      <p:sp>
        <p:nvSpPr>
          <p:cNvPr id="8" name="Text 6"/>
          <p:cNvSpPr/>
          <p:nvPr/>
        </p:nvSpPr>
        <p:spPr>
          <a:xfrm>
            <a:off x="6233460" y="1512590"/>
            <a:ext cx="3048519" cy="168573"/>
          </a:xfrm>
          <a:prstGeom prst="rect">
            <a:avLst/>
          </a:prstGeom>
          <a:noFill/>
          <a:ln/>
        </p:spPr>
        <p:txBody>
          <a:bodyPr wrap="none" lIns="0" tIns="0" rIns="0" bIns="0" rtlCol="0" anchor="t"/>
          <a:lstStyle/>
          <a:p>
            <a:pPr algn="l" indent="0" marL="0">
              <a:lnSpc>
                <a:spcPct val="105000"/>
              </a:lnSpc>
              <a:buNone/>
            </a:pPr>
            <a:r>
              <a:rPr lang="en-US" sz="1050" b="1" dirty="0">
                <a:solidFill>
                  <a:srgbClr val="3B3535"/>
                </a:solidFill>
                <a:latin typeface="Roboto Bold" pitchFamily="34" charset="0"/>
                <a:ea typeface="Roboto Bold" pitchFamily="34" charset="-122"/>
                <a:cs typeface="Roboto Bold" pitchFamily="34" charset="-120"/>
              </a:rPr>
              <a:t>Entorno Complejo (Mundo Real)</a:t>
            </a:r>
            <a:endParaRPr lang="en-US" sz="1050" dirty="0"/>
          </a:p>
        </p:txBody>
      </p:sp>
      <p:sp>
        <p:nvSpPr>
          <p:cNvPr id="9" name="Text 7"/>
          <p:cNvSpPr/>
          <p:nvPr/>
        </p:nvSpPr>
        <p:spPr>
          <a:xfrm>
            <a:off x="8947422" y="1512590"/>
            <a:ext cx="3051694" cy="168573"/>
          </a:xfrm>
          <a:prstGeom prst="rect">
            <a:avLst/>
          </a:prstGeom>
          <a:noFill/>
          <a:ln/>
        </p:spPr>
        <p:txBody>
          <a:bodyPr wrap="none" lIns="0" tIns="0" rIns="0" bIns="0" rtlCol="0" anchor="t"/>
          <a:lstStyle/>
          <a:p>
            <a:pPr algn="l" indent="0" marL="0">
              <a:lnSpc>
                <a:spcPct val="105000"/>
              </a:lnSpc>
              <a:buNone/>
            </a:pPr>
            <a:r>
              <a:rPr lang="en-US" sz="1050" b="1" dirty="0">
                <a:solidFill>
                  <a:srgbClr val="3B3535"/>
                </a:solidFill>
                <a:latin typeface="Roboto Bold" pitchFamily="34" charset="0"/>
                <a:ea typeface="Roboto Bold" pitchFamily="34" charset="-122"/>
                <a:cs typeface="Roboto Bold" pitchFamily="34" charset="-120"/>
              </a:rPr>
              <a:t>Implicancia para la IA</a:t>
            </a:r>
            <a:endParaRPr lang="en-US" sz="1050" dirty="0"/>
          </a:p>
        </p:txBody>
      </p:sp>
      <p:sp>
        <p:nvSpPr>
          <p:cNvPr id="10" name="Shape 8"/>
          <p:cNvSpPr/>
          <p:nvPr/>
        </p:nvSpPr>
        <p:spPr>
          <a:xfrm>
            <a:off x="667825" y="1733352"/>
            <a:ext cx="10856046" cy="778669"/>
          </a:xfrm>
          <a:prstGeom prst="rect">
            <a:avLst/>
          </a:prstGeom>
          <a:solidFill>
            <a:srgbClr val="000000">
              <a:alpha val="4000"/>
            </a:srgbClr>
          </a:solidFill>
          <a:ln/>
        </p:spPr>
      </p:sp>
      <p:sp>
        <p:nvSpPr>
          <p:cNvPr id="11" name="Text 9"/>
          <p:cNvSpPr/>
          <p:nvPr/>
        </p:nvSpPr>
        <p:spPr>
          <a:xfrm>
            <a:off x="802362" y="1785541"/>
            <a:ext cx="3051694" cy="168573"/>
          </a:xfrm>
          <a:prstGeom prst="rect">
            <a:avLst/>
          </a:prstGeom>
          <a:noFill/>
          <a:ln/>
        </p:spPr>
        <p:txBody>
          <a:bodyPr wrap="none" lIns="0" tIns="0" rIns="0" bIns="0" rtlCol="0" anchor="t"/>
          <a:lstStyle/>
          <a:p>
            <a:pPr algn="l" indent="0" marL="0">
              <a:lnSpc>
                <a:spcPct val="105000"/>
              </a:lnSpc>
              <a:buNone/>
            </a:pPr>
            <a:r>
              <a:rPr lang="en-US" sz="1050" b="1" dirty="0">
                <a:solidFill>
                  <a:srgbClr val="3B3535"/>
                </a:solidFill>
                <a:latin typeface="Roboto Bold" pitchFamily="34" charset="0"/>
                <a:ea typeface="Roboto Bold" pitchFamily="34" charset="-122"/>
                <a:cs typeface="Roboto Bold" pitchFamily="34" charset="-120"/>
              </a:rPr>
              <a:t>Observabilidad</a:t>
            </a:r>
            <a:endParaRPr lang="en-US" sz="1050" dirty="0"/>
          </a:p>
        </p:txBody>
      </p:sp>
      <p:sp>
        <p:nvSpPr>
          <p:cNvPr id="12" name="Text 10"/>
          <p:cNvSpPr/>
          <p:nvPr/>
        </p:nvSpPr>
        <p:spPr>
          <a:xfrm>
            <a:off x="3519499" y="1785541"/>
            <a:ext cx="2438934" cy="505718"/>
          </a:xfrm>
          <a:prstGeom prst="rect">
            <a:avLst/>
          </a:prstGeom>
          <a:noFill/>
          <a:ln/>
        </p:spPr>
        <p:txBody>
          <a:bodyPr wrap="square" lIns="0" tIns="0" rIns="0" bIns="0" rtlCol="0" anchor="t">
            <a:normAutofit/>
          </a:bodyPr>
          <a:lstStyle/>
          <a:p>
            <a:pPr algn="l" indent="0" marL="0">
              <a:lnSpc>
                <a:spcPct val="105000"/>
              </a:lnSpc>
              <a:buNone/>
            </a:pPr>
            <a:r>
              <a:rPr lang="en-US" sz="1050" dirty="0">
                <a:solidFill>
                  <a:srgbClr val="3B3535"/>
                </a:solidFill>
                <a:latin typeface="Roboto" pitchFamily="34" charset="0"/>
                <a:ea typeface="Roboto" pitchFamily="34" charset="-122"/>
                <a:cs typeface="Roboto" pitchFamily="34" charset="-120"/>
              </a:rPr>
              <a:t>Totalmente Observable: Sensores captan todo.</a:t>
            </a:r>
            <a:endParaRPr lang="en-US" sz="1050" dirty="0"/>
          </a:p>
          <a:p>
            <a:pPr algn="l" indent="0" marL="0">
              <a:lnSpc>
                <a:spcPct val="105000"/>
              </a:lnSpc>
              <a:buNone/>
            </a:pPr>
            <a:r>
              <a:rPr lang="en-US" sz="1050" i="1" dirty="0">
                <a:solidFill>
                  <a:srgbClr val="3B3535"/>
                </a:solidFill>
                <a:latin typeface="Roboto" pitchFamily="34" charset="0"/>
                <a:ea typeface="Roboto" pitchFamily="34" charset="-122"/>
                <a:cs typeface="Roboto" pitchFamily="34" charset="-120"/>
              </a:rPr>
              <a:t>(Ej: Ajedrez, ves todo el tablero)</a:t>
            </a:r>
            <a:endParaRPr lang="en-US" sz="1050" dirty="0"/>
          </a:p>
        </p:txBody>
      </p:sp>
      <p:sp>
        <p:nvSpPr>
          <p:cNvPr id="13" name="Text 11"/>
          <p:cNvSpPr/>
          <p:nvPr/>
        </p:nvSpPr>
        <p:spPr>
          <a:xfrm>
            <a:off x="6233460" y="1785541"/>
            <a:ext cx="2438934" cy="674291"/>
          </a:xfrm>
          <a:prstGeom prst="rect">
            <a:avLst/>
          </a:prstGeom>
          <a:noFill/>
          <a:ln/>
        </p:spPr>
        <p:txBody>
          <a:bodyPr wrap="square" lIns="0" tIns="0" rIns="0" bIns="0" rtlCol="0" anchor="t">
            <a:normAutofit/>
          </a:bodyPr>
          <a:lstStyle/>
          <a:p>
            <a:pPr algn="l" indent="0" marL="0">
              <a:lnSpc>
                <a:spcPct val="105000"/>
              </a:lnSpc>
              <a:buNone/>
            </a:pPr>
            <a:r>
              <a:rPr lang="en-US" sz="1050" dirty="0">
                <a:solidFill>
                  <a:srgbClr val="3B3535"/>
                </a:solidFill>
                <a:latin typeface="Roboto" pitchFamily="34" charset="0"/>
                <a:ea typeface="Roboto" pitchFamily="34" charset="-122"/>
                <a:cs typeface="Roboto" pitchFamily="34" charset="-120"/>
              </a:rPr>
              <a:t>Parcialmente Observable: Información oculta.</a:t>
            </a:r>
            <a:endParaRPr lang="en-US" sz="1050" dirty="0"/>
          </a:p>
          <a:p>
            <a:pPr algn="l" indent="0" marL="0">
              <a:lnSpc>
                <a:spcPct val="105000"/>
              </a:lnSpc>
              <a:buNone/>
            </a:pPr>
            <a:r>
              <a:rPr lang="en-US" sz="1050" i="1" dirty="0">
                <a:solidFill>
                  <a:srgbClr val="3B3535"/>
                </a:solidFill>
                <a:latin typeface="Roboto" pitchFamily="34" charset="0"/>
                <a:ea typeface="Roboto" pitchFamily="34" charset="-122"/>
                <a:cs typeface="Roboto" pitchFamily="34" charset="-120"/>
              </a:rPr>
              <a:t>(Ej: Póker, cartas ocultas; conducir con niebla)</a:t>
            </a:r>
            <a:endParaRPr lang="en-US" sz="1050" dirty="0"/>
          </a:p>
        </p:txBody>
      </p:sp>
      <p:sp>
        <p:nvSpPr>
          <p:cNvPr id="14" name="Text 12"/>
          <p:cNvSpPr/>
          <p:nvPr/>
        </p:nvSpPr>
        <p:spPr>
          <a:xfrm>
            <a:off x="8947422" y="1785541"/>
            <a:ext cx="2442109" cy="337145"/>
          </a:xfrm>
          <a:prstGeom prst="rect">
            <a:avLst/>
          </a:prstGeom>
          <a:noFill/>
          <a:ln/>
        </p:spPr>
        <p:txBody>
          <a:bodyPr wrap="square" lIns="0" tIns="0" rIns="0" bIns="0" rtlCol="0" anchor="t">
            <a:normAutofit/>
          </a:bodyPr>
          <a:lstStyle/>
          <a:p>
            <a:pPr algn="l" indent="0" marL="0">
              <a:lnSpc>
                <a:spcPct val="105000"/>
              </a:lnSpc>
              <a:buNone/>
            </a:pPr>
            <a:r>
              <a:rPr lang="en-US" sz="1050" dirty="0">
                <a:solidFill>
                  <a:srgbClr val="3B3535"/>
                </a:solidFill>
                <a:latin typeface="Roboto" pitchFamily="34" charset="0"/>
                <a:ea typeface="Roboto" pitchFamily="34" charset="-122"/>
                <a:cs typeface="Roboto" pitchFamily="34" charset="-120"/>
              </a:rPr>
              <a:t>Debe decidir asumiendo la información que le falta.</a:t>
            </a:r>
            <a:endParaRPr lang="en-US" sz="1050" dirty="0"/>
          </a:p>
        </p:txBody>
      </p:sp>
      <p:sp>
        <p:nvSpPr>
          <p:cNvPr id="15" name="Shape 13"/>
          <p:cNvSpPr/>
          <p:nvPr/>
        </p:nvSpPr>
        <p:spPr>
          <a:xfrm>
            <a:off x="667825" y="2512020"/>
            <a:ext cx="10856046" cy="778669"/>
          </a:xfrm>
          <a:prstGeom prst="rect">
            <a:avLst/>
          </a:prstGeom>
          <a:solidFill>
            <a:srgbClr val="FFFFFF">
              <a:alpha val="4000"/>
            </a:srgbClr>
          </a:solidFill>
          <a:ln/>
        </p:spPr>
      </p:sp>
      <p:sp>
        <p:nvSpPr>
          <p:cNvPr id="16" name="Text 14"/>
          <p:cNvSpPr/>
          <p:nvPr/>
        </p:nvSpPr>
        <p:spPr>
          <a:xfrm>
            <a:off x="802362" y="2564209"/>
            <a:ext cx="3051694" cy="168573"/>
          </a:xfrm>
          <a:prstGeom prst="rect">
            <a:avLst/>
          </a:prstGeom>
          <a:noFill/>
          <a:ln/>
        </p:spPr>
        <p:txBody>
          <a:bodyPr wrap="none" lIns="0" tIns="0" rIns="0" bIns="0" rtlCol="0" anchor="t"/>
          <a:lstStyle/>
          <a:p>
            <a:pPr algn="l" indent="0" marL="0">
              <a:lnSpc>
                <a:spcPct val="105000"/>
              </a:lnSpc>
              <a:buNone/>
            </a:pPr>
            <a:r>
              <a:rPr lang="en-US" sz="1050" b="1" dirty="0">
                <a:solidFill>
                  <a:srgbClr val="3B3535"/>
                </a:solidFill>
                <a:latin typeface="Roboto Bold" pitchFamily="34" charset="0"/>
                <a:ea typeface="Roboto Bold" pitchFamily="34" charset="-122"/>
                <a:cs typeface="Roboto Bold" pitchFamily="34" charset="-120"/>
              </a:rPr>
              <a:t>Certeza</a:t>
            </a:r>
            <a:endParaRPr lang="en-US" sz="1050" dirty="0"/>
          </a:p>
        </p:txBody>
      </p:sp>
      <p:sp>
        <p:nvSpPr>
          <p:cNvPr id="17" name="Text 15"/>
          <p:cNvSpPr/>
          <p:nvPr/>
        </p:nvSpPr>
        <p:spPr>
          <a:xfrm>
            <a:off x="3519499" y="2564209"/>
            <a:ext cx="2438934" cy="674291"/>
          </a:xfrm>
          <a:prstGeom prst="rect">
            <a:avLst/>
          </a:prstGeom>
          <a:noFill/>
          <a:ln/>
        </p:spPr>
        <p:txBody>
          <a:bodyPr wrap="square" lIns="0" tIns="0" rIns="0" bIns="0" rtlCol="0" anchor="t">
            <a:normAutofit/>
          </a:bodyPr>
          <a:lstStyle/>
          <a:p>
            <a:pPr algn="l" indent="0" marL="0">
              <a:lnSpc>
                <a:spcPct val="105000"/>
              </a:lnSpc>
              <a:buNone/>
            </a:pPr>
            <a:r>
              <a:rPr lang="en-US" sz="1050" dirty="0">
                <a:solidFill>
                  <a:srgbClr val="3B3535"/>
                </a:solidFill>
                <a:latin typeface="Roboto" pitchFamily="34" charset="0"/>
                <a:ea typeface="Roboto" pitchFamily="34" charset="-122"/>
                <a:cs typeface="Roboto" pitchFamily="34" charset="-120"/>
              </a:rPr>
              <a:t>Determinista: Resultado exacto garantizado.</a:t>
            </a:r>
            <a:endParaRPr lang="en-US" sz="1050" dirty="0"/>
          </a:p>
          <a:p>
            <a:pPr algn="l" indent="0" marL="0">
              <a:lnSpc>
                <a:spcPct val="105000"/>
              </a:lnSpc>
              <a:buNone/>
            </a:pPr>
            <a:r>
              <a:rPr lang="en-US" sz="1050" i="1" dirty="0">
                <a:solidFill>
                  <a:srgbClr val="3B3535"/>
                </a:solidFill>
                <a:latin typeface="Roboto" pitchFamily="34" charset="0"/>
                <a:ea typeface="Roboto" pitchFamily="34" charset="-122"/>
                <a:cs typeface="Roboto" pitchFamily="34" charset="-120"/>
              </a:rPr>
              <a:t>(Ej: Cubo Rubik, las piezas van donde las movés)</a:t>
            </a:r>
            <a:endParaRPr lang="en-US" sz="1050" dirty="0"/>
          </a:p>
        </p:txBody>
      </p:sp>
      <p:sp>
        <p:nvSpPr>
          <p:cNvPr id="18" name="Text 16"/>
          <p:cNvSpPr/>
          <p:nvPr/>
        </p:nvSpPr>
        <p:spPr>
          <a:xfrm>
            <a:off x="6233460" y="2564209"/>
            <a:ext cx="2438934" cy="337145"/>
          </a:xfrm>
          <a:prstGeom prst="rect">
            <a:avLst/>
          </a:prstGeom>
          <a:noFill/>
          <a:ln/>
        </p:spPr>
        <p:txBody>
          <a:bodyPr wrap="square" lIns="0" tIns="0" rIns="0" bIns="0" rtlCol="0" anchor="t">
            <a:normAutofit/>
          </a:bodyPr>
          <a:lstStyle/>
          <a:p>
            <a:pPr algn="l" indent="0" marL="0">
              <a:lnSpc>
                <a:spcPct val="105000"/>
              </a:lnSpc>
              <a:buNone/>
            </a:pPr>
            <a:r>
              <a:rPr lang="en-US" sz="1050" dirty="0">
                <a:solidFill>
                  <a:srgbClr val="3B3535"/>
                </a:solidFill>
                <a:latin typeface="Roboto" pitchFamily="34" charset="0"/>
                <a:ea typeface="Roboto" pitchFamily="34" charset="-122"/>
                <a:cs typeface="Roboto" pitchFamily="34" charset="-120"/>
              </a:rPr>
              <a:t>Estocástico: Azar o probabilidad.</a:t>
            </a:r>
            <a:endParaRPr lang="en-US" sz="1050" dirty="0"/>
          </a:p>
          <a:p>
            <a:pPr algn="l" indent="0" marL="0">
              <a:lnSpc>
                <a:spcPct val="105000"/>
              </a:lnSpc>
              <a:buNone/>
            </a:pPr>
            <a:r>
              <a:rPr lang="en-US" sz="1050" i="1" dirty="0">
                <a:solidFill>
                  <a:srgbClr val="3B3535"/>
                </a:solidFill>
                <a:latin typeface="Roboto" pitchFamily="34" charset="0"/>
                <a:ea typeface="Roboto" pitchFamily="34" charset="-122"/>
                <a:cs typeface="Roboto" pitchFamily="34" charset="-120"/>
              </a:rPr>
              <a:t>(Ej: Frenar sobre asfalto mojado)</a:t>
            </a:r>
            <a:endParaRPr lang="en-US" sz="1050" dirty="0"/>
          </a:p>
        </p:txBody>
      </p:sp>
      <p:sp>
        <p:nvSpPr>
          <p:cNvPr id="19" name="Text 17"/>
          <p:cNvSpPr/>
          <p:nvPr/>
        </p:nvSpPr>
        <p:spPr>
          <a:xfrm>
            <a:off x="8947422" y="2564209"/>
            <a:ext cx="2442109" cy="337145"/>
          </a:xfrm>
          <a:prstGeom prst="rect">
            <a:avLst/>
          </a:prstGeom>
          <a:noFill/>
          <a:ln/>
        </p:spPr>
        <p:txBody>
          <a:bodyPr wrap="square" lIns="0" tIns="0" rIns="0" bIns="0" rtlCol="0" anchor="t">
            <a:normAutofit/>
          </a:bodyPr>
          <a:lstStyle/>
          <a:p>
            <a:pPr algn="l" indent="0" marL="0">
              <a:lnSpc>
                <a:spcPct val="105000"/>
              </a:lnSpc>
              <a:buNone/>
            </a:pPr>
            <a:r>
              <a:rPr lang="en-US" sz="1050" dirty="0">
                <a:solidFill>
                  <a:srgbClr val="3B3535"/>
                </a:solidFill>
                <a:latin typeface="Roboto" pitchFamily="34" charset="0"/>
                <a:ea typeface="Roboto" pitchFamily="34" charset="-122"/>
                <a:cs typeface="Roboto" pitchFamily="34" charset="-120"/>
              </a:rPr>
              <a:t>Requiere manejar el riesgo y la incertidumbre.</a:t>
            </a:r>
            <a:endParaRPr lang="en-US" sz="1050" dirty="0"/>
          </a:p>
        </p:txBody>
      </p:sp>
      <p:sp>
        <p:nvSpPr>
          <p:cNvPr id="20" name="Shape 18"/>
          <p:cNvSpPr/>
          <p:nvPr/>
        </p:nvSpPr>
        <p:spPr>
          <a:xfrm>
            <a:off x="667825" y="3290689"/>
            <a:ext cx="10856046" cy="610096"/>
          </a:xfrm>
          <a:prstGeom prst="rect">
            <a:avLst/>
          </a:prstGeom>
          <a:solidFill>
            <a:srgbClr val="000000">
              <a:alpha val="4000"/>
            </a:srgbClr>
          </a:solidFill>
          <a:ln/>
        </p:spPr>
      </p:sp>
      <p:sp>
        <p:nvSpPr>
          <p:cNvPr id="21" name="Text 19"/>
          <p:cNvSpPr/>
          <p:nvPr/>
        </p:nvSpPr>
        <p:spPr>
          <a:xfrm>
            <a:off x="802362" y="3342878"/>
            <a:ext cx="3051694" cy="168573"/>
          </a:xfrm>
          <a:prstGeom prst="rect">
            <a:avLst/>
          </a:prstGeom>
          <a:noFill/>
          <a:ln/>
        </p:spPr>
        <p:txBody>
          <a:bodyPr wrap="none" lIns="0" tIns="0" rIns="0" bIns="0" rtlCol="0" anchor="t"/>
          <a:lstStyle/>
          <a:p>
            <a:pPr algn="l" indent="0" marL="0">
              <a:lnSpc>
                <a:spcPct val="105000"/>
              </a:lnSpc>
              <a:buNone/>
            </a:pPr>
            <a:r>
              <a:rPr lang="en-US" sz="1050" b="1" dirty="0">
                <a:solidFill>
                  <a:srgbClr val="3B3535"/>
                </a:solidFill>
                <a:latin typeface="Roboto Bold" pitchFamily="34" charset="0"/>
                <a:ea typeface="Roboto Bold" pitchFamily="34" charset="-122"/>
                <a:cs typeface="Roboto Bold" pitchFamily="34" charset="-120"/>
              </a:rPr>
              <a:t>Impacto Temporal</a:t>
            </a:r>
            <a:endParaRPr lang="en-US" sz="1050" dirty="0"/>
          </a:p>
        </p:txBody>
      </p:sp>
      <p:sp>
        <p:nvSpPr>
          <p:cNvPr id="22" name="Text 20"/>
          <p:cNvSpPr/>
          <p:nvPr/>
        </p:nvSpPr>
        <p:spPr>
          <a:xfrm>
            <a:off x="3519499" y="3342878"/>
            <a:ext cx="2438934" cy="337145"/>
          </a:xfrm>
          <a:prstGeom prst="rect">
            <a:avLst/>
          </a:prstGeom>
          <a:noFill/>
          <a:ln/>
        </p:spPr>
        <p:txBody>
          <a:bodyPr wrap="square" lIns="0" tIns="0" rIns="0" bIns="0" rtlCol="0" anchor="t">
            <a:normAutofit/>
          </a:bodyPr>
          <a:lstStyle/>
          <a:p>
            <a:pPr algn="l" indent="0" marL="0">
              <a:lnSpc>
                <a:spcPct val="105000"/>
              </a:lnSpc>
              <a:buNone/>
            </a:pPr>
            <a:r>
              <a:rPr lang="en-US" sz="1050" dirty="0">
                <a:solidFill>
                  <a:srgbClr val="3B3535"/>
                </a:solidFill>
                <a:latin typeface="Roboto" pitchFamily="34" charset="0"/>
                <a:ea typeface="Roboto" pitchFamily="34" charset="-122"/>
                <a:cs typeface="Roboto" pitchFamily="34" charset="-120"/>
              </a:rPr>
              <a:t>Episódico: Decisiones aisladas.</a:t>
            </a:r>
            <a:endParaRPr lang="en-US" sz="1050" dirty="0"/>
          </a:p>
          <a:p>
            <a:pPr algn="l" indent="0" marL="0">
              <a:lnSpc>
                <a:spcPct val="105000"/>
              </a:lnSpc>
              <a:buNone/>
            </a:pPr>
            <a:r>
              <a:rPr lang="en-US" sz="1050" i="1" dirty="0">
                <a:solidFill>
                  <a:srgbClr val="3B3535"/>
                </a:solidFill>
                <a:latin typeface="Roboto" pitchFamily="34" charset="0"/>
                <a:ea typeface="Roboto" pitchFamily="34" charset="-122"/>
                <a:cs typeface="Roboto" pitchFamily="34" charset="-120"/>
              </a:rPr>
              <a:t>(Ej: IA que clasifica fotos de gatos)</a:t>
            </a:r>
            <a:endParaRPr lang="en-US" sz="1050" dirty="0"/>
          </a:p>
        </p:txBody>
      </p:sp>
      <p:sp>
        <p:nvSpPr>
          <p:cNvPr id="23" name="Text 21"/>
          <p:cNvSpPr/>
          <p:nvPr/>
        </p:nvSpPr>
        <p:spPr>
          <a:xfrm>
            <a:off x="6233460" y="3342878"/>
            <a:ext cx="2438934" cy="505718"/>
          </a:xfrm>
          <a:prstGeom prst="rect">
            <a:avLst/>
          </a:prstGeom>
          <a:noFill/>
          <a:ln/>
        </p:spPr>
        <p:txBody>
          <a:bodyPr wrap="square" lIns="0" tIns="0" rIns="0" bIns="0" rtlCol="0" anchor="t">
            <a:normAutofit/>
          </a:bodyPr>
          <a:lstStyle/>
          <a:p>
            <a:pPr algn="l" indent="0" marL="0">
              <a:lnSpc>
                <a:spcPct val="105000"/>
              </a:lnSpc>
              <a:buNone/>
            </a:pPr>
            <a:r>
              <a:rPr lang="en-US" sz="1050" dirty="0">
                <a:solidFill>
                  <a:srgbClr val="3B3535"/>
                </a:solidFill>
                <a:latin typeface="Roboto" pitchFamily="34" charset="0"/>
                <a:ea typeface="Roboto" pitchFamily="34" charset="-122"/>
                <a:cs typeface="Roboto" pitchFamily="34" charset="-120"/>
              </a:rPr>
              <a:t>Secuencial: Acciones afectan el futuro.</a:t>
            </a:r>
            <a:endParaRPr lang="en-US" sz="1050" dirty="0"/>
          </a:p>
          <a:p>
            <a:pPr algn="l" indent="0" marL="0">
              <a:lnSpc>
                <a:spcPct val="105000"/>
              </a:lnSpc>
              <a:buNone/>
            </a:pPr>
            <a:r>
              <a:rPr lang="en-US" sz="1050" i="1" dirty="0">
                <a:solidFill>
                  <a:srgbClr val="3B3535"/>
                </a:solidFill>
                <a:latin typeface="Roboto" pitchFamily="34" charset="0"/>
                <a:ea typeface="Roboto" pitchFamily="34" charset="-122"/>
                <a:cs typeface="Roboto" pitchFamily="34" charset="-120"/>
              </a:rPr>
              <a:t>(Ej: Inversiones financieras a largo plazo)</a:t>
            </a:r>
            <a:endParaRPr lang="en-US" sz="1050" dirty="0"/>
          </a:p>
        </p:txBody>
      </p:sp>
      <p:sp>
        <p:nvSpPr>
          <p:cNvPr id="24" name="Text 22"/>
          <p:cNvSpPr/>
          <p:nvPr/>
        </p:nvSpPr>
        <p:spPr>
          <a:xfrm>
            <a:off x="8947422" y="3342878"/>
            <a:ext cx="2442109" cy="337145"/>
          </a:xfrm>
          <a:prstGeom prst="rect">
            <a:avLst/>
          </a:prstGeom>
          <a:noFill/>
          <a:ln/>
        </p:spPr>
        <p:txBody>
          <a:bodyPr wrap="square" lIns="0" tIns="0" rIns="0" bIns="0" rtlCol="0" anchor="t">
            <a:normAutofit/>
          </a:bodyPr>
          <a:lstStyle/>
          <a:p>
            <a:pPr algn="l" indent="0" marL="0">
              <a:lnSpc>
                <a:spcPct val="105000"/>
              </a:lnSpc>
              <a:buNone/>
            </a:pPr>
            <a:r>
              <a:rPr lang="en-US" sz="1050" dirty="0">
                <a:solidFill>
                  <a:srgbClr val="3B3535"/>
                </a:solidFill>
                <a:latin typeface="Roboto" pitchFamily="34" charset="0"/>
                <a:ea typeface="Roboto" pitchFamily="34" charset="-122"/>
                <a:cs typeface="Roboto" pitchFamily="34" charset="-120"/>
              </a:rPr>
              <a:t>Obliga a planificar a futuro y prever consecuencias.</a:t>
            </a:r>
            <a:endParaRPr lang="en-US" sz="1050" dirty="0"/>
          </a:p>
        </p:txBody>
      </p:sp>
      <p:sp>
        <p:nvSpPr>
          <p:cNvPr id="25" name="Shape 23"/>
          <p:cNvSpPr/>
          <p:nvPr/>
        </p:nvSpPr>
        <p:spPr>
          <a:xfrm>
            <a:off x="667825" y="3900785"/>
            <a:ext cx="10856046" cy="441523"/>
          </a:xfrm>
          <a:prstGeom prst="rect">
            <a:avLst/>
          </a:prstGeom>
          <a:solidFill>
            <a:srgbClr val="FFFFFF">
              <a:alpha val="4000"/>
            </a:srgbClr>
          </a:solidFill>
          <a:ln/>
        </p:spPr>
      </p:sp>
      <p:sp>
        <p:nvSpPr>
          <p:cNvPr id="26" name="Text 24"/>
          <p:cNvSpPr/>
          <p:nvPr/>
        </p:nvSpPr>
        <p:spPr>
          <a:xfrm>
            <a:off x="802362" y="3952974"/>
            <a:ext cx="3051694" cy="168573"/>
          </a:xfrm>
          <a:prstGeom prst="rect">
            <a:avLst/>
          </a:prstGeom>
          <a:noFill/>
          <a:ln/>
        </p:spPr>
        <p:txBody>
          <a:bodyPr wrap="none" lIns="0" tIns="0" rIns="0" bIns="0" rtlCol="0" anchor="t"/>
          <a:lstStyle/>
          <a:p>
            <a:pPr algn="l" indent="0" marL="0">
              <a:lnSpc>
                <a:spcPct val="105000"/>
              </a:lnSpc>
              <a:buNone/>
            </a:pPr>
            <a:r>
              <a:rPr lang="en-US" sz="1050" b="1" dirty="0">
                <a:solidFill>
                  <a:srgbClr val="3B3535"/>
                </a:solidFill>
                <a:latin typeface="Roboto Bold" pitchFamily="34" charset="0"/>
                <a:ea typeface="Roboto Bold" pitchFamily="34" charset="-122"/>
                <a:cs typeface="Roboto Bold" pitchFamily="34" charset="-120"/>
              </a:rPr>
              <a:t>Estabilidad</a:t>
            </a:r>
            <a:endParaRPr lang="en-US" sz="1050" dirty="0"/>
          </a:p>
        </p:txBody>
      </p:sp>
      <p:sp>
        <p:nvSpPr>
          <p:cNvPr id="27" name="Text 25"/>
          <p:cNvSpPr/>
          <p:nvPr/>
        </p:nvSpPr>
        <p:spPr>
          <a:xfrm>
            <a:off x="3519499" y="3952974"/>
            <a:ext cx="2438934" cy="337145"/>
          </a:xfrm>
          <a:prstGeom prst="rect">
            <a:avLst/>
          </a:prstGeom>
          <a:noFill/>
          <a:ln/>
        </p:spPr>
        <p:txBody>
          <a:bodyPr wrap="square" lIns="0" tIns="0" rIns="0" bIns="0" rtlCol="0" anchor="t">
            <a:normAutofit/>
          </a:bodyPr>
          <a:lstStyle/>
          <a:p>
            <a:pPr algn="l" indent="0" marL="0">
              <a:lnSpc>
                <a:spcPct val="105000"/>
              </a:lnSpc>
              <a:buNone/>
            </a:pPr>
            <a:r>
              <a:rPr lang="en-US" sz="1050" dirty="0">
                <a:solidFill>
                  <a:srgbClr val="3B3535"/>
                </a:solidFill>
                <a:latin typeface="Roboto" pitchFamily="34" charset="0"/>
                <a:ea typeface="Roboto" pitchFamily="34" charset="-122"/>
                <a:cs typeface="Roboto" pitchFamily="34" charset="-120"/>
              </a:rPr>
              <a:t>Estático: El entorno espera.</a:t>
            </a:r>
            <a:endParaRPr lang="en-US" sz="1050" dirty="0"/>
          </a:p>
          <a:p>
            <a:pPr algn="l" indent="0" marL="0">
              <a:lnSpc>
                <a:spcPct val="105000"/>
              </a:lnSpc>
              <a:buNone/>
            </a:pPr>
            <a:r>
              <a:rPr lang="en-US" sz="1050" i="1" dirty="0">
                <a:solidFill>
                  <a:srgbClr val="3B3535"/>
                </a:solidFill>
                <a:latin typeface="Roboto" pitchFamily="34" charset="0"/>
                <a:ea typeface="Roboto" pitchFamily="34" charset="-122"/>
                <a:cs typeface="Roboto" pitchFamily="34" charset="-120"/>
              </a:rPr>
              <a:t>(Ej: Resolver un Sudoku en papel)</a:t>
            </a:r>
            <a:endParaRPr lang="en-US" sz="1050" dirty="0"/>
          </a:p>
        </p:txBody>
      </p:sp>
      <p:sp>
        <p:nvSpPr>
          <p:cNvPr id="28" name="Text 26"/>
          <p:cNvSpPr/>
          <p:nvPr/>
        </p:nvSpPr>
        <p:spPr>
          <a:xfrm>
            <a:off x="6233460" y="3952974"/>
            <a:ext cx="2438934" cy="337145"/>
          </a:xfrm>
          <a:prstGeom prst="rect">
            <a:avLst/>
          </a:prstGeom>
          <a:noFill/>
          <a:ln/>
        </p:spPr>
        <p:txBody>
          <a:bodyPr wrap="square" lIns="0" tIns="0" rIns="0" bIns="0" rtlCol="0" anchor="t">
            <a:normAutofit/>
          </a:bodyPr>
          <a:lstStyle/>
          <a:p>
            <a:pPr algn="l" indent="0" marL="0">
              <a:lnSpc>
                <a:spcPct val="105000"/>
              </a:lnSpc>
              <a:buNone/>
            </a:pPr>
            <a:r>
              <a:rPr lang="en-US" sz="1050" dirty="0">
                <a:solidFill>
                  <a:srgbClr val="3B3535"/>
                </a:solidFill>
                <a:latin typeface="Roboto" pitchFamily="34" charset="0"/>
                <a:ea typeface="Roboto" pitchFamily="34" charset="-122"/>
                <a:cs typeface="Roboto" pitchFamily="34" charset="-120"/>
              </a:rPr>
              <a:t>Dinámico: Cambia mientras "piensa".</a:t>
            </a:r>
            <a:endParaRPr lang="en-US" sz="1050" dirty="0"/>
          </a:p>
          <a:p>
            <a:pPr algn="l" indent="0" marL="0">
              <a:lnSpc>
                <a:spcPct val="105000"/>
              </a:lnSpc>
              <a:buNone/>
            </a:pPr>
            <a:r>
              <a:rPr lang="en-US" sz="1050" i="1" dirty="0">
                <a:solidFill>
                  <a:srgbClr val="3B3535"/>
                </a:solidFill>
                <a:latin typeface="Roboto" pitchFamily="34" charset="0"/>
                <a:ea typeface="Roboto" pitchFamily="34" charset="-122"/>
                <a:cs typeface="Roboto" pitchFamily="34" charset="-120"/>
              </a:rPr>
              <a:t>(Ej: Conducir en el tráfico del centro)</a:t>
            </a:r>
            <a:endParaRPr lang="en-US" sz="1050" dirty="0"/>
          </a:p>
        </p:txBody>
      </p:sp>
      <p:sp>
        <p:nvSpPr>
          <p:cNvPr id="29" name="Text 27"/>
          <p:cNvSpPr/>
          <p:nvPr/>
        </p:nvSpPr>
        <p:spPr>
          <a:xfrm>
            <a:off x="8947422" y="3952974"/>
            <a:ext cx="2442109" cy="337145"/>
          </a:xfrm>
          <a:prstGeom prst="rect">
            <a:avLst/>
          </a:prstGeom>
          <a:noFill/>
          <a:ln/>
        </p:spPr>
        <p:txBody>
          <a:bodyPr wrap="square" lIns="0" tIns="0" rIns="0" bIns="0" rtlCol="0" anchor="t">
            <a:normAutofit/>
          </a:bodyPr>
          <a:lstStyle/>
          <a:p>
            <a:pPr algn="l" indent="0" marL="0">
              <a:lnSpc>
                <a:spcPct val="105000"/>
              </a:lnSpc>
              <a:buNone/>
            </a:pPr>
            <a:r>
              <a:rPr lang="en-US" sz="1050" dirty="0">
                <a:solidFill>
                  <a:srgbClr val="3B3535"/>
                </a:solidFill>
                <a:latin typeface="Roboto" pitchFamily="34" charset="0"/>
                <a:ea typeface="Roboto" pitchFamily="34" charset="-122"/>
                <a:cs typeface="Roboto" pitchFamily="34" charset="-120"/>
              </a:rPr>
              <a:t>La velocidad de procesamiento es cuestión de supervivencia.</a:t>
            </a:r>
            <a:endParaRPr lang="en-US" sz="1050" dirty="0"/>
          </a:p>
        </p:txBody>
      </p:sp>
      <p:sp>
        <p:nvSpPr>
          <p:cNvPr id="30" name="Shape 28"/>
          <p:cNvSpPr/>
          <p:nvPr/>
        </p:nvSpPr>
        <p:spPr>
          <a:xfrm>
            <a:off x="667825" y="4342309"/>
            <a:ext cx="10856046" cy="610096"/>
          </a:xfrm>
          <a:prstGeom prst="rect">
            <a:avLst/>
          </a:prstGeom>
          <a:solidFill>
            <a:srgbClr val="000000">
              <a:alpha val="4000"/>
            </a:srgbClr>
          </a:solidFill>
          <a:ln/>
        </p:spPr>
      </p:sp>
      <p:sp>
        <p:nvSpPr>
          <p:cNvPr id="31" name="Text 29"/>
          <p:cNvSpPr/>
          <p:nvPr/>
        </p:nvSpPr>
        <p:spPr>
          <a:xfrm>
            <a:off x="802362" y="4394498"/>
            <a:ext cx="3051694" cy="168573"/>
          </a:xfrm>
          <a:prstGeom prst="rect">
            <a:avLst/>
          </a:prstGeom>
          <a:noFill/>
          <a:ln/>
        </p:spPr>
        <p:txBody>
          <a:bodyPr wrap="none" lIns="0" tIns="0" rIns="0" bIns="0" rtlCol="0" anchor="t"/>
          <a:lstStyle/>
          <a:p>
            <a:pPr algn="l" indent="0" marL="0">
              <a:lnSpc>
                <a:spcPct val="105000"/>
              </a:lnSpc>
              <a:buNone/>
            </a:pPr>
            <a:r>
              <a:rPr lang="en-US" sz="1050" b="1" dirty="0">
                <a:solidFill>
                  <a:srgbClr val="3B3535"/>
                </a:solidFill>
                <a:latin typeface="Roboto Bold" pitchFamily="34" charset="0"/>
                <a:ea typeface="Roboto Bold" pitchFamily="34" charset="-122"/>
                <a:cs typeface="Roboto Bold" pitchFamily="34" charset="-120"/>
              </a:rPr>
              <a:t>Valores</a:t>
            </a:r>
            <a:endParaRPr lang="en-US" sz="1050" dirty="0"/>
          </a:p>
        </p:txBody>
      </p:sp>
      <p:sp>
        <p:nvSpPr>
          <p:cNvPr id="32" name="Text 30"/>
          <p:cNvSpPr/>
          <p:nvPr/>
        </p:nvSpPr>
        <p:spPr>
          <a:xfrm>
            <a:off x="3519499" y="4394498"/>
            <a:ext cx="2438934" cy="337145"/>
          </a:xfrm>
          <a:prstGeom prst="rect">
            <a:avLst/>
          </a:prstGeom>
          <a:noFill/>
          <a:ln/>
        </p:spPr>
        <p:txBody>
          <a:bodyPr wrap="square" lIns="0" tIns="0" rIns="0" bIns="0" rtlCol="0" anchor="t">
            <a:normAutofit/>
          </a:bodyPr>
          <a:lstStyle/>
          <a:p>
            <a:pPr algn="l" indent="0" marL="0">
              <a:lnSpc>
                <a:spcPct val="105000"/>
              </a:lnSpc>
              <a:buNone/>
            </a:pPr>
            <a:r>
              <a:rPr lang="en-US" sz="1050" dirty="0">
                <a:solidFill>
                  <a:srgbClr val="3B3535"/>
                </a:solidFill>
                <a:latin typeface="Roboto" pitchFamily="34" charset="0"/>
                <a:ea typeface="Roboto" pitchFamily="34" charset="-122"/>
                <a:cs typeface="Roboto" pitchFamily="34" charset="-120"/>
              </a:rPr>
              <a:t>Discreto: Estados y opciones finitas.</a:t>
            </a:r>
            <a:endParaRPr lang="en-US" sz="1050" dirty="0"/>
          </a:p>
          <a:p>
            <a:pPr algn="l" indent="0" marL="0">
              <a:lnSpc>
                <a:spcPct val="105000"/>
              </a:lnSpc>
              <a:buNone/>
            </a:pPr>
            <a:r>
              <a:rPr lang="en-US" sz="1050" i="1" dirty="0">
                <a:solidFill>
                  <a:srgbClr val="3B3535"/>
                </a:solidFill>
                <a:latin typeface="Roboto" pitchFamily="34" charset="0"/>
                <a:ea typeface="Roboto" pitchFamily="34" charset="-122"/>
                <a:cs typeface="Roboto" pitchFamily="34" charset="-120"/>
              </a:rPr>
              <a:t>(Ej: Casillas y turnos de las Damas)</a:t>
            </a:r>
            <a:endParaRPr lang="en-US" sz="1050" dirty="0"/>
          </a:p>
        </p:txBody>
      </p:sp>
      <p:sp>
        <p:nvSpPr>
          <p:cNvPr id="33" name="Text 31"/>
          <p:cNvSpPr/>
          <p:nvPr/>
        </p:nvSpPr>
        <p:spPr>
          <a:xfrm>
            <a:off x="6233460" y="4394498"/>
            <a:ext cx="2438934" cy="505718"/>
          </a:xfrm>
          <a:prstGeom prst="rect">
            <a:avLst/>
          </a:prstGeom>
          <a:noFill/>
          <a:ln/>
        </p:spPr>
        <p:txBody>
          <a:bodyPr wrap="square" lIns="0" tIns="0" rIns="0" bIns="0" rtlCol="0" anchor="t">
            <a:normAutofit/>
          </a:bodyPr>
          <a:lstStyle/>
          <a:p>
            <a:pPr algn="l" indent="0" marL="0">
              <a:lnSpc>
                <a:spcPct val="105000"/>
              </a:lnSpc>
              <a:buNone/>
            </a:pPr>
            <a:r>
              <a:rPr lang="en-US" sz="1050" dirty="0">
                <a:solidFill>
                  <a:srgbClr val="3B3535"/>
                </a:solidFill>
                <a:latin typeface="Roboto" pitchFamily="34" charset="0"/>
                <a:ea typeface="Roboto" pitchFamily="34" charset="-122"/>
                <a:cs typeface="Roboto" pitchFamily="34" charset="-120"/>
              </a:rPr>
              <a:t>Continuo: Variables fluidas e infinitas.</a:t>
            </a:r>
            <a:endParaRPr lang="en-US" sz="1050" dirty="0"/>
          </a:p>
          <a:p>
            <a:pPr algn="l" indent="0" marL="0">
              <a:lnSpc>
                <a:spcPct val="105000"/>
              </a:lnSpc>
              <a:buNone/>
            </a:pPr>
            <a:r>
              <a:rPr lang="en-US" sz="1050" i="1" dirty="0">
                <a:solidFill>
                  <a:srgbClr val="3B3535"/>
                </a:solidFill>
                <a:latin typeface="Roboto" pitchFamily="34" charset="0"/>
                <a:ea typeface="Roboto" pitchFamily="34" charset="-122"/>
                <a:cs typeface="Roboto" pitchFamily="34" charset="-120"/>
              </a:rPr>
              <a:t>(Ej: Ángulos, viento y fuerza al volar un dron)</a:t>
            </a:r>
            <a:endParaRPr lang="en-US" sz="1050" dirty="0"/>
          </a:p>
        </p:txBody>
      </p:sp>
      <p:sp>
        <p:nvSpPr>
          <p:cNvPr id="34" name="Text 32"/>
          <p:cNvSpPr/>
          <p:nvPr/>
        </p:nvSpPr>
        <p:spPr>
          <a:xfrm>
            <a:off x="8947422" y="4394498"/>
            <a:ext cx="2442109" cy="337145"/>
          </a:xfrm>
          <a:prstGeom prst="rect">
            <a:avLst/>
          </a:prstGeom>
          <a:noFill/>
          <a:ln/>
        </p:spPr>
        <p:txBody>
          <a:bodyPr wrap="square" lIns="0" tIns="0" rIns="0" bIns="0" rtlCol="0" anchor="t">
            <a:normAutofit/>
          </a:bodyPr>
          <a:lstStyle/>
          <a:p>
            <a:pPr algn="l" indent="0" marL="0">
              <a:lnSpc>
                <a:spcPct val="105000"/>
              </a:lnSpc>
              <a:buNone/>
            </a:pPr>
            <a:r>
              <a:rPr lang="en-US" sz="1050" dirty="0">
                <a:solidFill>
                  <a:srgbClr val="3B3535"/>
                </a:solidFill>
                <a:latin typeface="Roboto" pitchFamily="34" charset="0"/>
                <a:ea typeface="Roboto" pitchFamily="34" charset="-122"/>
                <a:cs typeface="Roboto" pitchFamily="34" charset="-120"/>
              </a:rPr>
              <a:t>Aumenta drásticamente la cantidad de cálculos.</a:t>
            </a:r>
            <a:endParaRPr lang="en-US" sz="1050" dirty="0"/>
          </a:p>
        </p:txBody>
      </p:sp>
      <p:sp>
        <p:nvSpPr>
          <p:cNvPr id="35" name="Shape 33"/>
          <p:cNvSpPr/>
          <p:nvPr/>
        </p:nvSpPr>
        <p:spPr>
          <a:xfrm>
            <a:off x="667825" y="4952405"/>
            <a:ext cx="10856046" cy="610096"/>
          </a:xfrm>
          <a:prstGeom prst="rect">
            <a:avLst/>
          </a:prstGeom>
          <a:solidFill>
            <a:srgbClr val="FFFFFF">
              <a:alpha val="4000"/>
            </a:srgbClr>
          </a:solidFill>
          <a:ln/>
        </p:spPr>
      </p:sp>
      <p:sp>
        <p:nvSpPr>
          <p:cNvPr id="36" name="Text 34"/>
          <p:cNvSpPr/>
          <p:nvPr/>
        </p:nvSpPr>
        <p:spPr>
          <a:xfrm>
            <a:off x="802362" y="5004594"/>
            <a:ext cx="3051694" cy="168573"/>
          </a:xfrm>
          <a:prstGeom prst="rect">
            <a:avLst/>
          </a:prstGeom>
          <a:noFill/>
          <a:ln/>
        </p:spPr>
        <p:txBody>
          <a:bodyPr wrap="none" lIns="0" tIns="0" rIns="0" bIns="0" rtlCol="0" anchor="t"/>
          <a:lstStyle/>
          <a:p>
            <a:pPr algn="l" indent="0" marL="0">
              <a:lnSpc>
                <a:spcPct val="105000"/>
              </a:lnSpc>
              <a:buNone/>
            </a:pPr>
            <a:r>
              <a:rPr lang="en-US" sz="1050" b="1" dirty="0">
                <a:solidFill>
                  <a:srgbClr val="3B3535"/>
                </a:solidFill>
                <a:latin typeface="Roboto Bold" pitchFamily="34" charset="0"/>
                <a:ea typeface="Roboto Bold" pitchFamily="34" charset="-122"/>
                <a:cs typeface="Roboto Bold" pitchFamily="34" charset="-120"/>
              </a:rPr>
              <a:t>Participantes</a:t>
            </a:r>
            <a:endParaRPr lang="en-US" sz="1050" dirty="0"/>
          </a:p>
        </p:txBody>
      </p:sp>
      <p:sp>
        <p:nvSpPr>
          <p:cNvPr id="37" name="Text 35"/>
          <p:cNvSpPr/>
          <p:nvPr/>
        </p:nvSpPr>
        <p:spPr>
          <a:xfrm>
            <a:off x="3519499" y="5004594"/>
            <a:ext cx="2438934" cy="337145"/>
          </a:xfrm>
          <a:prstGeom prst="rect">
            <a:avLst/>
          </a:prstGeom>
          <a:noFill/>
          <a:ln/>
        </p:spPr>
        <p:txBody>
          <a:bodyPr wrap="square" lIns="0" tIns="0" rIns="0" bIns="0" rtlCol="0" anchor="t">
            <a:normAutofit/>
          </a:bodyPr>
          <a:lstStyle/>
          <a:p>
            <a:pPr algn="l" indent="0" marL="0">
              <a:lnSpc>
                <a:spcPct val="105000"/>
              </a:lnSpc>
              <a:buNone/>
            </a:pPr>
            <a:r>
              <a:rPr lang="en-US" sz="1050" dirty="0">
                <a:solidFill>
                  <a:srgbClr val="3B3535"/>
                </a:solidFill>
                <a:latin typeface="Roboto" pitchFamily="34" charset="0"/>
                <a:ea typeface="Roboto" pitchFamily="34" charset="-122"/>
                <a:cs typeface="Roboto" pitchFamily="34" charset="-120"/>
              </a:rPr>
              <a:t>Agente Único: Opera solo.</a:t>
            </a:r>
            <a:endParaRPr lang="en-US" sz="1050" dirty="0"/>
          </a:p>
          <a:p>
            <a:pPr algn="l" indent="0" marL="0">
              <a:lnSpc>
                <a:spcPct val="105000"/>
              </a:lnSpc>
              <a:buNone/>
            </a:pPr>
            <a:r>
              <a:rPr lang="en-US" sz="1050" i="1" dirty="0">
                <a:solidFill>
                  <a:srgbClr val="3B3535"/>
                </a:solidFill>
                <a:latin typeface="Roboto" pitchFamily="34" charset="0"/>
                <a:ea typeface="Roboto" pitchFamily="34" charset="-122"/>
                <a:cs typeface="Roboto" pitchFamily="34" charset="-120"/>
              </a:rPr>
              <a:t>(Ej: IA resolviendo un laberinto)</a:t>
            </a:r>
            <a:endParaRPr lang="en-US" sz="1050" dirty="0"/>
          </a:p>
        </p:txBody>
      </p:sp>
      <p:sp>
        <p:nvSpPr>
          <p:cNvPr id="38" name="Text 36"/>
          <p:cNvSpPr/>
          <p:nvPr/>
        </p:nvSpPr>
        <p:spPr>
          <a:xfrm>
            <a:off x="6233460" y="5004594"/>
            <a:ext cx="2438934" cy="505718"/>
          </a:xfrm>
          <a:prstGeom prst="rect">
            <a:avLst/>
          </a:prstGeom>
          <a:noFill/>
          <a:ln/>
        </p:spPr>
        <p:txBody>
          <a:bodyPr wrap="square" lIns="0" tIns="0" rIns="0" bIns="0" rtlCol="0" anchor="t">
            <a:normAutofit/>
          </a:bodyPr>
          <a:lstStyle/>
          <a:p>
            <a:pPr algn="l" indent="0" marL="0">
              <a:lnSpc>
                <a:spcPct val="105000"/>
              </a:lnSpc>
              <a:buNone/>
            </a:pPr>
            <a:r>
              <a:rPr lang="en-US" sz="1050" dirty="0">
                <a:solidFill>
                  <a:srgbClr val="3B3535"/>
                </a:solidFill>
                <a:latin typeface="Roboto" pitchFamily="34" charset="0"/>
                <a:ea typeface="Roboto" pitchFamily="34" charset="-122"/>
                <a:cs typeface="Roboto" pitchFamily="34" charset="-120"/>
              </a:rPr>
              <a:t>Multiagente: Otros actores interactúan.</a:t>
            </a:r>
            <a:endParaRPr lang="en-US" sz="1050" dirty="0"/>
          </a:p>
          <a:p>
            <a:pPr algn="l" indent="0" marL="0">
              <a:lnSpc>
                <a:spcPct val="105000"/>
              </a:lnSpc>
              <a:buNone/>
            </a:pPr>
            <a:r>
              <a:rPr lang="en-US" sz="1050" i="1" dirty="0">
                <a:solidFill>
                  <a:srgbClr val="3B3535"/>
                </a:solidFill>
                <a:latin typeface="Roboto" pitchFamily="34" charset="0"/>
                <a:ea typeface="Roboto" pitchFamily="34" charset="-122"/>
                <a:cs typeface="Roboto" pitchFamily="34" charset="-120"/>
              </a:rPr>
              <a:t>(Ej: Robots jugando fútbol, vehículos cooperando)</a:t>
            </a:r>
            <a:endParaRPr lang="en-US" sz="1050" dirty="0"/>
          </a:p>
        </p:txBody>
      </p:sp>
      <p:sp>
        <p:nvSpPr>
          <p:cNvPr id="39" name="Text 37"/>
          <p:cNvSpPr/>
          <p:nvPr/>
        </p:nvSpPr>
        <p:spPr>
          <a:xfrm>
            <a:off x="8947422" y="5004594"/>
            <a:ext cx="3051694" cy="168573"/>
          </a:xfrm>
          <a:prstGeom prst="rect">
            <a:avLst/>
          </a:prstGeom>
          <a:noFill/>
          <a:ln/>
        </p:spPr>
        <p:txBody>
          <a:bodyPr wrap="none" lIns="0" tIns="0" rIns="0" bIns="0" rtlCol="0" anchor="t"/>
          <a:lstStyle/>
          <a:p>
            <a:pPr algn="l" indent="0" marL="0">
              <a:lnSpc>
                <a:spcPct val="105000"/>
              </a:lnSpc>
              <a:buNone/>
            </a:pPr>
            <a:r>
              <a:rPr lang="en-US" sz="1050" dirty="0">
                <a:solidFill>
                  <a:srgbClr val="3B3535"/>
                </a:solidFill>
                <a:latin typeface="Roboto" pitchFamily="34" charset="0"/>
                <a:ea typeface="Roboto" pitchFamily="34" charset="-122"/>
                <a:cs typeface="Roboto" pitchFamily="34" charset="-120"/>
              </a:rPr>
              <a:t>Debe predecir el comportamiento ajeno.</a:t>
            </a:r>
            <a:endParaRPr lang="en-US" sz="1050" dirty="0"/>
          </a:p>
        </p:txBody>
      </p:sp>
      <p:sp>
        <p:nvSpPr>
          <p:cNvPr id="40" name="Shape 38"/>
          <p:cNvSpPr/>
          <p:nvPr/>
        </p:nvSpPr>
        <p:spPr>
          <a:xfrm>
            <a:off x="667825" y="5562501"/>
            <a:ext cx="10856046" cy="610096"/>
          </a:xfrm>
          <a:prstGeom prst="rect">
            <a:avLst/>
          </a:prstGeom>
          <a:solidFill>
            <a:srgbClr val="000000">
              <a:alpha val="4000"/>
            </a:srgbClr>
          </a:solidFill>
          <a:ln/>
        </p:spPr>
      </p:sp>
      <p:sp>
        <p:nvSpPr>
          <p:cNvPr id="41" name="Text 39"/>
          <p:cNvSpPr/>
          <p:nvPr/>
        </p:nvSpPr>
        <p:spPr>
          <a:xfrm>
            <a:off x="802362" y="5614690"/>
            <a:ext cx="3051694" cy="168573"/>
          </a:xfrm>
          <a:prstGeom prst="rect">
            <a:avLst/>
          </a:prstGeom>
          <a:noFill/>
          <a:ln/>
        </p:spPr>
        <p:txBody>
          <a:bodyPr wrap="none" lIns="0" tIns="0" rIns="0" bIns="0" rtlCol="0" anchor="t"/>
          <a:lstStyle/>
          <a:p>
            <a:pPr algn="l" indent="0" marL="0">
              <a:lnSpc>
                <a:spcPct val="105000"/>
              </a:lnSpc>
              <a:buNone/>
            </a:pPr>
            <a:r>
              <a:rPr lang="en-US" sz="1050" b="1" dirty="0">
                <a:solidFill>
                  <a:srgbClr val="3B3535"/>
                </a:solidFill>
                <a:latin typeface="Roboto Bold" pitchFamily="34" charset="0"/>
                <a:ea typeface="Roboto Bold" pitchFamily="34" charset="-122"/>
                <a:cs typeface="Roboto Bold" pitchFamily="34" charset="-120"/>
              </a:rPr>
              <a:t>Reglas</a:t>
            </a:r>
            <a:endParaRPr lang="en-US" sz="1050" dirty="0"/>
          </a:p>
        </p:txBody>
      </p:sp>
      <p:sp>
        <p:nvSpPr>
          <p:cNvPr id="42" name="Text 40"/>
          <p:cNvSpPr/>
          <p:nvPr/>
        </p:nvSpPr>
        <p:spPr>
          <a:xfrm>
            <a:off x="3519499" y="5614690"/>
            <a:ext cx="2438934" cy="505718"/>
          </a:xfrm>
          <a:prstGeom prst="rect">
            <a:avLst/>
          </a:prstGeom>
          <a:noFill/>
          <a:ln/>
        </p:spPr>
        <p:txBody>
          <a:bodyPr wrap="square" lIns="0" tIns="0" rIns="0" bIns="0" rtlCol="0" anchor="t">
            <a:normAutofit/>
          </a:bodyPr>
          <a:lstStyle/>
          <a:p>
            <a:pPr algn="l" indent="0" marL="0">
              <a:lnSpc>
                <a:spcPct val="105000"/>
              </a:lnSpc>
              <a:buNone/>
            </a:pPr>
            <a:r>
              <a:rPr lang="en-US" sz="1050" dirty="0">
                <a:solidFill>
                  <a:srgbClr val="3B3535"/>
                </a:solidFill>
                <a:latin typeface="Roboto" pitchFamily="34" charset="0"/>
                <a:ea typeface="Roboto" pitchFamily="34" charset="-122"/>
                <a:cs typeface="Roboto" pitchFamily="34" charset="-120"/>
              </a:rPr>
              <a:t>Conocido: Sabe cómo funciona todo.</a:t>
            </a:r>
            <a:endParaRPr lang="en-US" sz="1050" dirty="0"/>
          </a:p>
          <a:p>
            <a:pPr algn="l" indent="0" marL="0">
              <a:lnSpc>
                <a:spcPct val="105000"/>
              </a:lnSpc>
              <a:buNone/>
            </a:pPr>
            <a:r>
              <a:rPr lang="en-US" sz="1050" i="1" dirty="0">
                <a:solidFill>
                  <a:srgbClr val="3B3535"/>
                </a:solidFill>
                <a:latin typeface="Roboto" pitchFamily="34" charset="0"/>
                <a:ea typeface="Roboto" pitchFamily="34" charset="-122"/>
                <a:cs typeface="Roboto" pitchFamily="34" charset="-120"/>
              </a:rPr>
              <a:t>(Ej: Solitario, las reglas vienen programadas)</a:t>
            </a:r>
            <a:endParaRPr lang="en-US" sz="1050" dirty="0"/>
          </a:p>
        </p:txBody>
      </p:sp>
      <p:sp>
        <p:nvSpPr>
          <p:cNvPr id="43" name="Text 41"/>
          <p:cNvSpPr/>
          <p:nvPr/>
        </p:nvSpPr>
        <p:spPr>
          <a:xfrm>
            <a:off x="6233460" y="5614690"/>
            <a:ext cx="2438934" cy="337145"/>
          </a:xfrm>
          <a:prstGeom prst="rect">
            <a:avLst/>
          </a:prstGeom>
          <a:noFill/>
          <a:ln/>
        </p:spPr>
        <p:txBody>
          <a:bodyPr wrap="square" lIns="0" tIns="0" rIns="0" bIns="0" rtlCol="0" anchor="t">
            <a:normAutofit/>
          </a:bodyPr>
          <a:lstStyle/>
          <a:p>
            <a:pPr algn="l" indent="0" marL="0">
              <a:lnSpc>
                <a:spcPct val="105000"/>
              </a:lnSpc>
              <a:buNone/>
            </a:pPr>
            <a:r>
              <a:rPr lang="en-US" sz="1050" dirty="0">
                <a:solidFill>
                  <a:srgbClr val="3B3535"/>
                </a:solidFill>
                <a:latin typeface="Roboto" pitchFamily="34" charset="0"/>
                <a:ea typeface="Roboto" pitchFamily="34" charset="-122"/>
                <a:cs typeface="Roboto" pitchFamily="34" charset="-120"/>
              </a:rPr>
              <a:t>Desconocido: Ignora las reglas.</a:t>
            </a:r>
            <a:endParaRPr lang="en-US" sz="1050" dirty="0"/>
          </a:p>
          <a:p>
            <a:pPr algn="l" indent="0" marL="0">
              <a:lnSpc>
                <a:spcPct val="105000"/>
              </a:lnSpc>
              <a:buNone/>
            </a:pPr>
            <a:r>
              <a:rPr lang="en-US" sz="1050" i="1" dirty="0">
                <a:solidFill>
                  <a:srgbClr val="3B3535"/>
                </a:solidFill>
                <a:latin typeface="Roboto" pitchFamily="34" charset="0"/>
                <a:ea typeface="Roboto" pitchFamily="34" charset="-122"/>
                <a:cs typeface="Roboto" pitchFamily="34" charset="-120"/>
              </a:rPr>
              <a:t>(Ej: Robot explorando terreno en Marte)</a:t>
            </a:r>
            <a:endParaRPr lang="en-US" sz="1050" dirty="0"/>
          </a:p>
        </p:txBody>
      </p:sp>
      <p:sp>
        <p:nvSpPr>
          <p:cNvPr id="44" name="Text 42"/>
          <p:cNvSpPr/>
          <p:nvPr/>
        </p:nvSpPr>
        <p:spPr>
          <a:xfrm>
            <a:off x="8947422" y="5614690"/>
            <a:ext cx="2442109" cy="337145"/>
          </a:xfrm>
          <a:prstGeom prst="rect">
            <a:avLst/>
          </a:prstGeom>
          <a:noFill/>
          <a:ln/>
        </p:spPr>
        <p:txBody>
          <a:bodyPr wrap="square" lIns="0" tIns="0" rIns="0" bIns="0" rtlCol="0" anchor="t">
            <a:normAutofit/>
          </a:bodyPr>
          <a:lstStyle/>
          <a:p>
            <a:pPr algn="l" indent="0" marL="0">
              <a:lnSpc>
                <a:spcPct val="105000"/>
              </a:lnSpc>
              <a:buNone/>
            </a:pPr>
            <a:r>
              <a:rPr lang="en-US" sz="1050" dirty="0">
                <a:solidFill>
                  <a:srgbClr val="3B3535"/>
                </a:solidFill>
                <a:latin typeface="Roboto" pitchFamily="34" charset="0"/>
                <a:ea typeface="Roboto" pitchFamily="34" charset="-122"/>
                <a:cs typeface="Roboto" pitchFamily="34" charset="-120"/>
              </a:rPr>
              <a:t>Exige explorar y aprender mediante ensayo y error.</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661475" y="3059807"/>
            <a:ext cx="10868745" cy="738287"/>
          </a:xfrm>
          <a:prstGeom prst="rect">
            <a:avLst/>
          </a:prstGeom>
          <a:noFill/>
          <a:ln/>
        </p:spPr>
        <p:txBody>
          <a:bodyPr wrap="none" lIns="0" tIns="0" rIns="0" bIns="0" rtlCol="0" anchor="t"/>
          <a:lstStyle/>
          <a:p>
            <a:pPr algn="l" indent="0" marL="0">
              <a:lnSpc>
                <a:spcPct val="104000"/>
              </a:lnSpc>
              <a:buNone/>
            </a:pPr>
            <a:endParaRPr lang="en-US" sz="4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DA1B2E"/>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2026-08-03T22:41:47Z</dcterms:created>
  <dcterms:modified xsi:type="dcterms:W3CDTF">2026-08-03T22:41:47Z</dcterms:modified>
</cp:coreProperties>
</file>